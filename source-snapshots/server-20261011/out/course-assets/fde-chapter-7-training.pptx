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0eb1c8e3541d5" /><Relationship Type="http://schemas.openxmlformats.org/officeDocument/2006/relationships/extended-properties" Target="/docProps/app.xml" Id="R68afc84662aa44a8" /><Relationship Type="http://schemas.openxmlformats.org/officeDocument/2006/relationships/officeDocument" Target="/ppt/presentation.xml" Id="Ree63b23188094e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c336dc920a4eb4"/>
  </p:sldMasterIdLst>
  <p:notesMasterIdLst>
    <p:notesMasterId xmlns:r="http://schemas.openxmlformats.org/officeDocument/2006/relationships" r:id="R4c423ac890554aed"/>
  </p:notesMasterIdLst>
  <p:sldIdLst>
    <p:sldId xmlns:r="http://schemas.openxmlformats.org/officeDocument/2006/relationships" id="256" r:id="R05d8eef768bc49b2"/>
    <p:sldId xmlns:r="http://schemas.openxmlformats.org/officeDocument/2006/relationships" id="257" r:id="Rac106a36f83b4ba6"/>
    <p:sldId xmlns:r="http://schemas.openxmlformats.org/officeDocument/2006/relationships" id="258" r:id="R405b514e0ced4aaf"/>
    <p:sldId xmlns:r="http://schemas.openxmlformats.org/officeDocument/2006/relationships" id="259" r:id="Rfb12a424bdc049f2"/>
    <p:sldId xmlns:r="http://schemas.openxmlformats.org/officeDocument/2006/relationships" id="260" r:id="R354a28f4f7c44c1f"/>
    <p:sldId xmlns:r="http://schemas.openxmlformats.org/officeDocument/2006/relationships" id="261" r:id="R948d518d6f2845cf"/>
    <p:sldId xmlns:r="http://schemas.openxmlformats.org/officeDocument/2006/relationships" id="262" r:id="Re1820476e2074356"/>
    <p:sldId xmlns:r="http://schemas.openxmlformats.org/officeDocument/2006/relationships" id="263" r:id="R53d73b1018d249ed"/>
    <p:sldId xmlns:r="http://schemas.openxmlformats.org/officeDocument/2006/relationships" id="264" r:id="Rd8aef9d2c7b94919"/>
    <p:sldId xmlns:r="http://schemas.openxmlformats.org/officeDocument/2006/relationships" id="265" r:id="R7106b5bbebed4e9d"/>
    <p:sldId xmlns:r="http://schemas.openxmlformats.org/officeDocument/2006/relationships" id="266" r:id="Rdaacff1109b34b60"/>
    <p:sldId xmlns:r="http://schemas.openxmlformats.org/officeDocument/2006/relationships" id="267" r:id="R6bc6770680d94c8c"/>
    <p:sldId xmlns:r="http://schemas.openxmlformats.org/officeDocument/2006/relationships" id="268" r:id="Rb9b7f5d925014d5a"/>
    <p:sldId xmlns:r="http://schemas.openxmlformats.org/officeDocument/2006/relationships" id="269" r:id="R534338d282434aa9"/>
    <p:sldId xmlns:r="http://schemas.openxmlformats.org/officeDocument/2006/relationships" id="270" r:id="Rd83c6134e7824e7d"/>
    <p:sldId xmlns:r="http://schemas.openxmlformats.org/officeDocument/2006/relationships" id="271" r:id="R18d1857b76714da1"/>
    <p:sldId xmlns:r="http://schemas.openxmlformats.org/officeDocument/2006/relationships" id="272" r:id="R935dfb7fd79e4ebb"/>
    <p:sldId xmlns:r="http://schemas.openxmlformats.org/officeDocument/2006/relationships" id="273" r:id="Rbf46ea66a3ec4e79"/>
    <p:sldId xmlns:r="http://schemas.openxmlformats.org/officeDocument/2006/relationships" id="274" r:id="R85c0fbe885114a32"/>
    <p:sldId xmlns:r="http://schemas.openxmlformats.org/officeDocument/2006/relationships" id="275" r:id="R443046976382419c"/>
    <p:sldId xmlns:r="http://schemas.openxmlformats.org/officeDocument/2006/relationships" id="276" r:id="R95a5b11cf19047f5"/>
    <p:sldId xmlns:r="http://schemas.openxmlformats.org/officeDocument/2006/relationships" id="277" r:id="R18195c8d24ff426d"/>
    <p:sldId xmlns:r="http://schemas.openxmlformats.org/officeDocument/2006/relationships" id="278" r:id="R1aa6742604044e68"/>
    <p:sldId xmlns:r="http://schemas.openxmlformats.org/officeDocument/2006/relationships" id="279" r:id="R0bff239d81c3403a"/>
    <p:sldId xmlns:r="http://schemas.openxmlformats.org/officeDocument/2006/relationships" id="280" r:id="R81854f914bfe4bb2"/>
    <p:sldId xmlns:r="http://schemas.openxmlformats.org/officeDocument/2006/relationships" id="281" r:id="Rbd864a3f456140ad"/>
    <p:sldId xmlns:r="http://schemas.openxmlformats.org/officeDocument/2006/relationships" id="282" r:id="Rb7a73014081141b3"/>
    <p:sldId xmlns:r="http://schemas.openxmlformats.org/officeDocument/2006/relationships" id="283" r:id="R5c826ee49dc24953"/>
    <p:sldId xmlns:r="http://schemas.openxmlformats.org/officeDocument/2006/relationships" id="284" r:id="Rf6ee8dc8f1264267"/>
    <p:sldId xmlns:r="http://schemas.openxmlformats.org/officeDocument/2006/relationships" id="285" r:id="R44fd87f5b28e4041"/>
    <p:sldId xmlns:r="http://schemas.openxmlformats.org/officeDocument/2006/relationships" id="286" r:id="R92cb2bc0b79d46c3"/>
    <p:sldId xmlns:r="http://schemas.openxmlformats.org/officeDocument/2006/relationships" id="287" r:id="R2bdd35ed3ed64c67"/>
    <p:sldId xmlns:r="http://schemas.openxmlformats.org/officeDocument/2006/relationships" id="288" r:id="R13cb6d599e89454a"/>
    <p:sldId xmlns:r="http://schemas.openxmlformats.org/officeDocument/2006/relationships" id="289" r:id="Rfecb59c173654e5e"/>
    <p:sldId xmlns:r="http://schemas.openxmlformats.org/officeDocument/2006/relationships" id="290" r:id="Rde13777826a04004"/>
    <p:sldId xmlns:r="http://schemas.openxmlformats.org/officeDocument/2006/relationships" id="291" r:id="R79bead36b6194d00"/>
    <p:sldId xmlns:r="http://schemas.openxmlformats.org/officeDocument/2006/relationships" id="292" r:id="Rf8bf77bdb9824b79"/>
    <p:sldId xmlns:r="http://schemas.openxmlformats.org/officeDocument/2006/relationships" id="293" r:id="R39aec2221a8c425c"/>
    <p:sldId xmlns:r="http://schemas.openxmlformats.org/officeDocument/2006/relationships" id="294" r:id="R5481bbd1f06446d2"/>
    <p:sldId xmlns:r="http://schemas.openxmlformats.org/officeDocument/2006/relationships" id="295" r:id="Rcba41d7626da4498"/>
    <p:sldId xmlns:r="http://schemas.openxmlformats.org/officeDocument/2006/relationships" id="296" r:id="R0215c434c9a34051"/>
    <p:sldId xmlns:r="http://schemas.openxmlformats.org/officeDocument/2006/relationships" id="297" r:id="Rd350a85bff0b416b"/>
    <p:sldId xmlns:r="http://schemas.openxmlformats.org/officeDocument/2006/relationships" id="298" r:id="Rd99c46b56de84d1b"/>
    <p:sldId xmlns:r="http://schemas.openxmlformats.org/officeDocument/2006/relationships" id="299" r:id="Rb6ba7749862c4337"/>
    <p:sldId xmlns:r="http://schemas.openxmlformats.org/officeDocument/2006/relationships" id="300" r:id="Rc2aba252deb145dd"/>
    <p:sldId xmlns:r="http://schemas.openxmlformats.org/officeDocument/2006/relationships" id="301" r:id="R6500c468870549e1"/>
    <p:sldId xmlns:r="http://schemas.openxmlformats.org/officeDocument/2006/relationships" id="302" r:id="R79566c8a1f2f4188"/>
    <p:sldId xmlns:r="http://schemas.openxmlformats.org/officeDocument/2006/relationships" id="303" r:id="R3b948a9e2fc74f11"/>
    <p:sldId xmlns:r="http://schemas.openxmlformats.org/officeDocument/2006/relationships" id="304" r:id="R622ef5cada11423e"/>
    <p:sldId xmlns:r="http://schemas.openxmlformats.org/officeDocument/2006/relationships" id="305" r:id="R0d6308c077e342f7"/>
    <p:sldId xmlns:r="http://schemas.openxmlformats.org/officeDocument/2006/relationships" id="306" r:id="R8a62251896a346d9"/>
    <p:sldId xmlns:r="http://schemas.openxmlformats.org/officeDocument/2006/relationships" id="307" r:id="R0234760df7ba4609"/>
    <p:sldId xmlns:r="http://schemas.openxmlformats.org/officeDocument/2006/relationships" id="308" r:id="R9f34e5fe88c34a27"/>
    <p:sldId xmlns:r="http://schemas.openxmlformats.org/officeDocument/2006/relationships" id="309" r:id="R0345bfc6f2944343"/>
    <p:sldId xmlns:r="http://schemas.openxmlformats.org/officeDocument/2006/relationships" id="310" r:id="Rb5e268f315ac40d7"/>
    <p:sldId xmlns:r="http://schemas.openxmlformats.org/officeDocument/2006/relationships" id="311" r:id="Rfdd10b095a9041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336dc920a4eb4" /><Relationship Type="http://schemas.openxmlformats.org/officeDocument/2006/relationships/theme" Target="/ppt/theme/theme1.xml" Id="R5cf1dcf4bf8c465b" /><Relationship Type="http://schemas.openxmlformats.org/officeDocument/2006/relationships/notesMaster" Target="/ppt/notesMasters/notesMaster1.xml" Id="R4c423ac890554aed" /><Relationship Type="http://schemas.openxmlformats.org/officeDocument/2006/relationships/presProps" Target="/ppt/presProps.xml" Id="R7917a80a374248bd" /><Relationship Type="http://schemas.openxmlformats.org/officeDocument/2006/relationships/viewProps" Target="/ppt/viewProps.xml" Id="R8e5426c9c11641f4" /><Relationship Type="http://schemas.openxmlformats.org/officeDocument/2006/relationships/tableStyles" Target="/ppt/tableStyles.xml" Id="R02589d95e720451a" /><Relationship Type="http://schemas.openxmlformats.org/officeDocument/2006/relationships/slide" Target="/ppt/slides/slide1.xml" Id="R05d8eef768bc49b2" /><Relationship Type="http://schemas.openxmlformats.org/officeDocument/2006/relationships/slide" Target="/ppt/slides/slide2.xml" Id="Rac106a36f83b4ba6" /><Relationship Type="http://schemas.openxmlformats.org/officeDocument/2006/relationships/slide" Target="/ppt/slides/slide3.xml" Id="R405b514e0ced4aaf" /><Relationship Type="http://schemas.openxmlformats.org/officeDocument/2006/relationships/slide" Target="/ppt/slides/slide4.xml" Id="Rfb12a424bdc049f2" /><Relationship Type="http://schemas.openxmlformats.org/officeDocument/2006/relationships/slide" Target="/ppt/slides/slide5.xml" Id="R354a28f4f7c44c1f" /><Relationship Type="http://schemas.openxmlformats.org/officeDocument/2006/relationships/slide" Target="/ppt/slides/slide6.xml" Id="R948d518d6f2845cf" /><Relationship Type="http://schemas.openxmlformats.org/officeDocument/2006/relationships/slide" Target="/ppt/slides/slide7.xml" Id="Re1820476e2074356" /><Relationship Type="http://schemas.openxmlformats.org/officeDocument/2006/relationships/slide" Target="/ppt/slides/slide8.xml" Id="R53d73b1018d249ed" /><Relationship Type="http://schemas.openxmlformats.org/officeDocument/2006/relationships/slide" Target="/ppt/slides/slide9.xml" Id="Rd8aef9d2c7b94919" /><Relationship Type="http://schemas.openxmlformats.org/officeDocument/2006/relationships/slide" Target="/ppt/slides/slide10.xml" Id="R7106b5bbebed4e9d" /><Relationship Type="http://schemas.openxmlformats.org/officeDocument/2006/relationships/slide" Target="/ppt/slides/slide11.xml" Id="Rdaacff1109b34b60" /><Relationship Type="http://schemas.openxmlformats.org/officeDocument/2006/relationships/slide" Target="/ppt/slides/slide12.xml" Id="R6bc6770680d94c8c" /><Relationship Type="http://schemas.openxmlformats.org/officeDocument/2006/relationships/slide" Target="/ppt/slides/slide13.xml" Id="Rb9b7f5d925014d5a" /><Relationship Type="http://schemas.openxmlformats.org/officeDocument/2006/relationships/slide" Target="/ppt/slides/slide14.xml" Id="R534338d282434aa9" /><Relationship Type="http://schemas.openxmlformats.org/officeDocument/2006/relationships/slide" Target="/ppt/slides/slide15.xml" Id="Rd83c6134e7824e7d" /><Relationship Type="http://schemas.openxmlformats.org/officeDocument/2006/relationships/slide" Target="/ppt/slides/slide16.xml" Id="R18d1857b76714da1" /><Relationship Type="http://schemas.openxmlformats.org/officeDocument/2006/relationships/slide" Target="/ppt/slides/slide17.xml" Id="R935dfb7fd79e4ebb" /><Relationship Type="http://schemas.openxmlformats.org/officeDocument/2006/relationships/slide" Target="/ppt/slides/slide18.xml" Id="Rbf46ea66a3ec4e79" /><Relationship Type="http://schemas.openxmlformats.org/officeDocument/2006/relationships/slide" Target="/ppt/slides/slide19.xml" Id="R85c0fbe885114a32" /><Relationship Type="http://schemas.openxmlformats.org/officeDocument/2006/relationships/slide" Target="/ppt/slides/slide20.xml" Id="R443046976382419c" /><Relationship Type="http://schemas.openxmlformats.org/officeDocument/2006/relationships/slide" Target="/ppt/slides/slide21.xml" Id="R95a5b11cf19047f5" /><Relationship Type="http://schemas.openxmlformats.org/officeDocument/2006/relationships/slide" Target="/ppt/slides/slide22.xml" Id="R18195c8d24ff426d" /><Relationship Type="http://schemas.openxmlformats.org/officeDocument/2006/relationships/slide" Target="/ppt/slides/slide23.xml" Id="R1aa6742604044e68" /><Relationship Type="http://schemas.openxmlformats.org/officeDocument/2006/relationships/slide" Target="/ppt/slides/slide24.xml" Id="R0bff239d81c3403a" /><Relationship Type="http://schemas.openxmlformats.org/officeDocument/2006/relationships/slide" Target="/ppt/slides/slide25.xml" Id="R81854f914bfe4bb2" /><Relationship Type="http://schemas.openxmlformats.org/officeDocument/2006/relationships/slide" Target="/ppt/slides/slide26.xml" Id="Rbd864a3f456140ad" /><Relationship Type="http://schemas.openxmlformats.org/officeDocument/2006/relationships/slide" Target="/ppt/slides/slide27.xml" Id="Rb7a73014081141b3" /><Relationship Type="http://schemas.openxmlformats.org/officeDocument/2006/relationships/slide" Target="/ppt/slides/slide28.xml" Id="R5c826ee49dc24953" /><Relationship Type="http://schemas.openxmlformats.org/officeDocument/2006/relationships/slide" Target="/ppt/slides/slide29.xml" Id="Rf6ee8dc8f1264267" /><Relationship Type="http://schemas.openxmlformats.org/officeDocument/2006/relationships/slide" Target="/ppt/slides/slide30.xml" Id="R44fd87f5b28e4041" /><Relationship Type="http://schemas.openxmlformats.org/officeDocument/2006/relationships/slide" Target="/ppt/slides/slide31.xml" Id="R92cb2bc0b79d46c3" /><Relationship Type="http://schemas.openxmlformats.org/officeDocument/2006/relationships/slide" Target="/ppt/slides/slide32.xml" Id="R2bdd35ed3ed64c67" /><Relationship Type="http://schemas.openxmlformats.org/officeDocument/2006/relationships/slide" Target="/ppt/slides/slide33.xml" Id="R13cb6d599e89454a" /><Relationship Type="http://schemas.openxmlformats.org/officeDocument/2006/relationships/slide" Target="/ppt/slides/slide34.xml" Id="Rfecb59c173654e5e" /><Relationship Type="http://schemas.openxmlformats.org/officeDocument/2006/relationships/slide" Target="/ppt/slides/slide35.xml" Id="Rde13777826a04004" /><Relationship Type="http://schemas.openxmlformats.org/officeDocument/2006/relationships/slide" Target="/ppt/slides/slide36.xml" Id="R79bead36b6194d00" /><Relationship Type="http://schemas.openxmlformats.org/officeDocument/2006/relationships/slide" Target="/ppt/slides/slide37.xml" Id="Rf8bf77bdb9824b79" /><Relationship Type="http://schemas.openxmlformats.org/officeDocument/2006/relationships/slide" Target="/ppt/slides/slide38.xml" Id="R39aec2221a8c425c" /><Relationship Type="http://schemas.openxmlformats.org/officeDocument/2006/relationships/slide" Target="/ppt/slides/slide39.xml" Id="R5481bbd1f06446d2" /><Relationship Type="http://schemas.openxmlformats.org/officeDocument/2006/relationships/slide" Target="/ppt/slides/slide40.xml" Id="Rcba41d7626da4498" /><Relationship Type="http://schemas.openxmlformats.org/officeDocument/2006/relationships/slide" Target="/ppt/slides/slide41.xml" Id="R0215c434c9a34051" /><Relationship Type="http://schemas.openxmlformats.org/officeDocument/2006/relationships/slide" Target="/ppt/slides/slide42.xml" Id="Rd350a85bff0b416b" /><Relationship Type="http://schemas.openxmlformats.org/officeDocument/2006/relationships/slide" Target="/ppt/slides/slide43.xml" Id="Rd99c46b56de84d1b" /><Relationship Type="http://schemas.openxmlformats.org/officeDocument/2006/relationships/slide" Target="/ppt/slides/slide44.xml" Id="Rb6ba7749862c4337" /><Relationship Type="http://schemas.openxmlformats.org/officeDocument/2006/relationships/slide" Target="/ppt/slides/slide45.xml" Id="Rc2aba252deb145dd" /><Relationship Type="http://schemas.openxmlformats.org/officeDocument/2006/relationships/slide" Target="/ppt/slides/slide46.xml" Id="R6500c468870549e1" /><Relationship Type="http://schemas.openxmlformats.org/officeDocument/2006/relationships/slide" Target="/ppt/slides/slide47.xml" Id="R79566c8a1f2f4188" /><Relationship Type="http://schemas.openxmlformats.org/officeDocument/2006/relationships/slide" Target="/ppt/slides/slide48.xml" Id="R3b948a9e2fc74f11" /><Relationship Type="http://schemas.openxmlformats.org/officeDocument/2006/relationships/slide" Target="/ppt/slides/slide49.xml" Id="R622ef5cada11423e" /><Relationship Type="http://schemas.openxmlformats.org/officeDocument/2006/relationships/slide" Target="/ppt/slides/slide50.xml" Id="R0d6308c077e342f7" /><Relationship Type="http://schemas.openxmlformats.org/officeDocument/2006/relationships/slide" Target="/ppt/slides/slide51.xml" Id="R8a62251896a346d9" /><Relationship Type="http://schemas.openxmlformats.org/officeDocument/2006/relationships/slide" Target="/ppt/slides/slide52.xml" Id="R0234760df7ba4609" /><Relationship Type="http://schemas.openxmlformats.org/officeDocument/2006/relationships/slide" Target="/ppt/slides/slide53.xml" Id="R9f34e5fe88c34a27" /><Relationship Type="http://schemas.openxmlformats.org/officeDocument/2006/relationships/slide" Target="/ppt/slides/slide54.xml" Id="R0345bfc6f2944343" /><Relationship Type="http://schemas.openxmlformats.org/officeDocument/2006/relationships/slide" Target="/ppt/slides/slide55.xml" Id="Rb5e268f315ac40d7" /><Relationship Type="http://schemas.openxmlformats.org/officeDocument/2006/relationships/slide" Target="/ppt/slides/slide56.xml" Id="Rfdd10b095a9041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9712114545e4a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1731f1ceed48e2" /><Relationship Type="http://schemas.openxmlformats.org/officeDocument/2006/relationships/notesMaster" Target="/ppt/notesMasters/notesMaster1.xml" Id="R9987b84b6007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77556236cb454c" /><Relationship Type="http://schemas.openxmlformats.org/officeDocument/2006/relationships/notesMaster" Target="/ppt/notesMasters/notesMaster1.xml" Id="Rc2116aad51924e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3e6ea465e344e8" /><Relationship Type="http://schemas.openxmlformats.org/officeDocument/2006/relationships/notesMaster" Target="/ppt/notesMasters/notesMaster1.xml" Id="R9281769a8b8c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4c2059e85042a7" /><Relationship Type="http://schemas.openxmlformats.org/officeDocument/2006/relationships/notesMaster" Target="/ppt/notesMasters/notesMaster1.xml" Id="R5ca641c45dc94b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eb5476c66b4b38" /><Relationship Type="http://schemas.openxmlformats.org/officeDocument/2006/relationships/notesMaster" Target="/ppt/notesMasters/notesMaster1.xml" Id="Ra6c1ba215ec5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647a26d391486a" /><Relationship Type="http://schemas.openxmlformats.org/officeDocument/2006/relationships/notesMaster" Target="/ppt/notesMasters/notesMaster1.xml" Id="R01091d00b43340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4bc9e4051d48e7" /><Relationship Type="http://schemas.openxmlformats.org/officeDocument/2006/relationships/notesMaster" Target="/ppt/notesMasters/notesMaster1.xml" Id="Rdb8ae4f7d11b49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58ae43eaf4c1a" /><Relationship Type="http://schemas.openxmlformats.org/officeDocument/2006/relationships/notesMaster" Target="/ppt/notesMasters/notesMaster1.xml" Id="R95113edddc8d4b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c30acc36a2460a" /><Relationship Type="http://schemas.openxmlformats.org/officeDocument/2006/relationships/notesMaster" Target="/ppt/notesMasters/notesMaster1.xml" Id="R94105d9bfc704a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72376cc2ee482e" /><Relationship Type="http://schemas.openxmlformats.org/officeDocument/2006/relationships/notesMaster" Target="/ppt/notesMasters/notesMaster1.xml" Id="R4e346091402641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6f3384393f4ce3" /><Relationship Type="http://schemas.openxmlformats.org/officeDocument/2006/relationships/notesMaster" Target="/ppt/notesMasters/notesMaster1.xml" Id="R2ac5fe1ef2e543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faf7af49a64b3f" /><Relationship Type="http://schemas.openxmlformats.org/officeDocument/2006/relationships/notesMaster" Target="/ppt/notesMasters/notesMaster1.xml" Id="Ra6fd1b54216648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201498a8504667" /><Relationship Type="http://schemas.openxmlformats.org/officeDocument/2006/relationships/notesMaster" Target="/ppt/notesMasters/notesMaster1.xml" Id="R23c98c329d7a4f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1bd4091905435d" /><Relationship Type="http://schemas.openxmlformats.org/officeDocument/2006/relationships/notesMaster" Target="/ppt/notesMasters/notesMaster1.xml" Id="Ra8e05a76db954b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f678f2cc1341b1" /><Relationship Type="http://schemas.openxmlformats.org/officeDocument/2006/relationships/notesMaster" Target="/ppt/notesMasters/notesMaster1.xml" Id="Ra966bf77cea94f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665a0286a7461e" /><Relationship Type="http://schemas.openxmlformats.org/officeDocument/2006/relationships/notesMaster" Target="/ppt/notesMasters/notesMaster1.xml" Id="Rd062312342ad47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e3c58dea664c7a" /><Relationship Type="http://schemas.openxmlformats.org/officeDocument/2006/relationships/notesMaster" Target="/ppt/notesMasters/notesMaster1.xml" Id="R7cef5162c1ab4a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005f0eed684b09" /><Relationship Type="http://schemas.openxmlformats.org/officeDocument/2006/relationships/notesMaster" Target="/ppt/notesMasters/notesMaster1.xml" Id="R0dd5514e01bc4d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2a3469f0dc4d32" /><Relationship Type="http://schemas.openxmlformats.org/officeDocument/2006/relationships/notesMaster" Target="/ppt/notesMasters/notesMaster1.xml" Id="R02ce553fd34d42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25711b2c5d4fcf" /><Relationship Type="http://schemas.openxmlformats.org/officeDocument/2006/relationships/notesMaster" Target="/ppt/notesMasters/notesMaster1.xml" Id="Rad4f2b01abbb4a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5173517cd44142" /><Relationship Type="http://schemas.openxmlformats.org/officeDocument/2006/relationships/notesMaster" Target="/ppt/notesMasters/notesMaster1.xml" Id="R3b64cfd375634c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e8381cde9141ae" /><Relationship Type="http://schemas.openxmlformats.org/officeDocument/2006/relationships/notesMaster" Target="/ppt/notesMasters/notesMaster1.xml" Id="R7acb84fd037b4a0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1c54ec95af4456" /><Relationship Type="http://schemas.openxmlformats.org/officeDocument/2006/relationships/notesMaster" Target="/ppt/notesMasters/notesMaster1.xml" Id="R64319f87abd14b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de934f02ed4a35" /><Relationship Type="http://schemas.openxmlformats.org/officeDocument/2006/relationships/notesMaster" Target="/ppt/notesMasters/notesMaster1.xml" Id="R25e9aeff35244f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d071d2a182490b" /><Relationship Type="http://schemas.openxmlformats.org/officeDocument/2006/relationships/notesMaster" Target="/ppt/notesMasters/notesMaster1.xml" Id="R8129a7618deb48d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1323f770d1b4eea" /><Relationship Type="http://schemas.openxmlformats.org/officeDocument/2006/relationships/notesMaster" Target="/ppt/notesMasters/notesMaster1.xml" Id="Rb96c8278878947a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cd66aad8e464e03" /><Relationship Type="http://schemas.openxmlformats.org/officeDocument/2006/relationships/notesMaster" Target="/ppt/notesMasters/notesMaster1.xml" Id="R4c0abf85f0024b0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7af4877cf04720" /><Relationship Type="http://schemas.openxmlformats.org/officeDocument/2006/relationships/notesMaster" Target="/ppt/notesMasters/notesMaster1.xml" Id="Rae152fff90d84e0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d8e34bd5e8e45de" /><Relationship Type="http://schemas.openxmlformats.org/officeDocument/2006/relationships/notesMaster" Target="/ppt/notesMasters/notesMaster1.xml" Id="Ra9c05d1b336e43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2d291dfea18417c" /><Relationship Type="http://schemas.openxmlformats.org/officeDocument/2006/relationships/notesMaster" Target="/ppt/notesMasters/notesMaster1.xml" Id="R02993c0dccf7490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e9f80f355414957" /><Relationship Type="http://schemas.openxmlformats.org/officeDocument/2006/relationships/notesMaster" Target="/ppt/notesMasters/notesMaster1.xml" Id="R6559e3d3a51d4df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e5831aac764d6d" /><Relationship Type="http://schemas.openxmlformats.org/officeDocument/2006/relationships/notesMaster" Target="/ppt/notesMasters/notesMaster1.xml" Id="R75c1a8421cd643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f80ae4651f4717" /><Relationship Type="http://schemas.openxmlformats.org/officeDocument/2006/relationships/notesMaster" Target="/ppt/notesMasters/notesMaster1.xml" Id="R7151588cab66400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238aa070a446aa" /><Relationship Type="http://schemas.openxmlformats.org/officeDocument/2006/relationships/notesMaster" Target="/ppt/notesMasters/notesMaster1.xml" Id="Rb863ebc57d3f44c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1b96aaaf23479e" /><Relationship Type="http://schemas.openxmlformats.org/officeDocument/2006/relationships/notesMaster" Target="/ppt/notesMasters/notesMaster1.xml" Id="R5ca7d5f1a1ec4ec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dad2d8c45f545ef" /><Relationship Type="http://schemas.openxmlformats.org/officeDocument/2006/relationships/notesMaster" Target="/ppt/notesMasters/notesMaster1.xml" Id="R583467a2320246f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c9a8bffb8fd448b" /><Relationship Type="http://schemas.openxmlformats.org/officeDocument/2006/relationships/notesMaster" Target="/ppt/notesMasters/notesMaster1.xml" Id="Rff657e2fdb25468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305af0b2b3646f5" /><Relationship Type="http://schemas.openxmlformats.org/officeDocument/2006/relationships/notesMaster" Target="/ppt/notesMasters/notesMaster1.xml" Id="R5f8137e526034d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abbaffe07f44433" /><Relationship Type="http://schemas.openxmlformats.org/officeDocument/2006/relationships/notesMaster" Target="/ppt/notesMasters/notesMaster1.xml" Id="Rb2831f93b5f54a3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bb8e7db0da4778" /><Relationship Type="http://schemas.openxmlformats.org/officeDocument/2006/relationships/notesMaster" Target="/ppt/notesMasters/notesMaster1.xml" Id="R3335ea3df10f411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aa4b51024494523" /><Relationship Type="http://schemas.openxmlformats.org/officeDocument/2006/relationships/notesMaster" Target="/ppt/notesMasters/notesMaster1.xml" Id="Raebc0190a61d420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2a37d9b62254bbd" /><Relationship Type="http://schemas.openxmlformats.org/officeDocument/2006/relationships/notesMaster" Target="/ppt/notesMasters/notesMaster1.xml" Id="R996f2cfffea4494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6a553e621da4105" /><Relationship Type="http://schemas.openxmlformats.org/officeDocument/2006/relationships/notesMaster" Target="/ppt/notesMasters/notesMaster1.xml" Id="Rbdb9ae1439964cb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f2dc746bb2a4bef" /><Relationship Type="http://schemas.openxmlformats.org/officeDocument/2006/relationships/notesMaster" Target="/ppt/notesMasters/notesMaster1.xml" Id="R728d5d34d9b4411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5d7da03e35e436b" /><Relationship Type="http://schemas.openxmlformats.org/officeDocument/2006/relationships/notesMaster" Target="/ppt/notesMasters/notesMaster1.xml" Id="Raef5f48e5f6f4c2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9b89325fea04138" /><Relationship Type="http://schemas.openxmlformats.org/officeDocument/2006/relationships/notesMaster" Target="/ppt/notesMasters/notesMaster1.xml" Id="Rce7da706b3cf4e0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3c73c8476aa4549" /><Relationship Type="http://schemas.openxmlformats.org/officeDocument/2006/relationships/notesMaster" Target="/ppt/notesMasters/notesMaster1.xml" Id="Rdaf62303434b442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7e1d6c748a244f2" /><Relationship Type="http://schemas.openxmlformats.org/officeDocument/2006/relationships/notesMaster" Target="/ppt/notesMasters/notesMaster1.xml" Id="R2dad8c2adf8c4a1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f1d2eda4a324ab2" /><Relationship Type="http://schemas.openxmlformats.org/officeDocument/2006/relationships/notesMaster" Target="/ppt/notesMasters/notesMaster1.xml" Id="R4bf0a088f37c43e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ba6b2d9b17e4ea9" /><Relationship Type="http://schemas.openxmlformats.org/officeDocument/2006/relationships/notesMaster" Target="/ppt/notesMasters/notesMaster1.xml" Id="R36a59965d604416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6b27d4b0c8b4388" /><Relationship Type="http://schemas.openxmlformats.org/officeDocument/2006/relationships/notesMaster" Target="/ppt/notesMasters/notesMaster1.xml" Id="R183254b8e52a4a9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40f9e9b6cf140bc" /><Relationship Type="http://schemas.openxmlformats.org/officeDocument/2006/relationships/notesMaster" Target="/ppt/notesMasters/notesMaster1.xml" Id="R326ae6a42a35431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6796ab4b06341b8" /><Relationship Type="http://schemas.openxmlformats.org/officeDocument/2006/relationships/notesMaster" Target="/ppt/notesMasters/notesMaster1.xml" Id="R4de42d0d778c434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1dc1e39a993414c" /><Relationship Type="http://schemas.openxmlformats.org/officeDocument/2006/relationships/notesMaster" Target="/ppt/notesMasters/notesMaster1.xml" Id="R260a7e483d92478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46d5ec687bd4e84" /><Relationship Type="http://schemas.openxmlformats.org/officeDocument/2006/relationships/notesMaster" Target="/ppt/notesMasters/notesMaster1.xml" Id="Ra45ad68e9c7d42c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f784f56316247aa" /><Relationship Type="http://schemas.openxmlformats.org/officeDocument/2006/relationships/notesMaster" Target="/ppt/notesMasters/notesMaster1.xml" Id="Ra28121937b1d40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本页目的：把FDE训练营从课程学习推向真实项目、真实评审、真实岗位和真实创业入口。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综合项目实战、认证路演与就业孵化”。本页的目的不是增加一个新概念，而是把前面学过的能力推向真实成果。请先记住本页核心句：把FDE训练营从课程学习推向真实项目、真实评审、真实岗位和真实创业入口。屏幕关键词是：综合实战；作品集；认证路演；就业推荐；OPC孵化；讲师试讲。</a:t>
            </a:r>
          </a:p>
          <a:p xmlns:a="http://schemas.openxmlformats.org/drawingml/2006/main">
            <a:r>
              <a:t>【为什么这样讲，约1分30秒】这一部分把课程从学习状态切换到成果状态。讲师要让学员意识到，第7章的课堂不是“再听一天课”，而是一次模拟真实评审、真实推荐和真实孵化的综合演练。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是第7章总论。讲师要把课程链路完整串起来：前6章分别训练FDE角色认知、企业诊断、上下文工程、Agent部署、系统闭环和项目交付，第7章则把这些能力压缩成综合实战、作品集、认证路演、就业推荐、OPC孵化和讲师试讲。学员要明白，今天不是再学一个模块，而是把自己放进真实机会池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收住后，我们进入下一段：项目选题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综合项目实战、认证路演与就业孵化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过渡语：这一页收住后，我们进入下一段：项目选题。请大家带着自己的项目材料往前推进，不要把它当成抽象知识。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本页目的：本章不再单点讲知识，而是把前6章能力组织成可评审、可推荐、可合作的成果。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8课时收官路径”。本页的目的不是增加一个新概念，而是把前面学过的能力推向真实成果。请先记住本页核心句：本章不再单点讲知识，而是把前6章能力组织成可评审、可推荐、可合作的成果。。屏幕关键词是：收束总图；项目选题；案例拆解；作品集；认证路演；就业面试；OPC/讲师；生态入驻。</a:t>
            </a:r>
          </a:p>
          <a:p xmlns:a="http://schemas.openxmlformats.org/drawingml/2006/main">
            <a:r>
              <a:t>【为什么这样讲，约1分30秒】这一部分把课程从学习状态切换到成果状态。讲师要让学员意识到，第7章的课堂不是“再听一天课”，而是一次模拟真实评审、真实推荐和真实孵化的综合演练。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3分钟。时间紧时保留案例和一个现场追问；时间充裕时让学员直接改自己的作品集或路演稿。过渡语可以这样说：这一页收住后，我们进入下一段：项目选题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8课时收官路径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过渡语：这一页收住后，我们进入下一段：项目选题。请大家带着自己的项目材料往前推进，不要把它当成抽象知识。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本页目的：前6章产出能力，第7章负责把能力变成作品、认证、岗位、订单和孵化机会。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学习链路到人才链路”。本页的目的不是增加一个新概念，而是把前面学过的能力推向真实成果。请先记住本页核心句：前6章产出能力，第7章负责把能力变成作品、认证、岗位、订单和孵化机会。。屏幕关键词是：AI转型理解；企业诊断；上下文工程；Agent部署；系统闭环；交付管理；综合实战。</a:t>
            </a:r>
          </a:p>
          <a:p xmlns:a="http://schemas.openxmlformats.org/drawingml/2006/main">
            <a:r>
              <a:t>【为什么这样讲，约1分30秒】这一部分把课程从学习状态切换到成果状态。讲师要让学员意识到，第7章的课堂不是“再听一天课”，而是一次模拟真实评审、真实推荐和真实孵化的综合演练。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6分钟。时间紧时保留案例和一个现场追问；时间充裕时让学员直接改自己的作品集或路演稿。过渡语可以这样说：这一页收住后，我们进入下一段：项目选题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从学习链路到人才链路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过渡语：这一页收住后，我们进入下一段：项目选题。请大家带着自己的项目材料往前推进，不要把它当成抽象知识。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本页目的：每位学员都要留下能被企业和WEI生态识别的证据。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第7章最终成果包”。本页的目的不是增加一个新概念，而是把前面学过的能力推向真实成果。请先记住本页核心句：每位学员都要留下能被企业和WEI生态识别的证据。。屏幕关键词是：项目路演PPT；FDE交付包；个人作品集；能力雷达；推荐建议；90天计划。</a:t>
            </a:r>
          </a:p>
          <a:p xmlns:a="http://schemas.openxmlformats.org/drawingml/2006/main">
            <a:r>
              <a:t>【为什么这样讲，约1分30秒】这一部分把课程从学习状态切换到成果状态。讲师要让学员意识到，第7章的课堂不是“再听一天课”，而是一次模拟真实评审、真实推荐和真实孵化的综合演练。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项目选题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第7章最终成果包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过渡语：这一页收住后，我们进入下一段：项目选题。请大家带着自己的项目材料往前推进，不要把它当成抽象知识。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本页目的：FDE不是靠“我会AI”获得机会，而是靠真实交付证据进入项目、岗位和孵化器。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没有作品集，就没有FDE人才信任”。本页的目的不是增加一个新概念，而是把前面学过的能力推向真实成果。请先记住本页核心句：FDE不是靠“我会AI”获得机会，而是靠真实交付证据进入项目、岗位和孵化器。。屏幕关键词是：证据；作品；评审；推荐；入驻。</a:t>
            </a:r>
          </a:p>
          <a:p xmlns:a="http://schemas.openxmlformats.org/drawingml/2006/main">
            <a:r>
              <a:t>【为什么这样讲，约1分30秒】这一部分把课程从学习状态切换到成果状态。讲师要让学员意识到，第7章的课堂不是“再听一天课”，而是一次模拟真实评审、真实推荐和真实孵化的综合演练。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4分钟。时间紧时保留案例和一个现场追问；时间充裕时让学员直接改自己的作品集或路演稿。过渡语可以这样说：这一页收住后，我们进入下一段：项目选题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没有作品集，就没有FDE人才信任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过渡语：这一页收住后，我们进入下一段：项目选题。请大家带着自己的项目材料往前推进，不要把它当成抽象知识。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本页目的：选题决定实战质量，分工决定交付速度。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综合项目选题与团队分工”。本页的目的不是增加一个新概念，而是把前面学过的能力推向真实成果。请先记住本页核心句：选题决定实战质量，分工决定交付速度。。屏幕关键词是：选题；组队；规则。</a:t>
            </a:r>
          </a:p>
          <a:p xmlns:a="http://schemas.openxmlformats.org/drawingml/2006/main">
            <a:r>
              <a:t>【为什么这样讲，约1分30秒】这一部分决定实战质量。选题太大，学员会做成空泛战略；选题太小，无法体现FDE综合能力。最好的题目要有业务对象、真实流程、上下文、系统读写、运营指标和复制价值。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【本页展开，约2分钟】选题阶段要控制两个极端：一种是太宏大，像“帮企业完成AI转型”；一种是太工具化，像“做一个聊天机器人”。FDE实战题目最好是一个真实业务流程里的可闭环场景。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收住后，我们进入下一段：案例拆解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综合项目选题与团队分工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过渡语：这一页收住后，我们进入下一段：案例拆解。请大家带着自己的项目材料往前推进，不要把它当成抽象知识。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本页目的：项目题目要能覆盖业务价值、上下文、Agent、系统集成和运营闭环。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五类推荐实战题目”。本页的目的不是增加一个新概念，而是把前面学过的能力推向真实成果。请先记住本页核心句：项目题目要能覆盖业务价值、上下文、Agent、系统集成和运营闭环。。屏幕关键词是：销售线索数字员工；客服工单数字员工；HR招聘助手；财务报销审核；园区招商助手；青少年AI导师。</a:t>
            </a:r>
          </a:p>
          <a:p xmlns:a="http://schemas.openxmlformats.org/drawingml/2006/main">
            <a:r>
              <a:t>【为什么这样讲，约1分30秒】这一部分决定实战质量。选题太大，学员会做成空泛战略；选题太小，无法体现FDE综合能力。最好的题目要有业务对象、真实流程、上下文、系统读写、运营指标和复制价值。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【本页展开，约2分钟】选题阶段要控制两个极端：一种是太宏大，像“帮企业完成AI转型”；一种是太工具化，像“做一个聊天机器人”。FDE实战题目最好是一个真实业务流程里的可闭环场景。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6分钟。时间紧时保留案例和一个现场追问；时间充裕时让学员直接改自己的作品集或路演稿。过渡语可以这样说：这一页收住后，我们进入下一段：案例拆解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五类推荐实战题目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过渡语：这一页收住后，我们进入下一段：案例拆解。请大家带着自己的项目材料往前推进，不要把它当成抽象知识。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本页目的：真实、聚焦、可接入、可评估、可路演、可复制。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好项目的六个特征”。本页的目的不是增加一个新概念，而是把前面学过的能力推向真实成果。请先记住本页核心句：真实、聚焦、可接入、可评估、可路演、可复制。。屏幕关键词是：真实痛点；MVP清晰；数据可得；系统可接；指标可测；模板可复用。</a:t>
            </a:r>
          </a:p>
          <a:p xmlns:a="http://schemas.openxmlformats.org/drawingml/2006/main">
            <a:r>
              <a:t>【为什么这样讲，约1分30秒】这一部分决定实战质量。选题太大，学员会做成空泛战略；选题太小，无法体现FDE综合能力。最好的题目要有业务对象、真实流程、上下文、系统读写、运营指标和复制价值。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6分钟。时间紧时保留案例和一个现场追问；时间充裕时让学员直接改自己的作品集或路演稿。过渡语可以这样说：这一页收住后，我们进入下一段：案例拆解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好项目的六个特征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过渡语：这一页收住后，我们进入下一段：案例拆解。请大家带着自己的项目材料往前推进，不要把它当成抽象知识。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本页目的：小组内要模拟真实交付团队，而不是所有人一起写PPT。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一个FDE项目组的角色配置”。本页的目的不是增加一个新概念，而是把前面学过的能力推向真实成果。请先记住本页核心句：小组内要模拟真实交付团队，而不是所有人一起写PPT。。屏幕关键词是：项目负责人；业务诊断；上下文工程；Agent/工具；系统/数据；路演讲师。</a:t>
            </a:r>
          </a:p>
          <a:p xmlns:a="http://schemas.openxmlformats.org/drawingml/2006/main">
            <a:r>
              <a:t>【为什么这样讲，约1分30秒】这一部分决定实战质量。选题太大，学员会做成空泛战略；选题太小，无法体现FDE综合能力。最好的题目要有业务对象、真实流程、上下文、系统读写、运营指标和复制价值。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案例拆解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一个FDE项目组的角色配置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过渡语：这一页收住后，我们进入下一段：案例拆解。请大家带着自己的项目材料往前推进，不要把它当成抽象知识。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本页目的：第7章课堂要像项目战情室，所有讨论都围绕交付物和证据。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实战工作坊规则”。本页的目的不是增加一个新概念，而是把前面学过的能力推向真实成果。请先记住本页核心句：第7章课堂要像项目战情室，所有讨论都围绕交付物和证据。。屏幕关键词是：不讲空话；每页有证据；分工到人；按时提交；现场答辩。</a:t>
            </a:r>
          </a:p>
          <a:p xmlns:a="http://schemas.openxmlformats.org/drawingml/2006/main">
            <a:r>
              <a:t>【为什么这样讲，约1分30秒】这一部分决定实战质量。选题太大，学员会做成空泛战略；选题太小，无法体现FDE综合能力。最好的题目要有业务对象、真实流程、上下文、系统读写、运营指标和复制价值。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【本页展开，约2分钟】选题阶段要控制两个极端：一种是太宏大，像“帮企业完成AI转型”；一种是太工具化，像“做一个聊天机器人”。FDE实战题目最好是一个真实业务流程里的可闭环场景。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6分钟。时间紧时保留案例和一个现场追问；时间充裕时让学员直接改自己的作品集或路演稿。过渡语可以这样说：这一页收住后，我们进入下一段：案例拆解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实战工作坊规则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过渡语：这一页收住后，我们进入下一段：案例拆解。请大家带着自己的项目材料往前推进，不要把它当成抽象知识。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本页目的：用紧凑节奏逼迫学员从讨论进入产出。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一天实战节奏安排”。本页的目的不是增加一个新概念，而是把前面学过的能力推向真实成果。请先记住本页核心句：用紧凑节奏逼迫学员从讨论进入产出。。屏幕关键词是：选题组队；诊断复盘；方案整合；交付包打磨；路演彩排；评审分流。</a:t>
            </a:r>
          </a:p>
          <a:p xmlns:a="http://schemas.openxmlformats.org/drawingml/2006/main">
            <a:r>
              <a:t>【为什么这样讲，约1分30秒】这一部分决定实战质量。选题太大，学员会做成空泛战略；选题太小，无法体现FDE综合能力。最好的题目要有业务对象、真实流程、上下文、系统读写、运营指标和复制价值。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【本页展开，约2分钟】选题阶段要控制两个极端：一种是太宏大，像“帮企业完成AI转型”；一种是太工具化，像“做一个聊天机器人”。FDE实战题目最好是一个真实业务流程里的可闭环场景。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案例拆解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一天实战节奏安排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过渡语：这一页收住后，我们进入下一段：案例拆解。请大家带着自己的项目材料往前推进，不要把它当成抽象知识。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本页目的：学员现场确定题目、客户画像、角色分工、产出清单和时间节点。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项目选题卡与小组作战图”。本页的目的不是增加一个新概念，而是把前面学过的能力推向真实成果。请先记住本页核心句：学员现场确定题目、客户画像、角色分工、产出清单和时间节点。。屏幕关键词是：选题卡；客户画像；角色分工；交付清单；时间节点。</a:t>
            </a:r>
          </a:p>
          <a:p xmlns:a="http://schemas.openxmlformats.org/drawingml/2006/main">
            <a:r>
              <a:t>【为什么这样讲，约1分30秒】这一部分决定实战质量。选题太大，学员会做成空泛战略；选题太小，无法体现FDE综合能力。最好的题目要有业务对象、真实流程、上下文、系统读写、运营指标和复制价值。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【本页展开，约2分钟】选题阶段要控制两个极端：一种是太宏大，像“帮企业完成AI转型”；一种是太工具化，像“做一个聊天机器人”。FDE实战题目最好是一个真实业务流程里的可闭环场景。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10分钟。时间紧时保留案例和一个现场追问；时间充裕时让学员直接改自己的作品集或路演稿。过渡语可以这样说：这一页收住后，我们进入下一段：案例拆解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完成项目选题卡与小组作战图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互动问题：请学员现场填写本页对应模板，讲师至少抽两组点评，一组看证据链，一组看表达和商业路径。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过渡语：这一页收住后，我们进入下一段：案例拆解。请大家带着自己的项目材料往前推进，不要把它当成抽象知识。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本页目的：用跨行业案例训练学员迁移能力。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实战案例拆解”。本页的目的不是增加一个新概念，而是把前面学过的能力推向真实成果。请先记住本页核心句：用跨行业案例训练学员迁移能力。。屏幕关键词是：销售；客服；HR；财务；制造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企业实战案例拆解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本页目的：从线索进入、客户画像、跟进建议、CRM回写到运营复盘。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销售线索数字员工端到端拆解”。本页的目的不是增加一个新概念，而是把前面学过的能力推向真实成果。请先记住本页核心句：从线索进入、客户画像、跟进建议、CRM回写到运营复盘。。屏幕关键词是：线索来源；客户画像；意向分级；跟进建议；CRM回写；转化复盘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销售线索数字员工端到端拆解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本页目的：从工单分类、知识检索、回复草稿、人审接管到质检闭环。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客服工单数字员工端到端拆解”。本页的目的不是增加一个新概念，而是把前面学过的能力推向真实成果。请先记住本页核心句：从工单分类、知识检索、回复草稿、人审接管到质检闭环。。屏幕关键词是：工单分类；知识检索；回复草稿；人工确认；质检标签；满意度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客服工单数字员工端到端拆解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本页目的：从岗位画像、简历解析、候选人沟通到面试安排和合规边界。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招聘筛选数字员工端到端拆解”。本页的目的不是增加一个新概念，而是把前面学过的能力推向真实成果。请先记住本页核心句：从岗位画像、简历解析、候选人沟通到面试安排和合规边界。。屏幕关键词是：岗位画像；简历解析；匹配评分；候选沟通；面试安排；合规边界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招聘筛选数字员工端到端拆解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本页目的：从票据识别、制度校验、异常提示、审批辅助到审计留痕。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报销审核数字员工端到端拆解”。本页的目的不是增加一个新概念，而是把前面学过的能力推向真实成果。请先记住本页核心句：从票据识别、制度校验、异常提示、审批辅助到审计留痕。。屏幕关键词是：票据识别；制度校验；异常提示；审批建议；审计留痕；风险复盘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报销审核数字员工端到端拆解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本页目的：从企业画像、政策匹配、招商话术、跟进提醒到项目入驻。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园区招商数字员工端到端拆解”。本页的目的不是增加一个新概念，而是把前面学过的能力推向真实成果。请先记住本页核心句：从企业画像、政策匹配、招商话术、跟进提醒到项目入驻。。屏幕关键词是：企业画像；政策匹配；招商话术；跟进提醒；入驻流程；产业画像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园区招商数字员工端到端拆解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本页目的：学员要能把一个行业案例迁移到另一个行业，而不是背模板。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案例迁移六问”。本页的目的不是增加一个新概念，而是把前面学过的能力推向真实成果。请先记住本页核心句：学员要能把一个行业案例迁移到另一个行业，而不是背模板。。屏幕关键词是：对象是谁；触发在哪；上下文是什么；工具接哪里；结果写哪里；指标看什么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案例迁移六问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本页目的：每组选择一个行业，把案例拆成诊断、上下文、Agent、系统、运营、商业复制。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一个行业案例拆解图”。本页的目的不是增加一个新概念，而是把前面学过的能力推向真实成果。请先记住本页核心句：每组选择一个行业，把案例拆成诊断、上下文、Agent、系统、运营、商业复制。。屏幕关键词是：诊断；上下文；Agent；系统；运营；复制。</a:t>
            </a:r>
          </a:p>
          <a:p xmlns:a="http://schemas.openxmlformats.org/drawingml/2006/main">
            <a:r>
              <a:t>【为什么这样讲，约1分30秒】这一部分训练迁移能力。FDE不可能只会一个行业，必须能把销售、客服、HR、财务、园区等场景抽象成相同的交付结构：对象、触发、上下文、工具、回写、运营和商业价值。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【本页展开，约2分钟】案例拆解时不要只讲流程图，要讲业务现场。谁触发任务，谁看结果，AI需要哪些事实，系统在哪里，失败谁接手，上线后看什么指标。每个行业名词都要最后落成FDE交付动作。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10分钟。时间紧时保留案例和一个现场追问；时间充裕时让学员直接改自己的作品集或路演稿。过渡语可以这样说：这一页收住后，我们进入下一段：作品集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完成一个行业案例拆解图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互动问题：请学员现场填写本页对应模板，讲师至少抽两组点评，一组看证据链，一组看表达和商业路径。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过渡语：这一页收住后，我们进入下一段：作品集。请大家带着自己的项目材料往前推进，不要把它当成抽象知识。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本页目的：作品集是学员进入企业和WEI生态的通行证。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作品集与交付包打磨”。本页的目的不是增加一个新概念，而是把前面学过的能力推向真实成果。请先记住本页核心句：作品集是学员进入企业和WEI生态的通行证。。屏幕关键词是：证据；结构；呈现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作品集与交付包打磨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本页目的：作品集不是文件堆，而是一组能证明能力的交付证据。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作品集六件套”。本页的目的不是增加一个新概念，而是把前面学过的能力推向真实成果。请先记住本页核心句：作品集不是文件堆，而是一组能证明能力的交付证据。。屏幕关键词是：个人定位页；项目摘要页；诊断报告；方案蓝图；交付证据；价值复盘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FDE作品集六件套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本页目的：交付包要让客户、招聘方、评委和孵化器都能快速判断学员能力。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可读的FDE交付包”。本页的目的不是增加一个新概念，而是把前面学过的能力推向真实成果。请先记住本页核心句：交付包要让客户、招聘方、评委和孵化器都能快速判断学员能力。。屏幕关键词是：项目章程；场景诊断；上下文包；Agent蓝图；系统闭环；运营看板；价值报告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企业可读的FDE交付包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本页目的：作业关注是否完成，作品集关注是否可信、可读、可复用。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作业到作品集的升级”。本页的目的不是增加一个新概念，而是把前面学过的能力推向真实成果。请先记住本页核心句：作业关注是否完成，作品集关注是否可信、可读、可复用。。屏幕关键词是：作业：过程记录；作品：客户语言；作业：截图材料；作品：证据链；作业：个人视角；作品：商业视角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从作业到作品集的升级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本页目的：评分要看业务价值、技术闭环、交付完整、表达呈现和复制潜力。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作品集五维评分卡”。本页的目的不是增加一个新概念，而是把前面学过的能力推向真实成果。请先记住本页核心句：评分要看业务价值、技术闭环、交付完整、表达呈现和复制潜力。。屏幕关键词是：业务价值；技术闭环；交付完整；表达呈现；复制潜力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8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作品集五维评分卡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本页目的：很多作品集不是能力不足，而是证据不清、故事不顺、页面不专业。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作品集常见扣分点”。本页的目的不是增加一个新概念，而是把前面学过的能力推向真实成果。请先记住本页核心句：很多作品集不是能力不足，而是证据不清、故事不顺、页面不专业。。屏幕关键词是：只讲工具；没有指标；缺少客户画像；没有风险边界；视觉混乱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作品集常见扣分点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本页目的：项目摘要页要让陌生评委在60秒内看懂项目价值。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一页项目摘要怎么写”。本页的目的不是增加一个新概念，而是把前面学过的能力推向真实成果。请先记住本页核心句：项目摘要页要让陌生评委在60秒内看懂项目价值。。屏幕关键词是：客户是谁；痛点是什么；方案是什么；证据是什么；价值是什么；下一步是什么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一页项目摘要怎么写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本页目的：每位学员完成个人定位、代表项目、能力标签和下一步目标。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打磨个人FDE作品集首页”。本页的目的不是增加一个新概念，而是把前面学过的能力推向真实成果。请先记住本页核心句：每位学员完成个人定位、代表项目、能力标签和下一步目标。。屏幕关键词是：个人定位；代表项目；能力标签；成果证据；目标路径。</a:t>
            </a:r>
          </a:p>
          <a:p xmlns:a="http://schemas.openxmlformats.org/drawingml/2006/main">
            <a:r>
              <a:t>【为什么这样讲，约1分30秒】这一部分要把作业打磨成信任资产。企业不会因为学员上过课就录用他，WEI生态也不会因为学员说想创业就合作，真正能建立信任的是作品集和交付证据。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讲这一页时要提醒学员，作品集不是把所有文件打包上传，而是像一个客户案例一样组织证据。第一页要说明自己是谁，第二页要说明项目解决什么业务问题，后面每一页都要回答一个评委会问的问题：你怎么诊断、怎么设计、怎么部署、怎么证明价值、怎么控制风险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10分钟。时间紧时保留案例和一个现场追问；时间充裕时让学员直接改自己的作品集或路演稿。过渡语可以这样说：这一页收住后，我们进入下一段：认证路演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打磨个人FDE作品集首页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【作品集加讲，约1分钟】作品集要遵循一个原则：陌生人也能看懂。不要假设评委知道你的课堂背景，也不要假设企业知道FDE术语。每一页都要把客户、问题、方案、证据、价值写出来。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互动问题：请学员现场填写本页对应模板，讲师至少抽两组点评，一组看证据链，一组看表达和商业路径。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过渡语：这一页收住后，我们进入下一段：认证路演。请大家带着自己的项目材料往前推进，不要把它当成抽象知识。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本页目的：用路演把能力压缩成可信表达。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认证路演与评审”。本页的目的不是增加一个新概念，而是把前面学过的能力推向真实成果。请先记住本页核心句：用路演把能力压缩成可信表达。。屏幕关键词是：路演；问答；认证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路演训练要非常接近真实评审。讲师可以把评委问题提前写在白板上：客户是谁，痛点是否真实，数据从哪里来，为什么不用普通流程工具，风险如何控制，成本如何解释，下一步怎么扩大。学员必须用证据回答，不允许只说“我们认为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认证路演与评审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互动问题：请一名学员用30秒讲项目价值，另一名学员扮演评委提出一个尖锐问题。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本页目的：路演要从客户问题讲到方案证据，再讲价值、风险和下一步。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10分钟FDE项目路演结构”。本页的目的不是增加一个新概念，而是把前面学过的能力推向真实成果。请先记住本页核心句：路演要从客户问题讲到方案证据，再讲价值、风险和下一步。。屏幕关键词是：客户问题；诊断证据；方案蓝图；部署结果；价值数据；商业路径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路演训练要非常接近真实评审。讲师可以把评委问题提前写在白板上：客户是谁，痛点是否真实，数据从哪里来，为什么不用普通流程工具，风险如何控制，成本如何解释，下一步怎么扩大。学员必须用证据回答，不允许只说“我们认为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10分钟FDE项目路演结构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互动问题：请一名学员用30秒讲项目价值，另一名学员扮演评委提出一个尖锐问题。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本页目的：好的开场让评委立刻知道客户、痛点、方案和价值。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30秒开场公式”。本页的目的不是增加一个新概念，而是把前面学过的能力推向真实成果。请先记住本页核心句：好的开场让评委立刻知道客户、痛点、方案和价值。。屏幕关键词是：客户对象；关键痛点；AI方案；核心价值；本期结果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30秒开场公式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互动问题：请一名学员用30秒讲项目价值，另一名学员扮演评委提出一个尖锐问题。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本页目的：评分不仅看PPT，更看交付证据和真实业务理解。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-FDE终评评分规则”。本页的目的不是增加一个新概念，而是把前面学过的能力推向真实成果。请先记住本页核心句：评分不仅看PPT，更看交付证据和真实业务理解。。屏幕关键词是：业务洞察30%；技术闭环25%；交付证据20%；表达呈现15%；复制潜力10%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WEI-FDE终评评分规则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互动问题：请一名学员用30秒讲项目价值，另一名学员扮演评委提出一个尖锐问题。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本页目的：答辩训练学员处理质疑、边界、数据、成本、风险和复制。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评委最常问的六类问题”。本页的目的不是增加一个新概念，而是把前面学过的能力推向真实成果。请先记住本页核心句：答辩训练学员处理质疑、边界、数据、成本、风险和复制。。屏幕关键词是：价值是否真实；数据从哪来；风险怎么控；成本怎么算；客户谁负责；如何复制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评委最常问的六类问题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互动问题：请一名学员用30秒讲项目价值，另一名学员扮演评委提出一个尖锐问题。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本页目的：用证据链区分助理级、交付级、项目负责级和讲师候选。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-FDE认证等级建议”。本页的目的不是增加一个新概念，而是把前面学过的能力推向真实成果。请先记住本页核心句：用证据链区分助理级、交付级、项目负责级和讲师候选。。屏幕关键词是：FDE-A助理；FDE-P交付；FDE-L负责；FDE-T讲师；OPC候选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WEI-FDE认证等级建议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互动问题：请一名学员用30秒讲项目价值，另一名学员扮演评委提出一个尖锐问题。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本页目的：路演不要展示“我会多少工具”，而要证明“我能交付结果”。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炫技路演到交付路演”。本页的目的不是增加一个新概念，而是把前面学过的能力推向真实成果。请先记住本页核心句：路演不要展示“我会多少工具”，而要证明“我能交付结果”。。屏幕关键词是：少讲模型名；多讲客户问题；少讲功能堆；多讲证据链；少讲愿景；多讲下一步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路演训练要非常接近真实评审。讲师可以把评委问题提前写在白板上：客户是谁，痛点是否真实，数据从哪里来，为什么不用普通流程工具，风险如何控制，成本如何解释，下一步怎么扩大。学员必须用证据回答，不允许只说“我们认为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从炫技路演到交付路演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互动问题：请一名学员用30秒讲项目价值，另一名学员扮演评委提出一个尖锐问题。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本页目的：每组进行5分钟压缩路演，接受同伴和讲师追问。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路演彩排与评委问答”。本页的目的不是增加一个新概念，而是把前面学过的能力推向真实成果。请先记住本页核心句：每组进行5分钟压缩路演，接受同伴和讲师追问。。屏幕关键词是：压缩路演；计时反馈；问答训练；评分记录；修改清单。</a:t>
            </a:r>
          </a:p>
          <a:p xmlns:a="http://schemas.openxmlformats.org/drawingml/2006/main">
            <a:r>
              <a:t>【为什么这样讲，约1分30秒】这一部分训练压缩表达和抗质疑能力。路演不是炫技，而是用10分钟证明自己理解客户、能设计方案、能控制风险、能交付结果。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路演训练要非常接近真实评审。讲师可以把评委问题提前写在白板上：客户是谁，痛点是否真实，数据从哪里来，为什么不用普通流程工具，风险如何控制，成本如何解释，下一步怎么扩大。学员必须用证据回答，不允许只说“我们认为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【课堂互动，约1分钟】请一名学员用30秒讲项目价值，另一名学员扮演评委提出一个尖锐问题。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10分钟。时间紧时保留案例和一个现场追问；时间充裕时让学员直接改自己的作品集或路演稿。过渡语可以这样说：这一页收住后，我们进入下一段：就业面试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完成路演彩排与评委问答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【路演加讲，约1分钟】路演时声音、节奏、页面都要服务于信任。学员不要急着讲技术细节，先让评委相信问题真实、范围清楚、结果可验收，再讲工具和模型。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互动问题：请学员现场填写本页对应模板，讲师至少抽两组点评，一组看证据链，一组看表达和商业路径。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过渡语：这一页收住后，我们进入下一段：就业面试。请大家带着自己的项目材料往前推进，不要把它当成抽象知识。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本页目的：把FDE能力翻译成企业听得懂的岗位语言。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就业推荐与企业面试”。本页的目的不是增加一个新概念，而是把前面学过的能力推向真实成果。请先记住本页核心句：把FDE能力翻译成企业听得懂的岗位语言。。屏幕关键词是：简历；面试；推荐。</a:t>
            </a:r>
          </a:p>
          <a:p xmlns:a="http://schemas.openxmlformats.org/drawingml/2006/main">
            <a:r>
              <a:t>【为什么这样讲，约1分30秒】这一部分把FDE能力翻译成企业岗位语言。企业面试官通常不熟悉训练营术语，学员要能把能力说成项目经历、业务贡献、协作方式和可验证成果。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就业部分要把训练营语言翻译成岗位语言。比如“上下文工程”可以说成“能把企业知识、业务规则和历史样本整理成AI可用的任务上下文”；“Agent部署”可以说成“能设计AI任务流程、工具调用、人工审核和日志回写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【就业连接，约1分钟】就业推荐要避免“泛AI简历”。推荐材料应该包括个人定位、代表项目、能力雷达、作品集链接、讲师评语和岗位适配建议。企业要看到这个人能进项目，而不是只会聊趋势。</a:t>
            </a:r>
          </a:p>
          <a:p xmlns:a="http://schemas.openxmlformats.org/drawingml/2006/main">
            <a:r>
              <a:t>【课堂互动，约1分钟】请学员把“我会AI”改写成一句企业听得懂的项目能力表达。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收住后，我们进入下一段：OPC讲师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就业推荐与企业面试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【就业加讲，约1分钟】面试表达要少讲“我学过很多AI工具”，多讲“我参与过一个什么项目，负责什么模块，解决什么问题，产出什么材料，最终如何评估”。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互动问题：请学员把“我会AI”改写成一句企业听得懂的项目能力表达。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过渡语：这一页收住后，我们进入下一段：OPC讲师。请大家带着自己的项目材料往前推进，不要把它当成抽象知识。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本页目的：学员可以面向AI实施、业务顾问、Agent工程、客户成功、培训运营等岗位。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相关就业方向”。本页的目的不是增加一个新概念，而是把前面学过的能力推向真实成果。请先记住本页核心句：学员可以面向AI实施、业务顾问、Agent工程、客户成功、培训运营等岗位。。屏幕关键词是：AI实施顾问；数字员工工程师；Agent应用工程师；企业AI项目助理；客户成功顾问；AI培训助教。</a:t>
            </a:r>
          </a:p>
          <a:p xmlns:a="http://schemas.openxmlformats.org/drawingml/2006/main">
            <a:r>
              <a:t>【为什么这样讲，约1分30秒】这一部分把FDE能力翻译成企业岗位语言。企业面试官通常不熟悉训练营术语，学员要能把能力说成项目经历、业务贡献、协作方式和可验证成果。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就业部分要把训练营语言翻译成岗位语言。比如“上下文工程”可以说成“能把企业知识、业务规则和历史样本整理成AI可用的任务上下文”；“Agent部署”可以说成“能设计AI任务流程、工具调用、人工审核和日志回写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【就业连接，约1分钟】就业推荐要避免“泛AI简历”。推荐材料应该包括个人定位、代表项目、能力雷达、作品集链接、讲师评语和岗位适配建议。企业要看到这个人能进项目，而不是只会聊趋势。</a:t>
            </a:r>
          </a:p>
          <a:p xmlns:a="http://schemas.openxmlformats.org/drawingml/2006/main">
            <a:r>
              <a:t>【课堂互动，约1分钟】请学员把“我会AI”改写成一句企业听得懂的项目能力表达。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OPC讲师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FDE相关就业方向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【就业加讲，约1分钟】面试表达要少讲“我学过很多AI工具”，多讲“我参与过一个什么项目，负责什么模块，解决什么问题，产出什么材料，最终如何评估”。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互动问题：请学员把“我会AI”改写成一句企业听得懂的项目能力表达。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过渡语：这一页收住后，我们进入下一段：OPC讲师。请大家带着自己的项目材料往前推进，不要把它当成抽象知识。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本页目的：简历要用项目证据讲能力，不要堆AI工具名单。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简历三段式”。本页的目的不是增加一个新概念，而是把前面学过的能力推向真实成果。请先记住本页核心句：简历要用项目证据讲能力，不要堆AI工具名单。。屏幕关键词是：个人定位；项目成果；能力标签；工具栈；证书/作品；推荐语。</a:t>
            </a:r>
          </a:p>
          <a:p xmlns:a="http://schemas.openxmlformats.org/drawingml/2006/main">
            <a:r>
              <a:t>【为什么这样讲，约1分30秒】这一部分把FDE能力翻译成企业岗位语言。企业面试官通常不熟悉训练营术语，学员要能把能力说成项目经历、业务贡献、协作方式和可验证成果。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就业部分要把训练营语言翻译成岗位语言。比如“上下文工程”可以说成“能把企业知识、业务规则和历史样本整理成AI可用的任务上下文”；“Agent部署”可以说成“能设计AI任务流程、工具调用、人工审核和日志回写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【就业连接，约1分钟】就业推荐要避免“泛AI简历”。推荐材料应该包括个人定位、代表项目、能力雷达、作品集链接、讲师评语和岗位适配建议。企业要看到这个人能进项目，而不是只会聊趋势。</a:t>
            </a:r>
          </a:p>
          <a:p xmlns:a="http://schemas.openxmlformats.org/drawingml/2006/main">
            <a:r>
              <a:t>【课堂互动，约1分钟】请学员把“我会AI”改写成一句企业听得懂的项目能力表达。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OPC讲师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FDE简历三段式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【就业加讲，约1分钟】面试表达要少讲“我学过很多AI工具”，多讲“我参与过一个什么项目，负责什么模块，解决什么问题，产出什么材料，最终如何评估”。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互动问题：请学员把“我会AI”改写成一句企业听得懂的项目能力表达。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过渡语：这一页收住后，我们进入下一段：OPC讲师。请大家带着自己的项目材料往前推进，不要把它当成抽象知识。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本页目的：面试官关心的是你能不能进项目、懂业务、控风险、协作交付。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面试高频问题”。本页的目的不是增加一个新概念，而是把前面学过的能力推向真实成果。请先记住本页核心句：面试官关心的是你能不能进项目、懂业务、控风险、协作交付。。屏幕关键词是：做过什么项目；怎么诊断场景；怎么处理数据；怎么控风险；怎么验收；怎么协作。</a:t>
            </a:r>
          </a:p>
          <a:p xmlns:a="http://schemas.openxmlformats.org/drawingml/2006/main">
            <a:r>
              <a:t>【为什么这样讲，约1分30秒】这一部分把FDE能力翻译成企业岗位语言。企业面试官通常不熟悉训练营术语，学员要能把能力说成项目经历、业务贡献、协作方式和可验证成果。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就业部分要把训练营语言翻译成岗位语言。比如“上下文工程”可以说成“能把企业知识、业务规则和历史样本整理成AI可用的任务上下文”；“Agent部署”可以说成“能设计AI任务流程、工具调用、人工审核和日志回写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【就业连接，约1分钟】就业推荐要避免“泛AI简历”。推荐材料应该包括个人定位、代表项目、能力雷达、作品集链接、讲师评语和岗位适配建议。企业要看到这个人能进项目，而不是只会聊趋势。</a:t>
            </a:r>
          </a:p>
          <a:p xmlns:a="http://schemas.openxmlformats.org/drawingml/2006/main">
            <a:r>
              <a:t>【课堂互动，约1分钟】请学员把“我会AI”改写成一句企业听得懂的项目能力表达。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OPC讲师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企业面试高频问题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【就业加讲，约1分钟】面试表达要少讲“我学过很多AI工具”，多讲“我参与过一个什么项目，负责什么模块，解决什么问题，产出什么材料，最终如何评估”。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互动问题：请学员把“我会AI”改写成一句企业听得懂的项目能力表达。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过渡语：这一页收住后，我们进入下一段：OPC讲师。请大家带着自己的项目材料往前推进，不要把它当成抽象知识。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本页目的：试岗不是免费做项目，而是用小任务证明判断力和交付习惯。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试岗任务设计”。本页的目的不是增加一个新概念，而是把前面学过的能力推向真实成果。请先记住本页核心句：试岗不是免费做项目，而是用小任务证明判断力和交付习惯。。屏幕关键词是：30分钟诊断；一页方案；字段映射；风险清单；路演表达。</a:t>
            </a:r>
          </a:p>
          <a:p xmlns:a="http://schemas.openxmlformats.org/drawingml/2006/main">
            <a:r>
              <a:t>【为什么这样讲，约1分30秒】这一部分把FDE能力翻译成企业岗位语言。企业面试官通常不熟悉训练营术语，学员要能把能力说成项目经历、业务贡献、协作方式和可验证成果。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【就业连接，约1分钟】就业推荐要避免“泛AI简历”。推荐材料应该包括个人定位、代表项目、能力雷达、作品集链接、讲师评语和岗位适配建议。企业要看到这个人能进项目，而不是只会聊趋势。</a:t>
            </a:r>
          </a:p>
          <a:p xmlns:a="http://schemas.openxmlformats.org/drawingml/2006/main">
            <a:r>
              <a:t>【课堂互动，约1分钟】请学员把“我会AI”改写成一句企业听得懂的项目能力表达。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OPC讲师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试岗任务设计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【就业加讲，约1分钟】面试表达要少讲“我学过很多AI工具”，多讲“我参与过一个什么项目，负责什么模块，解决什么问题，产出什么材料，最终如何评估”。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互动问题：请学员把“我会AI”改写成一句企业听得懂的项目能力表达。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过渡语：这一页收住后，我们进入下一段：OPC讲师。请大家带着自己的项目材料往前推进，不要把它当成抽象知识。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本页目的：推荐不是只发简历，而是发送作品集、能力画像和适配建议。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就业推荐材料”。本页的目的不是增加一个新概念，而是把前面学过的能力推向真实成果。请先记住本页核心句：推荐不是只发简历，而是发送作品集、能力画像和适配建议。。屏幕关键词是：简历；作品集；能力雷达；路演评分；讲师评语；岗位建议。</a:t>
            </a:r>
          </a:p>
          <a:p xmlns:a="http://schemas.openxmlformats.org/drawingml/2006/main">
            <a:r>
              <a:t>【为什么这样讲，约1分30秒】这一部分把FDE能力翻译成企业岗位语言。企业面试官通常不熟悉训练营术语，学员要能把能力说成项目经历、业务贡献、协作方式和可验证成果。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就业部分要把训练营语言翻译成岗位语言。比如“上下文工程”可以说成“能把企业知识、业务规则和历史样本整理成AI可用的任务上下文”；“Agent部署”可以说成“能设计AI任务流程、工具调用、人工审核和日志回写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【就业连接，约1分钟】就业推荐要避免“泛AI简历”。推荐材料应该包括个人定位、代表项目、能力雷达、作品集链接、讲师评语和岗位适配建议。企业要看到这个人能进项目，而不是只会聊趋势。</a:t>
            </a:r>
          </a:p>
          <a:p xmlns:a="http://schemas.openxmlformats.org/drawingml/2006/main">
            <a:r>
              <a:t>【课堂互动，约1分钟】请学员把“我会AI”改写成一句企业听得懂的项目能力表达。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OPC讲师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WEI就业推荐材料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【就业加讲，约1分钟】面试表达要少讲“我学过很多AI工具”，多讲“我参与过一个什么项目，负责什么模块，解决什么问题，产出什么材料，最终如何评估”。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互动问题：请学员把“我会AI”改写成一句企业听得懂的项目能力表达。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过渡语：这一页收住后，我们进入下一段：OPC讲师。请大家带着自己的项目材料往前推进，不要把它当成抽象知识。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本页目的：学员写出1分钟自我介绍、3分钟项目说明和5个答辩答案。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个人面试表达脚本”。本页的目的不是增加一个新概念，而是把前面学过的能力推向真实成果。请先记住本页核心句：学员写出1分钟自我介绍、3分钟项目说明和5个答辩答案。。屏幕关键词是：1分钟介绍；3分钟项目；5个问答；作品链接；岗位目标。</a:t>
            </a:r>
          </a:p>
          <a:p xmlns:a="http://schemas.openxmlformats.org/drawingml/2006/main">
            <a:r>
              <a:t>【为什么这样讲，约1分30秒】这一部分把FDE能力翻译成企业岗位语言。企业面试官通常不熟悉训练营术语，学员要能把能力说成项目经历、业务贡献、协作方式和可验证成果。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就业部分要把训练营语言翻译成岗位语言。比如“上下文工程”可以说成“能把企业知识、业务规则和历史样本整理成AI可用的任务上下文”；“Agent部署”可以说成“能设计AI任务流程、工具调用、人工审核和日志回写”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【就业连接，约1分钟】就业推荐要避免“泛AI简历”。推荐材料应该包括个人定位、代表项目、能力雷达、作品集链接、讲师评语和岗位适配建议。企业要看到这个人能进项目，而不是只会聊趋势。</a:t>
            </a:r>
          </a:p>
          <a:p xmlns:a="http://schemas.openxmlformats.org/drawingml/2006/main">
            <a:r>
              <a:t>【课堂互动，约1分钟】请学员把“我会AI”改写成一句企业听得懂的项目能力表达。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10分钟。时间紧时保留案例和一个现场追问；时间充裕时让学员直接改自己的作品集或路演稿。过渡语可以这样说：这一页收住后，我们进入下一段：OPC讲师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完成个人面试表达脚本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【就业加讲，约1分钟】面试表达要少讲“我学过很多AI工具”，多讲“我参与过一个什么项目，负责什么模块，解决什么问题，产出什么材料，最终如何评估”。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互动问题：请学员现场填写本页对应模板，讲师至少抽两组点评，一组看证据链，一组看表达和商业路径。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过渡语：这一页收住后，我们进入下一段：OPC讲师。请大家带着自己的项目材料往前推进，不要把它当成抽象知识。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本页目的：让不同类型学员进入不同价值通道。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OPC创业孵化与讲师试讲”。本页的目的不是增加一个新概念，而是把前面学过的能力推向真实成果。请先记住本页核心句：让不同类型学员进入不同价值通道。。屏幕关键词是：创业；孵化；讲师。</a:t>
            </a:r>
          </a:p>
          <a:p xmlns:a="http://schemas.openxmlformats.org/drawingml/2006/main">
            <a:r>
              <a:t>【为什么这样讲，约1分30秒】这一部分连接WEI SPACE生态。不同学员可以进入OPC创业、孵化项目、企业讲师、青少年讲师或项目助教路径，关键是把个人能力变成可合作的产品和角色。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这一页要讲WEI生态的现实路径：不是让每个学员都马上开公司，而是让有客户资源、行业经验、交付能力或表达能力的人，找到最轻的合作入口。有人先做项目助理，有人先做讲师助教，有人先拿一个服务包测试市场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【WEI生态连接，约1分钟】这里可以把WEI SPACE背景讲出来：WEI API提供模型和算力，WEI BOT承接数字员工代养，WEI CONSULTING提供结果型咨询，WEI SPACE提供场地、赛事、训练和孵化，WEI CAPITAL提供种子投资和产业接力。学员要思考自己最适合接入哪一环。</a:t>
            </a:r>
          </a:p>
          <a:p xmlns:a="http://schemas.openxmlformats.org/drawingml/2006/main">
            <a:r>
              <a:t>【课堂互动，约1分钟】请学员判断自己更像OPC创业者、讲师候选人还是项目交付成员，并说出证据。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收住后，我们进入下一段：生态入驻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OPC创业孵化与讲师试讲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【路径加讲，约1分钟】OPC和讲师路径都不是靠热情开始，而是靠最小产品开始。OPC先做一个可售卖服务包，讲师先做一个可复用课件和一段可交付试讲。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互动问题：请学员判断自己更像OPC创业者、讲师候选人还是项目交付成员，并说出证据。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过渡语：这一页收住后，我们进入下一段：生态入驻。请大家带着自己的项目材料往前推进，不要把它当成抽象知识。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本页目的：OPC要从一个标准服务包和一个清晰获客场景开始。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OPC一人公司启动路径”。本页的目的不是增加一个新概念，而是把前面学过的能力推向真实成果。请先记住本页核心句：OPC要从一个标准服务包和一个清晰获客场景开始。。屏幕关键词是：定位行业；选择服务包；做样板客户；沉淀模板；进入WEI生态。</a:t>
            </a:r>
          </a:p>
          <a:p xmlns:a="http://schemas.openxmlformats.org/drawingml/2006/main">
            <a:r>
              <a:t>【为什么这样讲，约1分30秒】这一部分连接WEI SPACE生态。不同学员可以进入OPC创业、孵化项目、企业讲师、青少年讲师或项目助教路径，关键是把个人能力变成可合作的产品和角色。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这一页要讲WEI生态的现实路径：不是让每个学员都马上开公司，而是让有客户资源、行业经验、交付能力或表达能力的人，找到最轻的合作入口。有人先做项目助理，有人先做讲师助教，有人先拿一个服务包测试市场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【WEI生态连接，约1分钟】这里可以把WEI SPACE背景讲出来：WEI API提供模型和算力，WEI BOT承接数字员工代养，WEI CONSULTING提供结果型咨询，WEI SPACE提供场地、赛事、训练和孵化，WEI CAPITAL提供种子投资和产业接力。学员要思考自己最适合接入哪一环。</a:t>
            </a:r>
          </a:p>
          <a:p xmlns:a="http://schemas.openxmlformats.org/drawingml/2006/main">
            <a:r>
              <a:t>【课堂互动，约1分钟】请学员判断自己更像OPC创业者、讲师候选人还是项目交付成员，并说出证据。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生态入驻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OPC一人公司启动路径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【路径加讲，约1分钟】OPC和讲师路径都不是靠热情开始，而是靠最小产品开始。OPC先做一个可售卖服务包，讲师先做一个可复用课件和一段可交付试讲。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互动问题：请学员判断自己更像OPC创业者、讲师候选人还是项目交付成员，并说出证据。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过渡语：这一页收住后，我们进入下一段：生态入驻。请大家带着自己的项目材料往前推进，不要把它当成抽象知识。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本页目的：把训练营能力打包成客户愿意购买的服务。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可售卖服务包”。本页的目的不是增加一个新概念，而是把前面学过的能力推向真实成果。请先记住本页核心句：把训练营能力打包成客户愿意购买的服务。。屏幕关键词是：AI诊断包；数字员工部署包；上下文知识包；运营代养包；企业内训包；行业模板包。</a:t>
            </a:r>
          </a:p>
          <a:p xmlns:a="http://schemas.openxmlformats.org/drawingml/2006/main">
            <a:r>
              <a:t>【为什么这样讲，约1分30秒】这一部分连接WEI SPACE生态。不同学员可以进入OPC创业、孵化项目、企业讲师、青少年讲师或项目助教路径，关键是把个人能力变成可合作的产品和角色。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【WEI生态连接，约1分钟】这里可以把WEI SPACE背景讲出来：WEI API提供模型和算力，WEI BOT承接数字员工代养，WEI CONSULTING提供结果型咨询，WEI SPACE提供场地、赛事、训练和孵化，WEI CAPITAL提供种子投资和产业接力。学员要思考自己最适合接入哪一环。</a:t>
            </a:r>
          </a:p>
          <a:p xmlns:a="http://schemas.openxmlformats.org/drawingml/2006/main">
            <a:r>
              <a:t>【课堂互动，约1分钟】请学员判断自己更像OPC创业者、讲师候选人还是项目交付成员，并说出证据。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生态入驻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FDE可售卖服务包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【路径加讲，约1分钟】OPC和讲师路径都不是靠热情开始，而是靠最小产品开始。OPC先做一个可售卖服务包，讲师先做一个可复用课件和一段可交付试讲。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互动问题：请学员判断自己更像OPC创业者、讲师候选人还是项目交付成员，并说出证据。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过渡语：这一页收住后，我们进入下一段：生态入驻。请大家带着自己的项目材料往前推进，不要把它当成抽象知识。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本页目的：孵化材料要说明项目、客户、产品、收入模型和资源需求。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 SPACE孵化器入驻材料”。本页的目的不是增加一个新概念，而是把前面学过的能力推向真实成果。请先记住本页核心句：孵化材料要说明项目、客户、产品、收入模型和资源需求。。屏幕关键词是：项目简介；目标客户；产品包；商业模式；团队能力；资源需求。</a:t>
            </a:r>
          </a:p>
          <a:p xmlns:a="http://schemas.openxmlformats.org/drawingml/2006/main">
            <a:r>
              <a:t>【为什么这样讲，约1分30秒】这一部分连接WEI SPACE生态。不同学员可以进入OPC创业、孵化项目、企业讲师、青少年讲师或项目助教路径，关键是把个人能力变成可合作的产品和角色。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这一页要讲WEI生态的现实路径：不是让每个学员都马上开公司，而是让有客户资源、行业经验、交付能力或表达能力的人，找到最轻的合作入口。有人先做项目助理，有人先做讲师助教，有人先拿一个服务包测试市场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【WEI生态连接，约1分钟】这里可以把WEI SPACE背景讲出来：WEI API提供模型和算力，WEI BOT承接数字员工代养，WEI CONSULTING提供结果型咨询，WEI SPACE提供场地、赛事、训练和孵化，WEI CAPITAL提供种子投资和产业接力。学员要思考自己最适合接入哪一环。</a:t>
            </a:r>
          </a:p>
          <a:p xmlns:a="http://schemas.openxmlformats.org/drawingml/2006/main">
            <a:r>
              <a:t>【课堂互动，约1分钟】请学员判断自己更像OPC创业者、讲师候选人还是项目交付成员，并说出证据。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生态入驻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【逐字讲法补充，约2分钟】这里建议讲师停下来，把“WEI SPACE孵化器入驻材料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【路径加讲，约1分钟】OPC和讲师路径都不是靠热情开始，而是靠最小产品开始。OPC先做一个可售卖服务包，讲师先做一个可复用课件和一段可交付试讲。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互动问题：请学员判断自己更像OPC创业者、讲师候选人还是项目交付成员，并说出证据。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过渡语：这一页收住后，我们进入下一段：生态入驻。请大家带着自己的项目材料往前推进，不要把它当成抽象知识。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本页目的：讲师候选人要能讲、能带练、能点评、能转化。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讲师与青少年讲师路径”。本页的目的不是增加一个新概念，而是把前面学过的能力推向真实成果。请先记住本页核心句：讲师候选人要能讲、能带练、能点评、能转化。。屏幕关键词是：成人企业课；青少年AI课；项目工作坊；讲师助教；案例库共创。</a:t>
            </a:r>
          </a:p>
          <a:p xmlns:a="http://schemas.openxmlformats.org/drawingml/2006/main">
            <a:r>
              <a:t>【为什么这样讲，约1分30秒】这一部分连接WEI SPACE生态。不同学员可以进入OPC创业、孵化项目、企业讲师、青少年讲师或项目助教路径，关键是把个人能力变成可合作的产品和角色。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这一页要讲WEI生态的现实路径：不是让每个学员都马上开公司，而是让有客户资源、行业经验、交付能力或表达能力的人，找到最轻的合作入口。有人先做项目助理，有人先做讲师助教，有人先拿一个服务包测试市场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【WEI生态连接，约1分钟】这里可以把WEI SPACE背景讲出来：WEI API提供模型和算力，WEI BOT承接数字员工代养，WEI CONSULTING提供结果型咨询，WEI SPACE提供场地、赛事、训练和孵化，WEI CAPITAL提供种子投资和产业接力。学员要思考自己最适合接入哪一环。</a:t>
            </a:r>
          </a:p>
          <a:p xmlns:a="http://schemas.openxmlformats.org/drawingml/2006/main">
            <a:r>
              <a:t>【课堂互动，约1分钟】请学员判断自己更像OPC创业者、讲师候选人还是项目交付成员，并说出证据。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收住后，我们进入下一段：生态入驻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FDE讲师与青少年讲师路径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【路径加讲，约1分钟】OPC和讲师路径都不是靠热情开始，而是靠最小产品开始。OPC先做一个可售卖服务包，讲师先做一个可复用课件和一段可交付试讲。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互动问题：请学员判断自己更像OPC创业者、讲师候选人还是项目交付成员，并说出证据。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过渡语：这一页收住后，我们进入下一段：生态入驻。请大家带着自己的项目材料往前推进，不要把它当成抽象知识。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本页目的：讲师评估看内容理解、表达结构、案例能力、互动控场和作业点评。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讲师试讲评分表”。本页的目的不是增加一个新概念，而是把前面学过的能力推向真实成果。请先记住本页核心句：讲师评估看内容理解、表达结构、案例能力、互动控场和作业点评。。屏幕关键词是：内容准确；结构清楚；案例鲜活；互动控场；点评到位。</a:t>
            </a:r>
          </a:p>
          <a:p xmlns:a="http://schemas.openxmlformats.org/drawingml/2006/main">
            <a:r>
              <a:t>【为什么这样讲，约1分30秒】这一部分连接WEI SPACE生态。不同学员可以进入OPC创业、孵化项目、企业讲师、青少年讲师或项目助教路径，关键是把个人能力变成可合作的产品和角色。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这一页要讲WEI生态的现实路径：不是让每个学员都马上开公司，而是让有客户资源、行业经验、交付能力或表达能力的人，找到最轻的合作入口。有人先做项目助理，有人先做讲师助教，有人先拿一个服务包测试市场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【WEI生态连接，约1分钟】这里可以把WEI SPACE背景讲出来：WEI API提供模型和算力，WEI BOT承接数字员工代养，WEI CONSULTING提供结果型咨询，WEI SPACE提供场地、赛事、训练和孵化，WEI CAPITAL提供种子投资和产业接力。学员要思考自己最适合接入哪一环。</a:t>
            </a:r>
          </a:p>
          <a:p xmlns:a="http://schemas.openxmlformats.org/drawingml/2006/main">
            <a:r>
              <a:t>【课堂互动，约1分钟】请学员判断自己更像OPC创业者、讲师候选人还是项目交付成员，并说出证据。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8分钟。时间紧时保留案例和一个现场追问；时间充裕时让学员直接改自己的作品集或路演稿。过渡语可以这样说：这一页收住后，我们进入下一段：生态入驻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讲师试讲评分表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【路径加讲，约1分钟】OPC和讲师路径都不是靠热情开始，而是靠最小产品开始。OPC先做一个可售卖服务包，讲师先做一个可复用课件和一段可交付试讲。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互动问题：请学员判断自己更像OPC创业者、讲师候选人还是项目交付成员，并说出证据。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过渡语：这一页收住后，我们进入下一段：生态入驻。请大家带着自己的项目材料往前推进，不要把它当成抽象知识。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本页目的：创业型学员写服务包，讲师型学员完成5分钟试讲设计。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OPC/讲师路径卡”。本页的目的不是增加一个新概念，而是把前面学过的能力推向真实成果。请先记住本页核心句：创业型学员写服务包，讲师型学员完成5分钟试讲设计。。屏幕关键词是：服务包；目标客户；获客动作；试讲提纲；资源需求。</a:t>
            </a:r>
          </a:p>
          <a:p xmlns:a="http://schemas.openxmlformats.org/drawingml/2006/main">
            <a:r>
              <a:t>【为什么这样讲，约1分30秒】这一部分连接WEI SPACE生态。不同学员可以进入OPC创业、孵化项目、企业讲师、青少年讲师或项目助教路径，关键是把个人能力变成可合作的产品和角色。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这一页要讲WEI生态的现实路径：不是让每个学员都马上开公司，而是让有客户资源、行业经验、交付能力或表达能力的人，找到最轻的合作入口。有人先做项目助理，有人先做讲师助教，有人先拿一个服务包测试市场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【WEI生态连接，约1分钟】这里可以把WEI SPACE背景讲出来：WEI API提供模型和算力，WEI BOT承接数字员工代养，WEI CONSULTING提供结果型咨询，WEI SPACE提供场地、赛事、训练和孵化，WEI CAPITAL提供种子投资和产业接力。学员要思考自己最适合接入哪一环。</a:t>
            </a:r>
          </a:p>
          <a:p xmlns:a="http://schemas.openxmlformats.org/drawingml/2006/main">
            <a:r>
              <a:t>【课堂互动，约1分钟】请学员判断自己更像OPC创业者、讲师候选人还是项目交付成员，并说出证据。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11分钟。时间紧时保留案例和一个现场追问；时间充裕时让学员直接改自己的作品集或路演稿。过渡语可以这样说：这一页收住后，我们进入下一段：生态入驻。请大家带着自己的项目材料往前推进，不要把它当成抽象知识。</a:t>
            </a:r>
          </a:p>
          <a:p xmlns:a="http://schemas.openxmlformats.org/drawingml/2006/main">
            <a:r>
              <a:t>【逐字讲法补充，约2分钟】这里建议讲师停下来，把“完成OPC/讲师路径卡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>【路径加讲，约1分钟】OPC和讲师路径都不是靠热情开始，而是靠最小产品开始。OPC先做一个可售卖服务包，讲师先做一个可复用课件和一段可交付试讲。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互动问题：请学员现场填写本页对应模板，讲师至少抽两组点评，一组看证据链，一组看表达和商业路径。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过渡语：这一页收住后，我们进入下一段：生态入驻。请大家带着自己的项目材料往前推进，不要把它当成抽象知识。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本页目的：训练营结束后，真正的FDE成长才开始。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毕业行动计划与生态入驻”。本页的目的不是增加一个新概念，而是把前面学过的能力推向真实成果。请先记住本页核心句：训练营结束后，真正的FDE成长才开始。。屏幕关键词是：行动；社群；项目。</a:t>
            </a:r>
          </a:p>
          <a:p xmlns:a="http://schemas.openxmlformats.org/drawingml/2006/main">
            <a:r>
              <a:t>【为什么这样讲，约1分30秒】这一部分完成毕业后的行动闭环。训练营结束不是关系结束，而是学员进入人才库、项目库、讲师库、孵化项目库和社群复盘机制的开始。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2分钟。时间紧时保留案例和一个现场追问；时间充裕时让学员直接改自己的作品集或路演稿。过渡语可以这样说：这一页之后，本章进入毕业收束：把作品集、路演、推荐和入驻动作真正落到每个人的90天计划里。</a:t>
            </a:r>
          </a:p>
          <a:p xmlns:a="http://schemas.openxmlformats.org/drawingml/2006/main">
            <a:r>
              <a:t>【逐字讲法补充，约2分钟】这里建议讲师停下来，把“毕业行动计划与生态入驻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过渡语：这一页之后，本章进入毕业收束：把作品集、路演、推荐和入驻动作真正落到每个人的90天计划里。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本页目的：用30/60/90天把学习成果接入真实项目和职业机会。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毕业后90天行动节奏”。本页的目的不是增加一个新概念，而是把前面学过的能力推向真实成果。请先记住本页核心句：用30/60/90天把学习成果接入真实项目和职业机会。。屏幕关键词是：30天补作品；60天进项目；90天拿机会；持续复盘。</a:t>
            </a:r>
          </a:p>
          <a:p xmlns:a="http://schemas.openxmlformats.org/drawingml/2006/main">
            <a:r>
              <a:t>【为什么这样讲，约1分30秒】这一部分完成毕业后的行动闭环。训练营结束不是关系结束，而是学员进入人才库、项目库、讲师库、孵化项目库和社群复盘机制的开始。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6分钟。时间紧时保留案例和一个现场追问；时间充裕时让学员直接改自己的作品集或路演稿。过渡语可以这样说：这一页之后，本章进入毕业收束：把作品集、路演、推荐和入驻动作真正落到每个人的90天计划里。</a:t>
            </a:r>
          </a:p>
          <a:p xmlns:a="http://schemas.openxmlformats.org/drawingml/2006/main">
            <a:r>
              <a:t>【逐字讲法补充，约2分钟】这里建议讲师停下来，把“毕业后90天行动节奏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过渡语：这一页之后，本章进入毕业收束：把作品集、路演、推荐和入驻动作真正落到每个人的90天计划里。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本页目的：每位学员要进入人才库、项目库、讲师库或孵化项目库。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 FDE生态档案”。本页的目的不是增加一个新概念，而是把前面学过的能力推向真实成果。请先记住本页核心句：每位学员要进入人才库、项目库、讲师库或孵化项目库。。屏幕关键词是：人才档案；作品集链接；能力标签；项目偏好；推荐方向；跟进Owner。</a:t>
            </a:r>
          </a:p>
          <a:p xmlns:a="http://schemas.openxmlformats.org/drawingml/2006/main">
            <a:r>
              <a:t>【为什么这样讲，约1分30秒】这一部分完成毕业后的行动闭环。训练营结束不是关系结束，而是学员进入人才库、项目库、讲师库、孵化项目库和社群复盘机制的开始。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6分钟。时间紧时保留案例和一个现场追问；时间充裕时让学员直接改自己的作品集或路演稿。过渡语可以这样说：这一页之后，本章进入毕业收束：把作品集、路演、推荐和入驻动作真正落到每个人的90天计划里。</a:t>
            </a:r>
          </a:p>
          <a:p xmlns:a="http://schemas.openxmlformats.org/drawingml/2006/main">
            <a:r>
              <a:t>【逐字讲法补充，约2分钟】这里建议讲师停下来，把“WEI FDE生态档案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过渡语：这一页之后，本章进入毕业收束：把作品集、路演、推荐和入驻动作真正落到每个人的90天计划里。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本页目的：持续成长靠项目机会、案例复盘、讲师共创和生态合作。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毕业社群运营机制”。本页的目的不是增加一个新概念，而是把前面学过的能力推向真实成果。请先记住本页核心句：持续成长靠项目机会、案例复盘、讲师共创和生态合作。。屏幕关键词是：每周案例会；项目招募；企业需求池；讲师共创；OPC孵化；认证升级。</a:t>
            </a:r>
          </a:p>
          <a:p xmlns:a="http://schemas.openxmlformats.org/drawingml/2006/main">
            <a:r>
              <a:t>【为什么这样讲，约1分30秒】这一部分完成毕业后的行动闭环。训练营结束不是关系结束，而是学员进入人才库、项目库、讲师库、孵化项目库和社群复盘机制的开始。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7分钟。时间紧时保留案例和一个现场追问；时间充裕时让学员直接改自己的作品集或路演稿。过渡语可以这样说：这一页之后，本章进入毕业收束：把作品集、路演、推荐和入驻动作真正落到每个人的90天计划里。</a:t>
            </a:r>
          </a:p>
          <a:p xmlns:a="http://schemas.openxmlformats.org/drawingml/2006/main">
            <a:r>
              <a:t>【逐字讲法补充，约2分钟】这里建议讲师停下来，把“毕业社群运营机制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过渡语：这一页之后，本章进入毕业收束：把作品集、路演、推荐和入驻动作真正落到每个人的90天计划里。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本页目的：学员提交90天计划、路径选择、资源需求和下一次复盘时间。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提交最终行动承诺”。本页的目的不是增加一个新概念，而是把前面学过的能力推向真实成果。请先记住本页核心句：学员提交90天计划、路径选择、资源需求和下一次复盘时间。。屏幕关键词是：路径选择；90天目标；作品集更新；项目申请；复盘日期。</a:t>
            </a:r>
          </a:p>
          <a:p xmlns:a="http://schemas.openxmlformats.org/drawingml/2006/main">
            <a:r>
              <a:t>【为什么这样讲，约1分30秒】这一部分完成毕业后的行动闭环。训练营结束不是关系结束，而是学员进入人才库、项目库、讲师库、孵化项目库和社群复盘机制的开始。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8分钟。时间紧时保留案例和一个现场追问；时间充裕时让学员直接改自己的作品集或路演稿。过渡语可以这样说：这一页之后，本章进入毕业收束：把作品集、路演、推荐和入驻动作真正落到每个人的90天计划里。</a:t>
            </a:r>
          </a:p>
          <a:p xmlns:a="http://schemas.openxmlformats.org/drawingml/2006/main">
            <a:r>
              <a:t>【逐字讲法补充，约2分钟】这里建议讲师停下来，把“提交最终行动承诺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互动问题：请学员现场填写本页对应模板，讲师至少抽两组点评，一组看证据链，一组看表达和商业路径。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过渡语：这一页之后，本章进入毕业收束：把作品集、路演、推荐和入驻动作真正落到每个人的90天计划里。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本页目的：第7章的终点不是结课，而是进入交付、就业、创业、讲师和孵化的真实循环。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学员到FDE生态成员”。本页的目的不是增加一个新概念，而是把前面学过的能力推向真实成果。请先记住本页核心句：第7章的终点不是结课，而是进入交付、就业、创业、讲师和孵化的真实循环。。屏幕关键词是：交付；就业；创业；讲师；孵化。</a:t>
            </a:r>
          </a:p>
          <a:p xmlns:a="http://schemas.openxmlformats.org/drawingml/2006/main">
            <a:r>
              <a:t>【为什么这样讲，约1分30秒】这一部分完成毕业后的行动闭环。训练营结束不是关系结束，而是学员进入人才库、项目库、讲师库、孵化项目库和社群复盘机制的开始。 第7章是训练营的收官章，讲师要不断提醒学员：课程里的每一份作业，最终都要变成作品集、路演材料、面试证据、OPC服务包或讲师试讲素材。</a:t>
            </a:r>
          </a:p>
          <a:p xmlns:a="http://schemas.openxmlformats.org/drawingml/2006/main">
            <a:r>
              <a:t>【怎么讲，约2分钟】讲这一页时，要把课堂从“听懂”切换到“交付”。可以直接说：如果今天下午就有企业客户、招聘负责人、孵化器导师或WEI交付负责人来看你的材料，他们会问什么？他们不会问你背了多少概念，而会看你有没有真实问题、清晰方案、执行证据、风险边界和下一步计划。</a:t>
            </a:r>
          </a:p>
          <a:p xmlns:a="http://schemas.openxmlformats.org/drawingml/2006/main">
            <a:r>
              <a:t>【本页展开，约2分钟】本页要把屏幕关键词转成课堂动作。讲师不要只解释概念，要不断追问：这个材料谁看，谁负责，证据是什么，如何评分，下一步通向就业、项目、创业还是讲师路径。</a:t>
            </a:r>
          </a:p>
          <a:p xmlns:a="http://schemas.openxmlformats.org/drawingml/2006/main">
            <a:r>
              <a:t>【案例补强，约1分30秒】仍然可以用销售数字员工贯穿。一个普通学员会说“我做了销售AI助手”；一个合格FDE会说“我为教育培训机构设计了线索分级与跟进建议数字员工，本期接入表单和CRM，输出客户画像、意向等级和跟进建议，验收看响应时长、采纳率、CRM回写率和转化贡献，上线后每周复盘失败样本”。这两种表达带来的信任完全不同。</a:t>
            </a:r>
          </a:p>
          <a:p xmlns:a="http://schemas.openxmlformats.org/drawingml/2006/main">
            <a:r>
              <a:t>【讲师内心判断，约1分钟】如果学员只展示工具截图，说明作品还停留在功能层；如果学员能展示客户问题、诊断证据、方案边界、交付结果和复盘指标，说明已经进入FDE交付层。讲师点评时要抓住这个差异。</a:t>
            </a:r>
          </a:p>
          <a:p xmlns:a="http://schemas.openxmlformats.org/drawingml/2006/main">
            <a:r>
              <a:t>【延伸背景，约1分钟】企业AI人才市场越来越不缺“会用工具”的人，缺的是能把工具放进企业流程、能与业务和IT协作、能在风险边界内交付结果的人。第7章的设计，就是让学员从工具使用者变成可被信任的FDE候选人。</a:t>
            </a:r>
          </a:p>
          <a:p xmlns:a="http://schemas.openxmlformats.org/drawingml/2006/main">
            <a:r>
              <a:t>【课堂互动，约1分钟】请学员用自己的项目回答：这一页如果做不好，最终评审或企业面试会卡在哪里？</a:t>
            </a:r>
          </a:p>
          <a:p xmlns:a="http://schemas.openxmlformats.org/drawingml/2006/main">
            <a:r>
              <a:t>【作业点评口径，约1分30秒】点评时按照四个标准：是否具体、是否有证据、是否有人负责、是否能指向下一步机会。凡是写成“提升效率”“优化体验”“AI赋能”的，都要追问基线、目标、样本和Owner。凡是没有客户画像、没有指标、没有风险边界的，都要要求重写。</a:t>
            </a:r>
          </a:p>
          <a:p xmlns:a="http://schemas.openxmlformats.org/drawingml/2006/main">
            <a:r>
              <a:t>【落地提示，约40秒】本页建议讲6分钟。时间紧时保留案例和一个现场追问；时间充裕时让学员直接改自己的作品集或路演稿。过渡语可以这样说：这一页之后，本章进入毕业收束：把作品集、路演、推荐和入驻动作真正落到每个人的90天计划里。</a:t>
            </a:r>
          </a:p>
          <a:p xmlns:a="http://schemas.openxmlformats.org/drawingml/2006/main">
            <a:r>
              <a:t>【逐字讲法补充，约2分钟】这里建议讲师停下来，把“从学员到FDE生态成员”和学员自己的去向联系起来。可以这样讲：今天所有材料都不是为了交作业，而是为了让别人信任你。进入交付团队的人要用这些材料证明自己能跟客户沟通、能整理需求、能管理风险；去企业就业的人要用这些材料证明自己能进入真实项目；想做OPC的人要用这些材料证明自己能把一个场景产品化；想做讲师的人要用这些材料证明自己能讲清楚、带练习、做点评。</a:t>
            </a:r>
          </a:p>
          <a:p xmlns:a="http://schemas.openxmlformats.org/drawingml/2006/main">
            <a:r>
              <a:t>【讲师备课提示，约1分钟】讲这一页之前，讲师要先看学员前6章作业是否完整。如果前面的诊断报告、上下文方案、Agent蓝图、系统集成包、项目章程不完整，第7章不要让他们重新发散，而是要求他们补证据、补边界、补指标、补Owner。收官章的价值在于整合，不在于重新开题。</a:t>
            </a:r>
          </a:p>
          <a:p xmlns:a="http://schemas.openxmlformats.org/drawingml/2006/main">
            <a:r>
              <a:t>【现场推进话术，约1分钟】可以对学员说：请不要再写“AI赋能”“降本增效”“智能化升级”这类词，除非你能立刻说出哪个岗位、哪个流程、哪个系统、哪个指标、哪个样本。FDE的表达要能落到业务现场，让企业听完以后知道你能做什么、什么时候做完、做到什么程度。</a:t>
            </a:r>
          </a:p>
          <a:p xmlns:a="http://schemas.openxmlformats.org/drawingml/2006/main">
            <a:r>
              <a:t>【点评示范，约1分钟】如果学员说“我们的项目可以提高客服效率”，讲师要追问：当前平均响应时间是多少，目标缩短到多少，AI在哪一步介入，哪些问题必须人工接管，知识库从哪里来，失败样本怎么复盘，客户成功谁负责。这样的追问能把抽象表达压成可评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互动问题：请学员用自己的项目回答：这一页如果做不好，最终评审或企业面试会卡在哪里？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过渡语：这一页之后，本章进入毕业收束：把作品集、路演、推荐和入驻动作真正落到每个人的90天计划里。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6c95cbaeb44c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41f02f628c4e6f" /><Relationship Type="http://schemas.openxmlformats.org/officeDocument/2006/relationships/slideLayout" Target="/ppt/slideLayouts/slideLayout2.xml" Id="R0f7a22958ccb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a22958ccb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271047e55d411c" /><Relationship Type="http://schemas.openxmlformats.org/officeDocument/2006/relationships/notesSlide" Target="/ppt/notesSlides/notesSlide1.xml" Id="R32d83d8c925643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1726b3b9144cb" /><Relationship Type="http://schemas.openxmlformats.org/officeDocument/2006/relationships/notesSlide" Target="/ppt/notesSlides/notesSlide2.xml" Id="R9899a1f6146a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71e8b3bc8d448c" /><Relationship Type="http://schemas.openxmlformats.org/officeDocument/2006/relationships/notesSlide" Target="/ppt/notesSlides/notesSlide3.xml" Id="Rcb7537e4fae04c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718b562d904efa" /><Relationship Type="http://schemas.openxmlformats.org/officeDocument/2006/relationships/notesSlide" Target="/ppt/notesSlides/notesSlide4.xml" Id="R4c1e3c112f1f4d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4237ac0974f7e" /><Relationship Type="http://schemas.openxmlformats.org/officeDocument/2006/relationships/notesSlide" Target="/ppt/notesSlides/notesSlide5.xml" Id="R97817717016c4f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398eceda644f0" /><Relationship Type="http://schemas.openxmlformats.org/officeDocument/2006/relationships/notesSlide" Target="/ppt/notesSlides/notesSlide6.xml" Id="Re49c3dceec6245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b685e9ae0e4ffc" /><Relationship Type="http://schemas.openxmlformats.org/officeDocument/2006/relationships/notesSlide" Target="/ppt/notesSlides/notesSlide7.xml" Id="Rbb184156538841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1386869554bf1" /><Relationship Type="http://schemas.openxmlformats.org/officeDocument/2006/relationships/notesSlide" Target="/ppt/notesSlides/notesSlide8.xml" Id="R68cc2402467240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710b060974ccb" /><Relationship Type="http://schemas.openxmlformats.org/officeDocument/2006/relationships/notesSlide" Target="/ppt/notesSlides/notesSlide9.xml" Id="R3e869bd43f8647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b844905d243ca" /><Relationship Type="http://schemas.openxmlformats.org/officeDocument/2006/relationships/notesSlide" Target="/ppt/notesSlides/notesSlide10.xml" Id="R5bff249c51c346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7c022728104695" /><Relationship Type="http://schemas.openxmlformats.org/officeDocument/2006/relationships/notesSlide" Target="/ppt/notesSlides/notesSlide11.xml" Id="R40cf0c71ea8944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732341c6f4e67" /><Relationship Type="http://schemas.openxmlformats.org/officeDocument/2006/relationships/notesSlide" Target="/ppt/notesSlides/notesSlide12.xml" Id="R21486e11d8b54f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93b379946142b9" /><Relationship Type="http://schemas.openxmlformats.org/officeDocument/2006/relationships/notesSlide" Target="/ppt/notesSlides/notesSlide13.xml" Id="R2a6ddebad1b540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012724e07460c" /><Relationship Type="http://schemas.openxmlformats.org/officeDocument/2006/relationships/notesSlide" Target="/ppt/notesSlides/notesSlide14.xml" Id="R8d5cc525cdb54e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aa71652d1e4a75" /><Relationship Type="http://schemas.openxmlformats.org/officeDocument/2006/relationships/notesSlide" Target="/ppt/notesSlides/notesSlide15.xml" Id="R6724785744eb46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9ddbbe6aa541cb" /><Relationship Type="http://schemas.openxmlformats.org/officeDocument/2006/relationships/notesSlide" Target="/ppt/notesSlides/notesSlide16.xml" Id="Rdc516b6ba1b543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e435ef19834bf3" /><Relationship Type="http://schemas.openxmlformats.org/officeDocument/2006/relationships/notesSlide" Target="/ppt/notesSlides/notesSlide17.xml" Id="Rbef85e4ccdb44e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41fabbd5e4124" /><Relationship Type="http://schemas.openxmlformats.org/officeDocument/2006/relationships/notesSlide" Target="/ppt/notesSlides/notesSlide18.xml" Id="Rfd85602cd8174d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fb579f1fb64f69" /><Relationship Type="http://schemas.openxmlformats.org/officeDocument/2006/relationships/notesSlide" Target="/ppt/notesSlides/notesSlide19.xml" Id="Rb3c1bd5defed42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4cefac040f46df" /><Relationship Type="http://schemas.openxmlformats.org/officeDocument/2006/relationships/notesSlide" Target="/ppt/notesSlides/notesSlide20.xml" Id="Recabbb3aec7846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4748541fa34054" /><Relationship Type="http://schemas.openxmlformats.org/officeDocument/2006/relationships/notesSlide" Target="/ppt/notesSlides/notesSlide21.xml" Id="R5726b415bed04c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72052c13354560" /><Relationship Type="http://schemas.openxmlformats.org/officeDocument/2006/relationships/notesSlide" Target="/ppt/notesSlides/notesSlide22.xml" Id="R68f268f9ffd441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ee7b1ebe794d77" /><Relationship Type="http://schemas.openxmlformats.org/officeDocument/2006/relationships/notesSlide" Target="/ppt/notesSlides/notesSlide23.xml" Id="R6cd0d541481144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c7606e265b450f" /><Relationship Type="http://schemas.openxmlformats.org/officeDocument/2006/relationships/notesSlide" Target="/ppt/notesSlides/notesSlide24.xml" Id="Re98077a4c5a549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b10ace7404312" /><Relationship Type="http://schemas.openxmlformats.org/officeDocument/2006/relationships/notesSlide" Target="/ppt/notesSlides/notesSlide25.xml" Id="Rcc5eaa2919e54d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06e20dd3294ed9" /><Relationship Type="http://schemas.openxmlformats.org/officeDocument/2006/relationships/notesSlide" Target="/ppt/notesSlides/notesSlide26.xml" Id="Ra405d8c3e4af43e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28b369ad0f4f2d" /><Relationship Type="http://schemas.openxmlformats.org/officeDocument/2006/relationships/notesSlide" Target="/ppt/notesSlides/notesSlide27.xml" Id="Rde9586707e324b6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2fb592d6a340a0" /><Relationship Type="http://schemas.openxmlformats.org/officeDocument/2006/relationships/notesSlide" Target="/ppt/notesSlides/notesSlide28.xml" Id="Rb7169c039c614f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716da7cebc4c5f" /><Relationship Type="http://schemas.openxmlformats.org/officeDocument/2006/relationships/notesSlide" Target="/ppt/notesSlides/notesSlide29.xml" Id="Re01f2f3c7ddb4d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68d4727fdb44c1" /><Relationship Type="http://schemas.openxmlformats.org/officeDocument/2006/relationships/notesSlide" Target="/ppt/notesSlides/notesSlide30.xml" Id="R63c7c68a3e3149c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16ccd07884d54" /><Relationship Type="http://schemas.openxmlformats.org/officeDocument/2006/relationships/notesSlide" Target="/ppt/notesSlides/notesSlide31.xml" Id="R837dd6b230b64c4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3475362b24fdb" /><Relationship Type="http://schemas.openxmlformats.org/officeDocument/2006/relationships/notesSlide" Target="/ppt/notesSlides/notesSlide32.xml" Id="R5a6b91a5dccf42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6e97868804de5" /><Relationship Type="http://schemas.openxmlformats.org/officeDocument/2006/relationships/notesSlide" Target="/ppt/notesSlides/notesSlide33.xml" Id="Rbe77558d774340d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6e9af67c94184" /><Relationship Type="http://schemas.openxmlformats.org/officeDocument/2006/relationships/notesSlide" Target="/ppt/notesSlides/notesSlide34.xml" Id="Reacf324fa0d3478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289836f9e04e94" /><Relationship Type="http://schemas.openxmlformats.org/officeDocument/2006/relationships/notesSlide" Target="/ppt/notesSlides/notesSlide35.xml" Id="R3e10d9de9fbc4d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3f49d28d42458a" /><Relationship Type="http://schemas.openxmlformats.org/officeDocument/2006/relationships/notesSlide" Target="/ppt/notesSlides/notesSlide36.xml" Id="R33ea359e04544f9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8e1a8c6304d46" /><Relationship Type="http://schemas.openxmlformats.org/officeDocument/2006/relationships/notesSlide" Target="/ppt/notesSlides/notesSlide37.xml" Id="Re12dbdf243ad43a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85d38d2b5c43d6" /><Relationship Type="http://schemas.openxmlformats.org/officeDocument/2006/relationships/notesSlide" Target="/ppt/notesSlides/notesSlide38.xml" Id="R32dc3045c4df468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505c68d0c4027" /><Relationship Type="http://schemas.openxmlformats.org/officeDocument/2006/relationships/notesSlide" Target="/ppt/notesSlides/notesSlide39.xml" Id="R6c3254b08e12470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320a94c9a84d0d" /><Relationship Type="http://schemas.openxmlformats.org/officeDocument/2006/relationships/notesSlide" Target="/ppt/notesSlides/notesSlide40.xml" Id="Ree28eda550394bf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c4bd6369ac4588" /><Relationship Type="http://schemas.openxmlformats.org/officeDocument/2006/relationships/notesSlide" Target="/ppt/notesSlides/notesSlide41.xml" Id="Re7d40a5ea2c94b6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3ffb140d3541d8" /><Relationship Type="http://schemas.openxmlformats.org/officeDocument/2006/relationships/notesSlide" Target="/ppt/notesSlides/notesSlide42.xml" Id="Rd1b2613bd3dc44d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306a7f0a6e4243" /><Relationship Type="http://schemas.openxmlformats.org/officeDocument/2006/relationships/notesSlide" Target="/ppt/notesSlides/notesSlide43.xml" Id="R8a0dd723996f43f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26f38e89d24a9d" /><Relationship Type="http://schemas.openxmlformats.org/officeDocument/2006/relationships/notesSlide" Target="/ppt/notesSlides/notesSlide44.xml" Id="R4959bd08154a43e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f7df6d77c6407c" /><Relationship Type="http://schemas.openxmlformats.org/officeDocument/2006/relationships/notesSlide" Target="/ppt/notesSlides/notesSlide45.xml" Id="R4ff708adc2744f4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a31acd239245ec" /><Relationship Type="http://schemas.openxmlformats.org/officeDocument/2006/relationships/notesSlide" Target="/ppt/notesSlides/notesSlide46.xml" Id="Rbff0614bf5e94a5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9bea998314fd4" /><Relationship Type="http://schemas.openxmlformats.org/officeDocument/2006/relationships/notesSlide" Target="/ppt/notesSlides/notesSlide47.xml" Id="R977fcb6354c9455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68a634e53400f" /><Relationship Type="http://schemas.openxmlformats.org/officeDocument/2006/relationships/notesSlide" Target="/ppt/notesSlides/notesSlide48.xml" Id="Re31280d0a6ea408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017f42c4c54a49" /><Relationship Type="http://schemas.openxmlformats.org/officeDocument/2006/relationships/notesSlide" Target="/ppt/notesSlides/notesSlide49.xml" Id="Rfca2e0bc21c7414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473f5fb4d406d" /><Relationship Type="http://schemas.openxmlformats.org/officeDocument/2006/relationships/notesSlide" Target="/ppt/notesSlides/notesSlide50.xml" Id="Rd33e02b64d3f489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329a6c56cb4cb7" /><Relationship Type="http://schemas.openxmlformats.org/officeDocument/2006/relationships/notesSlide" Target="/ppt/notesSlides/notesSlide51.xml" Id="R8a20ee6f44e54b1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d1a1ee490486a" /><Relationship Type="http://schemas.openxmlformats.org/officeDocument/2006/relationships/notesSlide" Target="/ppt/notesSlides/notesSlide52.xml" Id="Rc3a33518b6bb419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0a3fd30bc44b74" /><Relationship Type="http://schemas.openxmlformats.org/officeDocument/2006/relationships/notesSlide" Target="/ppt/notesSlides/notesSlide53.xml" Id="R764aa874cf034c7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544f372a44751" /><Relationship Type="http://schemas.openxmlformats.org/officeDocument/2006/relationships/notesSlide" Target="/ppt/notesSlides/notesSlide54.xml" Id="R15e22a748e5446e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a89d09e765403a" /><Relationship Type="http://schemas.openxmlformats.org/officeDocument/2006/relationships/notesSlide" Target="/ppt/notesSlides/notesSlide55.xml" Id="R95140d97f09045a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123bcc3bf4116" /><Relationship Type="http://schemas.openxmlformats.org/officeDocument/2006/relationships/notesSlide" Target="/ppt/notesSlides/notesSlide56.xml" Id="R7e3441980e4c48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09FBC-1F11-4D6C-8FC8-62A1C3EE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E70B-CA58-4AD8-8516-BA9951AB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0BE64-BC77-44EC-B48D-974396B1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2D176-9038-4CB0-8A59-DA73FC2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63CDE-9EC4-4DBB-A884-C82E22AF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36B8C-A90C-47F7-8273-9BD91734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FF32-FB95-4205-B582-30708AE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0582E-DCFD-4F4E-8FAD-29485028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8BA51-315E-4ECC-9E02-6782FD6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FBC7D-26FE-460D-9A7F-7B74F4A8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B7066-DFBE-4D87-A0AA-87E590B7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93042-AE04-466F-90D0-74C317FC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4F532-129F-4FAA-B013-0FDFBD54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A723B-0D68-4528-86E9-014656EC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00F1A-696A-4D2C-A85F-4C4E473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342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8A88F-41E7-42DD-A035-25E0C90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Chapter 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419E0-9D2C-43A1-A86F-A9FECC6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5247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综合项目实战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认证路演与就业孵化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0BF92-1762-4BF0-97C0-2056EFBC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7239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把FDE训练营从课程学习推向真实项目、真实评审、真实岗位和真实创业入口。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5DFC5-0A41-4D04-A9B9-78B5FE2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91081-88A2-4B4E-8836-94DC4B07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4953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FEF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FEFE7"/>
                </a:solidFill>
                <a:latin typeface="Microsoft YaHei"/>
                <a:ea typeface="Microsoft YaHei"/>
                <a:cs typeface="Microsoft YaHei"/>
              </a:rPr>
              <a:t>课程课本 + 逐页讲师稿 + 高级商务PPT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F13C0-C009-4356-A451-77EF308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287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A9DC3-500C-4058-B8FA-42190985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52525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综合实战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F9437-1765-4AE3-B957-68282E18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983ED-9119-48A8-95E9-39DB235E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95475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24296-04AB-46DC-BBE8-42E8C56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9445A-1D18-4F76-9899-B913113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38425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认证路演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A4213D-2D83-414F-B0E9-3C275F7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2FC93-D765-44A0-B527-9ECE57FF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81375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就业推荐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1E638-4330-460E-AA70-98F29E12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42899-4797-4692-9B2D-EAC8BF3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24325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OPC孵化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1C6D3-0A28-4D30-8056-BD65BE7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434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662A3C-8E30-4E85-942C-674A39B1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67275"/>
            <a:ext cx="2190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讲师试讲</a:t>
            </a:r>
          </a:p>
        </p:txBody>
      </p:sp>
    </p:spTree>
    <p:extLst>
      <p:ext uri="{BB962C8B-B14F-4D97-AF65-F5344CB8AC3E}">
        <p14:creationId xmlns:p14="http://schemas.microsoft.com/office/powerpoint/2010/main" val="5230023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37FDE-DF69-47A4-B40D-B562528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2F797-C8B0-4735-906E-B939B45C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ACA15-F50A-4EDA-9485-4013E761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B1D37-5C8B-4AD0-A11E-AC64DE9C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328C-BE46-4DE4-8B04-96D967D4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A93B0-7F80-435B-A425-8069D04B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本章地图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744CE-396D-4ACA-910C-0396D7A2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8课时收官路径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36EC0-71C3-46A5-8385-AD9063E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本章不再单点讲知识，而是把前6章能力组织成可评审、可推荐、可合作的成果。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68B55-1188-4DE4-9E8E-EB5F3D08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9FA78-86DD-44FE-980A-BFC6A04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8AABC-6260-4A30-B805-F579885A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收束总图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3F60-75EC-45D0-91EB-92A8BD36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74609-5F7E-4405-AD4D-B602CBC8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DD266-30C1-4F28-96A0-6EF56CD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7D1D3-D38B-47B9-8CC7-E748B5D4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336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收束总图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7B1C1-D9B1-4617-8653-3FF07DB6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A2D05-13DA-4070-8900-357DEAB7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014C2-D23D-4313-BEDC-DFDE624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FD9CA-6F85-4E07-A728-D7A4B60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29C87-C0A5-4624-9BB0-24B09579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908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项目选题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D3535-E1F3-4782-9A9D-C2844D91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AF4CA-EE99-4D8C-BB11-E8EE5BB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63938-795D-4EB7-869F-E4D4C44B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5DD05-20E3-4F7B-BC18-38026D7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3D3DD-A031-4049-AAE0-C5F48D6B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480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案例拆解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227A8-9778-458E-93C7-8FD474A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3775B-BDF9-4B82-812F-8C6DAD4A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7B0FA-5BF5-46A4-8657-48664269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17C32-7462-41C3-9D35-C1264AD9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691C80-2311-4010-AE34-1BA810FF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52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516BD-F9F6-4138-AF10-038E5A1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8481D3-8C41-4250-B169-36244310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0FDD00-9DF0-4AD3-A9C1-C0CE721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C9BE9-3148-4A78-94C7-0EA086BB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196E9D-0959-4C70-A127-F08A763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624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认证路演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2F30EF-2396-487D-844C-FEBC55AF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F031E3-FA1A-4D71-A5BF-3D8C7AD7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C1D154-1380-4BD7-9CA8-25CFD54B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4DAB83-F2BB-488F-B6FF-FFD3777B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AEE272-FE98-4E99-BF91-2D4654A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196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就业面试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6CB582-58E2-47D1-B6D8-AC13B8E8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E7678B-BD7F-4058-A987-636D3A4E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ADF2BE-4C64-4E1B-9235-72E628F4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7BB60E-94F5-4C38-961D-2AE84E2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0F4F60-632D-4215-85E0-BC942B08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768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OPC/讲师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E5B2DC-DAF9-4878-A276-CFD1B0E2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244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C6F8A6-74E4-4708-8B99-FDFC8CCD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4C1990-363A-4861-8F17-BEF9D984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438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DC759C-4194-4C8D-83EC-E0BD9491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EC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12805B-AB03-4DCC-9F45-3777CC9F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34025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7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生态入驻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0908F5-6F9E-4C3D-B2C7-CE5854F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816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</p:spTree>
    <p:extLst>
      <p:ext uri="{BB962C8B-B14F-4D97-AF65-F5344CB8AC3E}">
        <p14:creationId xmlns:p14="http://schemas.microsoft.com/office/powerpoint/2010/main" val="6115720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C30AC-7C08-4774-8295-5760A7F9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B1DE1-F1C6-429C-A97A-88BB1DD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CE578-ACFE-421D-AF43-56945946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CBCBC-7537-4B08-9532-DAEE57A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A4A86-45F2-49BF-9DE6-4E92C3B2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85094-A2E5-4049-A366-26985D3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能力闭环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03B5B-D2E5-484B-B4F2-9A6F7096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从学习链路到人才链路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17FE5-6630-4613-B700-517CBBF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前6章产出能力，第7章负责把能力变成作品、认证、岗位、订单和孵化机会。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E526B-9B15-4476-BFC6-20CBDF9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325EC-F9CA-49FA-AD43-F7D16FD5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DC744-4357-4614-B6EE-B33AE68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收束总图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B68BC-AA44-48CD-9390-B6E89BF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29617-22CF-46C2-86AB-1A11395E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905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A060B-2E60-4F6E-9BDA-AAB22835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1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0B328-03D8-41F2-AC40-2FB4CA37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2573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AI转型理解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557E5-B0B1-47F0-AC1A-DCC2D54A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957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B416B-CE06-429A-A0DA-8C421F0D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E7EF4-8EAD-43BB-B7DA-CB585C8F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243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1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5151D-444E-431E-9422-3172503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24400"/>
            <a:ext cx="12573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企业诊断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9648C-88BD-4CB4-8AE5-AB2219E3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084CF-C905-49D8-9E41-D51846D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07750-9835-4011-8C35-58E5EBBD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480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1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C6B71-F174-44AF-A58C-732060CE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48100"/>
            <a:ext cx="12573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上下文工程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AF42D-0361-4CAE-B8FB-70DD602A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D455A-8E23-494A-8062-D7D552EA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20417-A999-4531-885B-7FC54863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243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1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5E6E9-4D2B-4A93-A930-B8010B0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24400"/>
            <a:ext cx="12573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Agent部署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D39B0-9EA9-4158-9F86-21A26127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F90CC-241C-4D04-BF15-5EC19D4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905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1F134-1045-4001-AF2D-AD7B81E2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1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9EC26C-8A69-4203-9549-7CB07284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12573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系统闭环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6512E-C0C8-4EAC-B600-9B98B45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957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C9FDA-899E-4684-B780-30543CA4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FF"/>
          </a:solidFill>
          <a:ln xmlns:a="http://schemas.openxmlformats.org/drawingml/2006/main" w="19050">
            <a:solidFill>
              <a:srgbClr val="A855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3B57D-D9E9-4CFA-9200-C699D5A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243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1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F0AB5-0015-44F3-8114-68321597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24400"/>
            <a:ext cx="12573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交付管理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69DFC-7AF6-4FF5-8D08-217B711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9050">
            <a:solidFill>
              <a:srgbClr val="14B8A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9ADBE-A876-4A0B-A4B3-3A5049C4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480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1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086D3E-3C10-4C5D-BA88-D82CBAEC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48100"/>
            <a:ext cx="12573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综合实战</a:t>
            </a:r>
          </a:p>
        </p:txBody>
      </p:sp>
    </p:spTree>
    <p:extLst>
      <p:ext uri="{BB962C8B-B14F-4D97-AF65-F5344CB8AC3E}">
        <p14:creationId xmlns:p14="http://schemas.microsoft.com/office/powerpoint/2010/main" val="4385951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8488B-F12C-4D9C-BBF3-DCC4D37A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62EAA-318A-4EB3-99FC-619840A4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3B6D3-DD5C-4641-A261-08D78FE5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DCE3-1363-48B3-AC9B-87E7E2E4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EFCFA-584D-49F0-BEB9-68720BC8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321C4-6488-4C41-ACE6-F97DC6F3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本章交付物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056FF-0D45-4A47-918C-19418C4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第7章最终成果包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00CA6-6868-4457-9843-D6821D5E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每位学员都要留下能被企业和WEI生态识别的证据。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56733-C93B-4953-94B3-ADA4245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E7205-98FB-4856-AB3B-3EFA252B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670C5-4A83-4D04-B4FE-98363CCF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收束总图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9F1B9-9083-4A80-8629-B7D47851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1E2DA-76F1-4A0F-8DB2-7013C2D6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19075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409F6-7450-4565-B83E-9C5D900B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1051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每位学员都要留下能被企业和WEI生态识别的证据。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5DF2B-CFD2-455C-9D82-9FD1BC9B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D9605-E61E-4DC6-8E28-6B58A5DE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项目路演PPT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DCC20-0551-487E-96BA-ECB8CFA6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5D67F-293B-46F4-89B2-AC883247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FDE交付包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C0920-67BF-4273-83C0-2B492625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FFCF4-FA83-4CDB-B6F6-134CB9F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个人作品集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C9449-2F2B-46CA-A148-30DD9AF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9F4DB-6446-475E-B254-7E36071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能力雷达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4BC20-9DAA-41BC-8DE3-A3BA05A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9731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E4894-9FD6-4CF8-8158-C26304AB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推荐建议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5DA10-E0F9-4ECE-90A0-C49F6F63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F"/>
          </a:solidFill>
          <a:ln xmlns:a="http://schemas.openxmlformats.org/drawingml/2006/main" w="9525">
            <a:solidFill>
              <a:srgbClr val="A855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ECC4B-F233-4E4D-B5E7-EDF2FE83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90天计划</a:t>
            </a:r>
          </a:p>
        </p:txBody>
      </p:sp>
    </p:spTree>
    <p:extLst>
      <p:ext uri="{BB962C8B-B14F-4D97-AF65-F5344CB8AC3E}">
        <p14:creationId xmlns:p14="http://schemas.microsoft.com/office/powerpoint/2010/main" val="14823822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BBE3B8-97EE-4BFD-BB87-13D63F3E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8D1B5-CF51-4AB0-8872-5231CA2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7B1B2-8E0E-4627-B27E-1FBD33F4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B686A-3B00-4819-BC06-C92DB38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197DF-439F-4BDE-A3C9-787715B2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E8BA4-9E05-42B6-BDE7-0C7ABDC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09BD6-063D-4327-9DEF-C0DC8ED9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1BC4B-A444-47B8-BE22-53704F06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805C6-CAD8-455A-9CE1-854017C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A1D93-F0A0-48AE-9AD5-46297416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94D12-9647-4F64-8B87-BEAE61F7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EA8B7-F522-4506-A554-DF3B0374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710CA-7C0D-46FF-AD39-B74CFBA8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162F2-0B67-466C-B8B3-5657FD6D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3544E-24F8-4DC9-8288-98020462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7145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F1BD6-09BF-4031-8DDC-344FCA4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9029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115F8-98FD-404F-A177-5403984B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47900"/>
            <a:ext cx="80010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0652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C983E-2569-45B7-BD55-34E003D9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6858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没有作品集，就没有FDE人才信任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0FBBD-9E2A-4815-8E0F-35D296B9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6572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727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FDE不是靠“我会AI”获得机会，而是靠真实交付证据进入项目、岗位和孵化器。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BDC90-AE80-4A31-8AAC-0AF0E7EC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4825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A9269-7495-4109-81DF-F40EA55B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48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34D80-710C-4A40-83DD-D8CB2292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33975"/>
            <a:ext cx="933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2B87B-337D-49ED-BC24-6BB1B70F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4825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5F943-C936-460F-88F9-7F36AAFD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48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4CC63-26DF-4E5A-9059-3107B863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33975"/>
            <a:ext cx="933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CAC7BA-981E-4AE2-9D0A-B6D8AE0B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4825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C0ADA-1D26-4BD3-AE79-8930AFC4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48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7E3548-53A0-4B01-9E6B-36AB9FF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33975"/>
            <a:ext cx="933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21906-AD0E-4DC9-BECD-01FA0106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4825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71ADDE-3744-42E7-965C-EBEFFD69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48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60043-B6A5-4B5A-B281-A7340D06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33975"/>
            <a:ext cx="933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11591-32A7-440D-9E52-FBE77DC3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4825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15CB7-7ABA-40FD-99F6-9783F05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48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AA523-E2AF-4290-ABA0-ABBDCD5E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33975"/>
            <a:ext cx="933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入驻</a:t>
            </a:r>
          </a:p>
        </p:txBody>
      </p:sp>
    </p:spTree>
    <p:extLst>
      <p:ext uri="{BB962C8B-B14F-4D97-AF65-F5344CB8AC3E}">
        <p14:creationId xmlns:p14="http://schemas.microsoft.com/office/powerpoint/2010/main" val="4777939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C2A57-833A-4810-990F-27C05CC2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04DB2-0E28-4BBD-B7D4-FCF204E9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A84B8-B86E-4943-9CF9-2209C0FE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BC7FC-B7E3-4DB1-80D4-D7D99676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8BC8E-5B50-411D-8559-ECE5265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FDED6-F03A-4DB6-BD46-C5E0369F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15010-C2E5-481E-9667-1713F5F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B3C63-701A-4F19-AC33-5624F3CE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ED44A-38C7-48C5-9DEB-6A7B98BB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A9FC9-D735-4A74-87B6-3CDB8F64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F4E8B-6173-43A2-BF53-432C4682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0A61C-74B6-4AAF-8B59-C122FD38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40809-EF43-4DE4-9639-DA7D126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39034-3547-49A1-805C-8A751676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DD6B8-68AB-43B0-A6E9-72B74BD8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94C86-84EA-4218-BC01-833C0F43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800100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综合项目选题与团队分工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81CF4-6718-4BE0-B600-B72C07B6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8105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rPr>
              <a:t>选题决定实战质量，分工决定交付速度。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46A15-D731-4E9B-87BB-D0DF922A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50DD7-6A32-426B-8DEC-05ADAA0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BC55F-F0E8-4267-830E-3A1B23BE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CCABA-338F-4484-A938-60820225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B4525-CAB6-4CE7-BEBC-223C001F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20D15-CCFF-4FAF-8200-7D211904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3C839-FAFD-4581-8AD4-5C86773A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B67E0-538A-4F0A-B5DA-13AA8323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7C4A3-3A76-47B3-81FE-D7C58CC1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</p:spTree>
    <p:extLst>
      <p:ext uri="{BB962C8B-B14F-4D97-AF65-F5344CB8AC3E}">
        <p14:creationId xmlns:p14="http://schemas.microsoft.com/office/powerpoint/2010/main" val="852599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5CB43-9178-49C8-ADA8-AF7086A2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268B9-E083-402E-ABB4-B352C1A5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C7D58-A05E-4E90-844C-F0ECCD09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5C529-D9ED-46F8-9115-5CCF93E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80BA4-6252-4405-8E4C-6D35216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64279-0A32-48A8-82C0-29EAA0E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项目池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06E2-2693-4B73-8938-5ED33F3A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五类推荐实战题目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5612C-822E-42A4-B832-540C2F7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项目题目要能覆盖业务价值、上下文、Agent、系统集成和运营闭环。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3A17F-742B-41D8-AFF0-601D4094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5A3DF-ED60-4D80-84B1-FBF420CE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DA56A-0CB1-4430-B3AF-9CF28576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项目选题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147BD-AC0D-4E6C-AA52-C24409E0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FC7C0-D6E1-4D64-B28F-3779B952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13D49-F3C2-409F-836D-B5AD4F39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5917A-0FF7-40EA-9C06-69B2D77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销售线索数字员工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A1290-EA94-46FD-9BC0-DECB7E58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62485-250C-43DC-ADC7-F20627A3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C2473-8E83-4997-BC16-B74BBB1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7332A-2B6F-4C2D-868D-3D7F037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客服工单数字员工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BA781-7637-4F0B-97BC-23B5682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BC905-E4A8-4F3B-8555-7A252E17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2DD05-AAAB-4E3C-BD48-28A000C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1D6EC-C7C4-41B5-A296-0B22A15A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HR招聘助手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A6880-572B-49F0-974D-57A8EFD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0AB11-D2A2-4656-AD74-D8422C64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2C330-C36F-4BCB-AE1C-47361567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123B9-9D43-4E28-899E-D01E1FE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财务报销审核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50CB7-DA31-4E84-AF20-914A7BC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AE23F-B1DE-4DB4-9166-1D9236F0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CDE94-1F47-4039-BF5A-33BD1E8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F958A0-090E-45C1-9D1F-8BEAEBA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园区招商助手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7C6DB-202B-4387-ACF4-5DF4815F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E32EA7-B56C-4EBD-8759-45DEF028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E37837-9052-47D4-AF62-83CD094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288308-B1E1-4808-8877-BCBA0194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青少年AI导师</a:t>
            </a:r>
          </a:p>
        </p:txBody>
      </p:sp>
    </p:spTree>
    <p:extLst>
      <p:ext uri="{BB962C8B-B14F-4D97-AF65-F5344CB8AC3E}">
        <p14:creationId xmlns:p14="http://schemas.microsoft.com/office/powerpoint/2010/main" val="12412650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C1353-6CFA-4C82-9B91-39BF0BCC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E3EB-E01B-4D1B-B5EF-F7FEBAB7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3392-6026-41F9-B063-C7A840B1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99851-FF5A-4205-B8DD-67240FA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A196-3FD3-4C08-8C03-1C6700E3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30AEC-7998-41A2-9C67-B79C19D2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选题标准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B4DA8-A709-4556-9EAB-32A3526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好项目的六个特征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0153F-857C-45A5-8ADE-3060183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真实、聚焦、可接入、可评估、可路演、可复制。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AAE06-A5F7-4E94-B9EB-9D8AF6F9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3D4C4-306A-4D01-8998-384634CF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58BC4-618C-41B9-9940-1E6F3F5D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项目选题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83412-DBD4-4051-B2D4-C264C7C5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A6D6F-FF8A-471A-8521-CD3C4524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33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2749C-EA16-45DB-B5B6-F9F58284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A2823-08EA-492E-8A46-B0E7687F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240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5434F-2CCA-41CB-8B3F-842A6AA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1028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23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真实痛点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2BADF-9FE0-4F42-8207-B03156E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73" y="26860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49C85-6BC0-48D5-AEEB-499E3DF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73" y="2857500"/>
            <a:ext cx="1028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23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MVP清晰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7CBF7-3654-4A0E-B2F6-A3E129BD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73" y="42100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DAC92-49B0-47D3-9D12-1997CB52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73" y="4381500"/>
            <a:ext cx="1028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23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数据可得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05852-4738-490F-9CD2-63792C68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720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16776-1139-4C94-907F-5C899DA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43500"/>
            <a:ext cx="1028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23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系统可接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69BD2-6287-49DA-B43D-CFAAF310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27" y="42100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3EE08F-2067-44D3-819B-951ED854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27" y="4381500"/>
            <a:ext cx="1028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23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指标可测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2AB89-C430-4070-AC5F-9BB903D4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27" y="26860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F"/>
          </a:solidFill>
          <a:ln xmlns:a="http://schemas.openxmlformats.org/drawingml/2006/main" w="11430">
            <a:solidFill>
              <a:srgbClr val="A855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D6B8B-31EF-4678-BC11-58E51B89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27" y="2857500"/>
            <a:ext cx="1028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23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模板可复用</a:t>
            </a:r>
          </a:p>
        </p:txBody>
      </p:sp>
    </p:spTree>
    <p:extLst>
      <p:ext uri="{BB962C8B-B14F-4D97-AF65-F5344CB8AC3E}">
        <p14:creationId xmlns:p14="http://schemas.microsoft.com/office/powerpoint/2010/main" val="4370807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CB60B-ADC8-47FD-8224-5BFCE404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2C04E-4EB4-442D-9B4D-7AB66AA5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8589B-F0AD-4AAA-8CDF-7EBA217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3B6D5-5FDD-4553-A95F-8786720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C837C-CDD5-43A7-93CB-4046B983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42CBA-2D55-47B6-AF7A-27CED3E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F9CEC-08BC-40EF-8FE4-18A68935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一个FDE项目组的角色配置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F062A-7D29-423A-B108-FEF72AB1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小组内要模拟真实交付团队，而不是所有人一起写PPT。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E2598-050E-41E1-8591-30B0AB2A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28E8A-A6EC-4DCA-9DCF-58A303E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D3248-7D6A-4FF0-8556-4A9BBA58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项目选题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E79E0-590B-4866-A5DE-70598682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40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79C51-8D90-48B6-B3EA-A40CAC17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40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5A376-A41F-4877-BB64-92D9592F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1049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项目负责人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5B024-2928-43A3-B57E-C3280FB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914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691B3-37BD-4139-A0E9-55E224A0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40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30AD9-D76A-4DDD-8F33-E30DDB1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40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B3B43-6CA7-4DF1-9967-3382EAF5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1049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业务诊断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721D2-4A51-418D-88ED-195E7F6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0050"/>
            <a:ext cx="914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B687F-1D43-47FE-BFCA-DB49078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40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D558E-A880-4D99-9A14-328A94F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40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FA7FB-815A-402E-9A94-7C36AB7F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11049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上下文工程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B4003-DB2F-46EF-A316-2DE997D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914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10120-063D-41BF-8A0F-325EE34B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140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8886E-426F-4691-8B70-F6886AA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140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90C01-8334-4CA1-B640-CA7D88A0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11049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Agent/工具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9FDB7-EC54-4FDF-9C83-B22AB6B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914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F5D4C-3B3D-4BF5-828B-C58B3993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140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06284-12DB-40C8-9A7F-68B2D51C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140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21FFE-DE1E-4189-B592-BDFE0CD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11049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系统/数据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F8D0A6-367A-49F1-AFA4-E562928F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10050"/>
            <a:ext cx="914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F17558-D6F4-43DE-AAC6-8734EB57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40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D8A29E-C5F7-4B02-8F74-A87A1F7F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40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3E568-B010-4D55-8B2A-6663922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1049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路演讲师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CDE0A5-5F31-4724-A47F-D5B5C10D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10050"/>
            <a:ext cx="914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9652983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1623F-6AE3-4A8B-91AD-08236A95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5A8D4-748B-4E3D-9936-DF63F463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5B4D2-221A-4D72-838F-A212E97D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8AC36-110B-4AF9-9BD8-D30FF2F6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05FC8-6B67-4C35-BADB-844DF93A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20C7F-465C-4688-8296-D397F049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现场规则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DB281-FB9B-4FEA-AFB7-674965AB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实战工作坊规则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304DE-74CE-4AB9-B087-378177C5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第7章课堂要像项目战情室，所有讨论都围绕交付物和证据。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41486-1051-4B45-8B1F-BF9589E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A3D26-0024-48FB-AC9D-CD9866A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4FD14-5C7A-4539-88F1-6BCE0B72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项目选题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D3ECD-4F1A-43A2-8D06-FB63099B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25A75-6BC2-4F38-AB09-3E179C80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不讲空话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89AEA-05C1-459B-8514-08D84A54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CAF43-8231-4F8C-920F-214FF89E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每页有证据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8D90C-2653-4F26-A4B3-3E2D03B6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81254-334E-4203-9B7B-CC7A90B3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分工到人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AB35D-115F-48CB-9E47-958AA7A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7BDAB-C3C1-484D-9647-C21AE578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按时提交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6EED2-1BED-4EF0-AA59-A0061F4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AF307-6CA1-4E38-B9FD-D3B48613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现场答辩</a:t>
            </a:r>
          </a:p>
        </p:txBody>
      </p:sp>
    </p:spTree>
    <p:extLst>
      <p:ext uri="{BB962C8B-B14F-4D97-AF65-F5344CB8AC3E}">
        <p14:creationId xmlns:p14="http://schemas.microsoft.com/office/powerpoint/2010/main" val="9501322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A4FC8-0D36-4AD8-87C1-9FCC5968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F3278-64E7-4F13-A95C-518D932C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F5252-CA40-445C-90F5-010B85A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E2CCB-EC51-4327-B68B-6F2587E0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3E7E8-37B6-4B5B-B9EB-73FFC2D9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D35B3-E147-4BF0-979F-C616AB83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实战节奏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66B2E-D2F1-4C63-8798-AFF992DB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一天实战节奏安排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9A1BA-C5DB-489B-8D1E-8B3AF58C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用紧凑节奏逼迫学员从讨论进入产出。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1DDD-6EAF-4DAC-9091-82593A7D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4E445-1977-448B-9837-814491DB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D1DA7-482F-4AB0-BA68-82C584F9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项目选题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19DBB-72D1-438C-A313-955B55D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AE056-4DF4-4A4D-8EE6-A97355C8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4EFA1-DE18-40E0-8DC9-069B861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EA149-7052-46D2-88BB-95C214C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选题组队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E26BF-4AE0-4403-B6BA-44BD9C5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5D8F5-E822-4C81-88D4-1C7A14A8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98279-83EE-4C03-A85F-3104FF2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诊断复盘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3D1B4-0E35-4D86-859C-8AA23EE4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442AC-FF8F-4CE3-9D57-105D653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D40F7-AB64-44CC-B2F4-17DDD984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方案整合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B2B22-47E6-46D4-8414-47E2CB8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B0A4D-75D4-4822-ADCE-531DD43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2DCFA-2D3B-4B10-BB54-0AF8B1A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交付包打磨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DD130-6490-4BFE-9931-3810F517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05742-406B-40B9-81DB-E781EB5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5492D-4805-4B42-B4AA-9E518D86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路演彩排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EFAE7-CD40-4E3D-BA6F-A072C616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351194-F93C-41D0-AED9-72E3F176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43672C-B8DA-4710-B45F-9CDEA9CE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评审分流</a:t>
            </a:r>
          </a:p>
        </p:txBody>
      </p:sp>
    </p:spTree>
    <p:extLst>
      <p:ext uri="{BB962C8B-B14F-4D97-AF65-F5344CB8AC3E}">
        <p14:creationId xmlns:p14="http://schemas.microsoft.com/office/powerpoint/2010/main" val="397116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E8A59-516B-43E0-8F8A-C0E99E7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B5372-A8E2-47F7-862D-888AFCC1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68BA2-946A-47C7-B5CB-76479040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652AE-1296-4F46-A96A-FA35B81F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D34BE-C399-4231-9B83-B366672C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5B9BF-F0E4-4358-82F8-A102817C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4034B-6262-4DC3-8F97-6B795EBD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6197C-1805-4CBC-BF1D-B776D58B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BA5E7-461D-4D03-820A-268DEB7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0519D-DE53-4131-AB8C-5814168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6ACA5-67B7-46F3-A0BF-3F196214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0E5E7-A3EA-4210-ACDE-D4E0BAEA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28E2B-3975-4C25-A5C4-7F385911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8B780-BCF5-4A16-BFCB-4C312212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D1A6A-3FF4-446B-9B42-9A0FFE7C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524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43BD1-6D42-42F2-91CC-50D51DB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239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完成项目选题卡与小组作战图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40B76-1BBB-4B95-ADA3-098B3F4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学员现场确定题目、客户画像、角色分工、产出清单和时间节点。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E4436-973F-4652-912E-0CDF3562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2CAF1-1293-4AA9-B9A8-C2246B0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00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251CE-5349-49E0-B0BA-BEB3B67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5B574-0F58-4DEF-AE74-351956CD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E3D04-1556-4A08-B970-E268A8F2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4994D-0C83-45C7-A6F4-16F9043C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E42AC-190A-46D1-9766-046CEE3B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99CDE-BDCA-403A-81B5-A455284D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客户画像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54E1A-BF33-435A-B206-A5AAAC7A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B6416-9CB2-482B-B38F-F5E4B471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8B02C-FD29-48E4-91F4-AAE9B0EF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角色分工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083D5-D7FD-4150-A25E-71F88B9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D0A6B2-57E4-401B-8342-5FA0FB3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1FE6BB-50B9-4B9C-BF96-E4E4785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8C347-CC81-4FF6-847F-693D2AFF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E41ED7-5E1D-4568-8987-6DA3D71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9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D720AE-E2E2-4441-BCB0-58A863E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时间节点</a:t>
            </a:r>
          </a:p>
        </p:txBody>
      </p:sp>
    </p:spTree>
    <p:extLst>
      <p:ext uri="{BB962C8B-B14F-4D97-AF65-F5344CB8AC3E}">
        <p14:creationId xmlns:p14="http://schemas.microsoft.com/office/powerpoint/2010/main" val="4599553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CC3E3-B1AE-47C3-AC7E-B0FAEAD4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82858-6DB8-41D4-B095-53428C5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B5241-0A11-4014-8453-3C2046F6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614DC-0153-40AD-91AF-44BEAF19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3F4C7-AAD7-449E-850E-41CA39F2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D2262-ED11-4CF3-9E3B-B3648D7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AC5C0-C64D-40AE-8E84-FD54A5B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8328B-5095-4702-B0D6-5F2CCFC0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B8D4B-DBD9-4DF6-964D-38517B32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40C8C-7A50-4FC8-BA3D-2F3A914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897F6-5D39-447E-AC8B-056724F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EAF63-032A-4A73-A435-4B94BC17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61E76-6DCD-4C3E-BF97-C75EDC7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F2740-DEF6-4247-B2DA-0FD86954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E9B74-B66F-4ACE-A6BC-83A5BA27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CCC48-F89A-4F2F-85F9-092319A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800100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企业实战案例拆解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71B8D-8B63-4F48-934C-4D571D82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8105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rPr>
              <a:t>用跨行业案例训练学员迁移能力。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9E14F-5081-414F-84C4-BCFEE9FA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A9EA0-55FB-4381-A510-D65CEE0C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B8D1F-C0C8-44E6-8333-8BB83EEE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BCAB7-CADB-4EBA-B983-ACF2F169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A4723-7E42-4A99-BF1F-DAC8A437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47F9F-B78F-48BC-96FC-ADD60B87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BFCDC-8D92-4354-B225-BE72CC3D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ECC4A-317D-4604-9DA5-72216DD9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AC3C2-05D9-4BD4-B972-C9D331D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A4AA9-C1F1-4E4B-AABF-F37F18DA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F5AB7-34AE-440C-BBF3-B852C0E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C4233-F844-4CCA-963D-77740004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01089-9B52-4696-BA0F-69C96C3E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295A9D-D207-426F-B590-B4C6CAC0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09452-A810-444C-8F0C-94F2607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</a:t>
            </a:r>
          </a:p>
        </p:txBody>
      </p:sp>
    </p:spTree>
    <p:extLst>
      <p:ext uri="{BB962C8B-B14F-4D97-AF65-F5344CB8AC3E}">
        <p14:creationId xmlns:p14="http://schemas.microsoft.com/office/powerpoint/2010/main" val="19909583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06559-FD02-416F-AC46-5D62ACC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A1E4-4B22-4A35-B342-70E06442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12DC5-9118-449F-97AD-E03E3B2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58C0E-EEB2-441B-AB73-14B80EE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5FD61-3895-4100-9073-1DA3AA0B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B27AA-4BDC-4DF0-9541-6D5E946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679A2-7F71-482B-8383-4929DC2F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C91B3-359F-4F84-A2C5-B70C882D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销售案例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DB06E-D66C-429C-BF69-7A811B0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销售线索数字员工端到端拆解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9CCBB-2F03-4F5B-9F67-BCC361A3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从线索进入、客户画像、跟进建议、CRM回写到运营复盘。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3A3E1-4D14-4A15-9EA3-F59299E4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FB95F-981E-4CBD-BFDE-B57E9EA2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FB1D9-6F00-41B2-8DA4-7B0BA36E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线索来源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BB391-2747-4F49-B13A-713CB0F6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A556D-88E7-4085-9628-7FC4DA0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34153-D76B-4883-AD14-EE923BE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客户画像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1AEA8-3045-41DE-8B1D-94125B5E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BCF02-8FF5-4E9A-B463-12470DA7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C8A2C-B1FF-443C-8AB6-BE3E0FD4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意向分级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84304-D0CC-430C-B8EF-93265B39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DE327-C40B-4F1C-A4F1-66FD685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047CB-C82A-4125-897F-A99D0CA0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跟进建议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17605-F16E-4109-8728-C1013EF2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A5095-65BA-4021-8779-816AD665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DC808-BB14-4987-8827-797CF57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CRM回写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44815-1FBF-4C9D-9C0F-5001FFF8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962AC-7F39-499B-BCDA-F34E04C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D818E-11D2-4180-841F-6E9E83A0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转化复盘</a:t>
            </a:r>
          </a:p>
        </p:txBody>
      </p:sp>
    </p:spTree>
    <p:extLst>
      <p:ext uri="{BB962C8B-B14F-4D97-AF65-F5344CB8AC3E}">
        <p14:creationId xmlns:p14="http://schemas.microsoft.com/office/powerpoint/2010/main" val="68284788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B63B6-896F-4886-9439-725C558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D8B6A-87BB-4238-B5E1-D6F51C0B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C3CA7-9E1D-49F0-9E52-E1CC9A65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6701C-DFC6-45F8-A59B-6C5FD6F3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D8F48-A147-444B-B696-5CC788B3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3E7A3-C98E-4461-8B6D-FF060E8F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9BC0A-C692-4760-9BFE-14916710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C2D25-F63E-432A-94B7-0A2FE93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客服案例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4307E-EBAE-4FA0-8366-7BB2162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客服工单数字员工端到端拆解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B25A9-53BF-4B2C-ACA2-9BB0DE2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从工单分类、知识检索、回复草稿、人审接管到质检闭环。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EB639-0244-4F0A-AD1D-A3B56D99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F40AB-372C-41E5-8E16-B108B64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D1292-4E3E-4FAA-8DE7-735A343E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工单分类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112BA-CE91-4522-8BF8-92F67FAF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42D04-7A65-402F-A343-9582A7F1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6A10D-CF1A-4574-96E4-3149988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760EA-B8CE-4197-A0BC-22B7B28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7316C-6959-445A-AFF7-84B76A73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3A823-E3E3-4518-948F-028EF33B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回复草稿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A09ED-904A-489D-B400-CBDC6CED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23364-A900-40D4-A85E-3D63A09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6000B-E15C-4D0B-BD0C-9652C4FB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B63E0-1B20-4791-82E6-39E24C15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5DBA1-86E9-4F33-B369-C0CB0951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02057-C88C-424C-8CA3-6B2EABC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质检标签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BC218-CEA4-44FD-B09A-00E2E755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96CF2-8146-40E9-967F-55DBFE6C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85F7C-5AF5-4B19-AC8F-22BFB1CE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满意度</a:t>
            </a:r>
          </a:p>
        </p:txBody>
      </p:sp>
    </p:spTree>
    <p:extLst>
      <p:ext uri="{BB962C8B-B14F-4D97-AF65-F5344CB8AC3E}">
        <p14:creationId xmlns:p14="http://schemas.microsoft.com/office/powerpoint/2010/main" val="4481818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597B5-4C4A-47BD-9456-2F7A461F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43827-2D1D-42FC-BC5B-E115CB7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6E360-DCE5-4335-9915-236289E0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AFC6A-56E6-49C1-8FCB-A33C8BE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E5E3D-0B40-4C44-B05E-6F1B9441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A221F-1B95-4A7C-B16C-72A5CDE3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1D021-0FE6-4CEF-B4C3-7267D2A6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7F9A4-8E63-4E12-A51D-0843BBE5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HR案例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08A29-90B4-4CF7-95D6-FD0DB892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招聘筛选数字员工端到端拆解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A5011-B505-4D44-9E68-42A695EB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从岗位画像、简历解析、候选人沟通到面试安排和合规边界。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282B9-D982-4984-9179-DC7A30E7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33553-FBCD-4DE8-9FF8-3247869C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51C1C-F2A2-4E96-8503-203A82B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岗位画像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D6A2F-1381-42E7-BEC9-F4BF266A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F991C-C7CC-4B49-AA54-0CC3CADC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AE190-B3D1-4089-965A-F4E833EE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简历解析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84F2D-9889-4B34-A6F8-F71825D4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F6E9B-26AB-4208-A37B-D0603AE7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365B5-2288-4BAA-8419-485DDFE7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匹配评分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5960C-84CC-4C6B-B3B3-91CBD2F3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5324D-23C5-400A-90F3-1CBBF85A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649CC-759B-4636-A435-028A7B3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候选沟通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FBBF5-0DD7-4013-BF97-FF2A3AC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07DE9-F270-468A-AF92-5499E045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9AB0B-F1CF-40C9-9C48-17B77F77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面试安排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8C6FC3-0C4C-4F50-A10C-41D65417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63DA0-21ED-43DE-B4BF-3737B440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864A97-E0BC-4E27-A033-E8FC78E5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合规边界</a:t>
            </a:r>
          </a:p>
        </p:txBody>
      </p:sp>
    </p:spTree>
    <p:extLst>
      <p:ext uri="{BB962C8B-B14F-4D97-AF65-F5344CB8AC3E}">
        <p14:creationId xmlns:p14="http://schemas.microsoft.com/office/powerpoint/2010/main" val="5055476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7E708-3840-48F1-94DC-C328A65A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38AA5-92CF-4D5B-B8B4-9A7D485F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F4BAA-6490-4A26-8088-86642C9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46AC6-07A7-44ED-B4AE-84F795B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5759E-8BF2-4720-97D0-CB509841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90999-C855-4C54-BF3B-4BB85190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D283-DB7E-47D7-B390-B230454E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E6F1A-7D4B-4652-9254-A44F5083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财务案例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CC801-FCC5-48D9-A43F-2F4B9067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报销审核数字员工端到端拆解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FF134-C62C-49BB-8844-902FA034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从票据识别、制度校验、异常提示、审批辅助到审计留痕。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FA9EE-C184-455E-A3D6-5135C3E4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82530-B286-4BA4-9F9F-19A6FB6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1CC48-9652-44E1-B334-D6901F67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票据识别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1D9D9-C8F8-4B90-A6AB-9532D727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950B1-50E2-45AF-8BE2-52C9FFFE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2885F-6507-4085-A1FB-F6E8E9CE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制度校验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BD4FB-DD37-4AF6-83D0-1D94C478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BD654-9ACF-4051-8A94-035773AF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BAC6B-7188-43E4-B1B3-01A423EB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异常提示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5003A-1194-4B04-9CB9-71A2C02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7DE3F-4B5D-433E-B38D-2213037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A56DF-1C16-4C96-9985-1B27B6F4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审批建议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3EEE5-7A91-4017-83B6-DD026435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E0363-1736-498C-B767-146F690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9FE50-EAD1-4339-972B-B1509529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审计留痕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332AD-EF17-4852-9EC1-295AC7C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919DE-87DF-4F39-B849-A3A38895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2410F-424E-4FB8-8605-2E3C37D8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风险复盘</a:t>
            </a:r>
          </a:p>
        </p:txBody>
      </p:sp>
    </p:spTree>
    <p:extLst>
      <p:ext uri="{BB962C8B-B14F-4D97-AF65-F5344CB8AC3E}">
        <p14:creationId xmlns:p14="http://schemas.microsoft.com/office/powerpoint/2010/main" val="8462194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AAD72-6D1B-4CE3-B439-27812532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E87F4-167A-4093-BB96-1A636658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9B278-64DD-43B1-9222-9114DAF3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E82AF-B52E-4EAD-A701-5FDF32B2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C2AB5-6758-4FDC-AA8E-DF24EAB4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72B69-2BE7-4569-8778-7EAC00D5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A2D4F-121E-424F-9F4E-F9DC5C61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2A45F-53AD-4BB4-818D-CB0333F4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园区案例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57EC1-4F19-42FE-938B-36B3D76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园区招商数字员工端到端拆解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9EC49-1A61-4965-A702-C66DA79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从企业画像、政策匹配、招商话术、跟进提醒到项目入驻。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99FD3-F7AB-4AFE-B632-819B01C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7A3FA-A434-477E-831B-8B8D9F4A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BCE46-0C6D-4D2F-AF18-11753735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企业画像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D059F-2A4A-4CF4-8D8A-F4A1C6C1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33B49-9001-47B9-B8C0-5CC914A0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52878-84CD-4CB4-91C0-7626A970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政策匹配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A0EC1-E261-4069-8302-1B9A06E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8A86B-85E6-4412-A136-DBCE83ED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D1FA4-9D88-41CC-A520-445E96F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招商话术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4C3E9-32F4-46BD-A365-530855C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4AF1C-DF04-47E5-A0D1-4DA27B6F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7365B-FC5D-4733-A09F-2A6A0E70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跟进提醒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6864A-D64A-408F-8191-D6681DEE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B6A63-F9E0-40DB-AD68-F39A8215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D6EB7-12EB-489F-B22B-60A24D2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入驻流程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9C4FE-CC19-4C44-95B0-DE3980A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18A93-48F6-4164-B71A-79D146CC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6F4A4-8F5B-4408-8312-1D59319E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产业画像</a:t>
            </a:r>
          </a:p>
        </p:txBody>
      </p:sp>
    </p:spTree>
    <p:extLst>
      <p:ext uri="{BB962C8B-B14F-4D97-AF65-F5344CB8AC3E}">
        <p14:creationId xmlns:p14="http://schemas.microsoft.com/office/powerpoint/2010/main" val="97478327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A244A-76E5-4B20-8733-C9E335BF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8AF53-7510-408D-8938-291A0889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5E66F-85CF-42D8-A6C7-5328023A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3D288-723E-4C48-ADF2-31D882C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E27F1-3C5D-4EEA-B534-5057E28F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B3BAB-5C7E-4043-ADC8-24F32BAB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迁移方法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3CE3D-E603-4E35-846F-55937C4E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案例迁移六问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2C061-534E-4E43-BBF3-278BC9E8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学员要能把一个行业案例迁移到另一个行业，而不是背模板。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12380-FDAE-4D95-A624-EFF0348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389CC-94EF-4EB0-BCAC-893221E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A1B77-7786-4435-818D-DC279069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案例拆解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FA046-C2DD-436A-9C5B-92282B4D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C5E0A-9558-4B1F-9343-F8CB7E4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0397E-BFFA-4E26-A0B4-CCE11E9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50C53-FE6C-4A3E-9420-A16346A6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对象是谁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3E9C7-F30E-47A7-B35C-6DD94BD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8C5DD-A1AE-4506-8D28-A33DF726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6CFBD-B331-456D-90A7-AD1B4825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548F5-C257-49CA-A6A3-2E21C36D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触发在哪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7DC65-1E86-4466-A7F5-4581057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B95A1-9B0B-4725-8BBE-A2EF72BE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6467F-4392-4230-BEE4-E89F07F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A6719-8086-4900-9905-8636DE8A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上下文是什么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ABAC6-FD25-43DD-B2EC-49FC238B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9937D-5726-4B52-9164-9B1ACE0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96751-BE18-419C-8916-26A4341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0CC6D-D1AA-47E3-AE91-9399187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工具接哪里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99865-82FE-4A09-A8C0-B4D6A96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DA1E6-C729-4149-A328-56E49B5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AA00E-CC8D-4C78-B846-EB782F4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42D9B6-5AA1-472B-A79D-7EA72FBE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结果写哪里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960210-59C1-452E-822A-B23D3928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86BE2A-B23F-4B43-A08A-D32CB1C7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5FEBC5-B0F4-4CBA-B79B-36B1B453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5764C3-07A4-472D-B8FF-00A15C22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指标看什么</a:t>
            </a:r>
          </a:p>
        </p:txBody>
      </p:sp>
    </p:spTree>
    <p:extLst>
      <p:ext uri="{BB962C8B-B14F-4D97-AF65-F5344CB8AC3E}">
        <p14:creationId xmlns:p14="http://schemas.microsoft.com/office/powerpoint/2010/main" val="142960172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D48B9-AF8E-4303-84D9-D16EC0B5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4FA89-01BB-4D24-B638-7A94E9EE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4384A-1BA7-4710-BFD7-32C6B24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DBA7A-0AB4-4804-B053-C651271A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CCB34-2F8D-4247-89C9-2D90B2B3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3FE1C-674E-4B13-AF66-7E2F089D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8F08C-18F5-4005-B286-27AB9F08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487A7-F4C9-46B5-9A59-AD406C55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2B600-BD43-4DA9-AE89-B3DE66D2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D7957-8749-460E-94DC-317BF69A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D39FC-F375-426A-93B3-534B8387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7FFCC-A27B-4D5E-AC17-91E67AEB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875D1-A1F9-4D57-8F31-B56E4246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E3FCE-ED9B-4126-B1BF-40B651EB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2EDAA-0F62-4A9A-9903-352E37FC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524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4829A-5584-4DA3-BEC1-CC91650F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239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完成一个行业案例拆解图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7B070-091D-4A6B-AC49-5EAFCD29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40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每组选择一个行业，把案例拆成诊断、上下文、Agent、系统、运营、商业复制。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CC9DF-DB0F-4463-A39B-C481888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4B2B3-4E5D-4CD7-AA8D-F52BE4F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00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52461-75B3-4356-A208-72A2672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44337-481B-4147-89BD-7DBFC49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8387D-89FD-420D-9143-BD132547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44FFA-427B-4E47-8076-F8002DE5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8F8B0-D3E6-4726-AE5A-C85451C0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8AD93-C02E-4017-B94C-73FF2A95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2B700-DE2D-4966-9754-334B3378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3853D6-16A1-4889-AAFE-A5CB88C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7AB66B-2F96-4EC6-A921-777C7823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A68F9-3E32-405D-9DBC-0A43B57B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684609-3AC6-4D6D-912C-E6180EAA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37039-BE18-47EF-8C9B-4B9AA8D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FDEE38-B6C9-4440-A984-B8054D46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2E1EE-8F7B-49EE-B3D9-1D773D89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9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EFD4CD-72AF-4F22-9A4F-3C0ACB9B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75D43-1D09-4F04-A3A9-83BBC306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1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A81BF3-2E00-4E35-B43E-D13CAF34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95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333D8C-EE70-41C4-B435-7CEEDAC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复制</a:t>
            </a:r>
          </a:p>
        </p:txBody>
      </p:sp>
    </p:spTree>
    <p:extLst>
      <p:ext uri="{BB962C8B-B14F-4D97-AF65-F5344CB8AC3E}">
        <p14:creationId xmlns:p14="http://schemas.microsoft.com/office/powerpoint/2010/main" val="76747354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C9460-63EF-4EC2-8509-ED4DC055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7F956-9713-4FD4-A1AB-7468F3EE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3BF88-5071-456E-9DFE-C9B7D18F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7E4B9-72D0-48B8-A3A9-FF41B746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B6029-65EA-4927-B6D7-A42BF61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CD34-F165-4F0A-990C-2F6368BA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D4076-6A0E-4891-BF2D-7A5C497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8B806-ECDC-416C-B021-37ADD11A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D4B2B-75A8-4C1B-8147-E57F4246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34085-59F7-4EF9-B1EB-2F049D7F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05C65-2F19-444F-9BCE-065793A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09592-95B5-4547-9C6E-BC383BC0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6D938-492F-4F2E-8677-4A3E2C64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6D4B8-1829-495C-96D4-2E7CB3F1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1175F-F188-41F7-8077-7E8BD849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F71CE-CD51-4F1E-A11A-A68A763D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800100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作品集与交付包打磨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1D9B7-3244-4217-9E87-2E2C8949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8105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rPr>
              <a:t>作品集是学员进入企业和WEI生态的通行证。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BD0A5-7E66-49D6-B95A-3CF26D05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CAFB2-68F1-4EDF-8404-DBC29FBA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A501A-F45A-44DE-82F3-DAC1E2DD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D6D27-AC14-4836-91CA-820DEFA5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3156C-126A-422C-850F-F29984A7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30291-2C4E-4584-A066-FE01779B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24CEE-5837-43F2-A1FC-89AB084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34F1B-6934-452F-9062-6CB2317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BDC913-33ED-4732-AD53-60AD49C5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呈现</a:t>
            </a:r>
          </a:p>
        </p:txBody>
      </p:sp>
    </p:spTree>
    <p:extLst>
      <p:ext uri="{BB962C8B-B14F-4D97-AF65-F5344CB8AC3E}">
        <p14:creationId xmlns:p14="http://schemas.microsoft.com/office/powerpoint/2010/main" val="18246001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1EA82-CD34-4F33-8898-35F1D0FA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6D2D2-D44B-4DBE-8BCC-B7A41B24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AE6A9-C6BA-4DCB-A583-4A89B07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352CF-06B5-445E-AAE7-ADD91A7C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95269-94F2-40DA-BFDD-A3F1929D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F75D6-2AB5-4696-9F2D-CA1DFF87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作品集结构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A6887-B91C-4381-B43B-5ED7F5E9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FDE作品集六件套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187E2-90BE-4835-8466-E4BA76FA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作品集不是文件堆，而是一组能证明能力的交付证据。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EC5F6-44FB-408F-939A-BC8ABE8E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9241A-F2D2-4385-AE96-6ABA634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64ED3-A3AC-4975-ADA6-A61FF5D0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E03FC-56A3-43F4-9D20-33FC2901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D2807-A816-4DB7-B5BC-A184B860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3BBD7-54AD-4FC7-835E-2489CCFB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DA149-3956-4EDF-B2DB-A313E63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2D671-76B7-4E24-9505-EB79B95B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个人定位页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064F3-AD5F-4C06-9FC7-9C49DD5A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7668D-694A-4FED-BBDB-176540D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5F73F-1E77-4CD5-BFAF-7F15603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9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430C3-A929-4314-A95F-E18D7CAC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62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5D1A8-E34A-4394-A39F-9D92A33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项目摘要页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29FC1-E667-4F71-A6C7-A37E0B1F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9DD0C-D5BE-4513-AC1A-34D7D30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8195D-C82E-4C8B-BD82-6968DF76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3DC925-AE47-47BD-BFFB-B237C08C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7EBD9-AC25-492D-A272-DAA60943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诊断报告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E0F99F-4045-4A58-9F4C-1DB2A3A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655A9-B1B3-43FB-8A6B-C8D6DC8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9D621-C3C5-4500-846A-7E627546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8DE4B9-081D-401A-962E-3A167B9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25176-1958-4799-BA3E-CE4FF74C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方案蓝图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389E0-47F3-4FC6-B0EB-B2E17693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D760B5-3BA8-44E0-9A12-03A28581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4DBFA7-D64E-480E-861E-03161BCF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5F939F-2919-4739-A65C-67BFFEE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2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313F2F-8E3C-4DCD-8344-D4BC9E7B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1950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交付证据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0135F7-9435-495A-8DC1-907CF2E2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7180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7F8FFB-4F28-4C39-8E66-B266969D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3BFF79-D905-48C6-AA8D-C649D0A4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9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180F86-4823-4E66-ACFC-19C0C69F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E1C690-ADFA-479B-A4B7-0B9809E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1955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价值复盘</a:t>
            </a:r>
          </a:p>
        </p:txBody>
      </p:sp>
    </p:spTree>
    <p:extLst>
      <p:ext uri="{BB962C8B-B14F-4D97-AF65-F5344CB8AC3E}">
        <p14:creationId xmlns:p14="http://schemas.microsoft.com/office/powerpoint/2010/main" val="16513320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C63B3-EB12-447E-B7B5-BCD8B0C3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05C72-C96B-4110-B7E5-B58D208E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C6D4E-1ED1-4566-8421-20DF228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045FF-BC3B-40D0-A513-1B061C4C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E4249-4E1E-4BFA-8ED7-895EB950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F9BDF-32E5-41F0-BA4A-3AC3697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交付包结构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C90E3-29B1-426C-9932-6B270354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企业可读的FDE交付包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B46C7-78F5-45E6-80E0-06AD60C3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交付包要让客户、招聘方、评委和孵化器都能快速判断学员能力。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8025A-97A2-4B24-B4A3-5DEC1AA7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21CC5-5227-46F0-8E3D-2A441CA3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D5F29-39AE-4532-BC32-3C085B48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35035-C907-48E3-BAA4-1923A9D3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DBE34-6621-4B63-8D9A-57BC685C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19075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ED5BA-E224-4DB5-A317-B6F9557F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1051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交付包要让客户、招聘方、评委和孵化器都能快速判断学员能力。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2A577-3E7A-49FF-AD87-2036BB9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6845A-F2C4-444A-BA83-21491835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项目章程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E75F2-DEB1-4B93-9936-5395CEB2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02C9F-BB6D-4AAF-89EB-2841DCB7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场景诊断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315C5-62D5-4FDC-9FF3-1924EFB5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F561C-2ACB-4C38-B6A7-42C5FDDD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上下文包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DA68E-095A-434F-BACA-81DD754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2FBA6-8EF9-44B6-8E72-C12FE0B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A199A-EB91-4644-82E8-53D8F0DC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9731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9FBB7-2C41-421B-A52E-E5EC17CF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系统闭环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DACFE-9C89-45B7-A7AE-726F4721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F"/>
          </a:solidFill>
          <a:ln xmlns:a="http://schemas.openxmlformats.org/drawingml/2006/main" w="9525">
            <a:solidFill>
              <a:srgbClr val="A855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6F1CB-3380-4DFA-8D67-22545DB0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运营看板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6D64F-62E2-4CFE-B20C-2BD04497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46867-E990-4713-9855-0AF2D2F9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910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价值报告</a:t>
            </a:r>
          </a:p>
        </p:txBody>
      </p:sp>
    </p:spTree>
    <p:extLst>
      <p:ext uri="{BB962C8B-B14F-4D97-AF65-F5344CB8AC3E}">
        <p14:creationId xmlns:p14="http://schemas.microsoft.com/office/powerpoint/2010/main" val="95847851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03F8B-C7F7-475D-B8F3-BACAC1A7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EB457-96F1-468F-978C-4E396BFF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ED32-68A3-4C35-95D2-D634D0B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6A4E-C67C-4D70-B535-5547B2DF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9A4F9-4303-404C-B31B-FA32C7B0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4AA20-8CA0-4522-BF32-1F07ACEB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打磨前后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69A4C-A28A-484B-92FA-DD12483F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从作业到作品集的升级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AC195-83EA-4101-B407-996F4CAA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作业关注是否完成，作品集关注是否可信、可读、可复用。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02111-7A60-41BC-9C8A-B120CEFA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8EB67-5221-4418-B49F-32CCF0C2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F4DA0-AC81-4E97-983E-44A3E46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82E0B-609C-4857-8EAE-8C28E3B1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343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489E8-4967-41C6-82E0-FA3619A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343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DF8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020F7-3946-417B-A8BC-D295DE8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333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打磨前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6FB13-611C-4115-A841-EE7E4DC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47950"/>
            <a:ext cx="1333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打磨后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6ACEC-A4AC-43DC-B38F-F5D5249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作业：过程记录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908C7-0B32-4244-AC7D-442F4C6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作品：客户语言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E07D5-EC0A-4C79-8158-72C0A71C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作业：截图材料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A09EF-6330-43C7-9E92-9DA0DF3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作品：证据链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5A2A6-F5B4-4CDF-A98B-A8A8D0F1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作业：个人视角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6CCB5-23FE-4E98-827A-6FF3796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作品：商业视角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86196-C8C4-47D5-8321-ED6D1DFC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762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44393838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129A6-8F25-441E-A753-77FF2A32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5DFF3-2B26-431F-95AF-6867209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15C51-658D-490E-90B0-8E346F52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ADA88-5F8B-4BC2-A0FD-7FCACDD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6E0C3-E6F5-4D69-B0F8-675F66D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FC7B0-5EDF-4285-88A3-37F6B3BC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作品集评分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B6E9B-CB21-4D12-906A-9E45FCB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作品集五维评分卡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AAF91-A5B6-44C6-BEC8-E0E38DA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评分要看业务价值、技术闭环、交付完整、表达呈现和复制潜力。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C885A-887D-4F67-BA84-6E66C0E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EEF67-4EBB-4436-987E-0F6BDA47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8240B-2D97-4DE3-A5F4-25A7079E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0040B-6AEB-4C64-A93C-B92E43BD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CD5B4-BA1C-41DE-9503-7D2E28E7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FF377-6561-4BB9-A790-827BCB99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FC90D-F36C-443A-BBAC-D0D6BF8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技术闭环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27A15-9541-47D9-90BC-E7D81C56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68E17-445F-41E4-B9AD-2DFEAD1C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61510-E19F-4B27-AE68-ED7B498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交付完整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2B995-A882-4356-858A-18EA7707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C3734-EC44-4AD3-A86F-0EFA78CA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3352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CDF33-9804-4311-A835-6367F46B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表达呈现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EB993-3BD8-40AC-A8E5-B2E30571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E2315-8A66-45B6-AD60-88F1733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3790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60422-0B1A-4430-9488-87BAB3E1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复制潜力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FABD6E-6404-40DE-8F0B-4EDCE1F5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EDDC3-2747-45E7-A631-6F5B494D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422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</p:spTree>
    <p:extLst>
      <p:ext uri="{BB962C8B-B14F-4D97-AF65-F5344CB8AC3E}">
        <p14:creationId xmlns:p14="http://schemas.microsoft.com/office/powerpoint/2010/main" val="36011146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C5C16-AFBD-4492-BE25-C17D75E4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E5FB4-9401-4438-B651-1A75B76D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D5FE2-1AA6-4A88-AF2D-AC33D3D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709E1-31BE-404F-A350-61840680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F75CE-4DD5-4A95-B432-E6A1BED8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7E69D-EA90-44C4-BE86-6DA5043B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常见问题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F1FF1-3313-4141-B112-52481412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作品集常见扣分点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78E97-284E-4CC4-9BBB-BF547A2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很多作品集不是能力不足，而是证据不清、故事不顺、页面不专业。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CCB20-18F3-4BBA-9394-F3275ADD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31AF8-F42A-4F29-A341-29285FEE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96CA2-9CFA-4702-B887-A19FB20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D5E6B-6CC2-4656-AB19-00C37FBF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2951B-DE35-450F-BEA1-6C25CAC4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只讲工具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45C74-610D-4DFE-ADB9-4B4316C1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7651F-81A1-46D7-B614-2D9B659A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没有指标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A7CB5-B68A-4C63-84F8-9E0E6464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C7B12-801F-4BD5-A6C9-20517356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缺少客户画像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7364E-8D19-4E24-809B-9F934220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576FC-F3CF-4E4E-BD00-53E083E9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没有风险边界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B0189-6275-43B0-93F1-94C07BC6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A3D06-53E0-43BA-A352-29A5DC77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视觉混乱</a:t>
            </a:r>
          </a:p>
        </p:txBody>
      </p:sp>
    </p:spTree>
    <p:extLst>
      <p:ext uri="{BB962C8B-B14F-4D97-AF65-F5344CB8AC3E}">
        <p14:creationId xmlns:p14="http://schemas.microsoft.com/office/powerpoint/2010/main" val="60952354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6130F-73D5-49A5-A59D-C55D76F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E909-53EE-4319-A8D0-4DF977BA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F26DF-B3FB-4EEA-8378-CE1609D2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9EED6-C62A-4A6E-A81E-ABF279AC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0F30D-0E97-432B-8F62-ACF133A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0A160-5A83-4C6C-B8CC-BC700F5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样例页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A238F-8C96-49EB-A1DC-00165C0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一页项目摘要怎么写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11AE8-7FBD-44FD-95D6-1FE71DCA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项目摘要页要让陌生评委在60秒内看懂项目价值。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3DEC5-4CC6-449C-B07C-143EB2A9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53A27-ECAE-41CD-BFD8-39FF6970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30DC7-C2FF-4D7D-BF98-D54CF067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66BBB-982F-4DF1-B077-7A8EF53C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D8325-CA5B-4A55-BB43-40BB553B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19075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4FCD9-9DE2-4113-801B-FB0988E0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1051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项目摘要页要让陌生评委在60秒内看懂项目价值。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67F98-0D62-4C8B-9420-9FEAE8FF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AB842-4AFB-4BFB-A514-A9CC793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客户是谁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5803F-D602-4ABF-9B85-6164F7E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E4AF4-EFD6-4B2E-96EF-5885ECEB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痛点是什么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A7F65-B3AA-461B-8891-F00BA25B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8E2B0-F29B-43C1-9905-61DF4AA4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方案是什么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144F2-DCF0-4254-8DBC-7DEF2126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DDEFA-3948-4E18-B527-A45F8A7A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证据是什么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8629A-5E33-48E7-A0C7-C9F19521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9731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75A2C-D0F0-4749-A12B-A0ED2D29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价值是什么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D1C7C-7DA6-4A5A-BA15-BDA9D72B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F"/>
          </a:solidFill>
          <a:ln xmlns:a="http://schemas.openxmlformats.org/drawingml/2006/main" w="9525">
            <a:solidFill>
              <a:srgbClr val="A855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3F449-4DBE-44C9-810C-FA9F88B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下一步是什么</a:t>
            </a:r>
          </a:p>
        </p:txBody>
      </p:sp>
    </p:spTree>
    <p:extLst>
      <p:ext uri="{BB962C8B-B14F-4D97-AF65-F5344CB8AC3E}">
        <p14:creationId xmlns:p14="http://schemas.microsoft.com/office/powerpoint/2010/main" val="75074386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5F388F-AD77-41D3-AA5F-E04CBD07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15737-A389-42E4-9431-BA032CA1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E89AC-74AC-499E-B1B4-AE476C09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F0157-2DD4-406F-B50B-98EECB38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04423-1509-49AE-AD81-10D518C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D659E-7F38-42C7-9A77-CDBBFBF4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5FED3-D81E-4EA1-A842-1FE4741C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E3786-DAD3-4931-AB02-F8388842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D17A8-421A-4C50-9974-BA1B5EBA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6E856-1F39-46EC-A453-49B5BED3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51522-BBF2-4FC5-BF4A-3767FA7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3A106-ED62-4196-8677-D6DE858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40B01-1AC2-4C62-B237-2CCF5C90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71D43-6617-494E-ABBC-F7E2F9E5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47387-2393-44C1-821C-C52A93BA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524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7F509-4BBF-48EF-8DB4-27C4D395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239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打磨个人FDE作品集首页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856F9-97AA-4195-9C4E-1DA65688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每位学员完成个人定位、代表项目、能力标签和下一步目标。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1BCFD-234B-4A9B-9C26-80ED6774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D7906-C47A-4454-85BC-3125DF4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00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D2B99-A4DC-434C-94B0-47D8F9DD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34E1C-D4ED-4C91-AD73-FF1C874B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A45AE-57E9-4D20-968C-BA626F3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ABEAF-3071-43B5-881E-3CBFC414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DACA4-9D3F-439E-A1CB-54BC6DBF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98021-A5A6-4CEC-A7A8-47266312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95483-1DB9-49D5-BF96-F405557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B9F32-0869-4DEB-AE67-4FD5EC61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92D8A-5B58-420F-8A35-BAEDB0AA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能力标签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96DCE-9219-477C-88C0-03C32CB0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3CE0B8-67B7-466A-8514-28E2EFE9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6EE6C6-2746-4444-986B-5242BAB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05470-029F-4D50-B91D-29FF3D0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805A84-8C85-48E5-8873-2B60F77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9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EC15B5-7BDC-445C-A9EF-A02ECEF8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目标路径</a:t>
            </a:r>
          </a:p>
        </p:txBody>
      </p:sp>
    </p:spTree>
    <p:extLst>
      <p:ext uri="{BB962C8B-B14F-4D97-AF65-F5344CB8AC3E}">
        <p14:creationId xmlns:p14="http://schemas.microsoft.com/office/powerpoint/2010/main" val="112227547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06A47-EEEE-4834-AFCF-AAF2A86A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7C416-F2BD-463D-A570-D8BCBC93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7B04C-370F-40A6-96B7-8C4ED14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4E556-F8D0-47D7-A6A1-27CF3AC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9C121-FC1F-4D1F-9E0D-0D0B011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23C80-49CA-4C45-9518-4144CA0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6CCA9-BDD8-4E3D-90CB-88C33999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6D0D1-8D34-426B-B418-C82072C0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91012-3C24-4CA5-9BA6-96E34F67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5285E-27A6-4D46-A7D9-9DA36F2E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CF777-8176-4C9C-809E-FB07AB9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5D382-C3BC-4F2F-95CD-5F469EA8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A4D5E-B283-4E8F-AA3E-AFFE722C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A4991-36EE-46F3-BB50-932E5138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E0B8A-E241-46A0-B8E9-9C648DA0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4968E-8704-4A12-8B8D-E1D155B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800100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认证路演与评审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0CCFD-6807-46AE-B1F7-65FE5DF7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8105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rPr>
              <a:t>用路演把能力压缩成可信表达。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8BBD0-86A5-4D60-BF5D-2B08D848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0B3F6-DFC9-4750-B8F4-0A13E3E6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13F09-0F67-4382-91A4-028BA55D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8AD0C-D0AD-4D80-92F7-0E4AAF33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16982-13BB-4492-A41E-2A2B251D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1CB3B-1512-453A-B8D3-29677CE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D127C-7FD0-4499-A1DA-46AEE5E0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BA553-2FEE-4620-8C1B-D7D007FE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3FE34-3669-4E95-941E-92DB0ED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</p:spTree>
    <p:extLst>
      <p:ext uri="{BB962C8B-B14F-4D97-AF65-F5344CB8AC3E}">
        <p14:creationId xmlns:p14="http://schemas.microsoft.com/office/powerpoint/2010/main" val="187305600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03281-DF86-4CF9-9546-1D566FD8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3F189-7300-4855-915B-DA57CAC0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66DE5-9F41-4CA9-9E6F-767D564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FA99-EBEA-4848-B65E-5AB501F7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67680-90D6-4580-BF93-DA4D1A04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36504-7B7A-4668-9E22-95D6392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路演结构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31EE1-68AD-4C24-AE9D-D9AF553B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10分钟FDE项目路演结构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E9D4-BE61-41B6-A3C3-95E5236F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路演要从客户问题讲到方案证据，再讲价值、风险和下一步。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F2C57-FC87-4A9B-A75D-513A349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7C685-AAF9-4BEF-96C1-6EA02A5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DE26C-9411-4C4C-BF5B-CF56B841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认证路演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1F5E4-AF2B-42CA-927B-D147DC11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1F605-5075-41BC-9A39-C6155DCA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66FE2-129D-4EF1-9F14-6403CF87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5D70A-B76F-458C-AB72-7FD4302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客户问题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1A80E-3DC6-4B78-AED5-DD41B776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14404-DBAD-4DD9-A75E-762CCC2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02379-DD4C-4238-A8F5-880D91D9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诊断证据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40EEB-7A2A-49C6-99E4-A2D492D9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FAA6A-AB33-47D4-A00E-96067B3A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05739-040A-4FCB-940F-86002E0F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方案蓝图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D14E0-4767-4799-BDDF-A93BFED5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4402C-7F08-4787-8DF5-18C49443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4823A-A851-4C4F-939C-B2912B7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部署结果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22D6B-9C67-4775-8491-7B4E407A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85372-C570-4F52-A069-8B609AA4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44DC8-5193-49D6-BE89-B718FDE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价值数据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0ACF7-46EC-4CF1-AE16-DAF2DA28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73ADF-FBF2-481A-964F-BAA3292E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BE870-9A8F-408B-9F38-2BC0647D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商业路径</a:t>
            </a:r>
          </a:p>
        </p:txBody>
      </p:sp>
    </p:spTree>
    <p:extLst>
      <p:ext uri="{BB962C8B-B14F-4D97-AF65-F5344CB8AC3E}">
        <p14:creationId xmlns:p14="http://schemas.microsoft.com/office/powerpoint/2010/main" val="54180124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EB896-435A-4EC7-B9AB-0105534C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4CC80-0D2A-4997-BB99-29679B57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A9D3-6A46-405C-8982-7A31DBC3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B3566-327C-4F82-92C8-16FBB80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2A772-8B2B-4FD0-8AAF-97B0D785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29308-C4E4-4C93-90E1-C4FE0D8D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72D8D-4B31-446A-832E-1BCFEB4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30秒开场公式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DF209-07F2-4C70-B6B0-FD051F6B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好的开场让评委立刻知道客户、痛点、方案和价值。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4528D-29F2-4471-8DF9-6590C64B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2BDEB-4373-4BEE-AF87-B0BE7936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B2554-8DF9-4302-A158-719F201D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认证路演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54FC3-6AB6-4D91-89CF-974774F6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0EF23-C0BE-4999-91F0-568689EF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客户对象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405A-C51F-4D20-9654-F7BF9A3D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2B261-FC8B-4A3F-8F1D-0484D3C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关键痛点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9B712-B9FC-44A3-9214-BAADB919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22A31-6155-41F4-8B91-14C78037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AI方案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DD892-CDA1-47E7-B983-BB1A584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2B3AF-3E97-44DD-B569-78B4099B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7D227-5FCA-4982-86EA-27B2F50A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3F38C-CB16-42B6-9596-CFE26BA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本期结果</a:t>
            </a:r>
          </a:p>
        </p:txBody>
      </p:sp>
    </p:spTree>
    <p:extLst>
      <p:ext uri="{BB962C8B-B14F-4D97-AF65-F5344CB8AC3E}">
        <p14:creationId xmlns:p14="http://schemas.microsoft.com/office/powerpoint/2010/main" val="41967428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EB2A7-C221-4B25-AF18-63298D6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D867C-186D-4C99-AA83-708DBBD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154D-DC81-4242-BBD5-7ED3824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887F9-FE33-4576-993F-8EDF18E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B2DF-0B9F-48D4-8142-E5E59F5E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D0428-4288-4ED1-85E2-01B06671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评审标准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D2307-442B-4CD0-A165-CB18193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WEI-FDE终评评分规则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CE327-AFE1-4107-A4DB-93BBB0F4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评分不仅看PPT，更看交付证据和真实业务理解。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C089B-369E-4CE1-8B04-06DA9DBD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2CB62-4111-43A8-AA69-DF5D32D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88C77-A56A-4795-BB05-63B8C2F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认证路演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2F1C8-54A1-4896-A97D-B25B642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428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8D1C2-EF69-4451-B26C-C7AECCF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11620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业务洞察30%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4F475-9AF7-4339-8D16-A12AFA8C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67074-FA40-44A1-838C-C9C4E849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11620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技术闭环25%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4690E-55E7-4DF4-92D5-358E5DE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1428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91DCB-CE8D-46C6-A063-E1AE56E1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95850"/>
            <a:ext cx="11620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交付证据20%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6CE66-93D0-4824-99D8-D74FC592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14287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7907F-2478-41B0-8045-4D8D0456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95850"/>
            <a:ext cx="11620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表达呈现15%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5DE49-534B-48E0-BD38-461A5B4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1428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DCF4B-D7F2-4E98-B7B6-B6B8936A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95850"/>
            <a:ext cx="11620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复制潜力10%</a:t>
            </a:r>
          </a:p>
        </p:txBody>
      </p:sp>
    </p:spTree>
    <p:extLst>
      <p:ext uri="{BB962C8B-B14F-4D97-AF65-F5344CB8AC3E}">
        <p14:creationId xmlns:p14="http://schemas.microsoft.com/office/powerpoint/2010/main" val="106793882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AFE03E-ED87-4C9D-8D03-4326D08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D9273-D087-41DE-B9B0-4B47EE63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9967B-3B35-43D0-8C6C-A16A3C0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F39E8-39EE-46B6-8DD6-B8EC6362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1885-3D3A-4900-AFB0-139AFF2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36C7C-A7DD-47C2-9ABA-BF118EA2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答辩问答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95B0-577D-4005-9AF0-A673D869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评委最常问的六类问题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2E903-71C1-4E19-B548-0992892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答辩训练学员处理质疑、边界、数据、成本、风险和复制。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5D3A8-17C6-43E4-A1E0-1865409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853DB-07D6-4661-9CBB-18337535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7FFF6-DFC4-470A-98D8-08D97169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认证路演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FF40A-637D-4CAB-AA40-54743449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FDAE6-E86D-49FF-B781-3769219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68EBB-8C4E-4527-8468-2B139523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价值是否真实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57BE0-087C-4CCE-85D4-6E4C439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C7DD5-861B-4C1F-A4D2-0AC82972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4FCAD-9B07-42CB-A2E4-2CB573E7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数据从哪来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A77B9-F83F-414E-A9D3-2D8C8DFF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8CC04-8F02-4F5A-A00A-208ACFBC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253E-3CB2-4458-A4D6-F185C87D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风险怎么控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21A0C-0BC1-48B3-B8FD-E7D782C0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E6BA6-C73D-4EFD-9DC4-FE97517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5AA60-C50B-4D75-9B05-85F6898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成本怎么算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F53AA-838C-42DC-A9DF-D817F8B0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8B7D0-6BBC-4FDA-8CA1-BF80DD04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67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FC6FB-AA5C-4242-93EF-7C565F5E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客户谁负责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85EE2-C2F9-48F1-B888-2CA6C02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F4A92-2BE3-4E8F-81BC-2434EDC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F12500-CC41-4688-BB1E-4D6AD5F0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如何复制</a:t>
            </a:r>
          </a:p>
        </p:txBody>
      </p:sp>
    </p:spTree>
    <p:extLst>
      <p:ext uri="{BB962C8B-B14F-4D97-AF65-F5344CB8AC3E}">
        <p14:creationId xmlns:p14="http://schemas.microsoft.com/office/powerpoint/2010/main" val="2458017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25D29-8FED-40DD-9957-8DD8D2D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90B62-701F-492E-A2F1-6DADF3EE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3DD00-3F19-4F26-A7F5-6FB3FD1A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1B512-5A55-48D5-988B-1132C5A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06A6-18F7-40A7-A794-8CEF763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7D529-D2C2-40E5-8429-FB0D3BE4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认证等级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A0798-2B7F-4267-B17A-13FD2E9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WEI-FDE认证等级建议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5A8EE-C815-40E9-9A35-848D8502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用证据链区分助理级、交付级、项目负责级和讲师候选。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309F7-7B46-406B-9E5F-5EB56C69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67BF6-3D46-4AF4-91BA-FB5AF052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FA6C2-0B9E-4623-BC86-5BF23799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认证路演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A603B-956E-41E3-919B-AC0809BB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FDE-A助理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FB273-9EEC-4C2C-89A0-A814596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C5AB1-C51D-4490-9E5C-3084F445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E3DD5-44D7-4F26-B92A-BDE1D129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FDE-P交付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72709-3635-4AD9-8EE1-088A92A4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427A3-A59B-41D5-BEE2-8331DD9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055E9-C4AC-4D90-A0F2-4C0F1848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FDE-L负责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38436-C2A7-42FC-8D94-9A82D2FF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74E0A-AACC-4A6E-A66B-9D23C144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3352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DC0FC-1A87-47F7-A681-6FACCD8E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FDE-T讲师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EAF0C-B4A0-4DD0-91F9-12833151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F5D1E-F954-4D10-A0B5-28848BA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3790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26B1E-F234-4A6A-8D39-299467D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OPC候选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6B456-5268-431E-AE0F-7B30140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DB0F3-7627-45AE-9D87-161EC6A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422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</p:spTree>
    <p:extLst>
      <p:ext uri="{BB962C8B-B14F-4D97-AF65-F5344CB8AC3E}">
        <p14:creationId xmlns:p14="http://schemas.microsoft.com/office/powerpoint/2010/main" val="96005915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B1801-6F1C-45B6-8460-565E785D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F04DF-3B87-408D-A59A-E8AA91B5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D9E34-E2A6-4A6F-9428-B64FAE2D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5F9DC-098E-4CB4-AAFC-6C5C3803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724B5-4C5A-462C-A2E9-C4B42B7B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1C07-FF87-447E-A728-3063F00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2430F-B602-478F-B7CC-46C8E539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A74F2-BA56-4BF8-A515-CDFA752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路演纠偏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7C1E9-4059-4CD8-8D5E-54E21859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从炫技路演到交付路演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7BA83-A7D1-4FAA-B0FD-D4D73AC5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路演不要展示“我会多少工具”，而要证明“我能交付结果”。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788E8-828C-4A9F-A38C-BCD5A30C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AC21B-A5D9-4E10-8FDF-7C698065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885B3-02A9-45D3-8F14-B5EFFF14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少讲模型名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296EC-4B3F-48B4-AEE0-816C1F2A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F07D7-038A-4C32-9A2E-52F454A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DD6E9-8E47-468D-AA1E-7EFE4328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多讲客户问题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59C0E-DBAB-43D6-A8A4-9EB058B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A40F8-51F3-44F6-B3D8-D4824372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B201B-9EE3-451F-AFD5-7785F7EC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少讲功能堆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326E2-E501-4368-9060-66D14798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F7FE5-CBE0-4E17-B2EC-DC829E61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75D22-397D-4C3B-AA5B-1FB6376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多讲证据链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EC52D-4427-472E-AB13-42187426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C9CC9-CABA-4848-A0CB-FA3A1F9E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73BDD9-D24D-46A4-8063-A710BA3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少讲愿景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D4E63-038B-4C1D-8C6D-A128CD20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E1F4C-2552-4A13-A99B-D2B0E49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4B8A1-557F-4B1E-97C5-742FB3C2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152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多讲下一步</a:t>
            </a:r>
          </a:p>
        </p:txBody>
      </p:sp>
    </p:spTree>
    <p:extLst>
      <p:ext uri="{BB962C8B-B14F-4D97-AF65-F5344CB8AC3E}">
        <p14:creationId xmlns:p14="http://schemas.microsoft.com/office/powerpoint/2010/main" val="35301180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936A0E-05B5-41EB-B6DC-4F58EA3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95D1C-C721-4AA9-9979-12A43B79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2899C-6747-43C3-9431-069B669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CD9E9-30FF-466C-B8EC-069B7A94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5E0FA-5094-42E6-8346-A48394BB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278A8-36AD-458B-AE29-68729AA0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E3675-8C14-4A9E-9B82-26CC797F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307B3-E471-41BA-AEF2-3596E7C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065A2-A4F3-4F37-A025-A644262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55A92-BE58-46A4-BF89-34E41D0A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03647-E8B1-4290-BA7C-CEE4F326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BAB03-4490-400C-8D0C-09E43FA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9CCCA-8682-45DD-85F4-8554EDB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1D763-3C0B-4C9A-BC89-80DF613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5D87F-DF3E-4B6A-B0A9-BEBF8BE8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524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FFDBA-E29C-4ED7-B967-411B46E4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239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完成路演彩排与评委问答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46080-B0C7-447B-B894-DDD727A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每组进行5分钟压缩路演，接受同伴和讲师追问。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09ADB-A123-49B4-A098-A491CD9E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B298E-8BE1-4E63-AA70-464A09FB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00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D8DF9-ADF9-45BA-A332-76261CDD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CB714-F985-4137-8D10-8275F35F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278AA-C1F2-4ECC-A38E-05AAFD37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压缩路演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0D09A-F5D7-4127-9A0D-E0D845A5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72CBE-6EEC-483E-ADEE-BBB956CE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C309E-EEF1-4C34-B3A6-B8AEF218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计时反馈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7B7EF-8730-4E00-AFD0-7A33024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01BF4B-915C-4EA4-B640-F919E723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4A0A1-8B0B-4C64-97FF-8652348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问答训练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897E1-DC04-4847-9724-8B4AFD81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3982F-1769-4554-915B-93389BB9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F75E7-EE28-44BC-A448-871A85E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DD41F8-0C98-48A4-8ADD-58606E2F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0B112E-F453-44D8-BFA2-A8654254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9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BB61E-8CE1-4EA9-9F8C-F7B06AF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修改清单</a:t>
            </a:r>
          </a:p>
        </p:txBody>
      </p:sp>
    </p:spTree>
    <p:extLst>
      <p:ext uri="{BB962C8B-B14F-4D97-AF65-F5344CB8AC3E}">
        <p14:creationId xmlns:p14="http://schemas.microsoft.com/office/powerpoint/2010/main" val="97205175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C1289-E0DC-4F82-97FA-2D12508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05C3-3C79-49C5-B3AE-685A0B61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47E72-DD13-4697-BDB3-2D05A000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85419-E8C5-45E5-99D5-32193C33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8214D-2876-4E31-AD48-AF77F87E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E1F01-18F2-4A21-B419-389F17D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42864-00CE-485B-A45D-82E79D8A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3DDA3-7402-43AA-B9A0-B2043655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5F105-BE71-4DC1-BC2F-9A26656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CD333-CEE0-4CAC-AC39-6B735FC3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C0AC9-2608-44DC-BC2D-52987D84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A3C77-FE43-4091-A3B0-BB9F1785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85103-60DD-4817-824B-EBDAC77E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0058C-54DF-4AEC-B1E4-5C46A26C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A6271-1419-4FC1-929E-FE1D99D6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DAB85-B64E-4BD7-BD99-F3ADB365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800100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就业推荐与企业面试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130CA-7709-4124-8199-09856CB2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8105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rPr>
              <a:t>把FDE能力翻译成企业听得懂的岗位语言。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B06B5-D4A6-4CA1-92AA-7646953A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7C491-A897-4F79-8FAA-2AE7EF67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A069C-F04C-43A6-B1F0-1967A853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简历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F97A9-2BE1-4AE8-A3AD-4BDDE284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86163-DD1C-4894-B5C9-42453582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B3A09-E1A9-4C0E-934E-0DFB653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DB575-9922-47C8-8D75-6B3391D1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EA5B5-E560-4939-BF3A-8079913B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A7A33-3AF6-4465-95BE-8606687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</p:spTree>
    <p:extLst>
      <p:ext uri="{BB962C8B-B14F-4D97-AF65-F5344CB8AC3E}">
        <p14:creationId xmlns:p14="http://schemas.microsoft.com/office/powerpoint/2010/main" val="35827262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4AD84-E0A4-47B9-A456-49DB9F09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1413D-0B89-41BE-8E3F-105E5737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CFE74-398D-4B15-9B0A-0AB69CB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D3259-DF93-45D2-845D-813CB28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3B7CC-2C63-426E-9037-C75A5505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B0CF4-4868-44B1-8661-0F514E2D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岗位方向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AA9CE-A9DB-48B5-950C-F9E21145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FDE相关就业方向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EC3E2-5689-421D-A160-F22EB234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学员可以面向AI实施、业务顾问、Agent工程、客户成功、培训运营等岗位。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EBF6A-61F2-4CD9-9981-2B912431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C9E87-5D38-4E0C-9FCA-F536A4D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35203-6B10-49A8-83D2-3F6F1C5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就业面试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83EE4-B23E-4C92-9BD9-C1E95F8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E7E7E-4806-4649-AA10-87179CE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8D383-4421-498B-8F6E-DBC2BF5A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AI实施顾问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51904-C12B-4616-83C5-15EAA0AD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964C1-8AC1-4D49-89AC-BA5A16AA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148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65C75-D7E2-450D-9D25-BE61E1B7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数字员工工程师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FBF82-70F6-4FE9-813C-132DD399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766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00B16-F2A3-4E83-A36C-A06D02C3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2C3E0-DFBE-4FC2-B95B-010E8DB7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77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Agent应用工程师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7F06C-90D7-4517-8AEF-902BE41E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671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E129A-A632-442B-B6B3-36CB740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8485D-52BC-4E1F-8402-E435122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企业AI项目助理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AF3F3-5C46-4062-8621-B993DA4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C8AB8-8E6A-44A3-ACA0-FF04B1AA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1DDFC-466C-407C-BFBF-B1404E48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客户成功顾问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62224-F58E-4B5F-B1A7-CB4A8049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7A5C0-9888-4143-B381-B49AB5F0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148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55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16C8E-BB90-4CFB-9EE4-28BA803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30530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AI培训助教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8098C1-908A-4936-8723-CDB4642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766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</p:spTree>
    <p:extLst>
      <p:ext uri="{BB962C8B-B14F-4D97-AF65-F5344CB8AC3E}">
        <p14:creationId xmlns:p14="http://schemas.microsoft.com/office/powerpoint/2010/main" val="155210953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65F89-F93A-40FC-8CEE-9DCCC0BD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C4A1F-D7C8-4090-AC94-EA24CCC3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5FBE4-D094-45F8-8ADF-02C95787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19054-861C-41DE-9802-3EB7D4CA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CA522-4327-44E4-83A1-9CD5A688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8B693-0765-463B-B93B-12A0222E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简历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1F986-F9E7-4675-905B-1A20BB0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FDE简历三段式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248FA-3EDC-4C7C-BC50-30B41E2C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简历要用项目证据讲能力，不要堆AI工具名单。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A6F83-1105-4EC1-A63E-ABA1AB14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06211-E789-4461-8647-410E6FF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04227-66FE-48C2-B9DD-6ACF4139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就业面试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9CE5F-29A6-46B8-8F06-125D9814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8C5C7-6FB7-46F7-ABD4-3CD8791F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CB278-9BCA-4C99-B193-397197E3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6C527-E35A-4E50-AF27-264E704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17347-4684-4C58-B63B-C59FD16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个人定位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D820E-DA43-4D60-9F4D-6DB241B3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21669-DBCD-465E-B387-7592622C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35766-2727-479B-8DC9-7902C16E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9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80D89-193F-4E07-BD96-B319F75F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62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024C4-0C3E-419D-9D37-EE831263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F0DEA-212C-4BC9-873A-DBDC1ED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E1917-8D11-41C1-87E3-9EC19F0F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AADB6-BF20-4144-B845-80590950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1B653-55CD-4FFA-84B5-F71BA83E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44768-B942-414D-A11F-0FDE5774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能力标签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23D0A-9EC8-4627-B333-42A5709D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2C26D-1E32-45A7-971C-2A207930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C6FA2-A045-4921-9247-788304B7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C25ED-21F6-4525-B138-6CB27843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C809B-B42D-4208-BF8A-A77D5259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工具栈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8C423-FFD7-49F4-BEA3-DEA809D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D25863-E28E-45CE-B03F-EC89CC10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59740-702D-4720-9D19-59322173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DF34CE-2D07-42D6-9874-DED36B20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2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9F38F0-E59F-42AD-A7E2-D42E53C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1950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证书/作品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07934C-3041-4C24-8DEE-9CB6BA66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71800"/>
            <a:ext cx="1238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E2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94D83B-C990-4784-8048-6F0A7FD0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8258EE-2A88-4883-BE89-BDBDEDAC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9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91C05F-5761-47E4-84D2-3E1D09E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ABBB15-EE39-4456-99F6-C0DFC28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19550"/>
            <a:ext cx="1009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推荐语</a:t>
            </a:r>
          </a:p>
        </p:txBody>
      </p:sp>
    </p:spTree>
    <p:extLst>
      <p:ext uri="{BB962C8B-B14F-4D97-AF65-F5344CB8AC3E}">
        <p14:creationId xmlns:p14="http://schemas.microsoft.com/office/powerpoint/2010/main" val="140041861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F1A6C-E64C-4204-8BD0-E7D9EF4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E4B7F-361D-4916-8FB7-2C2CB1A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9F141-83CF-4D10-B2F6-26C61EB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548BB-0084-43CD-A016-FB6EC0A8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76684-8A0E-4C3C-8AEC-81A02C9B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0C5CA-08C9-48FE-9D00-33512002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面试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84453-6097-4587-91D5-1CFF70B6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企业面试高频问题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80F51-8A8D-43A0-9D38-D4F2D341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面试官关心的是你能不能进项目、懂业务、控风险、协作交付。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432A9-3BB2-4239-BB6F-645A6744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C1B9B-BC6F-4C9B-9D28-972763BC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2D31A-8B8C-4EBA-8F14-E7B66D1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就业面试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26965-3FFC-401A-B876-9BE8D658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32958-F09E-4B9C-A97A-010DCAA5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77673-5822-4D5C-840C-E6D0150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做过什么项目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FE61B-DA13-4AED-8DB5-628E1A63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9F0E9-94B3-4281-B3A4-1F8E090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BC95B-9CDE-4B6D-923D-925DBA4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怎么诊断场景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902C4-E580-419A-A910-2437135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D83B0-78CE-4552-91F4-DBCA67F6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A7F8C-6129-4850-B158-036FDE0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怎么处理数据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C1BFA-5258-4E07-90D7-15A030C2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861C1-5251-44C9-8768-95C8932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3FC48-01D5-49AB-81A8-C7C5ECF0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怎么控风险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E2125-84FE-451C-8B29-B5C2E45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F69F4-CEEA-4436-8CF0-650A3772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67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5B693-4FD1-422C-8750-477ACF0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怎么验收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5D041-DF63-4D39-9243-72790912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2642B-F7EC-4A61-81DC-AC2086E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4908A6-C5F4-4B6B-957F-ADAEC170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038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怎么协作</a:t>
            </a:r>
          </a:p>
        </p:txBody>
      </p:sp>
    </p:spTree>
    <p:extLst>
      <p:ext uri="{BB962C8B-B14F-4D97-AF65-F5344CB8AC3E}">
        <p14:creationId xmlns:p14="http://schemas.microsoft.com/office/powerpoint/2010/main" val="158165161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C8634-4C82-4DB0-B79C-80DE16A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FA4BB-1DEB-4BA3-8E8C-6C1F397B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0F252-5379-44AF-BACF-260AE99A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102BC-A7FC-43F8-B621-7352052A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98D81-D6C0-4080-BE0D-4E620E12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9E930-DB1E-4C30-BFA3-449B2F94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试岗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C6D9A-307C-4EC6-903D-2AA9DB37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试岗任务设计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40C64-8EB5-482D-B972-2F44D1D8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试岗不是免费做项目，而是用小任务证明判断力和交付习惯。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07145-9B79-4DD7-97F1-9CF70C8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56B3A-8BD6-417D-801F-63973DB6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775BC-2B8F-4DAD-8BC5-F628EE1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就业面试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1CAB3-0D5A-47CD-AA7A-8A756DB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2BFF3-5513-4082-8813-78A66677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30分钟诊断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CF657-1A07-431E-B771-53BF4CB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06EE0-05FF-4E3C-928C-E516A8D7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一页方案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8CF7F-70B0-4584-9BE6-600B37CD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F6880-CAB3-4D7E-9060-580B18CF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字段映射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892DE-72CC-43C0-BBF9-65EF49D7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894E3-D337-49AE-8F31-CD2E4379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风险清单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98232-2B6F-4988-B7EF-88A77779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37E19-E22B-467D-A13C-C2E1C4B4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路演表达</a:t>
            </a:r>
          </a:p>
        </p:txBody>
      </p:sp>
    </p:spTree>
    <p:extLst>
      <p:ext uri="{BB962C8B-B14F-4D97-AF65-F5344CB8AC3E}">
        <p14:creationId xmlns:p14="http://schemas.microsoft.com/office/powerpoint/2010/main" val="144489669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B51E7-BAAB-4733-8DF4-7FFED317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1BFA9-4377-41D4-ACB4-946C24D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12547-F15F-4E7C-891A-DAE598D0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34DF1-45E8-452F-8FD7-735CCC29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E5797-DEA6-4234-8547-616F8FE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4DC78-5800-4A53-BEE5-98E9E31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AC982-D3E3-4299-AF8B-C49AA384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WEI就业推荐材料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F162C-1D44-456F-AC5B-80C4CEA8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推荐不是只发简历，而是发送作品集、能力画像和适配建议。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9DDC2-A87D-4496-AB31-CFF932D0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33906-0599-42F4-AF4E-6D87F2D2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6BA91-9ABB-4337-B610-ED83A32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就业面试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EECC1-8917-42A7-AB72-64CFB0A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9D48F-8E2B-4FDF-80C0-1989142C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33EB6-DB92-4FCD-852B-CB93BE1A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91CFF-950F-4DDA-A6AC-D4B0826E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简历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7B478-53E2-426E-89B9-80DB18FD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2F923-7F0A-4026-87E6-F67DCE40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43A77-4A09-4663-A0E4-C26BAEDB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53C1A-8554-49F8-8702-81A66865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135C0-2E43-4812-ACA2-7EE2F7D5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3DFC4-2CEA-4FA2-9CAC-F500B5AD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D9047-FEF3-4721-A31C-86047059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67612-8C48-4B99-B7D1-87140387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能力雷达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4797B-AAC4-4825-8C34-7A16489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DB9BE-FFAB-4E06-B66F-0CA566F9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2B1DD-6BFA-4D98-B76B-F8EFBF07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559DD-D0CF-4BD8-99D3-A21DB49E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路演评分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88CB98-5F5A-474A-97C5-E7C7A390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A0C6E-B6FA-40C5-9E50-8DFB259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487F3-86BD-4B11-9DEA-E6B5FE77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D00CE-4B7A-41A6-814B-50EBF9B1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讲师评语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FC1309-0940-4040-A2AD-8CE3E534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440D63-1129-4012-960F-EE64358C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F11B7E-C985-4E74-A8BF-6D0A6638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F346BE-8309-456A-8BA1-180ACB6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岗位建议</a:t>
            </a:r>
          </a:p>
        </p:txBody>
      </p:sp>
    </p:spTree>
    <p:extLst>
      <p:ext uri="{BB962C8B-B14F-4D97-AF65-F5344CB8AC3E}">
        <p14:creationId xmlns:p14="http://schemas.microsoft.com/office/powerpoint/2010/main" val="211211799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A95E2-0C69-406A-99CA-2DFB5B4C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79468-1F17-4662-8176-6225645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04220-934B-4976-86FC-CC53D90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A4176-9C59-4B41-9DB3-D9749C3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E6634-6963-40A3-9522-ECD5638B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CCA18-BAEC-4943-B225-B2514C51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BAA3-9B9E-49EF-B862-EA50281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039B8-1E55-4EA2-AA4A-9C50B4A4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DF672-6E65-47F4-8285-23DA7AB8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3B6C9-A40E-4B07-9C48-6F40EC8D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89679-576C-42CE-956A-BDFEC9D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6D428-C885-42FF-BC69-A76A0ABF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53B51-ADE9-41B8-8273-29FA902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3CB3D-24EC-403F-83E7-E011CBF2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16480-2F5D-4246-8305-56CE6130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524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151CA-010E-424E-B24F-AB92D917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239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完成个人面试表达脚本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0A56F-5617-4110-85ED-85DA303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学员写出1分钟自我介绍、3分钟项目说明和5个答辩答案。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5E4B5-BB97-4661-82DE-2346F486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A8C0A-50B9-47A2-92CD-AB7529F7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00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28650-FAB5-49D4-8ED9-0EAFEDA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FD191-EEBB-417E-BAA1-6171766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46224-8791-4F7A-A464-50094A1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1分钟介绍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992C1-7968-4394-B862-F467693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82F5B-050A-4F29-878E-11465A7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E05A3-A9EA-4821-BC0D-9ACB6F67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3分钟项目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3D5EC-7B86-41A4-ABC1-93E21B92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B8104-6D8E-4EE3-9642-F2754EC6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B1D18-6A95-4D20-AE4C-4DB5A70B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5个问答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D35BE-577C-4EFB-9577-7BA4DE23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3DBEF6-E2A6-4663-9EF2-0698B418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052C1-75CC-4FA3-93BE-7E9B01A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作品链接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2B005-2D71-4600-9BDD-48C643E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3E83AF-94C9-480D-BBE2-48E1795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9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D36AC9-1CDD-4F2E-ACBD-EA7EA908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岗位目标</a:t>
            </a:r>
          </a:p>
        </p:txBody>
      </p:sp>
    </p:spTree>
    <p:extLst>
      <p:ext uri="{BB962C8B-B14F-4D97-AF65-F5344CB8AC3E}">
        <p14:creationId xmlns:p14="http://schemas.microsoft.com/office/powerpoint/2010/main" val="194980191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4AAE80-4B4A-4684-93D5-86CEA01E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F6440-C6DE-4DCB-AE21-3561B238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D5B83-21FE-4EC1-BCDB-046CA644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A0626-E0EB-4826-9F32-3F399CEE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30073-BD91-46CF-B732-4D69726D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BAA42-5C93-4EF3-9633-C173FEB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55509-A1BD-437A-8ACC-917A402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25FA7-BB27-402F-A27D-7561356A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BBAFF-4FBE-4373-ACFF-D2A333B7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39555-50CF-4A3E-BE97-42F6052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15D1B-AC3B-4A05-A221-4C99CAA0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96EAF-AED4-4001-AC61-FAC3AB73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0E4E8-FC5A-45E9-AB40-1910A17D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BFBB2-F550-466A-8854-6292F55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F85F9-87F5-4A4D-A0F1-CDFC6E29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0F0F4-1A91-4F25-8518-263ED410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800100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OPC创业孵化与讲师试讲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99CC9-D69C-43CB-B031-882C9A1A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8105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rPr>
              <a:t>让不同类型学员进入不同价值通道。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CA1F5-673B-4E5A-857A-51B3F001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494A8-042B-4974-8515-9630FD5B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DA012-F01E-4354-8849-7F391F9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0AF1E-D723-43BB-A01C-9B4929D4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E1F67-56A7-4131-9908-1C9282C2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AB2BC-430A-4AC7-80DE-DE57EBC3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孵化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8FC08-8225-4242-8408-13A0596A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B7A2F-437D-4725-91DF-16C0FC0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02F06-2277-4EAE-8932-2FEEDD47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</a:t>
            </a:r>
          </a:p>
        </p:txBody>
      </p:sp>
    </p:spTree>
    <p:extLst>
      <p:ext uri="{BB962C8B-B14F-4D97-AF65-F5344CB8AC3E}">
        <p14:creationId xmlns:p14="http://schemas.microsoft.com/office/powerpoint/2010/main" val="161407918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98F8D-CEE0-4435-AD47-3E38806C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C682A-D2DE-462C-A116-49CAC4C6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681C5-E43E-446D-803C-2A3750B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DD126-9E3C-4780-90A3-504AE29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740FD-62FC-4D5B-952D-AF8B9AB1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EB423-55AE-423F-8715-8BA7B057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OPC路径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8831E-5CF0-416D-9D06-C11657D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OPC一人公司启动路径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BBCE6-CDB8-476D-A3B7-83514F1B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OPC要从一个标准服务包和一个清晰获客场景开始。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4A848-66C8-4801-A5AD-3BC4219F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11A7F-8428-4FF0-B858-82B7E3CA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1CAA1-95A9-4824-9AE0-DA8939F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OPC讲师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DACDD-38C5-4823-A565-3C43BEA1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17826-3831-4BC7-BC48-AFFC9796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D29AC-D25C-440E-BE71-CE1FB951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定位行业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C1CA4-F699-4FC5-B71C-7775CDF4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6A804-6940-4073-8C34-099CD65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148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A503B-A390-4BEF-AA9F-E4DAB58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选择服务包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64A39-5D88-43C0-9BDB-E8154E89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766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D50CD-D415-4D7C-BFAC-42C909F0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AF44B-9C21-429F-8CA9-C0384B1B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做样板客户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F0C4C-40CB-4251-AF0E-2D717ED1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671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282DB-8A6F-4F2D-8D7D-BC1028B7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71B2B-6DED-46D3-A7C9-3342E3C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沉淀模板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8B12F-0F46-4285-9A32-69224E24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D8C3E-916A-4868-9D2E-F334AEF5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86B5A-0B64-4ACB-A378-F3CE9DB7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23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进入WEI生态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48AB1-5A7A-4FB8-8A8B-05172217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</p:spTree>
    <p:extLst>
      <p:ext uri="{BB962C8B-B14F-4D97-AF65-F5344CB8AC3E}">
        <p14:creationId xmlns:p14="http://schemas.microsoft.com/office/powerpoint/2010/main" val="171946621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FB59D-4CB6-42B0-BF3B-5F415F3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3A89B-E0C3-4781-B278-BCF9B4A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0DD8E-4310-41DD-BFA8-4B3C90F4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EEAC0-F6EE-45F7-AF5F-0BED47CA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64970-0094-4ED9-A150-58CBC8AF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6A38D-DA23-4CDF-887F-03B1BACF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服务包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3DC9A-B70D-4461-B38A-1C5B2481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FDE可售卖服务包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FD16F-0C52-4568-8929-792F930B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把训练营能力打包成客户愿意购买的服务。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ED1C3-13A4-43BE-9300-76B1C7FB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3B03E-F5C4-46D7-B7B1-9F844A40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B4C61-70F3-4202-AD1A-B5ACA32F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OPC讲师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8CC6C-14A1-4D3B-B0A1-A2787F19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55696-480A-44F8-A836-CC70E362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6AEA1-2B92-40A6-AAE1-0C36131F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671E6-2396-4D8A-A83D-254F2F5E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AI诊断包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42127-7851-4C66-BD1A-67F93BA0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53410-F3A6-463A-810D-A1C843BC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F4973-FD86-4BBE-9246-0E3F558C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E00DF-2195-4B6C-9862-646BF9D2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数字员工部署包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5D5A6-E72F-42EC-8A7B-FA4CF19B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236C0-45DF-41CF-A898-55B29A74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4F3F6-685C-46DE-887A-46B918D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EED13-C38D-4A7B-90EC-C917C95C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上下文知识包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1799B-3ED8-4407-9045-60E0603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5962E-46A0-466D-A457-E1B14373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74A68-A986-47B8-AA91-FA67B85C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8BDBB-EF28-4220-8E2D-DE591A77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运营代养包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C9748-D195-40D4-BF70-FF8B1AAC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42873-D7CC-4D0F-8B70-F7B844FE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A067CF-B5D7-40EA-A95B-66BA25D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914206-6200-44ED-B794-FCD1F250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企业内训包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34A4B-4AFB-47C2-9D09-CD1D0816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BB7A1F-57A0-471F-A206-E4693EBF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03160D-6006-4521-AB98-3C5922F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0878A-C5BB-4B11-9A4F-35B5369F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行业模板包</a:t>
            </a:r>
          </a:p>
        </p:txBody>
      </p:sp>
    </p:spTree>
    <p:extLst>
      <p:ext uri="{BB962C8B-B14F-4D97-AF65-F5344CB8AC3E}">
        <p14:creationId xmlns:p14="http://schemas.microsoft.com/office/powerpoint/2010/main" val="671451228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A4757-42D8-44EF-A572-F109A7F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7354A-5F0D-4C7D-9ABD-9636DB22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63E55-2CAA-498C-B368-9B39084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82C05-D3F4-4E4C-AA95-F6C0DBD1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75A3D-A790-406E-A389-227B9DBE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553E7-BAE6-4D13-9B0C-522E2EDB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孵化器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430D4-2CE5-4629-9017-70E210B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WEI SPACE孵化器入驻材料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94B52-3100-42BD-93AF-A09B021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孵化材料要说明项目、客户、产品、收入模型和资源需求。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DDC71-A21D-4947-AA5F-4D08CE87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8E0A3-EB00-410E-AF72-B54E4FA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84CEA-57FC-4123-B1F1-52E070C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OPC讲师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DBAD4-2953-4E16-8A16-7563962C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F3F65-CF77-49E9-B85F-EA20234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19075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7C150-5690-469A-8DC1-D8D08C4F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1051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孵化材料要说明项目、客户、产品、收入模型和资源需求。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3657A-8295-4147-B2F1-EEE86862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5BD88-45F9-4301-9C01-8B849163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30660-6833-45C8-815A-7E0BC7D8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DBC9F-1260-4B46-BCA7-EA194086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目标客户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180DE-42E9-4938-A49C-F77CE197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6C917-5FEC-48D1-8121-ECF9C51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产品包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106BE-9B93-433E-8DB5-045B42EB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69F58-BC05-407B-B65B-7B62609F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823A7-3887-4CB4-91FF-3EB0CABD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9731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18DE2-F5EE-47A9-A83F-5FBE5E3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团队能力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F935A-8CEF-4036-B7FE-E31B35F4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F"/>
          </a:solidFill>
          <a:ln xmlns:a="http://schemas.openxmlformats.org/drawingml/2006/main" w="9525">
            <a:solidFill>
              <a:srgbClr val="A855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02370-501D-4910-AC64-BAAE1C44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资源需求</a:t>
            </a:r>
          </a:p>
        </p:txBody>
      </p:sp>
    </p:spTree>
    <p:extLst>
      <p:ext uri="{BB962C8B-B14F-4D97-AF65-F5344CB8AC3E}">
        <p14:creationId xmlns:p14="http://schemas.microsoft.com/office/powerpoint/2010/main" val="91588043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E56B2-ACD1-4DD4-838A-F685636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36543-B80A-40E8-8E15-1F27E08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40F4E-9A84-4ED6-9373-1D8315AA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0E6A3-A7F1-4271-AF3C-640BEFA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E64CE-C6F1-49D8-8875-659A13D8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7FB9E-0E1D-4F3A-9288-E524EFA8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讲师路径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32885-BFFD-461F-AB0B-94DF51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FDE讲师与青少年讲师路径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D67D2-22DA-4808-921F-F0566724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讲师候选人要能讲、能带练、能点评、能转化。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887FF-5DCD-4BA8-AD74-D7FD3B4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27408-59D5-4B0D-986C-6F32BB3A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91269-C6BF-4B9C-B5E5-C04200BE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OPC讲师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4D805-7EB5-4B1F-8A49-CDFF9C53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1143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C8176-2B29-43D1-A6C1-6EB8A47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成人企业课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2FBD5-B281-4812-A009-292E1E25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8E69E-2463-4ED8-A880-A2CC4F6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青少年AI课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ACAC5-8DC8-4DC2-A61B-DE93B9D4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4B6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0CD70-59D4-43B4-A2FB-1695803C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项目工作坊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CA2F2-CAE0-4D03-97A9-AF46E550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2F504-CA1A-494A-98D1-8E142136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讲师助教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CC559-E8DF-4058-A8A4-500F43FA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943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F774F-7840-4C15-B5CA-C36503FB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案例库共创</a:t>
            </a:r>
          </a:p>
        </p:txBody>
      </p:sp>
    </p:spTree>
    <p:extLst>
      <p:ext uri="{BB962C8B-B14F-4D97-AF65-F5344CB8AC3E}">
        <p14:creationId xmlns:p14="http://schemas.microsoft.com/office/powerpoint/2010/main" val="144995803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4FE52-7C9D-4393-B478-B8AD6582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67004-9B83-4720-A7F6-B2A8FC2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0A4FF-FBFF-4853-9AA9-CF216813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68FA3-0FA6-4B36-A075-AAEF067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DB513-2061-4E88-9A60-7265614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EF81-5475-44BE-9CD9-EA90945C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试讲评分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36929-81A6-46C6-A494-F11224A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讲师试讲评分表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31CBC-198A-43C7-A031-D1C101B4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讲师评估看内容理解、表达结构、案例能力、互动控场和作业点评。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DC394-7FAA-4E05-BFB4-462FB049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14D0A-1D7A-428F-9DFA-F213DCA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76729-7C4E-440F-B1A8-3C71080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OPC讲师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E032A-B157-4DD2-B8B4-969F7A2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内容准确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9D553-B0DF-49DD-9DEA-33E2241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F102C-4E8B-4EF9-8B35-9332AE48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46DEC-C9D9-4628-A775-B45EDD7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27C96-CEC3-4476-8F53-76DD634F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E74B2-6B24-4CFD-A4BC-38E4DFD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0F688-9326-4A4A-9EF7-213F6CE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案例鲜活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FF6C2-7DAC-4874-979C-64CCDEF8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78075-7CAB-4260-9C0D-E928ED6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3352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6432E-A904-479B-A378-AAE6D8E9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互动控场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654DA-1C31-418F-B5FD-A5FC664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AFA8F-FEEF-43EA-9F87-470349F7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3790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02499-85FB-4ABB-9249-27B6647C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28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点评到位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D0A15-F921-4DA6-B5EF-9C565C5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E462F-660F-4576-9CC9-6BF26F11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422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</p:spTree>
    <p:extLst>
      <p:ext uri="{BB962C8B-B14F-4D97-AF65-F5344CB8AC3E}">
        <p14:creationId xmlns:p14="http://schemas.microsoft.com/office/powerpoint/2010/main" val="107702892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81DF07-BB39-407E-ADCF-971EEF68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BD123-9EBD-47BB-A82F-D7ABEC70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3C521-F739-449E-AFC5-F223113F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3DD20-7F5F-476D-BBAD-22C8D493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27824-D24C-4B6A-A5E3-44ECBF7A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E452F-E8EA-41A5-82CE-016AEC78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5208D-FA63-44EB-A085-34E78DC0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E7B5A-34BF-4CCD-A968-FCDE692C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B7B55-690C-4F0A-81D6-F75196F7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6385D-03DC-459F-9B5E-B4EA0BAA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F8A1F-7ACC-48EF-A6AE-405C414B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6891E-4D53-4610-A39E-1710D2A3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A17F7-7D40-4B7B-AE77-CF7B12C9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C8573-ABB0-4671-BD40-7AA8EF15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22BA8-0273-49E7-BA26-E05BC11F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524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B42EF-5CE8-4BDB-9153-61A8C7D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239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完成OPC/讲师路径卡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CE566-F4A4-4D7E-B46D-E00593DC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创业型学员写服务包，讲师型学员完成5分钟试讲设计。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1934E-4A04-4007-A095-F33C8A3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A2D52-A7C7-4118-BC92-1251D614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00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913F6-846D-4C54-B1E7-29D4F16C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D75EC-7EF2-4441-9D0F-EACDE179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05F31-BF0D-4998-A511-3B5B826A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10F34-5A00-457A-8F48-568FEDC8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87A6E-BD51-4983-A7EF-DCEFE5A6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955AF8-A5E5-4A87-9000-C79D1D6E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目标客户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E672D8-A3B7-4171-A765-69A7BB3D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3D5ED-3E91-42B8-9477-3490B354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24BA1E-994D-48C8-9E51-7519B6C9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获客动作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B46DC0-0A90-4536-94AD-8FED09F2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8A0D3E-75BA-4E6D-A68A-E109E56C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CBE36-EAE2-4C33-A435-7188162E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试讲提纲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5F5E3-E087-413B-8800-8613B6F0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3BC61A-0984-4649-8F21-A58927C1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9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6C3533-4D76-4B99-8D37-CF31BDB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资源需求</a:t>
            </a:r>
          </a:p>
        </p:txBody>
      </p:sp>
    </p:spTree>
    <p:extLst>
      <p:ext uri="{BB962C8B-B14F-4D97-AF65-F5344CB8AC3E}">
        <p14:creationId xmlns:p14="http://schemas.microsoft.com/office/powerpoint/2010/main" val="450918425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3601E-E915-4FBD-8860-F886E5B1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2D3C1-68C4-4A78-A389-C849136F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3D7B5-E95D-43E1-80A9-A1FCAFF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CE06D-EA3B-44A4-88D8-12FEE84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CC324-1DC2-4223-9979-1AF3AE4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B6888-1D6C-4614-A22F-5C3D7B4E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9490D-01AA-4B49-9800-CCBB6D1E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49D97-42C1-495E-8F62-8610A207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A9D7E-B422-4E98-9C75-DB2609ED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4A830-84F5-4B25-9F35-4B5978B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28B5A-132D-48F1-A699-A1971806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58483-460A-463C-8D05-73EEDA31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4E269-14E6-42EA-B5D2-9A33E349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66B2D-C20C-4C97-8267-580CC04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BFFAE-E7E3-4ED8-A4A9-38CFA654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97186-D4F1-4390-A2F4-696FB15C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800100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毕业行动计划与生态入驻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97676-EE15-405D-A38F-D89CDAE5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8105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DE6F1"/>
                </a:solidFill>
                <a:latin typeface="Microsoft YaHei"/>
                <a:ea typeface="Microsoft YaHei"/>
                <a:cs typeface="Microsoft YaHei"/>
              </a:rPr>
              <a:t>训练营结束后，真正的FDE成长才开始。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4A900-85D1-467C-81C8-4C6EFB1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3EFB5-9A4C-48E4-BF8A-D27F0C36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C1980-154B-4681-9B51-7073AEAC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256FF-02AD-4C3D-B86A-C3D8816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E998A-D2E3-4ECA-88DC-A82C720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24C35-E9C5-4EAD-8EBF-9F7944E5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FECED-CC13-4935-854E-BE4AE440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91BF4-3B85-4D8E-8784-C510468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AB0F5-D400-4ECD-92FC-9815F46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1028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</p:spTree>
    <p:extLst>
      <p:ext uri="{BB962C8B-B14F-4D97-AF65-F5344CB8AC3E}">
        <p14:creationId xmlns:p14="http://schemas.microsoft.com/office/powerpoint/2010/main" val="1915635025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23AAC-5B74-400A-8D39-889D001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7B5DB-C66D-4FAD-B3EE-F3CB4127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D08C8-1E89-472F-9E9A-20461BD1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C2DF4-1637-41FB-8BE7-4B0B5CD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3A2F8-D3DE-4AB3-B4C4-A5881829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B0E8B-F27B-4205-A442-8274F88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90天计划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7613F-C8DE-481D-9436-2B78B7E1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毕业后90天行动节奏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FC616-8635-46BE-89B1-0011D8BD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用30/60/90天把学习成果接入真实项目和职业机会。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816F7-E04C-4B7F-A320-A8A8C0E2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F1069-9E28-44A1-83A3-6D1A6326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8870F-4875-4FCC-B249-777A9DC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生态入驻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A0649-F9B6-4E46-A529-A68D54A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4DF3D-E6B0-440D-8C3A-346D0883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0F29A-5391-4B61-81A4-673CCFD0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9CD06-D564-4D7D-BC2E-FFF2AB5E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30天补作品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E9A03-EE31-4C2D-A8F6-2897A76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CC650-80E2-4363-B0BB-D9E64917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4A6AB-1E46-4C9C-A363-20FF252F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60天进项目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5EBA7-0BAE-4EC2-B7DB-37F31EE9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96093-4827-4E9A-83AB-322780B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66499-0694-4CF4-821E-804F01F4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90天拿机会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52F6F-A6A5-4BA8-BFCD-D0DA6830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08B82-8E2C-4411-B999-9F7504D6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67100"/>
            <a:ext cx="3429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E3AAD-82D3-4E78-818B-934CBCA8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19550"/>
            <a:ext cx="1485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持续复盘</a:t>
            </a:r>
          </a:p>
        </p:txBody>
      </p:sp>
    </p:spTree>
    <p:extLst>
      <p:ext uri="{BB962C8B-B14F-4D97-AF65-F5344CB8AC3E}">
        <p14:creationId xmlns:p14="http://schemas.microsoft.com/office/powerpoint/2010/main" val="22458900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D411F-A412-4FE0-BE41-E0DD3330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E566A-3681-4E58-91BE-EA54B3BA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67856-9384-478A-81FF-485B6B8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09DAA-6EC2-451C-A900-9FE82960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2F4C0-11E7-48F3-BECA-4C7499A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11E2-613C-4A61-90B4-B9102C77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生态档案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D46CA-D2D4-4D59-8A91-9F94C9CE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WEI FDE生态档案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8EEA2-D678-4C4C-9178-98B3FA86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每位学员要进入人才库、项目库、讲师库或孵化项目库。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FEC64-2CC4-4E16-A051-5C261936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A200-499F-4859-B853-2DAF9208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116D9-DB30-40E7-9392-903D6662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生态入驻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78626-7CA4-4B1A-9D2F-2185BD4C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98BEE-3931-4813-A9A9-58CDEFB4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19075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6D177-176D-45ED-A726-EA93EBB9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1051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每位学员要进入人才库、项目库、讲师库或孵化项目库。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5974E-BD58-4A06-8AC7-34919C2C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34766-5DFD-445B-BFBA-BB86BD5A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人才档案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AC1A5-12FF-4BAB-BCFE-FD101C35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07341-B916-4543-AB8F-9F95E1E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作品集链接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B5B62-A118-436B-8ADE-D960D57F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4B6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3EDA7-969E-4E87-A167-014A1668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能力标签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267BF-F6DB-4948-BADA-CA52C6C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D6830-E253-48FF-B436-08036CA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项目偏好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6B843-3B85-42BC-B14A-0082449D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F9731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EDDF2-864B-4EB2-AD57-8B06CC5B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3EA09-5626-4928-9620-28877685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F"/>
          </a:solidFill>
          <a:ln xmlns:a="http://schemas.openxmlformats.org/drawingml/2006/main" w="9525">
            <a:solidFill>
              <a:srgbClr val="A855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61C5C-FBF6-4C8D-8C91-4199020A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2427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跟进Owner</a:t>
            </a:r>
          </a:p>
        </p:txBody>
      </p:sp>
    </p:spTree>
    <p:extLst>
      <p:ext uri="{BB962C8B-B14F-4D97-AF65-F5344CB8AC3E}">
        <p14:creationId xmlns:p14="http://schemas.microsoft.com/office/powerpoint/2010/main" val="34411183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301FA-386B-4943-8224-64B9328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32119-F525-421A-86FE-FEE312E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6A055-6B9B-4931-BB5D-6FCE46B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EDECD-30A4-4513-9832-54988A1A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C8AD5-84C3-4D50-9B1A-E92C884E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66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3A1C8-9687-4EEF-9950-6E52FBAD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社群运营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7EE57-2334-4423-8464-898B2722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毕业社群运营机制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A5B12-7A9C-4306-B9A3-F947E86B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096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持续成长靠项目机会、案例复盘、讲师共创和生态合作。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7F4D0-FA42-4AF7-944C-297157C7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4350"/>
            <a:ext cx="666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9E4DB-0A60-4F23-B8A5-3BFB08E1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WEI SPACE FDE BOOTCAMP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B9719-CCA8-4A57-814D-ED707145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885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生态入驻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029F3-0B5E-4848-A35B-7343488D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73A17-6628-4453-AEFA-6B03B9C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3CC92-3392-4F7E-AD4F-0B2FB2F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61CCB-0A31-4678-A3D7-9F4E849A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每周案例会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557EE-4286-4460-9E3F-1E27E666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6E236-D73C-43FC-B00E-9F86F749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01505-DC71-466A-9BA2-27E8F399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72599-A25C-46A5-8DD7-C901EFE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项目招募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8F5CE-D1CE-4AEB-ADB4-E5E26F9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1C0DA-6E41-4A0B-9A5B-F68D7BE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F0D6E-5EF6-4C7D-8208-63413423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B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F7002-0026-4EC9-8155-891C7CE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企业需求池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B7A69-320C-40D7-9377-CCB9D23E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4D323-80F3-4A8C-9C2A-A2785C0D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3F27E-BAC6-4787-B239-CA3EA4AD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02B4D-EAE0-4155-9C67-E50BABD6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讲师共创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70F49-C79C-4CCF-8AA5-5C5F669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CF9D7-AFFA-41DC-A19A-F6BB2048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B8B8F2-7887-4C8D-9D02-8090FA0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7652E3-99B6-4061-90EA-1C67985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OPC孵化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434761-8561-493F-AE2E-4618497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DF250F-378B-422B-B477-1DBA559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0345AE-0E2A-4EBC-964A-74162CCF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514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229906-6DE4-4A78-93A6-7AFFEB60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1145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认证升级</a:t>
            </a:r>
          </a:p>
        </p:txBody>
      </p:sp>
    </p:spTree>
    <p:extLst>
      <p:ext uri="{BB962C8B-B14F-4D97-AF65-F5344CB8AC3E}">
        <p14:creationId xmlns:p14="http://schemas.microsoft.com/office/powerpoint/2010/main" val="1892288209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7BA2E-DDB3-4D9A-874E-2E8B0030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3A31E-82BA-4BC2-89B6-A8E41D28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BC25C-4024-4241-851F-CE18A6E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20099-2156-4EC4-8DAF-9AF12A96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05A5E-ABBA-4DA4-B097-D7D1A595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52AD3-275A-4663-BF67-CEE46B59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FF2BE-CF99-43F2-906D-D7B70BA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825BD-30CF-49DD-AE01-EAF1A65F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233C7-EA93-43AD-8431-78AAF618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509B7-CDE5-46D3-9665-730D6C9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B5F76-38BB-4CF8-AC3C-B0775E2D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146D4-FF9B-4FA9-A7D8-6AED23B0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36E18-3B6A-4A11-8E9B-F0D3171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19212-C760-4CA3-8FB0-6C37BEF7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10CDB-44C6-4B8C-A205-533AF694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524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B1A4A-0642-44EA-B2E7-D4884DCF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2390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提交最终行动承诺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53E43-6F8A-4128-9B74-6517BC44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8580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学员提交90天计划、路径选择、资源需求和下一次复盘时间。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9FD05-B6A9-4BED-A331-FCFB1858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636BD-B4F6-4558-AB5C-ABDDDCB6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00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930E8-8355-4A9F-998E-643FEAD3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0A8A0-90C5-4DD3-B1E0-8EC9C35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0BF9E-803A-4D77-9436-9F9BE55C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B3257-4D91-403D-8392-668EEDA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E0543-1B41-4BE5-8967-ED47999B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E4231-D570-4EB4-BB18-D4841DA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90天目标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DD39E-2FEB-463A-95E3-00FC14EC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DEF8A-7A7C-4125-8A15-8FF88CDF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31EF0-A2C2-498C-9D82-B6315C9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作品集更新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D12C9-65BA-4F83-907F-621398D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5B8EB-958F-4C5A-BA81-9153E3C7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AAD0BC-1304-4466-9C20-07D71E7B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项目申请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03A860-FF22-4BF2-92AD-E6104395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5D5047-33C0-4D4B-AD12-87999A7F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96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42790-4BA0-4E95-A193-45FEA833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438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复盘日期</a:t>
            </a:r>
          </a:p>
        </p:txBody>
      </p:sp>
    </p:spTree>
    <p:extLst>
      <p:ext uri="{BB962C8B-B14F-4D97-AF65-F5344CB8AC3E}">
        <p14:creationId xmlns:p14="http://schemas.microsoft.com/office/powerpoint/2010/main" val="1237709146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13DA8-EF24-4C77-9CAF-7E37810F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26BCA-642A-4F5A-A812-44B10FA4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B10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C68DE-254C-490D-94C0-10BCE0E4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E700A-7AA0-4C77-96E6-5E88755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0">
            <a:solidFill>
              <a:srgbClr val="FFFFFF">
                <a:alpha val="5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A7119-D183-4E26-A1EE-3B99D608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solidFill>
              <a:srgbClr val="FFFFFF">
                <a:alpha val="4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D57FA-2FA1-4D68-8F9B-E26DB5A1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31A8B-6A60-4D89-BC14-9C08B303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22953-4105-47F0-B194-87B2EE64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229F5-E2A7-4A82-9BBA-6D008A19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7218F-CBB9-4FC3-8796-D96082F2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BB002-F604-437E-A16E-EE17C177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FBB68-C5CF-4849-B9B5-C5395F56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E7144-CF9A-45D9-AE31-51282E6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000"/>
            </a:srgbClr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7A921-8564-4066-BBEA-097EE563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273EF-BDBE-4504-8537-F3563E44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毕业收束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FBC32-EFBF-4225-9FF6-323078DC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从学员到FDE生态成员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16E70-72C2-47D4-BD38-A03456A5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7810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第7章的终点不是结课，而是进入交付、就业、创业、讲师和孵化的真实循环。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202AA-34F7-4AC5-AA05-50970987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1428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CF605-BC69-44A2-88F6-5800802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91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36B9C-253B-4D8A-A2E7-F3A6D130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428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19A1C-9C3C-42A5-8D4C-BBEE8863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91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6EC86-9656-4056-8206-2920B920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53000"/>
            <a:ext cx="1428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9E8D8-6758-4283-9892-FD537AC7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91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D"/>
          </a:solidFill>
          <a:ln xmlns:a="http://schemas.openxmlformats.org/drawingml/2006/main" w="0">
            <a:solidFill>
              <a:srgbClr val="F4B6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31FF1-FF35-4C27-BE40-AE385F01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1428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9814F-F225-4430-B06F-A9C9DA95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91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CDC2C-47D1-4CF0-BE7C-BFB3DA7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53000"/>
            <a:ext cx="1428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孵化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AE0A9-1558-45CA-80AE-E5E65DEE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91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</p:spTree>
    <p:extLst>
      <p:ext uri="{BB962C8B-B14F-4D97-AF65-F5344CB8AC3E}">
        <p14:creationId xmlns:p14="http://schemas.microsoft.com/office/powerpoint/2010/main" val="3533806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2026-05-16T06:59:41.3410000Z</dcterms:created>
  <dcterms:modified xsi:type="dcterms:W3CDTF">2026-05-16T06:59:41.3410000Z</dcterms:modified>
</coreProperties>
</file>