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db645d3da64582" /><Relationship Type="http://schemas.openxmlformats.org/officeDocument/2006/relationships/extended-properties" Target="/docProps/app.xml" Id="Rac525987f9ff431e" /><Relationship Type="http://schemas.openxmlformats.org/officeDocument/2006/relationships/officeDocument" Target="/ppt/presentation.xml" Id="Rb31259f688674f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373e03e1646db"/>
  </p:sldMasterIdLst>
  <p:notesMasterIdLst>
    <p:notesMasterId xmlns:r="http://schemas.openxmlformats.org/officeDocument/2006/relationships" r:id="Rbe715b9664a14dae"/>
  </p:notesMasterIdLst>
  <p:sldIdLst>
    <p:sldId xmlns:r="http://schemas.openxmlformats.org/officeDocument/2006/relationships" id="256" r:id="Rb4ae95b3f22748dd"/>
    <p:sldId xmlns:r="http://schemas.openxmlformats.org/officeDocument/2006/relationships" id="257" r:id="R09d8ca8d30c54d2a"/>
    <p:sldId xmlns:r="http://schemas.openxmlformats.org/officeDocument/2006/relationships" id="258" r:id="Re0208c0445024eb7"/>
    <p:sldId xmlns:r="http://schemas.openxmlformats.org/officeDocument/2006/relationships" id="259" r:id="Rd2ec3e8f1dad44d4"/>
    <p:sldId xmlns:r="http://schemas.openxmlformats.org/officeDocument/2006/relationships" id="260" r:id="R8f09ffbd21f14a22"/>
    <p:sldId xmlns:r="http://schemas.openxmlformats.org/officeDocument/2006/relationships" id="261" r:id="R8ac550253cd0465a"/>
    <p:sldId xmlns:r="http://schemas.openxmlformats.org/officeDocument/2006/relationships" id="262" r:id="R6f9d30c5a01b46fd"/>
    <p:sldId xmlns:r="http://schemas.openxmlformats.org/officeDocument/2006/relationships" id="263" r:id="Rfd35ad406b974c51"/>
    <p:sldId xmlns:r="http://schemas.openxmlformats.org/officeDocument/2006/relationships" id="264" r:id="R19a56356de72404e"/>
    <p:sldId xmlns:r="http://schemas.openxmlformats.org/officeDocument/2006/relationships" id="265" r:id="Rc7831f5dc6fa4ce2"/>
    <p:sldId xmlns:r="http://schemas.openxmlformats.org/officeDocument/2006/relationships" id="266" r:id="Rd4419d277a36419e"/>
    <p:sldId xmlns:r="http://schemas.openxmlformats.org/officeDocument/2006/relationships" id="267" r:id="R36aa0b930642486d"/>
    <p:sldId xmlns:r="http://schemas.openxmlformats.org/officeDocument/2006/relationships" id="268" r:id="R8712387b9b30456e"/>
    <p:sldId xmlns:r="http://schemas.openxmlformats.org/officeDocument/2006/relationships" id="269" r:id="R8c31f298c7884ab8"/>
    <p:sldId xmlns:r="http://schemas.openxmlformats.org/officeDocument/2006/relationships" id="270" r:id="R4cd5acf17ab5499d"/>
    <p:sldId xmlns:r="http://schemas.openxmlformats.org/officeDocument/2006/relationships" id="271" r:id="Rb0fc2529b3534804"/>
    <p:sldId xmlns:r="http://schemas.openxmlformats.org/officeDocument/2006/relationships" id="272" r:id="R368b07b426074951"/>
    <p:sldId xmlns:r="http://schemas.openxmlformats.org/officeDocument/2006/relationships" id="273" r:id="Rdf9f19a5b6d44ee5"/>
    <p:sldId xmlns:r="http://schemas.openxmlformats.org/officeDocument/2006/relationships" id="274" r:id="Rfa572691772843a1"/>
    <p:sldId xmlns:r="http://schemas.openxmlformats.org/officeDocument/2006/relationships" id="275" r:id="R4d08de73f28d40c4"/>
    <p:sldId xmlns:r="http://schemas.openxmlformats.org/officeDocument/2006/relationships" id="276" r:id="Rd2aacb29a3574f83"/>
    <p:sldId xmlns:r="http://schemas.openxmlformats.org/officeDocument/2006/relationships" id="277" r:id="Refa6e25da56f4f93"/>
    <p:sldId xmlns:r="http://schemas.openxmlformats.org/officeDocument/2006/relationships" id="278" r:id="R10c870a800b54b16"/>
    <p:sldId xmlns:r="http://schemas.openxmlformats.org/officeDocument/2006/relationships" id="279" r:id="Rdf800a0e40204e4d"/>
    <p:sldId xmlns:r="http://schemas.openxmlformats.org/officeDocument/2006/relationships" id="280" r:id="R8f15f225a9404eeb"/>
    <p:sldId xmlns:r="http://schemas.openxmlformats.org/officeDocument/2006/relationships" id="281" r:id="Rf79aa1581b5045d5"/>
    <p:sldId xmlns:r="http://schemas.openxmlformats.org/officeDocument/2006/relationships" id="282" r:id="R8eb0dda435c1446e"/>
    <p:sldId xmlns:r="http://schemas.openxmlformats.org/officeDocument/2006/relationships" id="283" r:id="R8f0042fa75ba41a3"/>
    <p:sldId xmlns:r="http://schemas.openxmlformats.org/officeDocument/2006/relationships" id="284" r:id="Rad24d18027ae4013"/>
    <p:sldId xmlns:r="http://schemas.openxmlformats.org/officeDocument/2006/relationships" id="285" r:id="R0345f13515ae4ad7"/>
    <p:sldId xmlns:r="http://schemas.openxmlformats.org/officeDocument/2006/relationships" id="286" r:id="Rbfa63d1f96784ded"/>
    <p:sldId xmlns:r="http://schemas.openxmlformats.org/officeDocument/2006/relationships" id="287" r:id="R2778357cd7b54257"/>
    <p:sldId xmlns:r="http://schemas.openxmlformats.org/officeDocument/2006/relationships" id="288" r:id="R52ab276fc31c4397"/>
    <p:sldId xmlns:r="http://schemas.openxmlformats.org/officeDocument/2006/relationships" id="289" r:id="Rf72ab3df67ef4933"/>
    <p:sldId xmlns:r="http://schemas.openxmlformats.org/officeDocument/2006/relationships" id="290" r:id="Rc4991f3bd48c450f"/>
    <p:sldId xmlns:r="http://schemas.openxmlformats.org/officeDocument/2006/relationships" id="291" r:id="R3cdd212d16ff4a1e"/>
    <p:sldId xmlns:r="http://schemas.openxmlformats.org/officeDocument/2006/relationships" id="292" r:id="Rdac29149c36d4bbc"/>
    <p:sldId xmlns:r="http://schemas.openxmlformats.org/officeDocument/2006/relationships" id="293" r:id="Rfe82486c4251496a"/>
    <p:sldId xmlns:r="http://schemas.openxmlformats.org/officeDocument/2006/relationships" id="294" r:id="R8f26cb4dddee4472"/>
    <p:sldId xmlns:r="http://schemas.openxmlformats.org/officeDocument/2006/relationships" id="295" r:id="R2478c4dd2b664222"/>
    <p:sldId xmlns:r="http://schemas.openxmlformats.org/officeDocument/2006/relationships" id="296" r:id="R7a3f324cfea94964"/>
    <p:sldId xmlns:r="http://schemas.openxmlformats.org/officeDocument/2006/relationships" id="297" r:id="Ra84afcace27b4625"/>
    <p:sldId xmlns:r="http://schemas.openxmlformats.org/officeDocument/2006/relationships" id="298" r:id="Rbc3e436397994076"/>
    <p:sldId xmlns:r="http://schemas.openxmlformats.org/officeDocument/2006/relationships" id="299" r:id="R75c0d57b35cf40e4"/>
    <p:sldId xmlns:r="http://schemas.openxmlformats.org/officeDocument/2006/relationships" id="300" r:id="R52dac02269d64582"/>
    <p:sldId xmlns:r="http://schemas.openxmlformats.org/officeDocument/2006/relationships" id="301" r:id="R3b6953df246b4d05"/>
    <p:sldId xmlns:r="http://schemas.openxmlformats.org/officeDocument/2006/relationships" id="302" r:id="R7486a0d5daad4f5b"/>
    <p:sldId xmlns:r="http://schemas.openxmlformats.org/officeDocument/2006/relationships" id="303" r:id="R45d5a364d4614ab8"/>
    <p:sldId xmlns:r="http://schemas.openxmlformats.org/officeDocument/2006/relationships" id="304" r:id="R8c836a793cb6475e"/>
    <p:sldId xmlns:r="http://schemas.openxmlformats.org/officeDocument/2006/relationships" id="305" r:id="R7af3a01475f94e65"/>
    <p:sldId xmlns:r="http://schemas.openxmlformats.org/officeDocument/2006/relationships" id="306" r:id="Rfe2b74dbac0a422d"/>
    <p:sldId xmlns:r="http://schemas.openxmlformats.org/officeDocument/2006/relationships" id="307" r:id="R6191bed8e09445ef"/>
    <p:sldId xmlns:r="http://schemas.openxmlformats.org/officeDocument/2006/relationships" id="308" r:id="Rb44f6b54f7aa4dee"/>
    <p:sldId xmlns:r="http://schemas.openxmlformats.org/officeDocument/2006/relationships" id="309" r:id="R677aeb5560d74232"/>
    <p:sldId xmlns:r="http://schemas.openxmlformats.org/officeDocument/2006/relationships" id="310" r:id="R49eded4f50b748c3"/>
    <p:sldId xmlns:r="http://schemas.openxmlformats.org/officeDocument/2006/relationships" id="311" r:id="Ra41a07f591874dbe"/>
    <p:sldId xmlns:r="http://schemas.openxmlformats.org/officeDocument/2006/relationships" id="312" r:id="R337f74373758472d"/>
    <p:sldId xmlns:r="http://schemas.openxmlformats.org/officeDocument/2006/relationships" id="313" r:id="R01fa549ebfbf4b84"/>
    <p:sldId xmlns:r="http://schemas.openxmlformats.org/officeDocument/2006/relationships" id="314" r:id="Rd859225c480b40dd"/>
    <p:sldId xmlns:r="http://schemas.openxmlformats.org/officeDocument/2006/relationships" id="315" r:id="Rba0e8fe8a4c3428a"/>
    <p:sldId xmlns:r="http://schemas.openxmlformats.org/officeDocument/2006/relationships" id="316" r:id="Rd9234558fd794164"/>
    <p:sldId xmlns:r="http://schemas.openxmlformats.org/officeDocument/2006/relationships" id="317" r:id="R187080557c584825"/>
    <p:sldId xmlns:r="http://schemas.openxmlformats.org/officeDocument/2006/relationships" id="318" r:id="R01892610dab34e43"/>
    <p:sldId xmlns:r="http://schemas.openxmlformats.org/officeDocument/2006/relationships" id="319" r:id="Rf67ae3f4cf8d4e29"/>
    <p:sldId xmlns:r="http://schemas.openxmlformats.org/officeDocument/2006/relationships" id="320" r:id="Re5c44c0be8d84e87"/>
    <p:sldId xmlns:r="http://schemas.openxmlformats.org/officeDocument/2006/relationships" id="321" r:id="R6f8b9b8f49054a7c"/>
    <p:sldId xmlns:r="http://schemas.openxmlformats.org/officeDocument/2006/relationships" id="322" r:id="Re26fa9d6a9374dfb"/>
    <p:sldId xmlns:r="http://schemas.openxmlformats.org/officeDocument/2006/relationships" id="323" r:id="R9cf62c3307824428"/>
    <p:sldId xmlns:r="http://schemas.openxmlformats.org/officeDocument/2006/relationships" id="324" r:id="R456011fdb939444b"/>
    <p:sldId xmlns:r="http://schemas.openxmlformats.org/officeDocument/2006/relationships" id="325" r:id="R8fc60dd24d4948d3"/>
    <p:sldId xmlns:r="http://schemas.openxmlformats.org/officeDocument/2006/relationships" id="326" r:id="R3fc7df098d0f431a"/>
    <p:sldId xmlns:r="http://schemas.openxmlformats.org/officeDocument/2006/relationships" id="327" r:id="R2ad1d32fe52d4c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373e03e1646db" /><Relationship Type="http://schemas.openxmlformats.org/officeDocument/2006/relationships/theme" Target="/ppt/theme/theme1.xml" Id="Rd7c29f6830574102" /><Relationship Type="http://schemas.openxmlformats.org/officeDocument/2006/relationships/notesMaster" Target="/ppt/notesMasters/notesMaster1.xml" Id="Rbe715b9664a14dae" /><Relationship Type="http://schemas.openxmlformats.org/officeDocument/2006/relationships/presProps" Target="/ppt/presProps.xml" Id="R77533e5322834e16" /><Relationship Type="http://schemas.openxmlformats.org/officeDocument/2006/relationships/viewProps" Target="/ppt/viewProps.xml" Id="Rba31bdeb0327450f" /><Relationship Type="http://schemas.openxmlformats.org/officeDocument/2006/relationships/tableStyles" Target="/ppt/tableStyles.xml" Id="R045291953a554f98" /><Relationship Type="http://schemas.openxmlformats.org/officeDocument/2006/relationships/slide" Target="/ppt/slides/slide1.xml" Id="Rb4ae95b3f22748dd" /><Relationship Type="http://schemas.openxmlformats.org/officeDocument/2006/relationships/slide" Target="/ppt/slides/slide2.xml" Id="R09d8ca8d30c54d2a" /><Relationship Type="http://schemas.openxmlformats.org/officeDocument/2006/relationships/slide" Target="/ppt/slides/slide3.xml" Id="Re0208c0445024eb7" /><Relationship Type="http://schemas.openxmlformats.org/officeDocument/2006/relationships/slide" Target="/ppt/slides/slide4.xml" Id="Rd2ec3e8f1dad44d4" /><Relationship Type="http://schemas.openxmlformats.org/officeDocument/2006/relationships/slide" Target="/ppt/slides/slide5.xml" Id="R8f09ffbd21f14a22" /><Relationship Type="http://schemas.openxmlformats.org/officeDocument/2006/relationships/slide" Target="/ppt/slides/slide6.xml" Id="R8ac550253cd0465a" /><Relationship Type="http://schemas.openxmlformats.org/officeDocument/2006/relationships/slide" Target="/ppt/slides/slide7.xml" Id="R6f9d30c5a01b46fd" /><Relationship Type="http://schemas.openxmlformats.org/officeDocument/2006/relationships/slide" Target="/ppt/slides/slide8.xml" Id="Rfd35ad406b974c51" /><Relationship Type="http://schemas.openxmlformats.org/officeDocument/2006/relationships/slide" Target="/ppt/slides/slide9.xml" Id="R19a56356de72404e" /><Relationship Type="http://schemas.openxmlformats.org/officeDocument/2006/relationships/slide" Target="/ppt/slides/slide10.xml" Id="Rc7831f5dc6fa4ce2" /><Relationship Type="http://schemas.openxmlformats.org/officeDocument/2006/relationships/slide" Target="/ppt/slides/slide11.xml" Id="Rd4419d277a36419e" /><Relationship Type="http://schemas.openxmlformats.org/officeDocument/2006/relationships/slide" Target="/ppt/slides/slide12.xml" Id="R36aa0b930642486d" /><Relationship Type="http://schemas.openxmlformats.org/officeDocument/2006/relationships/slide" Target="/ppt/slides/slide13.xml" Id="R8712387b9b30456e" /><Relationship Type="http://schemas.openxmlformats.org/officeDocument/2006/relationships/slide" Target="/ppt/slides/slide14.xml" Id="R8c31f298c7884ab8" /><Relationship Type="http://schemas.openxmlformats.org/officeDocument/2006/relationships/slide" Target="/ppt/slides/slide15.xml" Id="R4cd5acf17ab5499d" /><Relationship Type="http://schemas.openxmlformats.org/officeDocument/2006/relationships/slide" Target="/ppt/slides/slide16.xml" Id="Rb0fc2529b3534804" /><Relationship Type="http://schemas.openxmlformats.org/officeDocument/2006/relationships/slide" Target="/ppt/slides/slide17.xml" Id="R368b07b426074951" /><Relationship Type="http://schemas.openxmlformats.org/officeDocument/2006/relationships/slide" Target="/ppt/slides/slide18.xml" Id="Rdf9f19a5b6d44ee5" /><Relationship Type="http://schemas.openxmlformats.org/officeDocument/2006/relationships/slide" Target="/ppt/slides/slide19.xml" Id="Rfa572691772843a1" /><Relationship Type="http://schemas.openxmlformats.org/officeDocument/2006/relationships/slide" Target="/ppt/slides/slide20.xml" Id="R4d08de73f28d40c4" /><Relationship Type="http://schemas.openxmlformats.org/officeDocument/2006/relationships/slide" Target="/ppt/slides/slide21.xml" Id="Rd2aacb29a3574f83" /><Relationship Type="http://schemas.openxmlformats.org/officeDocument/2006/relationships/slide" Target="/ppt/slides/slide22.xml" Id="Refa6e25da56f4f93" /><Relationship Type="http://schemas.openxmlformats.org/officeDocument/2006/relationships/slide" Target="/ppt/slides/slide23.xml" Id="R10c870a800b54b16" /><Relationship Type="http://schemas.openxmlformats.org/officeDocument/2006/relationships/slide" Target="/ppt/slides/slide24.xml" Id="Rdf800a0e40204e4d" /><Relationship Type="http://schemas.openxmlformats.org/officeDocument/2006/relationships/slide" Target="/ppt/slides/slide25.xml" Id="R8f15f225a9404eeb" /><Relationship Type="http://schemas.openxmlformats.org/officeDocument/2006/relationships/slide" Target="/ppt/slides/slide26.xml" Id="Rf79aa1581b5045d5" /><Relationship Type="http://schemas.openxmlformats.org/officeDocument/2006/relationships/slide" Target="/ppt/slides/slide27.xml" Id="R8eb0dda435c1446e" /><Relationship Type="http://schemas.openxmlformats.org/officeDocument/2006/relationships/slide" Target="/ppt/slides/slide28.xml" Id="R8f0042fa75ba41a3" /><Relationship Type="http://schemas.openxmlformats.org/officeDocument/2006/relationships/slide" Target="/ppt/slides/slide29.xml" Id="Rad24d18027ae4013" /><Relationship Type="http://schemas.openxmlformats.org/officeDocument/2006/relationships/slide" Target="/ppt/slides/slide30.xml" Id="R0345f13515ae4ad7" /><Relationship Type="http://schemas.openxmlformats.org/officeDocument/2006/relationships/slide" Target="/ppt/slides/slide31.xml" Id="Rbfa63d1f96784ded" /><Relationship Type="http://schemas.openxmlformats.org/officeDocument/2006/relationships/slide" Target="/ppt/slides/slide32.xml" Id="R2778357cd7b54257" /><Relationship Type="http://schemas.openxmlformats.org/officeDocument/2006/relationships/slide" Target="/ppt/slides/slide33.xml" Id="R52ab276fc31c4397" /><Relationship Type="http://schemas.openxmlformats.org/officeDocument/2006/relationships/slide" Target="/ppt/slides/slide34.xml" Id="Rf72ab3df67ef4933" /><Relationship Type="http://schemas.openxmlformats.org/officeDocument/2006/relationships/slide" Target="/ppt/slides/slide35.xml" Id="Rc4991f3bd48c450f" /><Relationship Type="http://schemas.openxmlformats.org/officeDocument/2006/relationships/slide" Target="/ppt/slides/slide36.xml" Id="R3cdd212d16ff4a1e" /><Relationship Type="http://schemas.openxmlformats.org/officeDocument/2006/relationships/slide" Target="/ppt/slides/slide37.xml" Id="Rdac29149c36d4bbc" /><Relationship Type="http://schemas.openxmlformats.org/officeDocument/2006/relationships/slide" Target="/ppt/slides/slide38.xml" Id="Rfe82486c4251496a" /><Relationship Type="http://schemas.openxmlformats.org/officeDocument/2006/relationships/slide" Target="/ppt/slides/slide39.xml" Id="R8f26cb4dddee4472" /><Relationship Type="http://schemas.openxmlformats.org/officeDocument/2006/relationships/slide" Target="/ppt/slides/slide40.xml" Id="R2478c4dd2b664222" /><Relationship Type="http://schemas.openxmlformats.org/officeDocument/2006/relationships/slide" Target="/ppt/slides/slide41.xml" Id="R7a3f324cfea94964" /><Relationship Type="http://schemas.openxmlformats.org/officeDocument/2006/relationships/slide" Target="/ppt/slides/slide42.xml" Id="Ra84afcace27b4625" /><Relationship Type="http://schemas.openxmlformats.org/officeDocument/2006/relationships/slide" Target="/ppt/slides/slide43.xml" Id="Rbc3e436397994076" /><Relationship Type="http://schemas.openxmlformats.org/officeDocument/2006/relationships/slide" Target="/ppt/slides/slide44.xml" Id="R75c0d57b35cf40e4" /><Relationship Type="http://schemas.openxmlformats.org/officeDocument/2006/relationships/slide" Target="/ppt/slides/slide45.xml" Id="R52dac02269d64582" /><Relationship Type="http://schemas.openxmlformats.org/officeDocument/2006/relationships/slide" Target="/ppt/slides/slide46.xml" Id="R3b6953df246b4d05" /><Relationship Type="http://schemas.openxmlformats.org/officeDocument/2006/relationships/slide" Target="/ppt/slides/slide47.xml" Id="R7486a0d5daad4f5b" /><Relationship Type="http://schemas.openxmlformats.org/officeDocument/2006/relationships/slide" Target="/ppt/slides/slide48.xml" Id="R45d5a364d4614ab8" /><Relationship Type="http://schemas.openxmlformats.org/officeDocument/2006/relationships/slide" Target="/ppt/slides/slide49.xml" Id="R8c836a793cb6475e" /><Relationship Type="http://schemas.openxmlformats.org/officeDocument/2006/relationships/slide" Target="/ppt/slides/slide50.xml" Id="R7af3a01475f94e65" /><Relationship Type="http://schemas.openxmlformats.org/officeDocument/2006/relationships/slide" Target="/ppt/slides/slide51.xml" Id="Rfe2b74dbac0a422d" /><Relationship Type="http://schemas.openxmlformats.org/officeDocument/2006/relationships/slide" Target="/ppt/slides/slide52.xml" Id="R6191bed8e09445ef" /><Relationship Type="http://schemas.openxmlformats.org/officeDocument/2006/relationships/slide" Target="/ppt/slides/slide53.xml" Id="Rb44f6b54f7aa4dee" /><Relationship Type="http://schemas.openxmlformats.org/officeDocument/2006/relationships/slide" Target="/ppt/slides/slide54.xml" Id="R677aeb5560d74232" /><Relationship Type="http://schemas.openxmlformats.org/officeDocument/2006/relationships/slide" Target="/ppt/slides/slide55.xml" Id="R49eded4f50b748c3" /><Relationship Type="http://schemas.openxmlformats.org/officeDocument/2006/relationships/slide" Target="/ppt/slides/slide56.xml" Id="Ra41a07f591874dbe" /><Relationship Type="http://schemas.openxmlformats.org/officeDocument/2006/relationships/slide" Target="/ppt/slides/slide57.xml" Id="R337f74373758472d" /><Relationship Type="http://schemas.openxmlformats.org/officeDocument/2006/relationships/slide" Target="/ppt/slides/slide58.xml" Id="R01fa549ebfbf4b84" /><Relationship Type="http://schemas.openxmlformats.org/officeDocument/2006/relationships/slide" Target="/ppt/slides/slide59.xml" Id="Rd859225c480b40dd" /><Relationship Type="http://schemas.openxmlformats.org/officeDocument/2006/relationships/slide" Target="/ppt/slides/slide60.xml" Id="Rba0e8fe8a4c3428a" /><Relationship Type="http://schemas.openxmlformats.org/officeDocument/2006/relationships/slide" Target="/ppt/slides/slide61.xml" Id="Rd9234558fd794164" /><Relationship Type="http://schemas.openxmlformats.org/officeDocument/2006/relationships/slide" Target="/ppt/slides/slide62.xml" Id="R187080557c584825" /><Relationship Type="http://schemas.openxmlformats.org/officeDocument/2006/relationships/slide" Target="/ppt/slides/slide63.xml" Id="R01892610dab34e43" /><Relationship Type="http://schemas.openxmlformats.org/officeDocument/2006/relationships/slide" Target="/ppt/slides/slide64.xml" Id="Rf67ae3f4cf8d4e29" /><Relationship Type="http://schemas.openxmlformats.org/officeDocument/2006/relationships/slide" Target="/ppt/slides/slide65.xml" Id="Re5c44c0be8d84e87" /><Relationship Type="http://schemas.openxmlformats.org/officeDocument/2006/relationships/slide" Target="/ppt/slides/slide66.xml" Id="R6f8b9b8f49054a7c" /><Relationship Type="http://schemas.openxmlformats.org/officeDocument/2006/relationships/slide" Target="/ppt/slides/slide67.xml" Id="Re26fa9d6a9374dfb" /><Relationship Type="http://schemas.openxmlformats.org/officeDocument/2006/relationships/slide" Target="/ppt/slides/slide68.xml" Id="R9cf62c3307824428" /><Relationship Type="http://schemas.openxmlformats.org/officeDocument/2006/relationships/slide" Target="/ppt/slides/slide69.xml" Id="R456011fdb939444b" /><Relationship Type="http://schemas.openxmlformats.org/officeDocument/2006/relationships/slide" Target="/ppt/slides/slide70.xml" Id="R8fc60dd24d4948d3" /><Relationship Type="http://schemas.openxmlformats.org/officeDocument/2006/relationships/slide" Target="/ppt/slides/slide71.xml" Id="R3fc7df098d0f431a" /><Relationship Type="http://schemas.openxmlformats.org/officeDocument/2006/relationships/slide" Target="/ppt/slides/slide72.xml" Id="R2ad1d32fe52d4c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ea57337fe354d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d716b73b494bba" /><Relationship Type="http://schemas.openxmlformats.org/officeDocument/2006/relationships/notesMaster" Target="/ppt/notesMasters/notesMaster1.xml" Id="Rba2b9eb127eb40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dc3e9141ae4e12" /><Relationship Type="http://schemas.openxmlformats.org/officeDocument/2006/relationships/notesMaster" Target="/ppt/notesMasters/notesMaster1.xml" Id="R77ca48907c414e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d76b5d11f6433d" /><Relationship Type="http://schemas.openxmlformats.org/officeDocument/2006/relationships/notesMaster" Target="/ppt/notesMasters/notesMaster1.xml" Id="R9071a4462be446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095b86205a64d39" /><Relationship Type="http://schemas.openxmlformats.org/officeDocument/2006/relationships/notesMaster" Target="/ppt/notesMasters/notesMaster1.xml" Id="R34a381493ed245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acd0f333324794" /><Relationship Type="http://schemas.openxmlformats.org/officeDocument/2006/relationships/notesMaster" Target="/ppt/notesMasters/notesMaster1.xml" Id="R22f21530df424b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36c0f9967c477b" /><Relationship Type="http://schemas.openxmlformats.org/officeDocument/2006/relationships/notesMaster" Target="/ppt/notesMasters/notesMaster1.xml" Id="Rb64873ce6c5a4a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c608f85b6c4248" /><Relationship Type="http://schemas.openxmlformats.org/officeDocument/2006/relationships/notesMaster" Target="/ppt/notesMasters/notesMaster1.xml" Id="Rb1f2cfe196e043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a9e39568c74229" /><Relationship Type="http://schemas.openxmlformats.org/officeDocument/2006/relationships/notesMaster" Target="/ppt/notesMasters/notesMaster1.xml" Id="R2f9e4f7a05e44d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1eaebc4dfb4dc3" /><Relationship Type="http://schemas.openxmlformats.org/officeDocument/2006/relationships/notesMaster" Target="/ppt/notesMasters/notesMaster1.xml" Id="Rd1abb50483af43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555a16bb0b4750" /><Relationship Type="http://schemas.openxmlformats.org/officeDocument/2006/relationships/notesMaster" Target="/ppt/notesMasters/notesMaster1.xml" Id="R770463c43aab49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6ca84ea5bf40e2" /><Relationship Type="http://schemas.openxmlformats.org/officeDocument/2006/relationships/notesMaster" Target="/ppt/notesMasters/notesMaster1.xml" Id="R978e096471f24c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fbaacb6a2ce4e21" /><Relationship Type="http://schemas.openxmlformats.org/officeDocument/2006/relationships/notesMaster" Target="/ppt/notesMasters/notesMaster1.xml" Id="Rffb60ecd8c374b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3c2ef1886a491a" /><Relationship Type="http://schemas.openxmlformats.org/officeDocument/2006/relationships/notesMaster" Target="/ppt/notesMasters/notesMaster1.xml" Id="R3b1792af266d48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5556e99b69a4d7c" /><Relationship Type="http://schemas.openxmlformats.org/officeDocument/2006/relationships/notesMaster" Target="/ppt/notesMasters/notesMaster1.xml" Id="R7e5b485ddb42463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f728fa22ce4def" /><Relationship Type="http://schemas.openxmlformats.org/officeDocument/2006/relationships/notesMaster" Target="/ppt/notesMasters/notesMaster1.xml" Id="R64fe85b26cbd43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d6859075d0c456b" /><Relationship Type="http://schemas.openxmlformats.org/officeDocument/2006/relationships/notesMaster" Target="/ppt/notesMasters/notesMaster1.xml" Id="R2851d2622fbc4b4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6e4089258f4ae6" /><Relationship Type="http://schemas.openxmlformats.org/officeDocument/2006/relationships/notesMaster" Target="/ppt/notesMasters/notesMaster1.xml" Id="R02156422602c49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faa80abfed4ea6" /><Relationship Type="http://schemas.openxmlformats.org/officeDocument/2006/relationships/notesMaster" Target="/ppt/notesMasters/notesMaster1.xml" Id="R617515e797ca43d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fbe10bcf75f42a3" /><Relationship Type="http://schemas.openxmlformats.org/officeDocument/2006/relationships/notesMaster" Target="/ppt/notesMasters/notesMaster1.xml" Id="R4b7ad0d4bbf94d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f794caeda64b74" /><Relationship Type="http://schemas.openxmlformats.org/officeDocument/2006/relationships/notesMaster" Target="/ppt/notesMasters/notesMaster1.xml" Id="R639a955b344e43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a995b930ca4907" /><Relationship Type="http://schemas.openxmlformats.org/officeDocument/2006/relationships/notesMaster" Target="/ppt/notesMasters/notesMaster1.xml" Id="R117a06f38b944ce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d7d701b5f74c45" /><Relationship Type="http://schemas.openxmlformats.org/officeDocument/2006/relationships/notesMaster" Target="/ppt/notesMasters/notesMaster1.xml" Id="Rb3855b20b7db45c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3c1b116d9cd4337" /><Relationship Type="http://schemas.openxmlformats.org/officeDocument/2006/relationships/notesMaster" Target="/ppt/notesMasters/notesMaster1.xml" Id="Rc2da20fd215748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7e1d0a1bdc4610" /><Relationship Type="http://schemas.openxmlformats.org/officeDocument/2006/relationships/notesMaster" Target="/ppt/notesMasters/notesMaster1.xml" Id="R392b5d45968b435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e28235183744995" /><Relationship Type="http://schemas.openxmlformats.org/officeDocument/2006/relationships/notesMaster" Target="/ppt/notesMasters/notesMaster1.xml" Id="R03c38312364e425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fc29d8366a45b5" /><Relationship Type="http://schemas.openxmlformats.org/officeDocument/2006/relationships/notesMaster" Target="/ppt/notesMasters/notesMaster1.xml" Id="Rc3384fcfd73c42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13a8213fcdc4185" /><Relationship Type="http://schemas.openxmlformats.org/officeDocument/2006/relationships/notesMaster" Target="/ppt/notesMasters/notesMaster1.xml" Id="Reff2ba0226be42d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730c3039804dce" /><Relationship Type="http://schemas.openxmlformats.org/officeDocument/2006/relationships/notesMaster" Target="/ppt/notesMasters/notesMaster1.xml" Id="Rd7945e8bb4e74b5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97a81f88b5f4271" /><Relationship Type="http://schemas.openxmlformats.org/officeDocument/2006/relationships/notesMaster" Target="/ppt/notesMasters/notesMaster1.xml" Id="R174eca1839234ed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847c487aff341f7" /><Relationship Type="http://schemas.openxmlformats.org/officeDocument/2006/relationships/notesMaster" Target="/ppt/notesMasters/notesMaster1.xml" Id="R267fcc2f5d41467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6b83406811a498c" /><Relationship Type="http://schemas.openxmlformats.org/officeDocument/2006/relationships/notesMaster" Target="/ppt/notesMasters/notesMaster1.xml" Id="R91019634dea1454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0bb36eb106c41e5" /><Relationship Type="http://schemas.openxmlformats.org/officeDocument/2006/relationships/notesMaster" Target="/ppt/notesMasters/notesMaster1.xml" Id="Rf4e0d82bca3e4a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353c574fb3744f5" /><Relationship Type="http://schemas.openxmlformats.org/officeDocument/2006/relationships/notesMaster" Target="/ppt/notesMasters/notesMaster1.xml" Id="R9d07abac889543b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c9e4a6739c04971" /><Relationship Type="http://schemas.openxmlformats.org/officeDocument/2006/relationships/notesMaster" Target="/ppt/notesMasters/notesMaster1.xml" Id="R86b1ca0d02554d7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70b1af093424323" /><Relationship Type="http://schemas.openxmlformats.org/officeDocument/2006/relationships/notesMaster" Target="/ppt/notesMasters/notesMaster1.xml" Id="Re0511c161b534b2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6f03b29815e40ad" /><Relationship Type="http://schemas.openxmlformats.org/officeDocument/2006/relationships/notesMaster" Target="/ppt/notesMasters/notesMaster1.xml" Id="R7153973731f04ed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e8aea7c7c274b01" /><Relationship Type="http://schemas.openxmlformats.org/officeDocument/2006/relationships/notesMaster" Target="/ppt/notesMasters/notesMaster1.xml" Id="R8b9219e942fc411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c34c07ccce547a7" /><Relationship Type="http://schemas.openxmlformats.org/officeDocument/2006/relationships/notesMaster" Target="/ppt/notesMasters/notesMaster1.xml" Id="R77e4e6e1a198482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26629e46e33404a" /><Relationship Type="http://schemas.openxmlformats.org/officeDocument/2006/relationships/notesMaster" Target="/ppt/notesMasters/notesMaster1.xml" Id="Reca3736bb98b496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369228bf5949a9" /><Relationship Type="http://schemas.openxmlformats.org/officeDocument/2006/relationships/notesMaster" Target="/ppt/notesMasters/notesMaster1.xml" Id="R10019017c1f54ba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e0a5642ef5c4184" /><Relationship Type="http://schemas.openxmlformats.org/officeDocument/2006/relationships/notesMaster" Target="/ppt/notesMasters/notesMaster1.xml" Id="R6ccba480707c40d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5fe39f7e924014" /><Relationship Type="http://schemas.openxmlformats.org/officeDocument/2006/relationships/notesMaster" Target="/ppt/notesMasters/notesMaster1.xml" Id="R80058b82d11642e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358bb3cd0b14d28" /><Relationship Type="http://schemas.openxmlformats.org/officeDocument/2006/relationships/notesMaster" Target="/ppt/notesMasters/notesMaster1.xml" Id="R8279a4a04153443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dea04b8f28c4694" /><Relationship Type="http://schemas.openxmlformats.org/officeDocument/2006/relationships/notesMaster" Target="/ppt/notesMasters/notesMaster1.xml" Id="Rf3a57f6cfc4b4ca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72cd0270a73428e" /><Relationship Type="http://schemas.openxmlformats.org/officeDocument/2006/relationships/notesMaster" Target="/ppt/notesMasters/notesMaster1.xml" Id="Rc415275b070f4d9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1915dbe5fed4961" /><Relationship Type="http://schemas.openxmlformats.org/officeDocument/2006/relationships/notesMaster" Target="/ppt/notesMasters/notesMaster1.xml" Id="R824a4a70acb042b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ade12721bbb4a00" /><Relationship Type="http://schemas.openxmlformats.org/officeDocument/2006/relationships/notesMaster" Target="/ppt/notesMasters/notesMaster1.xml" Id="R78ebdeed555f441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8214ff9efefc4dad" /><Relationship Type="http://schemas.openxmlformats.org/officeDocument/2006/relationships/notesMaster" Target="/ppt/notesMasters/notesMaster1.xml" Id="R5a5e4557953847b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3a8b7caab5784a21" /><Relationship Type="http://schemas.openxmlformats.org/officeDocument/2006/relationships/notesMaster" Target="/ppt/notesMasters/notesMaster1.xml" Id="R1582b16c35a94c7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7db8bb987644fcc" /><Relationship Type="http://schemas.openxmlformats.org/officeDocument/2006/relationships/notesMaster" Target="/ppt/notesMasters/notesMaster1.xml" Id="Rfe1dc73d2b9344d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6cf468a39f9477d" /><Relationship Type="http://schemas.openxmlformats.org/officeDocument/2006/relationships/notesMaster" Target="/ppt/notesMasters/notesMaster1.xml" Id="R81b96d4adb0c40c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00b1346d29d4596" /><Relationship Type="http://schemas.openxmlformats.org/officeDocument/2006/relationships/notesMaster" Target="/ppt/notesMasters/notesMaster1.xml" Id="Re0aff8bc380c49a5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fc3c8a2a8994068" /><Relationship Type="http://schemas.openxmlformats.org/officeDocument/2006/relationships/notesMaster" Target="/ppt/notesMasters/notesMaster1.xml" Id="R5a3e5e9b30a3404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d0279487242643dc" /><Relationship Type="http://schemas.openxmlformats.org/officeDocument/2006/relationships/notesMaster" Target="/ppt/notesMasters/notesMaster1.xml" Id="Rdb768986f4684af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08548757e5e74e68" /><Relationship Type="http://schemas.openxmlformats.org/officeDocument/2006/relationships/notesMaster" Target="/ppt/notesMasters/notesMaster1.xml" Id="R5cb86b6a4d6346f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61211cac6004adf" /><Relationship Type="http://schemas.openxmlformats.org/officeDocument/2006/relationships/notesMaster" Target="/ppt/notesMasters/notesMaster1.xml" Id="R877bb2596d6041c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11b4b699abc14287" /><Relationship Type="http://schemas.openxmlformats.org/officeDocument/2006/relationships/notesMaster" Target="/ppt/notesMasters/notesMaster1.xml" Id="R48c6850f94744a0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f2bb23af5b54e54" /><Relationship Type="http://schemas.openxmlformats.org/officeDocument/2006/relationships/notesMaster" Target="/ppt/notesMasters/notesMaster1.xml" Id="R7e17270ecfda4b9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c4a675f340cc4b61" /><Relationship Type="http://schemas.openxmlformats.org/officeDocument/2006/relationships/notesMaster" Target="/ppt/notesMasters/notesMaster1.xml" Id="R40859982cfa5409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410dd105a4c4ce0" /><Relationship Type="http://schemas.openxmlformats.org/officeDocument/2006/relationships/notesMaster" Target="/ppt/notesMasters/notesMaster1.xml" Id="R9d612110615d4b56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96736d41cc364b0e" /><Relationship Type="http://schemas.openxmlformats.org/officeDocument/2006/relationships/notesMaster" Target="/ppt/notesMasters/notesMaster1.xml" Id="R007611a986e64ec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874aa12d1b44749" /><Relationship Type="http://schemas.openxmlformats.org/officeDocument/2006/relationships/notesMaster" Target="/ppt/notesMasters/notesMaster1.xml" Id="R2d0af33327d54159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65a44705b52433d" /><Relationship Type="http://schemas.openxmlformats.org/officeDocument/2006/relationships/notesMaster" Target="/ppt/notesMasters/notesMaster1.xml" Id="R112834873a2740b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5ce10a00b2f45d7" /><Relationship Type="http://schemas.openxmlformats.org/officeDocument/2006/relationships/notesMaster" Target="/ppt/notesMasters/notesMaster1.xml" Id="R4a73ec11180f4af2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d0adf3188fbe44f1" /><Relationship Type="http://schemas.openxmlformats.org/officeDocument/2006/relationships/notesMaster" Target="/ppt/notesMasters/notesMaster1.xml" Id="R5794ea22b977464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a67143d03c6c49a8" /><Relationship Type="http://schemas.openxmlformats.org/officeDocument/2006/relationships/notesMaster" Target="/ppt/notesMasters/notesMaster1.xml" Id="R6f5974d287ba478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f786dd2e2d7432c" /><Relationship Type="http://schemas.openxmlformats.org/officeDocument/2006/relationships/notesMaster" Target="/ppt/notesMasters/notesMaster1.xml" Id="R8e4a115425eb440c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043c82b2f46443c4" /><Relationship Type="http://schemas.openxmlformats.org/officeDocument/2006/relationships/notesMaster" Target="/ppt/notesMasters/notesMaster1.xml" Id="R65f63c234631436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3565b52daa774fc4" /><Relationship Type="http://schemas.openxmlformats.org/officeDocument/2006/relationships/notesMaster" Target="/ppt/notesMasters/notesMaster1.xml" Id="R7ad4509e0d344520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a41969cc22b42e2" /><Relationship Type="http://schemas.openxmlformats.org/officeDocument/2006/relationships/notesMaster" Target="/ppt/notesMasters/notesMaster1.xml" Id="R99ab5e3cbdb541f9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1028c7a8ace5485c" /><Relationship Type="http://schemas.openxmlformats.org/officeDocument/2006/relationships/notesMaster" Target="/ppt/notesMasters/notesMaster1.xml" Id="R3e53cedc3d8c43e2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0bb8c7b9b6404fef" /><Relationship Type="http://schemas.openxmlformats.org/officeDocument/2006/relationships/notesMaster" Target="/ppt/notesMasters/notesMaster1.xml" Id="R74ec2b2f125f47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本页目的：本章把学员从AI工具使用者切换为能诊断、设计、部署和运营企业AI项目的FDE。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角色认知与企业AI转型诊断”。这一页我希望大家先抓住一句话：本章把学员从AI工具使用者切换为能诊断、设计、部署和运营企业AI项目的FDE。我们不要把它当作一个概念，而要把它当成进入客户现场时的判断工具。屏幕上的关键词分别是：8课时主讲义；72页授课PPT；逐页讲师逐字稿；五层进化90分钟实训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过渡语：有了共同语言后，我们进入FDE这个角色本身。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本页目的：FDE不是一个新名词，而是一种把AI变成企业结果的工作方式。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今天只解决三个问题”。这一页我希望大家先抓住一句话：FDE不是一个新名词，而是一种把AI变成企业结果的工作方式。我们不要把它当作一个概念，而要把它当成进入客户现场时的判断工具。屏幕上的关键词分别是：FDE到底交付什么结果？；企业AI转型为什么不能停在工具培训？；如何用五层模型判断企业现状与下一步？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过渡语：有了共同语言后，我们进入FDE这个角色本身。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本页目的：这不是认证宣讲课，而是把学员带入真实交付场景的第一天。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8课时结构：从角色到流程诊断”。这一页我希望大家先抓住一句话：这不是认证宣讲课，而是把学员带入真实交付场景的第一天。我们不要把它当作一个概念，而要把它当成进入客户现场时的判断工具。屏幕上的关键词分别是：0. 入场与课程契约 / 15 min；1. FDE角色与产业背景 / 45 min；2. 企业AI项目失败断点 / 45 min；3. FDE边界与能力模型 / 45 min；4. 企业AI转型五层进化 / 90 min；5. WEI SPACE生态与四类出口 / 30 min；6. D-D-D-O-S现场交付法 / 45 min；7. 综合案例与作业 / 45 min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过渡语：有了共同语言后，我们进入FDE这个角色本身。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本页目的：评价学员不是看听懂了多少，而是看能不能拿着模板去访谈和画流程。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本章结课要产出四个东西”。这一页我希望大家先抓住一句话：评价学员不是看听懂了多少，而是看能不能拿着模板去访谈和画流程。我们不要把它当作一个概念，而要把它当成进入客户现场时的判断工具。屏幕上的关键词分别是：个人FDE角色卡；企业AI五层现状图；一个真实流程的现状/目标态图；AI机会Brief初稿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过渡语：有了共同语言后，我们进入FDE这个角色本身。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本页目的：FDE的语言必须同时让老板、业务、IT和一线员工听懂。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课堂契约：所有讨论都要落回业务现场”。这一页我希望大家先抓住一句话：FDE的语言必须同时让老板、业务、IT和一线员工听懂。我们不要把它当作一个概念，而要把它当成进入客户现场时的判断工具。屏幕上的关键词分别是：少谈泛泛的AI很强，多谈哪个岗位、哪个流程、哪个指标。；少谈模型炫技，多谈数据、工具、权限、异常和运营。；每个观点都尽量落成一张图、一张表或一个可验证输出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过渡语：有了共同语言后，我们进入FDE这个角色本身。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本页目的：OpenAI、Claude、腾讯与国内职业培训都在把AI能力从工具使用推向企业部署。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四类外部参照共同指向同一件事”。这一页我希望大家先抓住一句话：OpenAI、Claude、腾讯与国内职业培训都在把AI能力从工具使用推向企业部署。我们不要把它当作一个概念，而要把它当成进入客户现场时的判断工具。屏幕上的关键词分别是：OpenAI：FDE深入企业流程与系统；Claude：上下文、工具、MCP与可靠性；腾讯：ADP/CodeBuddy/CloudBase等企业AI工程产品；国内：生成式AI应用职业与企业AI转型培训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过渡语：有了共同语言后，我们进入FDE这个角色本身。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本页目的：FDE的核心身份不是“会用AI的人”，而是“能让AI在企业流程里稳定产生结果的人”。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从AI工具用户到FDE部署工程师”。这一页我希望大家先抓住一句话：FDE的核心身份不是“会用AI的人”，而是“能让AI在企业流程里稳定产生结果的人”。我们不要把它当作一个概念，而要把它当成进入客户现场时的判断工具。屏幕上的关键词分别是：角色转换；交付对象；结果标准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本页目的：FDE要站在业务现场，用工程方法把AI部署进真实流程。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 = Field + Deployment + Engineer”。这一页我希望大家先抓住一句话：FDE要站在业务现场，用工程方法把AI部署进真实流程。我们不要把它当作一个概念，而要把它当成进入客户现场时的判断工具。屏幕上的关键词分别是：Field：理解真实业务、利益关系和阻力；Deployment：让方案进入生产环境而非停在Demo；Engineer：用结构、工具、数据、监控解决不确定性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本页目的：顶级AI公司正在把工程师放到企业现场，而不是只卖API或账号。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讲师逐字稿：各位看这一页，标题是“OpenAI Deployment Company给FDE的启发”。这一页我希望大家先抓住一句话：顶级AI公司正在把工程师放到企业现场，而不是只卖API或账号。我们不要把它当作一个概念，而要把它当成进入客户现场时的判断工具。屏幕上的关键词分别是：嵌入企业团队；重设计工作流；连接模型与企业数据/工具；快速原型到生产部署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本页目的：FDE不是单一技术岗，而是业务翻译、流程架构、Agent构建和交付管理的组合。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同时戴四顶帽子”。这一页我希望大家先抓住一句话：FDE不是单一技术岗，而是业务翻译、流程架构、Agent构建和交付管理的组合。我们不要把它当作一个概念，而要把它当成进入客户现场时的判断工具。屏幕上的关键词分别是：业务翻译官；流程架构师；Agent/工具构建者；上线运营负责人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本页目的：边界越清晰，学员越知道该补什么能力、交付什么证据。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不是什么”。这一页我希望大家先抓住一句话：边界越清晰，学员越知道该补什么能力、交付什么证据。我们不要把它当作一个概念，而要把它当成进入客户现场时的判断工具。屏幕上的关键词分别是：不是只写提示词的人；不是只做PPT顾问的人；不是只交代码不管业务的人；不是只教工具不负责效果的人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本页目的：同一套FDE底层能力，可以分流到交付、就业、OPC创业和讲师路径。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训练营服务四类人才出口”。这一页我希望大家先抓住一句话：同一套FDE底层能力，可以分流到交付、就业、OPC创业和讲师路径。我们不要把它当作一个概念，而要把它当成进入客户现场时的判断工具。屏幕上的关键词分别是：优秀者进入WEI FDE交付团队；成熟者推荐到企业AI岗位；创业者成为FDE OPC或入孵化器；表达强者成为FDE/青少年AI讲师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本页目的：只让客户惊叹一次没有价值，让客户每周都能看见指标改善才有价值。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的北极星：部署可运营的AI员工”。这一页我希望大家先抓住一句话：只让客户惊叹一次没有价值，让客户每周都能看见指标改善才有价值。我们不要把它当作一个概念，而要把它当成进入客户现场时的判断工具。屏幕上的关键词分别是：从一次性工具演示，转向可复用业务能力；从模型回答，转向流程闭环；从个人效率，转向组织人效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本页目的：第一章先建立能力地图，后续章节再逐项训练。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六项核心能力模型”。这一页我希望大家先抓住一句话：第一章先建立能力地图，后续章节再逐项训练。我们不要把它当作一个概念，而要把它当成进入客户现场时的判断工具。屏幕上的关键词分别是：业务诊断；流程建模；上下文工程；工具/Agent部署；可靠性与治理；运营与商业化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本页目的：后面所有方法都会回到这个案例，避免课程飘在概念上。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贯穿案例：B2B设备售后流程”。这一页我希望大家先抓住一句话：后面所有方法都会回到这个案例，避免课程飘在概念上。我们不要把它当作一个概念，而要把它当成进入客户现场时的判断工具。屏幕上的关键词分别是：客户报修渠道分散；客服手工查保修与库存；技术专家反复答相同问题；管理层看不到AI项目ROI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过渡语：角色清楚之后，我们要看为什么企业AI项目会卡在落地上。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本页目的：FDE的价值，正是在Demo与生产之间补齐断裂。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企业AI为什么常常死在Demo之后”。这一页我希望大家先抓住一句话：FDE的价值，正是在Demo与生产之间补齐断裂。我们不要把它当作一个概念，而要把它当成进入客户现场时的判断工具。屏幕上的关键词分别是：失败不是模型不够强；失败多发生在流程、数据、工具、治理和运营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本页目的：诊断AI项目先找断点，不要一上来就选模型或写Prompt。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五个常见断点：从战略到采用”。这一页我希望大家先抓住一句话：诊断AI项目先找断点，不要一上来就选模型或写Prompt。我们不要把它当作一个概念，而要把它当成进入客户现场时的判断工具。屏幕上的关键词分别是：战略目标不清；流程边界不清；数据不可用；工具权限不通；一线不愿采用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本页目的：企业真正需要的不是更多对话，而是流程节点被稳定处理。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把聊天框当成业务系统”。这一页我希望大家先抓住一句话：企业真正需要的不是更多对话，而是流程节点被稳定处理。我们不要把它当作一个概念，而要把它当成进入客户现场时的判断工具。屏幕上的关键词分别是：问题：员工复制粘贴，过程不可审计。；FDE动作：把对话改造成任务流、表单、审批、工单。；判断：输出是否进入下游系统？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本页目的：高风险业务规则必须由代码、权限和校验强制执行。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用提示词承诺高风险规则”。这一页我希望大家先抓住一句话：高风险业务规则必须由代码、权限和校验强制执行。我们不要把它当作一个概念，而要把它当成进入客户现场时的判断工具。屏幕上的关键词分别是：不要让模型自己决定退款上限、合同合规、审批权限。；应把关键规则放进工具、Hook、Schema、审批门。；课堂口令：Programmatic &gt; Prompt-based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本页目的：没有指标的AI项目，无法证明价值，也无法持续迭代。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只看单次回答，不看运行指标”。这一页我希望大家先抓住一句话：没有指标的AI项目，无法证明价值，也无法持续迭代。我们不要把它当作一个概念，而要把它当成进入客户现场时的判断工具。屏幕上的关键词分别是：Demo看效果，生产看稳定性。；至少定义质量、速度、成本、风险、采用五类指标。；每周看板比一次汇报更重要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本页目的：上下文不是把材料塞进去，而是决定模型此刻应该知道什么、不该知道什么。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忽略上下文链条”。这一页我希望大家先抓住一句话：上下文不是把材料塞进去，而是决定模型此刻应该知道什么、不该知道什么。我们不要把它当作一个概念，而要把它当成进入客户现场时的判断工具。屏幕上的关键词分别是：长流程会出现上下文衰减、信息遗失、版本冲突。；FDE要设计摘要、引用、状态、记忆和交接规则。；Claude体系尤其强调上下文窗口与记忆管理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本页目的：AI员工上线后需要运营负责人、异常机制和迭代节奏。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上线后没有Owner和Runbook”。这一页我希望大家先抓住一句话：AI员工上线后需要运营负责人、异常机制和迭代节奏。我们不要把它当作一个概念，而要把它当成进入客户现场时的判断工具。屏幕上的关键词分别是：谁维护知识库？；谁处理异常工单？；谁看指标并决定改版？；谁对业务结果负责？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本页目的：FDE把“模型能回答”升级成“系统能稳定处理”。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从工具演示到生产闭环”。这一页我希望大家先抓住一句话：FDE把“模型能回答”升级成“系统能稳定处理”。我们不要把它当作一个概念，而要把它当成进入客户现场时的判断工具。屏幕上的关键词分别是：输入；上下文；推理/工具；校验；人工接管；写回系统；监控迭代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本页目的：把经验说出来，学员会发现大多数失败并不是模型能力问题。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5分钟小讨论：你见过的AI项目卡在哪里”。这一页我希望大家先抓住一句话：把经验说出来，学员会发现大多数失败并不是模型能力问题。我们不要把它当作一个概念，而要把它当成进入客户现场时的判断工具。屏幕上的关键词分别是：选一个公司或部门；说出一个AI项目或想法；用五个断点定位最可能失败的地方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互动问题：请学员说出一个自己见过的AI项目失败例子，并把它贴到本页断点上。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过渡语：看到失败断点之后，我们需要明确FDE该承担什么、不该承担什么。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本页目的：FDE需要跨界，但不能没有边界。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角色边界与能力模型”。这一页我希望大家先抓住一句话：FDE需要跨界，但不能没有边界。我们不要把它当作一个概念，而要把它当成进入客户现场时的判断工具。屏幕上的关键词分别是：职责边界；交付物；能力等级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本页目的：FDE不替代所有人，而是把各角色串成可交付闭环。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与四类角色如何协同”。这一页我希望大家先抓住一句话：FDE不替代所有人，而是把各角色串成可交付闭环。我们不要把它当作一个概念，而要把它当成进入客户现场时的判断工具。屏幕上的关键词分别是：业务负责人：定义指标与边界；IT/数据团队：接口、权限、数据质量；AI工程师：模型、工具、部署实现；FDE：诊断、方案、集成、运营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本页目的：只访谈老板会得到愿景，只访谈一线会得到抱怨，FDE必须把三者对齐。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访谈三角：老板、业务、一线”。这一页我希望大家先抓住一句话：只访谈老板会得到愿景，只访谈一线会得到抱怨，FDE必须把三者对齐。我们不要把它当作一个概念，而要把它当成进入客户现场时的判断工具。屏幕上的关键词分别是：老板：目标、预算、风险承受度；业务主管：流程、指标、资源；一线员工：真实动作、例外、阻力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本页目的：好场景不是最酷的，而是最能部署、最能证明价值的。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场景选择五因子”。这一页我希望大家先抓住一句话：好场景不是最酷的，而是最能部署、最能证明价值的。我们不要把它当作一个概念，而要把它当成进入客户现场时的判断工具。屏幕上的关键词分别是：痛点强度；频次；数据可得性；可控性；ROI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本页目的：不同风险层级对应不同自动化程度和人工接管方式。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风险分级决定部署方式”。这一页我希望大家先抓住一句话：不同风险层级对应不同自动化程度和人工接管方式。我们不要把它当作一个概念，而要把它当成进入客户现场时的判断工具。屏幕上的关键词分别是：低风险：生成草稿/推荐/总结；中风险：人审后写回系统；高风险：只做辅助判断或必须双人审批；禁止区：法律、金融、医疗等未经授权决策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本页目的：交付包让FDE从会聊天的人变成可管理、可复盘、可复制的工程角色。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第一阶段交付包”。这一页我希望大家先抓住一句话：交付包让FDE从会聊天的人变成可管理、可复盘、可复制的工程角色。我们不要把它当作一个概念，而要把它当成进入客户现场时的判断工具。屏幕上的关键词分别是：诊断纪要；流程现状图；AI机会地图；风险边界；项目Brief；验证计划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本页目的：课程不绑定某个模型，而是训练跨平台部署逻辑。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讲师逐字稿：各位看这一页，标题是“Claude / OpenAI / 腾讯体系如何兼容”。这一页我希望大家先抓住一句话：课程不绑定某个模型，而是训练跨平台部署逻辑。我们不要把它当作一个概念，而要把它当成进入客户现场时的判断工具。屏幕上的关键词分别是：Claude：上下文、Claude Code、MCP、可靠性；OpenAI：Agent、工具调用、评估、企业流程部署；腾讯：ADP、CodeBuddy、CloudBase、企业微信生态；国内模型：同样落到知识、工具、流程、治理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本页目的：真正的上下文工程，是让AI知道当前任务、相关事实、可用工具、业务状态和风险边界。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上下文不是提示词长度，而是运行时记忆”。这一页我希望大家先抓住一句话：真正的上下文工程，是让AI知道当前任务、相关事实、可用工具、业务状态和风险边界。我们不要把它当作一个概念，而要把它当成进入客户现场时的判断工具。屏幕上的关键词分别是：Context Window：本次可见工作记忆；Memory：跨轮/跨项目沉淀；Retrieval：按需取回证据；State：流程状态与下一步动作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本页目的：Claude体系中的上下文、缓存和记忆，是FDE需要重点掌握的部署基础。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上下文工程的五个动作”。这一页我希望大家先抓住一句话：Claude体系中的上下文、缓存和记忆，是FDE需要重点掌握的部署基础。我们不要把它当作一个概念，而要把它当成进入客户现场时的判断工具。屏幕上的关键词分别是：筛选：只给必要材料；排序：关键事实放在显眼位置；压缩：长流程做摘要；隔离：不同Agent不同上下文；恢复：异常后能重建状态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本页目的：用三个问题检查学员是否进入FDE视角。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Checkpoint：判断FDE该问什么”。这一页我希望大家先抓住一句话：用三个问题检查学员是否进入FDE视角。我们不要把它当作一个概念，而要把它当成进入客户现场时的判断工具。屏幕上的关键词分别是：这个流程的输入和输出是什么？；哪些信息必须进入上下文？；哪些决策必须由规则或人工接管？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互动问题：请学员把自己当前能力打分：最强的是哪一项，最缺的是哪一项。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过渡语：接下来进入本章最重要的企业AI五层进化模型。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本页目的：这一段用90分钟完成：识别层级、画流程、设计目标态。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企业AI转型五层进化”。这一页我希望大家先抓住一句话：这一段用90分钟完成：识别层级、画流程、设计目标态。我们不要把它当作一个概念，而要把它当成进入客户现场时的判断工具。屏幕上的关键词分别是：工具增强；部门助手；流程自动化；数字员工团队；AI原生组织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本页目的：每个企业都能从当前层级出发，先找到最近可交付的一层。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五层不是等级崇拜，而是部署成熟度”。这一页我希望大家先抓住一句话：每个企业都能从当前层级出发，先找到最近可交付的一层。我们不要把它当作一个概念，而要把它当成进入客户现场时的判断工具。屏幕上的关键词分别是：L1 工具增强：个人或小组用通用AI工具提升写作、检索、分析、代码、设计效率。；L2 部门助手：围绕一个部门的稳定知识和任务，形成可复用助手。；L3 流程自动化：AI进入跨系统流程，调用工具、读写数据、触发审批或工单。；L4 数字员工团队：多个Agent围绕岗位分工协作，形成可运营的AI员工团队。；L5 AI原生组织：组织把AI能力嵌入战略、岗位、流程、数据和经营指标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本页目的：个人或小组用通用AI工具提升写作、检索、分析、代码、设计效率。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讲师逐字稿：各位看这一页，标题是“L1 工具增强”。这一页我希望大家先抓住一句话：个人或小组用通用AI工具提升写作、检索、分析、代码、设计效率。我们不要把它当作一个概念，而要把它当成进入客户现场时的判断工具。屏幕上的关键词分别是：进入条件：业务流程不改，数据不接入，结果依靠个人判断。；典型场景：会议纪要、文案初稿、Excel公式、代码解释、竞品信息整理。；交付物：工具清单、提示词模板、场景SOP、风险边界、培训记录。；指标：人均节省时间、返工率、素材产出速度、员工使用率。；风险：信息泄露、输出未经验证、模板漂移、只会演示不会落地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这一层的关键不是名字，而是边界。L1 工具增强的进入条件是：业务流程不改，数据不接入，结果依靠个人判断。。讲师要提醒学员，不要因为使用了高级模型就自认为进入高层级，判断标准永远是：有没有稳定资产、有没有系统连接、有没有责任人、有没有指标。常见场景包括：会议纪要、文案初稿、Excel公式、代码解释、竞品信息整理。。FDE在这一层最该交付的不是口号，而是工具清单、提示词模板、场景SOP、风险边界、培训记录。。最后一定要落到指标：人均节省时间、返工率、素材产出速度、员工使用率。。如果出现信息泄露、输出未经验证、模板漂移、只会演示不会落地。，这个项目就需要降级或先补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本页目的：围绕一个部门的稳定知识和任务，形成可复用助手。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讲师逐字稿：各位看这一页，标题是“L2 部门助手”。这一页我希望大家先抓住一句话：围绕一个部门的稳定知识和任务，形成可复用助手。我们不要把它当作一个概念，而要把它当成进入客户现场时的判断工具。屏幕上的关键词分别是：进入条件：有部门知识库、有固定问答/生成任务、有负责人维护。；典型场景：销售话术助手、客服知识助手、HR制度问答、法务合同初审。；交付物：知识库、角色提示词、权限分层、答案引用、更新机制。；指标：命中率、引用覆盖率、首次响应时间、部门满意度。；风险：知识过期、没有引用、权限混乱、部门负责人不维护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这一层的关键不是名字，而是边界。L2 部门助手的进入条件是：有部门知识库、有固定问答/生成任务、有负责人维护。。讲师要提醒学员，不要因为使用了高级模型就自认为进入高层级，判断标准永远是：有没有稳定资产、有没有系统连接、有没有责任人、有没有指标。常见场景包括：销售话术助手、客服知识助手、HR制度问答、法务合同初审。。FDE在这一层最该交付的不是口号，而是知识库、角色提示词、权限分层、答案引用、更新机制。。最后一定要落到指标：命中率、引用覆盖率、首次响应时间、部门满意度。。如果出现知识过期、没有引用、权限混乱、部门负责人不维护。，这个项目就需要降级或先补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本页目的：AI进入跨系统流程，调用工具、读写数据、触发审批或工单。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讲师逐字稿：各位看这一页，标题是“L3 流程自动化”。这一页我希望大家先抓住一句话：AI进入跨系统流程，调用工具、读写数据、触发审批或工单。我们不要把它当作一个概念，而要把它当成进入客户现场时的判断工具。屏幕上的关键词分别是：进入条件：流程边界清楚，系统接口可用，异常有人工接管。；典型场景：售后工单分流、订单异常处理、合同信息抽取、线索评分入库。；交付物：流程图、工具/API清单、结构化输出、校验规则、人工接管机制。；指标：周期缩短、自动化率、异常率、人工接管率、单次处理成本。；风险：把业务规则写进提示词、没有幂等/审计、失败后无回滚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这一层的关键不是名字，而是边界。L3 流程自动化的进入条件是：流程边界清楚，系统接口可用，异常有人工接管。。讲师要提醒学员，不要因为使用了高级模型就自认为进入高层级，判断标准永远是：有没有稳定资产、有没有系统连接、有没有责任人、有没有指标。常见场景包括：售后工单分流、订单异常处理、合同信息抽取、线索评分入库。。FDE在这一层最该交付的不是口号，而是流程图、工具/API清单、结构化输出、校验规则、人工接管机制。。最后一定要落到指标：周期缩短、自动化率、异常率、人工接管率、单次处理成本。。如果出现把业务规则写进提示词、没有幂等/审计、失败后无回滚。，这个项目就需要降级或先补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本页目的：多个Agent围绕岗位分工协作，形成可运营的AI员工团队。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讲师逐字稿：各位看这一页，标题是“L4 数字员工团队”。这一页我希望大家先抓住一句话：多个Agent围绕岗位分工协作，形成可运营的AI员工团队。我们不要把它当作一个概念，而要把它当成进入客户现场时的判断工具。屏幕上的关键词分别是：进入条件：任务可拆分，子Agent职责清楚，有调度、上下文传递和质量检查。；典型场景：市场研究团队、客服主管+专员团队、财务报销审核团队、开发协作团队。；交付物：Agent角色表、上下文契约、工具权限、质量门、运营看板。；指标：端到端交付量、质量通过率、人工监督时长、队列积压、复用率。；风险：子Agent上下文不一致、工具过多导致路由错误、无人负责运营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这一层的关键不是名字，而是边界。L4 数字员工团队的进入条件是：任务可拆分，子Agent职责清楚，有调度、上下文传递和质量检查。。讲师要提醒学员，不要因为使用了高级模型就自认为进入高层级，判断标准永远是：有没有稳定资产、有没有系统连接、有没有责任人、有没有指标。常见场景包括：市场研究团队、客服主管+专员团队、财务报销审核团队、开发协作团队。。FDE在这一层最该交付的不是口号，而是Agent角色表、上下文契约、工具权限、质量门、运营看板。。最后一定要落到指标：端到端交付量、质量通过率、人工监督时长、队列积压、复用率。。如果出现子Agent上下文不一致、工具过多导致路由错误、无人负责运营。，这个项目就需要降级或先补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本页目的：组织把AI能力嵌入战略、岗位、流程、数据和经营指标。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讲师逐字稿：各位看这一页，标题是“L5 AI原生组织”。这一页我希望大家先抓住一句话：组织把AI能力嵌入战略、岗位、流程、数据和经营指标。我们不要把它当作一个概念，而要把它当成进入客户现场时的判断工具。屏幕上的关键词分别是：进入条件：AI项目与经营目标绑定，有预算、治理、人才、复盘和规模复制机制。；典型场景：AI原生销售组织、AI原生研发体系、AI驱动运营中台、OPC生态。；交付物：组织蓝图、AI岗位体系、治理制度、经营仪表盘、项目组合管理。；指标：收入/利润贡献、组织人效、项目复制速度、风险事件数、人才产出。；风险：只换工具不换组织、没有激励机制、数据孤岛、无法形成复利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这一层的关键不是名字，而是边界。L5 AI原生组织的进入条件是：AI项目与经营目标绑定，有预算、治理、人才、复盘和规模复制机制。。讲师要提醒学员，不要因为使用了高级模型就自认为进入高层级，判断标准永远是：有没有稳定资产、有没有系统连接、有没有责任人、有没有指标。常见场景包括：AI原生销售组织、AI原生研发体系、AI驱动运营中台、OPC生态。。FDE在这一层最该交付的不是口号，而是组织蓝图、AI岗位体系、治理制度、经营仪表盘、项目组合管理。。最后一定要落到指标：收入/利润贡献、组织人效、项目复制速度、风险事件数、人才产出。。如果出现只换工具不换组织、没有激励机制、数据孤岛、无法形成复利。，这个项目就需要降级或先补基础设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本页目的：从L1到L5，每一层的跃迁都对应新增的组织能力。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层级跃迁靠流程，不靠口号”。这一页我希望大家先抓住一句话：从L1到L5，每一层的跃迁都对应新增的组织能力。我们不要把它当作一个概念，而要把它当成进入客户现场时的判断工具。屏幕上的关键词分别是：L1到L2：沉淀知识与负责人；L2到L3：接入系统与规则；L3到L4：拆分岗位与多Agent协作；L4到L5：纳入组织治理与经营指标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本页目的：看它的AI成果是否进入流程、系统、岗位和指标。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如何判断一家企业当前在哪一层”。这一页我希望大家先抓住一句话：看它的AI成果是否进入流程、系统、岗位和指标。我们不要把它当作一个概念，而要把它当成进入客户现场时的判断工具。屏幕上的关键词分别是：是否只有个人在用？；是否有部门知识资产？；是否能调用系统工具？；是否有多角色协作？；是否纳入经营管理？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本页目的：FDE不要急着画AI，先把现在的人工流程画清楚。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现状流程图：先画人怎么工作”。这一页我希望大家先抓住一句话：FDE不要急着画AI，先把现在的人工流程画清楚。我们不要把它当作一个概念，而要把它当成进入客户现场时的判断工具。屏幕上的关键词分别是：触发事件；输入材料；人工动作；系统记录；等待/返工；风险点；当前指标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本页目的：目标态不是全自动，而是明确哪些由AI处理、哪些由人决定。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目标态流程图：再画AI怎么接管或增强”。这一页我希望大家先抓住一句话：目标态不是全自动，而是明确哪些由AI处理、哪些由人决定。我们不要把它当作一个概念，而要把它当成进入客户现场时的判断工具。屏幕上的关键词分别是：AI读取什么上下文；调用什么工具；输出什么结构化结果；何时转人工；写回哪里；如何监控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本页目的：现状图的重点是暴露等待、重复、查找和责任不清。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案例现状：售后工单如何被人工拖慢”。这一页我希望大家先抓住一句话：现状图的重点是暴露等待、重复、查找和责任不清。我们不要把它当作一个概念，而要把它当成进入客户现场时的判断工具。屏幕上的关键词分别是：客户提交报修信息不完整；客服手工查合同与保修；技术专家反复回答同类问题；仓库库存与工单系统割裂；主管只能事后统计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本页目的：目标态把AI员工嵌入工单、知识库、库存和人工审批之间。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案例目标态：售后数字员工团队”。这一页我希望大家先抓住一句话：目标态把AI员工嵌入工单、知识库、库存和人工审批之间。我们不要把它当作一个概念，而要把它当成进入客户现场时的判断工具。屏幕上的关键词分别是：入口Agent补齐报修信息；诊断Agent检索历史案例；调度Agent查询库存与工程师档期；主管只处理高风险或低置信异常；看板每周复盘自动化率与满意度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本页目的：练习目标不是画得漂亮，而是让流程足够真实，能暴露部署条件。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分组练习：画一个流程的现状与目标态”。这一页我希望大家先抓住一句话：练习目标不是画得漂亮，而是让流程足够真实，能暴露部署条件。我们不要把它当作一个概念，而要把它当成进入客户现场时的判断工具。屏幕上的关键词分别是：任选销售、客服、HR、财务、制造、研发一个流程；先画现状，不允许直接写AI方案；再标出AI可接管、辅助、必须人工决策的节点；最后判断当前层级与下一层目标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本页目的：评分标准会倒逼学员关注部署质量，而不是堆功能。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练习评分：看四件事”。这一页我希望大家先抓住一句话：评分标准会倒逼学员关注部署质量，而不是堆功能。我们不要把它当作一个概念，而要把它当成进入客户现场时的判断工具。屏幕上的关键词分别是：流程真实性；上下文完整度；工具/数据可接入性；风险与指标设计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本页目的：判断层级看运行机制，不看宣传文案。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常见误判：很多L1项目被包装成L4”。这一页我希望大家先抓住一句话：判断层级看运行机制，不看宣传文案。我们不要把它当作一个概念，而要把它当成进入客户现场时的判断工具。屏幕上的关键词分别是：有多个机器人名字，不等于数字员工团队。；有知识库问答，不等于流程自动化。；有API，不等于组织AI原生。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本页目的：五层模型不是讲给客户听的术语，而是FDE做诊断、报价、交付和复盘的底层坐标系。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五层模型的真正用途”。这一页我希望大家先抓住一句话：五层模型不是讲给客户听的术语，而是FDE做诊断、报价、交付和复盘的底层坐标系。我们不要把它当作一个概念，而要把它当成进入客户现场时的判断工具。屏幕上的关键词分别是：诊断：企业在哪一层；方案：下一层最小跃迁是什么；交付：本阶段交付物是什么；复盘：指标是否证明跃迁成功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互动问题：请学员用自己熟悉的一家公司判断：这个案例处在第几层？判断证据是什么？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过渡语：把层级判断带回WEI SPACE生态，我们再看学员未来可以走向哪里。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本页目的：FDE训练不是单点课程，而是人才、项目、交付和孵化的入口。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讲师逐字稿：各位看这一页，标题是“WEI SPACE生态与人才分流”。这一页我希望大家先抓住一句话：FDE训练不是单点课程，而是人才、项目、交付和孵化的入口。我们不要把它当作一个概念，而要把它当成进入客户现场时的判断工具。屏幕上的关键词分别是：培训筛选；交付实战；OPC孵化；讲师复制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过渡语：最后把生态机会落成一套现场交付方法。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本页目的：模型算力、数字员工、咨询交付、物理空间与资本一起形成孵化闭环。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讲师逐字稿：各位看这一页，标题是“WEI SPACE闭环生态如何承接FDE”。这一页我希望大家先抓住一句话：模型算力、数字员工、咨询交付、物理空间与资本一起形成孵化闭环。我们不要把它当作一个概念，而要把它当成进入客户现场时的判断工具。屏幕上的关键词分别是：WEI API：模型与算力资源；WEI BOT：数字员工代养平台；WEI CONSULTING：结果负责的AI转型咨询；WEI SPACE：黑客松、培训、实战基地；WEI CAPITAL：种子投资与产业退出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过渡语：最后把生态机会落成一套现场交付方法。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本页目的：分流不是凭感觉，而是看能力证据。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四类学员出口对应四套能力证明”。这一页我希望大家先抓住一句话：分流不是凭感觉，而是看能力证据。我们不要把它当作一个概念，而要把它当成进入客户现场时的判断工具。屏幕上的关键词分别是：交付团队：真实项目表现；企业就业：岗位能力与作品集；OPC创业：客户获取与交付闭环；讲师：表达、教案、课堂控制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过渡语：最后把生态机会落成一套现场交付方法。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本页目的：OPC不是自由职业的包装，而是用AI员工团队放大一个人的交付能力。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讲师逐字稿：各位看这一页，标题是“FDE OPC：一人公司也要有交付系统”。这一页我希望大家先抓住一句话：OPC不是自由职业的包装，而是用AI员工团队放大一个人的交付能力。我们不要把它当作一个概念，而要把它当成进入客户现场时的判断工具。屏幕上的关键词分别是：定位细分行业；打磨标准诊断包；复用数字员工模板；接入WEI生态资源；进入孵化器迭代项目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过渡语：最后把生态机会落成一套现场交付方法。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本页目的：优秀讲师不是会念课件，而是能把复杂项目拆成学员可操作的训练。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从FDE到讲师：能交付才有资格教学”。这一页我希望大家先抓住一句话：优秀讲师不是会念课件，而是能把复杂项目拆成学员可操作的训练。我们不要把它当作一个概念，而要把它当成进入客户现场时的判断工具。屏幕上的关键词分别是：讲真实案例；带学员产出模板；能诊断学员作品；能把成人课程转化为青少年课程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过渡语：最后把生态机会落成一套现场交付方法。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本页目的：从第二章开始，每个技术模块都要回到这条交付链。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D-D-D-O-S：FDE现场交付方法”。这一页我希望大家先抓住一句话：从第二章开始，每个技术模块都要回到这条交付链。我们不要把它当作一个概念，而要把它当成进入客户现场时的判断工具。屏幕上的关键词分别是：Discover；Design；Deploy；Operate；Scale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本页目的：FDE不是一次性搭建工具，而是持续把AI项目推向业务结果。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D-D-D-O-S总览”。这一页我希望大家先抓住一句话：FDE不是一次性搭建工具，而是持续把AI项目推向业务结果。我们不要把它当作一个概念，而要把它当成进入客户现场时的判断工具。屏幕上的关键词分别是：Discover 诊断；Design 设计；Deploy 部署；Operate 运营；Scale 复制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本页目的：诊断阶段要拿到流程、指标、数据、系统和阻力，而不是只听需求。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Discover：先问对业务问题”。这一页我希望大家先抓住一句话：诊断阶段要拿到流程、指标、数据、系统和阻力，而不是只听需求。我们不要把它当作一个概念，而要把它当成进入客户现场时的判断工具。屏幕上的关键词分别是：目标指标；流程节点；数据来源；系统权限；风险边界；决策链路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本页目的：设计阶段要确定角色、上下文、工具、输出、规则和人工接管。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Design：把AI员工画成蓝图”。这一页我希望大家先抓住一句话：设计阶段要确定角色、上下文、工具、输出、规则和人工接管。我们不要把它当作一个概念，而要把它当成进入客户现场时的判断工具。屏幕上的关键词分别是：角色定义；上下文包；工具/API；结构化输出；质量门；人机协作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本页目的：部署阶段要优先做最小可用闭环，而不是把所有能力一次做满。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Deploy：从原型到可用系统”。这一页我希望大家先抓住一句话：部署阶段要优先做最小可用闭环，而不是把所有能力一次做满。我们不要把它当作一个概念，而要把它当成进入客户现场时的判断工具。屏幕上的关键词分别是：MVP流程；数据接入；工具权限；日志审计；灰度发布；用户培训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本页目的：AI员工必须有运营节奏，否则很快失效。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Operate：上线后才是真正开始”。这一页我希望大家先抓住一句话：AI员工必须有运营节奏，否则很快失效。我们不要把它当作一个概念，而要把它当成进入客户现场时的判断工具。屏幕上的关键词分别是：看板监控；异常工单；知识更新；Prompt/规则版本；周复盘；ROI汇报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本页目的：规模化的基础是模板化、治理化和人才化。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Scale：复制到更多场景与组织”。这一页我希望大家先抓住一句话：规模化的基础是模板化、治理化和人才化。我们不要把它当作一个概念，而要把它当成进入客户现场时的判断工具。屏幕上的关键词分别是：模板库；工具库；评估集；权限规范；培训体系；项目组合管理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本页目的：最后一段把本章所有工具合并成一个可提交作品。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综合案例与作业”。这一页我希望大家先抓住一句话：最后一段把本章所有工具合并成一个可提交作品。我们不要把它当作一个概念，而要把它当成进入客户现场时的判断工具。屏幕上的关键词分别是：AI机会Brief；小组讲解；讲师点评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本页目的：Brief是FDE进入客户现场的第一份专业输出。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综合任务：写一页AI机会Brief”。这一页我希望大家先抓住一句话：Brief是FDE进入客户现场的第一份专业输出。我们不要把它当作一个概念，而要把它当成进入客户现场时的判断工具。屏幕上的关键词分别是：业务目标；当前流程；目标层级；AI员工设想；数据/工具条件；风险与接管；成功指标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本页目的：模板让学员把想法压缩成可讨论、可评审、可推进的项目语言。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AI机会Brief模板”。这一页我希望大家先抓住一句话：模板让学员把想法压缩成可讨论、可评审、可推进的项目语言。我们不要把它当作一个概念，而要把它当成进入客户现场时的判断工具。屏幕上的关键词分别是：场景名称；痛点和频次；现状层级；目标层级；最小闭环；指标；下周行动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本页目的：能说明FDE、能判断层级、能画流程、能写Brief，才算完成第一章。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本章合格标准”。这一页我希望大家先抓住一句话：能说明FDE、能判断层级、能画流程、能写Brief，才算完成第一章。我们不要把它当作一个概念，而要把它当成进入客户现场时的判断工具。屏幕上的关键词分别是：角色认知清楚；五层判断有证据；流程图真实；上下文/工具/风险讲得清；Brief可进入下一章深化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本页目的：认证不是终点，而是帮助学员把能力装进市场可识别标签。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认证与就业方向预告”。这一页我希望大家先抓住一句话：认证不是终点，而是帮助学员把能力装进市场可识别标签。我们不要把它当作一个概念，而要把它当成进入客户现场时的判断工具。屏幕上的关键词分别是：WEI FDE认证：交付作品与实战评审；Claude体系：架构、上下文、工具、可靠性；OpenAI体系：Agent、工具、评估、企业部署；国内体系：生成式AI应用与企业AI岗位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本页目的：下一章要训练业务诊断，必须有真实流程素材。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课后作业：带着一个真实流程回来”。这一页我希望大家先抓住一句话：下一章要训练业务诊断，必须有真实流程素材。我们不要把它当作一个概念，而要把它当成进入客户现场时的判断工具。屏幕上的关键词分别是：访谈1名业务人员；收集1个流程样例或表单；写出当前痛点和指标；标注可能的上下文材料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本页目的：FDE用业务语言发现问题，用工程语言部署AI，用运营语言证明价值。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第一章复盘：一句话记住FDE”。这一页我希望大家先抓住一句话：FDE用业务语言发现问题，用工程语言部署AI，用运营语言证明价值。我们不要把它当作一个概念，而要把它当成进入客户现场时的判断工具。屏幕上的关键词分别是：业务语言；工程语言；运营语言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本页目的：这个原则会贯穿100课时FDE训练营。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不要问能不能用AI，先问要改变哪条流程”。这一页我希望大家先抓住一句话：这个原则会贯穿100课时FDE训练营。我们不要把它当作一个概念，而要把它当成进入客户现场时的判断工具。屏幕上的关键词分别是：流程是AI落地的容器；上下文是AI工作的燃料；指标是AI项目的裁判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本页目的：下一章开始训练访谈、痛点量化、场景评分和项目Brief深化。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师逐字稿：各位看这一页，标题是“下一章：企业AI诊断与场景筛选”。这一页我希望大家先抓住一句话：下一章开始训练访谈、痛点量化、场景评分和项目Brief深化。我们不要把它当作一个概念，而要把它当成进入客户现场时的判断工具。屏幕上的关键词分别是：带真实流程；带业务访谈；带可验证指标。讲的时候不要逐字念，而是要把每个词和真实业务动作连起来。请大家在听的时候一直问自己三个问题：第一，这件事对应企业里的哪个岗位；第二，它改变了哪一个流程节点；第三，它最终能用什么指标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互动问题：请学员用一句话复述本页观点，并补充一个真实业务例子。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过渡语：下面进入本章的综合输出和作业。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60f9bfcc14f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c559cec08084863" /><Relationship Type="http://schemas.openxmlformats.org/officeDocument/2006/relationships/slideLayout" Target="/ppt/slideLayouts/slideLayout2.xml" Id="R1330173ad97a4d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30173ad97a4d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ef3210efad457d" /><Relationship Type="http://schemas.openxmlformats.org/officeDocument/2006/relationships/notesSlide" Target="/ppt/notesSlides/notesSlide1.xml" Id="Raa22145889374c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9f8aaca374768" /><Relationship Type="http://schemas.openxmlformats.org/officeDocument/2006/relationships/notesSlide" Target="/ppt/notesSlides/notesSlide2.xml" Id="Ra400c7d0645f49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7c0b5dec943b7" /><Relationship Type="http://schemas.openxmlformats.org/officeDocument/2006/relationships/notesSlide" Target="/ppt/notesSlides/notesSlide3.xml" Id="R3f3cffc38497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8ef6570ea49e0" /><Relationship Type="http://schemas.openxmlformats.org/officeDocument/2006/relationships/notesSlide" Target="/ppt/notesSlides/notesSlide4.xml" Id="Rf552dec01c0943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86dd0f88b74cee" /><Relationship Type="http://schemas.openxmlformats.org/officeDocument/2006/relationships/notesSlide" Target="/ppt/notesSlides/notesSlide5.xml" Id="Rdcc6019c751e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b3d094942457e" /><Relationship Type="http://schemas.openxmlformats.org/officeDocument/2006/relationships/notesSlide" Target="/ppt/notesSlides/notesSlide6.xml" Id="R2e0503d7e36b41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ca642da9094e9a" /><Relationship Type="http://schemas.openxmlformats.org/officeDocument/2006/relationships/notesSlide" Target="/ppt/notesSlides/notesSlide7.xml" Id="R0fedbfdc2c1c4e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a525438e0b4d64" /><Relationship Type="http://schemas.openxmlformats.org/officeDocument/2006/relationships/notesSlide" Target="/ppt/notesSlides/notesSlide8.xml" Id="R91ed01b0a20d4f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52c5800440492a" /><Relationship Type="http://schemas.openxmlformats.org/officeDocument/2006/relationships/notesSlide" Target="/ppt/notesSlides/notesSlide9.xml" Id="Ra2dc7d92c6d045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bf6778fb8d4b12" /><Relationship Type="http://schemas.openxmlformats.org/officeDocument/2006/relationships/notesSlide" Target="/ppt/notesSlides/notesSlide10.xml" Id="Rd2e121118e104f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8b983b0f674874" /><Relationship Type="http://schemas.openxmlformats.org/officeDocument/2006/relationships/notesSlide" Target="/ppt/notesSlides/notesSlide11.xml" Id="Rb9c9da4d693a49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0db61c812d4a46" /><Relationship Type="http://schemas.openxmlformats.org/officeDocument/2006/relationships/notesSlide" Target="/ppt/notesSlides/notesSlide12.xml" Id="R462754f5b04442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40bf24b900449d" /><Relationship Type="http://schemas.openxmlformats.org/officeDocument/2006/relationships/notesSlide" Target="/ppt/notesSlides/notesSlide13.xml" Id="R4909bcca18a041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25e6f9253546f2" /><Relationship Type="http://schemas.openxmlformats.org/officeDocument/2006/relationships/notesSlide" Target="/ppt/notesSlides/notesSlide14.xml" Id="Ra119b1990fcb4c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4fb57c4ee4aa0" /><Relationship Type="http://schemas.openxmlformats.org/officeDocument/2006/relationships/notesSlide" Target="/ppt/notesSlides/notesSlide15.xml" Id="Rfe534452a15346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98b5fa11a4365" /><Relationship Type="http://schemas.openxmlformats.org/officeDocument/2006/relationships/notesSlide" Target="/ppt/notesSlides/notesSlide16.xml" Id="R640f1680dbd149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a8051f53449f4" /><Relationship Type="http://schemas.openxmlformats.org/officeDocument/2006/relationships/notesSlide" Target="/ppt/notesSlides/notesSlide17.xml" Id="R09f5a02dc83a45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d6890295e4ff0" /><Relationship Type="http://schemas.openxmlformats.org/officeDocument/2006/relationships/notesSlide" Target="/ppt/notesSlides/notesSlide18.xml" Id="R76ce61bb1d1643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a7842f80544892" /><Relationship Type="http://schemas.openxmlformats.org/officeDocument/2006/relationships/notesSlide" Target="/ppt/notesSlides/notesSlide19.xml" Id="Ra468cb602f584d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1efbd52ad04e7f" /><Relationship Type="http://schemas.openxmlformats.org/officeDocument/2006/relationships/notesSlide" Target="/ppt/notesSlides/notesSlide20.xml" Id="R1640b489b74041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c6cc4dd13b4551" /><Relationship Type="http://schemas.openxmlformats.org/officeDocument/2006/relationships/notesSlide" Target="/ppt/notesSlides/notesSlide21.xml" Id="R2cc84444c7e04b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55a8e0601e4590" /><Relationship Type="http://schemas.openxmlformats.org/officeDocument/2006/relationships/notesSlide" Target="/ppt/notesSlides/notesSlide22.xml" Id="Ra3d8901aa5d147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c5ef7ecfb24e61" /><Relationship Type="http://schemas.openxmlformats.org/officeDocument/2006/relationships/notesSlide" Target="/ppt/notesSlides/notesSlide23.xml" Id="Rc7a9566efe17497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b0e922678a4f27" /><Relationship Type="http://schemas.openxmlformats.org/officeDocument/2006/relationships/notesSlide" Target="/ppt/notesSlides/notesSlide24.xml" Id="R1cc54196d4e748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9e1cada7a74974" /><Relationship Type="http://schemas.openxmlformats.org/officeDocument/2006/relationships/notesSlide" Target="/ppt/notesSlides/notesSlide25.xml" Id="R73b927349a5a4c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9fe93d6cb542d9" /><Relationship Type="http://schemas.openxmlformats.org/officeDocument/2006/relationships/notesSlide" Target="/ppt/notesSlides/notesSlide26.xml" Id="R36c75e43236a464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6d351c8ffa4c9d" /><Relationship Type="http://schemas.openxmlformats.org/officeDocument/2006/relationships/notesSlide" Target="/ppt/notesSlides/notesSlide27.xml" Id="Re4dc752c87bb4eb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e612f70464425f" /><Relationship Type="http://schemas.openxmlformats.org/officeDocument/2006/relationships/notesSlide" Target="/ppt/notesSlides/notesSlide28.xml" Id="Rdef239e08cc1449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223a79f50474a" /><Relationship Type="http://schemas.openxmlformats.org/officeDocument/2006/relationships/notesSlide" Target="/ppt/notesSlides/notesSlide29.xml" Id="Rc9c85b1d061643e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31f8a281244222" /><Relationship Type="http://schemas.openxmlformats.org/officeDocument/2006/relationships/notesSlide" Target="/ppt/notesSlides/notesSlide30.xml" Id="Rc3dae7634b8f42f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9730bce6654e41" /><Relationship Type="http://schemas.openxmlformats.org/officeDocument/2006/relationships/notesSlide" Target="/ppt/notesSlides/notesSlide31.xml" Id="Raeb70065162846f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b44967bfce446a" /><Relationship Type="http://schemas.openxmlformats.org/officeDocument/2006/relationships/notesSlide" Target="/ppt/notesSlides/notesSlide32.xml" Id="R7af42525a4e3497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a84c30fc9e4044" /><Relationship Type="http://schemas.openxmlformats.org/officeDocument/2006/relationships/notesSlide" Target="/ppt/notesSlides/notesSlide33.xml" Id="R9ae5fd7c7d98456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4873280bc41db" /><Relationship Type="http://schemas.openxmlformats.org/officeDocument/2006/relationships/notesSlide" Target="/ppt/notesSlides/notesSlide34.xml" Id="R87327f2cee1842a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95dddae72c4f82" /><Relationship Type="http://schemas.openxmlformats.org/officeDocument/2006/relationships/notesSlide" Target="/ppt/notesSlides/notesSlide35.xml" Id="R8d94877a1f7f4f7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930c90b12d4182" /><Relationship Type="http://schemas.openxmlformats.org/officeDocument/2006/relationships/notesSlide" Target="/ppt/notesSlides/notesSlide36.xml" Id="Rb805011dd2f84cd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34d7870fff401c" /><Relationship Type="http://schemas.openxmlformats.org/officeDocument/2006/relationships/notesSlide" Target="/ppt/notesSlides/notesSlide37.xml" Id="R3a0b9842d8d74ec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7f2c478ff14d00" /><Relationship Type="http://schemas.openxmlformats.org/officeDocument/2006/relationships/notesSlide" Target="/ppt/notesSlides/notesSlide38.xml" Id="R2dad42855e6a44a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9c6cc28f34c5e" /><Relationship Type="http://schemas.openxmlformats.org/officeDocument/2006/relationships/notesSlide" Target="/ppt/notesSlides/notesSlide39.xml" Id="R25f2693305284ac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85af565f734648" /><Relationship Type="http://schemas.openxmlformats.org/officeDocument/2006/relationships/notesSlide" Target="/ppt/notesSlides/notesSlide40.xml" Id="R85d5fe697fc54a9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44f62c100343a2" /><Relationship Type="http://schemas.openxmlformats.org/officeDocument/2006/relationships/notesSlide" Target="/ppt/notesSlides/notesSlide41.xml" Id="R75f2b6f9f65247c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35f7012ab4872" /><Relationship Type="http://schemas.openxmlformats.org/officeDocument/2006/relationships/notesSlide" Target="/ppt/notesSlides/notesSlide42.xml" Id="R679371a9b5cb444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151b32b896457c" /><Relationship Type="http://schemas.openxmlformats.org/officeDocument/2006/relationships/notesSlide" Target="/ppt/notesSlides/notesSlide43.xml" Id="R8d0aac17240943e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e9c21094734bae" /><Relationship Type="http://schemas.openxmlformats.org/officeDocument/2006/relationships/notesSlide" Target="/ppt/notesSlides/notesSlide44.xml" Id="Rdf288df518df465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f28bbc32d34efe" /><Relationship Type="http://schemas.openxmlformats.org/officeDocument/2006/relationships/notesSlide" Target="/ppt/notesSlides/notesSlide45.xml" Id="R5623a1e67339452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d30ef3e1cf4b92" /><Relationship Type="http://schemas.openxmlformats.org/officeDocument/2006/relationships/notesSlide" Target="/ppt/notesSlides/notesSlide46.xml" Id="Rf44233b9de5e4d8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a466dae78f49e7" /><Relationship Type="http://schemas.openxmlformats.org/officeDocument/2006/relationships/notesSlide" Target="/ppt/notesSlides/notesSlide47.xml" Id="Rd51b6fba67a8487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de1cfb3cd4a03" /><Relationship Type="http://schemas.openxmlformats.org/officeDocument/2006/relationships/notesSlide" Target="/ppt/notesSlides/notesSlide48.xml" Id="R8db36589e037435e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b4478a43d468c" /><Relationship Type="http://schemas.openxmlformats.org/officeDocument/2006/relationships/notesSlide" Target="/ppt/notesSlides/notesSlide49.xml" Id="Re91ec7fad8c64cc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1b0c534dc4020" /><Relationship Type="http://schemas.openxmlformats.org/officeDocument/2006/relationships/notesSlide" Target="/ppt/notesSlides/notesSlide50.xml" Id="R5fdd33bb2e7e476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85696e27044511" /><Relationship Type="http://schemas.openxmlformats.org/officeDocument/2006/relationships/notesSlide" Target="/ppt/notesSlides/notesSlide51.xml" Id="R1e1a3bf0f20c4f1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c1b555d5a49b9" /><Relationship Type="http://schemas.openxmlformats.org/officeDocument/2006/relationships/notesSlide" Target="/ppt/notesSlides/notesSlide52.xml" Id="R853e361406cc4ff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2b5fca357f4ac2" /><Relationship Type="http://schemas.openxmlformats.org/officeDocument/2006/relationships/notesSlide" Target="/ppt/notesSlides/notesSlide53.xml" Id="R8ef31d6ab4ea406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a1e12e1e77410a" /><Relationship Type="http://schemas.openxmlformats.org/officeDocument/2006/relationships/notesSlide" Target="/ppt/notesSlides/notesSlide54.xml" Id="R64aad3a9176e48c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b9f1980805415c" /><Relationship Type="http://schemas.openxmlformats.org/officeDocument/2006/relationships/notesSlide" Target="/ppt/notesSlides/notesSlide55.xml" Id="Rec095ec521ce4829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09828853b14d4f" /><Relationship Type="http://schemas.openxmlformats.org/officeDocument/2006/relationships/notesSlide" Target="/ppt/notesSlides/notesSlide56.xml" Id="R886961e4b4ee4225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b14279cd4244bb" /><Relationship Type="http://schemas.openxmlformats.org/officeDocument/2006/relationships/notesSlide" Target="/ppt/notesSlides/notesSlide57.xml" Id="Rb32984bd7d034cb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4c5d96f5a84fac" /><Relationship Type="http://schemas.openxmlformats.org/officeDocument/2006/relationships/notesSlide" Target="/ppt/notesSlides/notesSlide58.xml" Id="R6ada1f6dbd49455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c44660a24415b" /><Relationship Type="http://schemas.openxmlformats.org/officeDocument/2006/relationships/notesSlide" Target="/ppt/notesSlides/notesSlide59.xml" Id="R816147aee03c4956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23679bdec04708" /><Relationship Type="http://schemas.openxmlformats.org/officeDocument/2006/relationships/notesSlide" Target="/ppt/notesSlides/notesSlide60.xml" Id="R315f14157bb14c5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266542fe8c447c" /><Relationship Type="http://schemas.openxmlformats.org/officeDocument/2006/relationships/notesSlide" Target="/ppt/notesSlides/notesSlide61.xml" Id="R5130bad2f5314974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e80233bf1f4947" /><Relationship Type="http://schemas.openxmlformats.org/officeDocument/2006/relationships/notesSlide" Target="/ppt/notesSlides/notesSlide62.xml" Id="R61095f71df46454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1031c3ae7345ee" /><Relationship Type="http://schemas.openxmlformats.org/officeDocument/2006/relationships/notesSlide" Target="/ppt/notesSlides/notesSlide63.xml" Id="Rc77321ad59e446fb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3fbb737cf54241" /><Relationship Type="http://schemas.openxmlformats.org/officeDocument/2006/relationships/notesSlide" Target="/ppt/notesSlides/notesSlide64.xml" Id="Rb9c67a48520a417f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5d7f4baa24ab8" /><Relationship Type="http://schemas.openxmlformats.org/officeDocument/2006/relationships/notesSlide" Target="/ppt/notesSlides/notesSlide65.xml" Id="R8962492208574961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9371eb4efe4227" /><Relationship Type="http://schemas.openxmlformats.org/officeDocument/2006/relationships/notesSlide" Target="/ppt/notesSlides/notesSlide66.xml" Id="R985b9d4814da4eb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208f8103742e2" /><Relationship Type="http://schemas.openxmlformats.org/officeDocument/2006/relationships/notesSlide" Target="/ppt/notesSlides/notesSlide67.xml" Id="Re3e3f26bcf3c4bbc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b7a28e954a4031" /><Relationship Type="http://schemas.openxmlformats.org/officeDocument/2006/relationships/notesSlide" Target="/ppt/notesSlides/notesSlide68.xml" Id="R2c831493b0df4b3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e9a69d8d114b2d" /><Relationship Type="http://schemas.openxmlformats.org/officeDocument/2006/relationships/notesSlide" Target="/ppt/notesSlides/notesSlide69.xml" Id="R95b4bfb2de6044a7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6ebc71c3ed4761" /><Relationship Type="http://schemas.openxmlformats.org/officeDocument/2006/relationships/notesSlide" Target="/ppt/notesSlides/notesSlide70.xml" Id="R2f7841de493d4e11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af6dfc3c1b4bac" /><Relationship Type="http://schemas.openxmlformats.org/officeDocument/2006/relationships/notesSlide" Target="/ppt/notesSlides/notesSlide71.xml" Id="R4313856f4733495a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ccc1743f44a67" /><Relationship Type="http://schemas.openxmlformats.org/officeDocument/2006/relationships/notesSlide" Target="/ppt/notesSlides/notesSlide72.xml" Id="Raa461f95a39f44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950AF-C323-4B99-B818-420714F8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DCF44-CFDF-4DC5-99B8-D690639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89C6A-D65E-4992-8E07-9B33C55D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CEA04-1C62-436B-8938-02A40236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20955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CHAPTER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520E0-3869-4010-A4EF-F0CDAAEB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7429500" cy="1428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FDE角色认知与企业AI转型诊断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B99D8-4294-4236-B94C-B1619717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609600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WEI SPACE FDE前端部署工程师训练营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20186-283F-4825-8EA4-FC485012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628650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本章把学员从AI工具使用者切换为能诊断、设计、部署和运营企业AI项目的FDE。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42B839-BE11-4C34-B74A-073EFCB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CE7F8-C609-4E4C-AAC3-2BF1C2BE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89C32-A4F0-4AE0-8510-A95289DE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400175"/>
            <a:ext cx="2724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8课时主讲义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B2733-2B5F-4410-A9BB-C7D316C1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12E10-95AD-4EBE-8FAF-B9D10F61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981D7A-832C-4374-8EA4-8AAA5175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19325"/>
            <a:ext cx="2724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72页授课PPT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0E305-A10B-432B-B32F-E5AC73EC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8865BD-C23A-4275-9F04-64B13063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94113-E29C-48EB-931F-C62543F7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38475"/>
            <a:ext cx="2724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逐页讲师逐字稿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67F13-80E9-46F1-9123-80D4B943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9D6AD-E37C-484B-8F3D-C9B0D5C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72F8B-89B4-45F9-A969-781EE44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57625"/>
            <a:ext cx="2724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五层进化90分钟实训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3CDF4-AF1F-4B72-8828-06700089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0"/>
            <a:ext cx="4000500" cy="247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课程课本 + 培训PPT + 逐页讲师稿</a:t>
            </a:r>
          </a:p>
        </p:txBody>
      </p:sp>
    </p:spTree>
    <p:extLst>
      <p:ext uri="{BB962C8B-B14F-4D97-AF65-F5344CB8AC3E}">
        <p14:creationId xmlns:p14="http://schemas.microsoft.com/office/powerpoint/2010/main" val="5430574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AB38A6-C66B-4000-A923-85EE1A51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5868B-2CC3-49CB-A2AF-4E988958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53148-B860-4A2B-A676-168CDBF2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29715B-7116-4F56-BEE9-830463B8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B0CC5-469C-42C7-8CCA-CE55676D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今天只解决三个问题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18193-1012-49BF-88B0-0C6697B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FDE不是一个新名词，而是一种把AI变成企业结果的工作方式。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9EFE6-CD81-4F02-A2DA-0D988B94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B5A9A-DA19-4232-86DD-84D07E7D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210D7-11DD-4549-9EAB-1DC47FA6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33FEB-CDB5-47D6-A047-A8ADE83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926EB-83D4-4058-9A6D-D9D3EDF5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9F80E-2A4A-4AF5-9768-6229662F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27FCE3-75D0-4C03-8454-2E894BCC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FDE到底交付什么结果？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E6ADE-5118-49B4-B908-1B4F562A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CA93D7-9EE3-45C0-9D29-F0F62C10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2BA422-CCA7-4352-9FEA-8FA84E5E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8054E-C3B8-42B4-883F-5DB75AB1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企业AI转型为什么不能停在工具培训？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77AF3-6A78-4661-B26D-506920C8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ED65E3-D5F0-4179-B0FC-238631F3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45774-139C-4837-A849-45EE9429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6DE8C5-AB14-4544-AE0B-E83EE817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如何用五层模型判断企业现状与下一步？</a:t>
            </a:r>
          </a:p>
        </p:txBody>
      </p:sp>
    </p:spTree>
    <p:extLst>
      <p:ext uri="{BB962C8B-B14F-4D97-AF65-F5344CB8AC3E}">
        <p14:creationId xmlns:p14="http://schemas.microsoft.com/office/powerpoint/2010/main" val="9712813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6E9452-02EB-4A64-83BE-67902878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9EB30-F392-4DBA-968D-8C41D24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DF88B-10FC-4FA9-966C-0C0263D3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CCB6B4-9D8D-4C51-A7D7-3052D86A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DD719-423F-4A18-B1F7-8A731E1C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8课时结构：从角色到流程诊断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C4DC7-776B-42C6-9D60-AF64930E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这不是认证宣讲课，而是把学员带入真实交付场景的第一天。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A5094-38DF-4F03-A10A-8D6B4DED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F3C72-FDAB-4D13-B249-8A2C7419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90808-835C-4760-8636-CAAF2DA5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81D30-D8E0-4E6F-980D-38CF7A44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25863-12CA-4E5B-B66C-E8BEB6B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0275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B801F-8A29-4240-B0E3-179BD34F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FD7C6-51CF-45B4-AB80-32193F4E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0. 入场与课程契约 / 15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D2222-A5CE-40CE-A58B-34ACCA5D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8DADB-DB6C-4EDF-8DBD-C8C7E015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024A5-C78D-4B82-A5E9-4F756FCD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62225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0FBFD6-6147-41BC-9732-0A2E12D1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0325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1. FDE角色与产业背景 / 45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7563D-1B1D-4724-AA75-BA442263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E3B93-95E2-447B-8EF6-164F8541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AA474-C1E3-414D-9B68-1F0DFF51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5A832-FAFB-4756-AB33-3173B974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09900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2. 企业AI项目失败断点 / 45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B94DB-333E-4283-87B3-D79D7859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A563D-9A75-491E-ABC2-11800F76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AE996-9388-41AA-8DC8-C36252DB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81375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A9A82-88ED-4D2D-9DBB-382D0B54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19475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3. FDE边界与能力模型 / 45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D0D50-32E2-4FD7-84A9-C99C2E3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BA44C6-3CF9-4366-829C-3049FC6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CD922C-F4BD-4378-B03F-F2360BA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9095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F6E2E-6F65-4902-8DFD-FBA9F5C4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29050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4. 企业AI转型五层进化 / 90 min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57EC58-1D92-46D4-852F-A11682D8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64124-DCDD-415A-B479-56762ABE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4F908-3205-4A1A-9A71-E3CF7D37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F95AB-4504-4341-8C53-085D3BC0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38625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5. WEI SPACE生态与四类出口 / 30 min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E07902-9F16-484C-8728-43FDE4B5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D27DE7-16BC-46E2-AA61-EEA1897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64D64-F4BB-4919-8261-283A0911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1010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7ED196-1E97-41DD-B181-B80304DF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6. D-D-D-O-S现场交付法 / 45 min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C56020-8826-493B-B534-32009B15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9675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5E603-7FE3-4572-84A7-9A437017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3429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8FB860-5ADF-4F02-8994-3C55BF9B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9675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4D2E76-5E79-4469-B96B-65AB0016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57775"/>
            <a:ext cx="93345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7. 综合案例与作业 / 45 min</a:t>
            </a:r>
          </a:p>
        </p:txBody>
      </p:sp>
    </p:spTree>
    <p:extLst>
      <p:ext uri="{BB962C8B-B14F-4D97-AF65-F5344CB8AC3E}">
        <p14:creationId xmlns:p14="http://schemas.microsoft.com/office/powerpoint/2010/main" val="202183392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BD9DF9-595D-40F9-920C-4FB68BF5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2EB05-52C3-45C6-A636-77D6C173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B7ABE-0390-42B6-8BFC-342B6DD0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867C68-9956-4470-A09C-7C15B680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ABD63-7610-49A0-9FD4-10BEC095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本章结课要产出四个东西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09171-2F4B-47F3-93A4-04326A9F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评价学员不是看听懂了多少，而是看能不能拿着模板去访谈和画流程。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C6A1D-3F40-448E-B5A7-24A350B5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0D964-8EFA-4C21-B270-9CCCA16B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B4FF2-A564-47AA-8CF6-ACA3FD4B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C7815-6382-4F26-98D9-1A0A0CB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49839-60CE-46D3-8EDF-52085C65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D52749-BE31-4FEE-A616-2057D5DA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BF714-D125-456F-AC97-2BC65CED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个人FDE角色卡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202A3-2AFE-4A11-8D46-9909E318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D51824-2667-46AD-9AD7-7FB257AE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77B53-75B9-469A-8FDC-88B78AAE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788D6-D399-4F9E-BD2F-DCD9FF8E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企业AI五层现状图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E03C5-4CA7-40C7-ADA1-60C24B11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54EF1A-FEE8-4DCC-BF9C-6EFAEFA7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EDD1A-7618-42DF-8D4D-144538A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FFB52-F26F-458D-8899-804855A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一个真实流程的现状/目标态图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A65EB-AE1B-44A7-BE22-C8EF835C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F56F1-7E86-46CC-B7CF-25A2C3E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51C05-1B92-463B-B190-0540FFAA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96FF5-13D2-4A64-97DA-0288CA1E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AI机会Brief初稿</a:t>
            </a:r>
          </a:p>
        </p:txBody>
      </p:sp>
    </p:spTree>
    <p:extLst>
      <p:ext uri="{BB962C8B-B14F-4D97-AF65-F5344CB8AC3E}">
        <p14:creationId xmlns:p14="http://schemas.microsoft.com/office/powerpoint/2010/main" val="15360292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DD08DD-3EE4-4744-9CAA-9B9C2283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58AA20-170F-43C2-9483-6016DC17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45EF3-1027-4F96-80E2-5368C58D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D2A55A-0118-4DD1-B9AA-8AB5F43F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19CE6-C01B-4C46-94F1-34AE2A00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课堂契约：所有讨论都要落回业务现场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C519C-F436-4F74-8F5D-C25218AE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FDE的语言必须同时让老板、业务、IT和一线员工听懂。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87924-7E29-4DEC-B962-E0A369C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8728A-F518-448A-85FF-B008D09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3455D-A1A4-4E01-9903-4C59FC1E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2B5DD-9665-47EC-A92B-6F8A5E14C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BF913-C739-4D5F-8B4D-051EA127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47900"/>
            <a:ext cx="8382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少谈泛泛的AI很强，多谈哪个岗位、哪个流程、哪个指标。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3B33F-2EDF-4C43-B5FD-7BA9281F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A67CC-A590-4942-9503-D6FED36A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8382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少谈模型炫技，多谈数据、工具、权限、异常和运营。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D0EC6-BEBD-4BB2-B2B0-35032C9F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976518-24F1-4193-BC48-4F9F0C56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67100"/>
            <a:ext cx="8382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每个观点都尽量落成一张图、一张表或一个可验证输出。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616C3-83B1-4723-B17E-F160AB4C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381250"/>
            <a:ext cx="104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F95C63-F374-4228-8273-97AED128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81300"/>
            <a:ext cx="7620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BEC3C-9DA7-4281-BBEB-1C6018B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33750"/>
            <a:ext cx="685800" cy="1333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岗位</a:t>
            </a:r>
          </a:p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</p:spTree>
    <p:extLst>
      <p:ext uri="{BB962C8B-B14F-4D97-AF65-F5344CB8AC3E}">
        <p14:creationId xmlns:p14="http://schemas.microsoft.com/office/powerpoint/2010/main" val="8939446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7B4C37-586E-46AE-BB05-09834A4E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AF81F1-09AB-4537-B9BC-90723FD9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D9167-BA7B-4392-9DEC-FB984341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D6DEC7-61E7-4B32-97DC-3E40956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ANCHORS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005594-7273-46C2-8137-CA4D1EA6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四类外部参照共同指向同一件事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7BB31-7134-4923-A0FC-88659A1A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OpenAI、Claude、腾讯与国内职业培训都在把AI能力从工具使用推向企业部署。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BF2D0-263F-4C63-B7B5-89E5652B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49B35-38B6-4F9E-B010-66EA083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A78AF-6657-43CF-8B5D-2FC2A09F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ACF81-9AD1-41F3-B823-9A08EF32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0FF2E-A0BC-4C87-86F8-9071954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8D194-76A1-48B0-A78A-41F49D40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5B741-4AEC-4DD7-8590-2C7DF5CF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OpenAI：FDE深入企业流程与系统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D0923-74ED-4E45-892F-B1C5A580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4ED3B-DCC2-4F22-9E2D-EBA04F62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A384D-BF9B-46C0-90B8-BE381675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0C790-301F-49DC-B826-6AA10E0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Claude：上下文、工具、MCP与可靠性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A933B-9A5A-40A3-A9C2-6095740C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2DDCD-08C0-401F-963A-F1F9E54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B3EA5-FE08-4D34-8E84-596B9075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2FD948-FFB3-470F-B836-3324D63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腾讯：ADP/CodeBuddy/CloudBase等企业AI工程产品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75A53-B2EA-46C4-842B-3DFA1C79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4D5C0-B245-4EBF-A65F-CDF68DC2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A4A1E-B1DF-4C46-B554-EE4955AA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CA4CBB-5CA7-4872-ABF4-8176D772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国内：生成式AI应用职业与企业AI转型培训</a:t>
            </a:r>
          </a:p>
        </p:txBody>
      </p:sp>
    </p:spTree>
    <p:extLst>
      <p:ext uri="{BB962C8B-B14F-4D97-AF65-F5344CB8AC3E}">
        <p14:creationId xmlns:p14="http://schemas.microsoft.com/office/powerpoint/2010/main" val="10809370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5F27F9-DEC3-494B-A83B-34D6FD51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E7308-1A77-4047-8816-E9D7C232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16046-9137-46A1-8B77-454FFA00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2EEB1-EEBB-403A-AF92-5967A639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66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EFDD8-8707-4C5C-942B-89F7FC6C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AC1BB-EEAA-4232-88F1-332862AD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8191500" cy="1219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从AI工具用户到FDE部署工程师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7B694-C661-4DA5-9959-8E7185E2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FDE的核心身份不是“会用AI的人”，而是“能让AI在企业流程里稳定产生结果的人”。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A4FD4-76CB-44D8-B032-5913397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FD766-5B5F-4259-9430-E186D1B0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角色转换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8C574-9EAA-43F8-B926-EC425599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C884B8-5B72-4489-9C2B-88C41F74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交付对象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BBCBE-1691-4794-8476-AB517CF8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E9989-BD81-4D92-9DE0-869639F4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结果标准</a:t>
            </a:r>
          </a:p>
        </p:txBody>
      </p:sp>
    </p:spTree>
    <p:extLst>
      <p:ext uri="{BB962C8B-B14F-4D97-AF65-F5344CB8AC3E}">
        <p14:creationId xmlns:p14="http://schemas.microsoft.com/office/powerpoint/2010/main" val="19800489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1BCF01-04CC-4ED8-8163-FEE315C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AA92C-CBBA-49B1-A2EE-B2BB2080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F6EEC-7D1D-4D20-8BF7-D33B4CE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A9272E4-BB53-4C9F-95BB-D1A98715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DEFINE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B2E15-61F5-43EE-8817-F3B38A81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 = Field + Deployment + Engineer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27E06-1381-4E05-97A7-E35CE8CF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FDE要站在业务现场，用工程方法把AI部署进真实流程。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47F82-18CC-4AEA-B7E5-E317E672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C508C-AB34-4D0D-85CC-39DAC675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61001-DDD8-4116-BE57-0226800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7738D-BC0B-42CA-AA76-2A1E8FB8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2B7C98-0740-4602-B0FE-BA497CB3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14F06-643F-4A70-A77E-03310057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EE97A-9E98-4F78-987D-8672F4AE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Field：理解真实业务、利益关系和阻力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311C29-6DF1-4ED5-8F5F-F7FB89E5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172C1-4748-465A-A747-21D8C7C8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AE7C9-F426-4154-8D25-1003EC45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BA42E-68D8-40A6-B6A4-F2BBD209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Deployment：让方案进入生产环境而非停在Demo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711B3-197B-4D4A-AE6B-93DE0BA9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2E02E-02B6-4EB6-8CD8-0AE4982F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71FD2-E042-4065-9B06-007CD122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28C9E-F705-420C-B23C-58890788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Engineer：用结构、工具、数据、监控解决不确定性</a:t>
            </a:r>
          </a:p>
        </p:txBody>
      </p:sp>
    </p:spTree>
    <p:extLst>
      <p:ext uri="{BB962C8B-B14F-4D97-AF65-F5344CB8AC3E}">
        <p14:creationId xmlns:p14="http://schemas.microsoft.com/office/powerpoint/2010/main" val="15678399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27234-456E-410A-9618-F1AE997A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AF238-DB69-4DB3-88EF-C52BC126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D911E-53CF-4668-B541-EA6ED7DD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07760F-21DE-4ECB-A84F-C8C8D7D0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OPENAI LENS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CFA80-4594-4608-A780-B88B19B0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OpenAI Deployment Company给FDE的启发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F0F08-B734-4D5F-BA30-00701B9E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顶级AI公司正在把工程师放到企业现场，而不是只卖API或账号。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1FD8A-D47B-46B0-8C55-550E77AC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DC7AA-D829-4020-A59F-C71AD3B5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FEF94-DBE7-4FA7-B436-1884E2CA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5CCAE5-D3BD-40C5-AF03-C7EF8E5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C1F3A-793F-4578-B6DB-CDCBF0BA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嵌入企业团队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503DE-3796-44EC-9E82-E40F288F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27AA0-33A9-4B48-B87F-B15F1E00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2F4B4-6CDD-44F4-8DE9-B40A1D4A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重设计工作流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B8F52-8B65-4CD0-B34D-91EA7DA7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1F07B-131D-4AE6-B616-C0877B87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3E3CB-40AB-4554-AFD8-EB0795C1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连接模型与企业数据/工具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204F9-D0E4-429F-8825-18D12A3D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D983A7-72D2-4EBB-97C3-FC186647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672D0-43D6-4414-AEB6-3AAC61F1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5583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快速原型到生产部署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AA16C-195D-4F74-9DC2-295FC912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94F73-10CA-4815-A096-FD6A7BC2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4067888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7C848F-8F58-4F34-BB23-F611F999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B704B-D8C0-4242-ADA0-32E05320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7FD0F-363F-4894-A58B-3B8A5E97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AAD3F2-21EB-4315-9132-6C4A06EC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FOUR HATS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CEE2F-96D4-4EFC-BAFD-38632060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FDE同时戴四顶帽子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0CF0C-5359-40A2-9E3D-E04A8C03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FDE不是单一技术岗，而是业务翻译、流程架构、Agent构建和交付管理的组合。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7413C-3766-42C8-8D1E-6001D69B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95E8A-B96E-48DC-9543-4CCAD2B0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8CE6F-ED4A-4217-9211-3CBC6FF0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3FB59-8B6F-49C2-AFD0-73B2B3E9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70B8F-872F-46E3-B620-63F02509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622FA-81DB-4B22-AD2E-DF3586B3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96E66-7E56-4F89-AEA7-131641FD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业务翻译官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B7272-03EB-43EE-B73C-263027E5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92099-92AE-4719-B5A8-A9717F9D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A1297-DC57-4077-8A4E-7B83AFC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909C5-3810-4112-B9EE-527653A0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流程架构师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8CDC8-1F4F-4057-A6AE-08631E23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82C86C-7EB4-4451-A07E-5DA8E2EE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DDA69-AC29-4C4A-BE1A-13543899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9ED62-1578-425F-AE25-333F5E08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Agent/工具构建者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8ACA0-E1B3-4C0F-8781-984C12F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3B6C2-4F0A-479B-9B1D-C74878BE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20F69F-4A29-4A17-B3AB-E1163F59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3D4DB-85D5-4011-9113-9B62C613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上线运营负责人</a:t>
            </a:r>
          </a:p>
        </p:txBody>
      </p:sp>
    </p:spTree>
    <p:extLst>
      <p:ext uri="{BB962C8B-B14F-4D97-AF65-F5344CB8AC3E}">
        <p14:creationId xmlns:p14="http://schemas.microsoft.com/office/powerpoint/2010/main" val="10486457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704A28-8ED3-4348-A91A-73D4536E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28571-805E-4250-B6C3-5B68A9D5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2463B-4019-4178-91BE-E641B5A5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A444562-813D-4181-8A1B-DD142D93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F0F56-9208-4CF8-A6C9-E4CF3FD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FDE不是什么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672BB-A6B6-4999-952B-EC8D0689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边界越清晰，学员越知道该补什么能力、交付什么证据。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15AD6-7666-4148-9614-C7B476AE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57260-A887-4B68-AC6F-07E5671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E1849-E6B8-408F-9471-45D6755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4CA06-CFFE-4A94-8C0A-13BD8855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C6768-4FAD-439A-A584-F28993F0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2286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B8D59-4CF2-4086-80C3-2A564FC4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14575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FDE讲解重点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772EF-60E7-41F0-8550-4EBBAFA7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158CB-9581-4CDD-B9B9-53EF1BC2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不是只写提示词的人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C9288-F83E-4EFA-A8F9-650767AF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把这一项落到真实流程、上下文、工具、指标和风险边界。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0079A-A200-48C3-9EE0-1D81588F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78E97-5449-4C70-AB4D-21A1D668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不是只做PPT顾问的人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ABAED-EAEB-476A-B610-7C6FF9F2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把这一项落到真实流程、上下文、工具、指标和风险边界。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19FB2-7677-402E-9144-817C887A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B525E-9D41-4A04-9940-F04E841F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不是只交代码不管业务的人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F49A8-5D1B-47B3-A009-79F090B6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把这一项落到真实流程、上下文、工具、指标和风险边界。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33EB0-C7C0-424D-BFD5-60068ABD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0F8F3-7CC5-48A9-9651-2EC8EE81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不是只教工具不负责效果的人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DEF79-F746-4B01-9397-E47C5EC4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把这一项落到真实流程、上下文、工具、指标和风险边界。</a:t>
            </a:r>
          </a:p>
        </p:txBody>
      </p:sp>
    </p:spTree>
    <p:extLst>
      <p:ext uri="{BB962C8B-B14F-4D97-AF65-F5344CB8AC3E}">
        <p14:creationId xmlns:p14="http://schemas.microsoft.com/office/powerpoint/2010/main" val="18612899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3FD014-8456-46B8-8DDF-393D4961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95170-AB41-4E1D-A79D-F87FC43E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2B1DA-48AB-4A4E-89A3-D719BE10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29C09C-B035-4B16-95B2-A432A55A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4B743-D5E8-40D6-A348-0B6FCE6E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训练营服务四类人才出口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D5CC9-307E-415E-AACD-6C7CC13B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同一套FDE底层能力，可以分流到交付、就业、OPC创业和讲师路径。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ABD3C-F6BB-448A-9BB6-C6A08030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54584-417B-4D4E-BF2D-F1DA3E04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4468FE-3C43-4A4E-92E4-CA9A5076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44C76-5332-4023-9BBB-5CB85ED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6CDDF-FD3A-4405-AA2F-D8A5C409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2B6D0-F052-4BDE-814B-6D20947A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BF5E6-8D2B-45D7-A185-8B74214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优秀者进入WEI FDE交付团队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1C076-A73D-437C-A0A8-505656A6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73032D-7023-48CC-BFFF-5182602C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076DA-257B-4164-9547-0DC0BAFE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C38EB-690B-49AB-96A9-B9F97B71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成熟者推荐到企业AI岗位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9D2F72-CEF7-41A5-901A-AE592E1E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308B6-CF3E-4BEA-836B-C0CA789C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4D4270-0F98-4313-AB46-6941101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89AB8-468D-4202-9EFD-CD630CE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创业者成为FDE OPC或入孵化器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5DB84D-602B-4015-BBCA-5F5DD5D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7A661-BE0E-41D6-A460-7132BC8F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3D081-82E4-4983-B852-AD2C723C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E8A3B-2625-4EFF-961E-077AC027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表达强者成为FDE/青少年AI讲师</a:t>
            </a:r>
          </a:p>
        </p:txBody>
      </p:sp>
    </p:spTree>
    <p:extLst>
      <p:ext uri="{BB962C8B-B14F-4D97-AF65-F5344CB8AC3E}">
        <p14:creationId xmlns:p14="http://schemas.microsoft.com/office/powerpoint/2010/main" val="21436946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84BC1-5D1E-43D9-8FCA-4A1C05F9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B9535-86E3-4B47-B40E-901FA39D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387B8-75FA-4004-BF76-1DAF6BA2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B0E508D-6A56-4200-AB88-702EB836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NORTH STAR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5B853-B42A-43A5-859C-EDACAAE4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FDE的北极星：部署可运营的AI员工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DF6EFC-6E6C-487D-B8FF-B478428A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只让客户惊叹一次没有价值，让客户每周都能看见指标改善才有价值。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CDDF4-146C-487F-8C88-F6EE23CC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27499-76C7-4C84-BC95-4560116B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37A4A-668B-40EF-9AC6-CFE40C69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3ADEF-6951-42B6-B3A9-79F8803B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994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705AA1-E563-49CA-83CB-5DED35A7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76200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9E82A-564A-40CD-9296-B75E7FEC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78105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FDE的北极星：部署可运营的AI员工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5652A-D15C-49DE-99F0-AAF23324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7429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只让客户惊叹一次没有价值，让客户每周都能看见指标改善才有价值。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41C8F-63B3-4A39-A2E5-55D1C390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从一次性工具演示，转向可复用业务能力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20BFB-9A69-49A9-A7C9-268173E1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从模型回答，转向流程闭环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4E8D49-51EF-46EF-A7C7-2FE9FDCD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从个人效率，转向组织人效</a:t>
            </a:r>
          </a:p>
        </p:txBody>
      </p:sp>
    </p:spTree>
    <p:extLst>
      <p:ext uri="{BB962C8B-B14F-4D97-AF65-F5344CB8AC3E}">
        <p14:creationId xmlns:p14="http://schemas.microsoft.com/office/powerpoint/2010/main" val="3858698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7C90CF-0F30-44F8-A2ED-C35344BF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C6840-695E-4244-84BB-AD41B7ED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DEB7D-8BB1-4A5C-BF9C-B3685DB9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D4B44B-2B4B-4433-A5CA-0AAFDD74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CAPABILITY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9F922-B415-4B7C-B3F8-7D68622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FDE六项核心能力模型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800A2-C4FE-4525-B2C6-00C47FAE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第一章先建立能力地图，后续章节再逐项训练。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4889A-FE30-4740-A45E-AF057254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C2787-C49A-48A8-A13C-2270835D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0EE40-3F6C-48E8-A59B-59F62C8C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1139B-BDC3-4E59-A1FB-C2D1F31C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C40EE-D73B-4177-9486-36CC0BAA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AA8F1-289C-4583-8305-3B720783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1F578B-C3B4-4E81-B637-217C9E30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62CC9-C9B3-478D-9DDF-7AE9EB5E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43890-4367-4FF3-8B95-0E6F1B3F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AE7FB-CF48-41EF-BB82-DD69DE2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171DD-82FD-4FB0-80CD-3505F027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85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流程建模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157DB-A04A-451F-9EF0-17771C99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81094-2C27-4C79-9EF3-90A57A55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57F3A-5964-4097-ACD7-8B22B847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61598B-8610-45CD-B765-AAF84A1F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上下文工程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39939-CCB6-4D8D-B7AB-CFA9C1A7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CDD6C-B08F-4BC9-9719-28D6889B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B07AA-79C4-4A3B-AE55-F4B06AD2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AAA83B-8D05-4E06-93C2-BE30E06C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工具/Agent部署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4DC71-406E-4F7F-AB56-63B198FE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67175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9512DD-E43F-4315-B2BC-53FB59F1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0">
            <a:solidFill>
              <a:srgbClr val="FEEC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A43C3-8AC8-4381-9953-B92D1CAA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BD831D-8C1B-413B-9B8B-363C6415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850" y="4219575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可靠性与治理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37050-1CAA-4811-8DAD-A27E52A1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4067175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E53E08-3EFD-44A4-A0BB-E0EE35A3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0">
            <a:solidFill>
              <a:srgbClr val="F3ED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32F440-D587-45CD-8195-CF2DDFE1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37D0AA-53DD-4FD4-8EA9-E55F845D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4219575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运营与商业化</a:t>
            </a:r>
          </a:p>
        </p:txBody>
      </p:sp>
    </p:spTree>
    <p:extLst>
      <p:ext uri="{BB962C8B-B14F-4D97-AF65-F5344CB8AC3E}">
        <p14:creationId xmlns:p14="http://schemas.microsoft.com/office/powerpoint/2010/main" val="158404721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95A6E-C4EB-4715-BFC0-FD977076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9E471-7129-4EC2-895F-C85CE717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9AC74-68B3-4262-BE16-49175AC8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9D18F5-56FE-4736-8E3C-F01A3018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RUNNING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27223-3743-4BB2-A4E8-3E142584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贯穿案例：B2B设备售后流程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21972-99EA-45F3-9A10-4116BEB2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后面所有方法都会回到这个案例，避免课程飘在概念上。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81157-0B49-4A0E-B0FF-4AA6A531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EEF1F-1A69-4475-BC79-5F254B75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9927E-E8D4-44C1-BB20-F67F5F5C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FDE角色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78A50-3356-4EC5-BF2F-4D49D7BF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流程现状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AC51A-B11D-49CB-9DD0-E3E0FB34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FDE观察点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94D08-109B-4E3C-BFA6-518E8F1B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8D3A9-9381-4C52-8253-0A2ABEC2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客户报修渠道分散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B349F2-26DB-4D7F-BC04-B02B932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A42A2-1B09-4C26-914B-5C9ADE4B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客服手工查保修与库存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95174-8813-4A5D-B587-F683B746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FD2CC-5AB6-4792-904C-51261A37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技术专家反复答相同问题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99822-660C-48E5-82AA-5D386EAB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F63BA-22DF-456E-A57B-865D5333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管理层看不到AI项目ROI</a:t>
            </a:r>
          </a:p>
        </p:txBody>
      </p:sp>
    </p:spTree>
    <p:extLst>
      <p:ext uri="{BB962C8B-B14F-4D97-AF65-F5344CB8AC3E}">
        <p14:creationId xmlns:p14="http://schemas.microsoft.com/office/powerpoint/2010/main" val="69071763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24057-AE2B-4812-B388-CECA05DA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7EBE-5686-4FDD-B27B-CB5EDB57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81CC7-3928-4A74-9B85-D9523132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F48CC-C327-47EB-AFD9-ACCDB151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66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C8609E-706B-4A6E-B24F-0A592D38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883F7-AA76-4C26-818F-B6D5C41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8191500" cy="1219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企业AI为什么常常死在Demo之后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E5192-462B-46A6-A78A-71BD89E4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FDE的价值，正是在Demo与生产之间补齐断裂。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B6184-C843-4F53-A90E-97C4C7A6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2BA76-B7A7-4A9F-A8BE-B2E025F1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498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失败不是模型不够强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C15CE-DA0C-46F3-BF16-48196C9D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C69A8-1FA3-4820-BDAC-4E800F6F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4902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失败多发生在流程、数据、工具、治理和运营</a:t>
            </a:r>
          </a:p>
        </p:txBody>
      </p:sp>
    </p:spTree>
    <p:extLst>
      <p:ext uri="{BB962C8B-B14F-4D97-AF65-F5344CB8AC3E}">
        <p14:creationId xmlns:p14="http://schemas.microsoft.com/office/powerpoint/2010/main" val="161811055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E7F02A-264F-44E3-B57C-88A4C530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8E5B4-7917-4425-A887-18AC8E7F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A0594-B14E-460B-8BB5-45CFA0BD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BA0503-BB75-4C2C-A2CB-2D212A32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BREAKPOINTS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802B1-24BF-4F72-9093-FC14A66F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五个常见断点：从战略到采用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CBEB3-3ACE-4158-A7AA-E6B9194C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诊断AI项目先找断点，不要一上来就选模型或写Prompt。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61191-A374-4893-B736-9C8A44CD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8A6CA-4290-4702-9217-069FA3C9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B9CD3-C886-4888-813B-6C4F0418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61C51-C9A6-40AF-93E5-E57117A5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34D46-3C42-4A15-ABA0-81EA219E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战略目标不清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2A206-7010-4D8B-8BFC-988D4DCB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52A8F-BBAC-4CBB-A1EA-62AC2356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A5A9F-9555-4687-BBBD-1C18E3E0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流程边界不清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8453E-0FC1-49A8-81A8-D0A43F8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B59D3-D45F-4BAB-810D-D4E2A09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B44DE-02B7-45E9-A54D-19BA0812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数据不可用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B0225-3827-4B32-A82D-1823BBCE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49649-0E78-457D-8BAF-3FF3A448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D0624C-EB36-4A60-AF0E-1B09C87E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工具权限不通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91002-BC63-4B29-840B-272DAC1F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60C953-620F-4B41-8390-A2B2A1E2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256ABE-BA7A-49D8-AAE5-83E5A36E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一线不愿采用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A3907-EB93-4CCF-9D79-77FB3BE0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F071F-8140-4B00-970C-ABA6B3B0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31312777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4E4CA-95F4-4092-9DE7-C6A1A482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1485-7AF7-4848-B32C-3B757E52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929D0-BEBB-4A08-A5B6-C17E256C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931EC3-F7DA-4F58-BEA8-40BEC1FF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ANTI-PATTERN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9716A-C642-49FB-BD00-0C363855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把聊天框当成业务系统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BF2AC-4CCE-4B3F-9383-F53E1CAB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企业真正需要的不是更多对话，而是流程节点被稳定处理。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DE103-CB1F-4E17-9AC6-EBDB74AF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4D831-B885-4673-99DA-61CB6D28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02ED0-A201-454E-822B-2F4645AF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AC96EA-2016-4070-86DC-89F6539A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6AD4A-B657-48D7-B9D3-57BCC0F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7090B4-DB2B-44B7-8419-4757F793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0D54D-88E1-442C-82DB-3CE9BD51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问题：员工复制粘贴，过程不可审计。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60A3E-D0B5-4D6B-8F5E-F75ACFE3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0202F5-7F3D-4DA4-8A53-738E3A4A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B06A8-27F3-446F-9660-E1BCB2FA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D5A0B-547B-4621-BDE5-8555FA51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FDE动作：把对话改造成任务流、表单、审批、工单。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E1244-DC80-4BFF-8D45-0481D55A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14F7E-C523-493B-90EB-00112C40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A949AC-0C0E-42D2-BAA8-866D3919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E73BA-B9ED-45B9-908B-C90B4BFD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判断：输出是否进入下游系统？</a:t>
            </a:r>
          </a:p>
        </p:txBody>
      </p:sp>
    </p:spTree>
    <p:extLst>
      <p:ext uri="{BB962C8B-B14F-4D97-AF65-F5344CB8AC3E}">
        <p14:creationId xmlns:p14="http://schemas.microsoft.com/office/powerpoint/2010/main" val="169549291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159F9A-FD44-4402-9B91-CF3C938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07DB5-7335-48D7-9024-54D81B2C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A4397-62D2-4AAE-9051-FE217B60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8A7D2F-FF03-4956-A00E-32884E2C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ANTI-PATTERN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B320-AA48-4312-8E16-03BCC919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用提示词承诺高风险规则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4A51C-9965-4840-800B-36E604C5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高风险业务规则必须由代码、权限和校验强制执行。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C856B-658F-4774-9782-D7E1CAB5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ECFF1-DFB4-46DD-9DEA-D03624FB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1B841-133D-4FB3-BA72-4A7E3F2F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AD5C9-589D-4C92-8A0A-F3EFA58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FE0E8-A6BB-4C4F-864E-60B02CFF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8C217-28B1-47D4-93B4-EE8FCCF6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2A2FC-8A21-461D-800E-06E64D3B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不要让模型自己决定退款上限、合同合规、审批权限。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3918B5-2275-468F-829E-62E33D03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8BD10-DB89-4FAD-8964-B886EABA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BAD05-F8C3-44D5-84FA-6C1FE67D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895B5-594E-43B7-ADE6-959472A9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应把关键规则放进工具、Hook、Schema、审批门。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7F366-9B7B-4FCF-B393-B47A2004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252334-EC22-4450-A623-253B64BC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6C95B-4D22-40F5-8AB0-8C13BC5B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1BB4D-78C9-4D34-957B-62C1C0DF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课堂口令：Programmatic &gt; Prompt-based。</a:t>
            </a:r>
          </a:p>
        </p:txBody>
      </p:sp>
    </p:spTree>
    <p:extLst>
      <p:ext uri="{BB962C8B-B14F-4D97-AF65-F5344CB8AC3E}">
        <p14:creationId xmlns:p14="http://schemas.microsoft.com/office/powerpoint/2010/main" val="101224923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EC2820-E1EA-4C6F-96BF-A8364082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861EC-EBED-4AC9-9EE1-BD9954AC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285A1-97BA-4B82-83D4-A3EEE81C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0946B8-C5CD-44ED-88E3-CF499496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ANTI-PATTERN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C0BED-5EE5-409F-9818-E4914F07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只看单次回答，不看运行指标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30ECF-9BB1-4E33-B4FB-3F18915E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没有指标的AI项目，无法证明价值，也无法持续迭代。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3EA31-9AB3-45D5-88F5-F8BDFF23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8C55A-1029-4CD5-AADF-BD68B1AB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B3CB5-1C07-4B8C-B162-8C686F4B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283FD-352A-4F87-935E-3310FF25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1D676-C9AF-479C-A5DF-92FF6BA3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37249-9FB1-441A-A5A6-53E0228F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A83BF-CE5B-4C39-9E5A-B133A6FE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Demo看效果，生产看稳定性。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E496E-81B5-45EA-9EDD-0C87B499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8EB13-0BDD-4AE3-88F8-9D547AA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26843-D879-4007-991D-212C00E3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0A723-07C4-427F-B3E0-B038AD6B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至少定义质量、速度、成本、风险、采用五类指标。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1EC34-DE04-4FA8-AA5E-A98622C3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287B2-4BD1-47FD-B061-D90B8EEC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C225F-387D-4FA9-B648-F4682987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B905AD-451F-4C21-A65D-34669A0D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每周看板比一次汇报更重要。</a:t>
            </a:r>
          </a:p>
        </p:txBody>
      </p:sp>
    </p:spTree>
    <p:extLst>
      <p:ext uri="{BB962C8B-B14F-4D97-AF65-F5344CB8AC3E}">
        <p14:creationId xmlns:p14="http://schemas.microsoft.com/office/powerpoint/2010/main" val="39129845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675A7A-17CA-4559-A11A-9DB8F4A6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E1E31-BD48-4D78-91E1-D790183F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9C315-E486-41F9-9C46-80E4865E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7B845E9-73BE-445F-B01C-48317E25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ANTI-PATTERN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83A6-525A-4D23-A25D-EDE8B9B3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忽略上下文链条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83BB4-D338-472A-8C07-0513177E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上下文不是把材料塞进去，而是决定模型此刻应该知道什么、不该知道什么。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9594F-0F07-4E2A-9702-0E10D4B1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499CB-9499-476E-ACF5-5077FB27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32DE3-E0BB-4AF9-9D14-94387785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62B1F-1632-4068-9877-9A12B74C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94C93-19B6-4C86-A116-213A98D6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B4764-64C7-4B1E-A965-3C9FB923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4AE3F-AD43-434D-B130-FCC02E9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长流程会出现上下文衰减、信息遗失、版本冲突。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4E05E-FB76-40C6-A9DE-407990B7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7ACDB-C39A-4C1F-9F26-B70C3798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C598DA-EC8E-4DB3-B8BF-E156042C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7C77E-DC2C-41D7-8C58-B59B5B40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FDE要设计摘要、引用、状态、记忆和交接规则。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1E76A7-0C8F-457C-AD0F-186854D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0BECC4-C99D-45E2-90D7-A4ABC1B4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73BE44-A26C-4297-BF41-E58B946B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1C21B-CD26-480E-BD66-50D0EFE4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Claude体系尤其强调上下文窗口与记忆管理。</a:t>
            </a:r>
          </a:p>
        </p:txBody>
      </p:sp>
    </p:spTree>
    <p:extLst>
      <p:ext uri="{BB962C8B-B14F-4D97-AF65-F5344CB8AC3E}">
        <p14:creationId xmlns:p14="http://schemas.microsoft.com/office/powerpoint/2010/main" val="124944992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595FC8-0015-45EE-84B2-EA953479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F8EFB-32B1-4D98-A72A-8BD612A9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C4C9D-C8BD-4E8B-83B6-E635DD90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EDDAC8F-9CAF-4E69-865E-365BF6C9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ANTI-PATTERN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BF293-14D0-4492-BD6F-01C35EBD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上线后没有Owner和Runbook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E4B7C-ADDA-41C6-9EB4-DA9B9CBE0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AI员工上线后需要运营负责人、异常机制和迭代节奏。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727F95-2B2B-4C69-8F1E-59112C6C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9ECF8-AC08-4CFD-BE5A-0A84BEA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D37F9-A60B-4EF9-A5D6-D5EDA862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CAF1C-3011-4498-8F65-89EE50AC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85992-55EC-419C-910E-97223FF7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26934-9413-47C8-B764-007E8331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08998-2881-473E-80C3-5A10E272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谁维护知识库？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27558-E558-4814-A5CB-6C30D54C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C6FF4-8E8F-4209-B914-00E6D5D1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808AE7-144A-4DAD-9E09-CE1563A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954B9-A8E2-4FC6-B36B-F97D67A5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谁处理异常工单？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EB2BE-9106-490E-B8F1-19AD4DD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47768-DB81-4E90-B4B9-5F8E9E21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4099C-610D-410F-8CAC-4550A7EF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CEE45-97B3-4F82-AFDC-CE6C930E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谁看指标并决定改版？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09C70-AE4A-4042-81FD-C3C7E2F4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9F34A-2208-4FF9-A148-B75D56C2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CE0F86-C1AF-42E7-A820-28A290A7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F3D704-E60D-439A-8386-F137C5D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谁对业务结果负责？</a:t>
            </a:r>
          </a:p>
        </p:txBody>
      </p:sp>
    </p:spTree>
    <p:extLst>
      <p:ext uri="{BB962C8B-B14F-4D97-AF65-F5344CB8AC3E}">
        <p14:creationId xmlns:p14="http://schemas.microsoft.com/office/powerpoint/2010/main" val="52806182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95D6C6-2229-4171-8D63-F4BA3626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B28EA-1A19-46EB-A911-8BE06407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0FC29-B3C6-40FE-A901-D863466F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4C82A9-78DA-46C0-B119-787BF394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PRODUCTION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80B03-4E3C-49F6-B326-9DA4C485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从工具演示到生产闭环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F2A89-0C01-4E71-83A4-94F36C46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FDE把“模型能回答”升级成“系统能稳定处理”。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8A933-10A9-4D84-9E09-328A4E58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EBE16-3636-4AC2-9065-7C871836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2711A-9297-4943-B1D8-5CC1128B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B973C-7EEF-41EF-9B74-9D1D86AF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344386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7AF1C-8B74-40DC-A407-BE6958CE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153886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74C1AC-87D6-4784-B5EF-C96DA333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436" y="30099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254DD-E0C2-429C-84B3-D6FDC48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936" y="2686050"/>
            <a:ext cx="1344386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E2D79-9935-4530-A5B1-ED490420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186" y="2933700"/>
            <a:ext cx="1153886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9A5D9-A6D0-4B89-ABAC-D4C8421A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371" y="30099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33F15-CB7E-49AC-BB6A-BB1636D0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871" y="2686050"/>
            <a:ext cx="1344386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A9107-182E-4FD0-9E70-D14E3BA1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121" y="2933700"/>
            <a:ext cx="1153886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推理/工具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14115-A7F1-4F23-AC90-E3A73D18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307" y="30099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2BEF0-C165-4EEA-A25F-CACC349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807" y="2686050"/>
            <a:ext cx="1344386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44C809-9A6D-48EC-89E6-EA563B34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057" y="2933700"/>
            <a:ext cx="1153886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752B5-F579-4360-8A0C-89D61146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243" y="30099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E8095-A8AA-4E78-8AD2-81DF247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743" y="2686050"/>
            <a:ext cx="1344386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C3F6A-198B-4F4D-AD56-68F86874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993" y="2933700"/>
            <a:ext cx="1153886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人工接管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F8DDA-8CA8-4136-AAA6-7EBC703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179" y="30099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63A08-2777-4BCF-9B06-44518810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679" y="2686050"/>
            <a:ext cx="1344386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6D28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0A2941-282C-4681-8949-8513CE79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6929" y="2933700"/>
            <a:ext cx="1153886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写回系统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5C196E-293D-47D6-9713-9CD5C70B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114" y="30099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35072D-D82B-4DD6-BB19-5CF23978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614" y="2686050"/>
            <a:ext cx="1344386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39E6F-B6AB-41F8-BA40-F5B034CD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0864" y="2933700"/>
            <a:ext cx="1153886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监控迭代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47D72D-64B1-43CD-99BB-DCC78BD0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9954C5-8966-4A8E-9417-3680E7D5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59016296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A2371E-6604-44B6-9F3D-07AF0433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6522B-DF76-431C-A440-9FD30AF1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E0CC2-3347-4A64-98A9-03294687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F77A89-9353-44B3-B197-83DF1D65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21F9B-33FD-4709-989E-5BA51818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5分钟小讨论：你见过的AI项目卡在哪里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A470A-91D6-4BDF-A278-655680CB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把经验说出来，学员会发现大多数失败并不是模型能力问题。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8A978-19B7-4F08-8414-C8323165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FE20D-7476-4CE6-8F98-AB934648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F7D11-7363-49A8-AFC7-0765DD18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失败断点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6B458-033B-4B17-9FB4-4EAE370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714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DE1FF-6F46-438B-835F-9E881E1C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1DD0F-A220-4D6C-A018-57766F69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143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8分钟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9BE65-8D84-4261-BDA3-16B9442A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857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讲师先示范，再让学员分组产出。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8786F-DE48-4475-B99D-42041CE2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5101A-9ABD-49B5-88E5-31837274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193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50D522-3611-417F-BDD6-9A40F069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选一个公司或部门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1E7DC-6063-4C24-A3B0-5FEEA5FF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2E195D-F111-4749-B3F3-84A3BA9F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242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A8D65-9FA5-4848-8687-B4A65C05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说出一个AI项目或想法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C8DFE-B067-4EA6-9334-5BAD72BC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ECCD3-6702-4E1B-BDF7-4EE28A7D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97183-D3D1-4CDE-A0B2-13BDB62C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用五个断点定位最可能失败的地方</a:t>
            </a:r>
          </a:p>
        </p:txBody>
      </p:sp>
    </p:spTree>
    <p:extLst>
      <p:ext uri="{BB962C8B-B14F-4D97-AF65-F5344CB8AC3E}">
        <p14:creationId xmlns:p14="http://schemas.microsoft.com/office/powerpoint/2010/main" val="107206374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EC647-B6BF-494F-8B05-9711D27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ED3F0-748B-429D-BC7D-C6B70785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30D96-9A35-4631-A954-8D268AB8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4ED94-347B-4EC2-9EA8-A549BBEA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66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2FECA-CB55-45F2-970A-C063F01E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65A52-2B00-4A2D-9C00-93FB2192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8191500" cy="1219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FDE角色边界与能力模型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12CCE-E3EC-4EAA-BA73-C51378A3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FDE需要跨界，但不能没有边界。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045C8-BDC6-498A-BD3B-8C19159F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AB345-D81B-41B8-A3EF-DA20E6E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职责边界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0F031-29B6-4FDA-9C67-44679EB1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35D1B-C09D-48F7-B006-6663462F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F3730-8D2D-4D3D-BCD0-4AE28B8F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281B0-153E-4B0D-88B8-CD4278E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能力等级</a:t>
            </a:r>
          </a:p>
        </p:txBody>
      </p:sp>
    </p:spTree>
    <p:extLst>
      <p:ext uri="{BB962C8B-B14F-4D97-AF65-F5344CB8AC3E}">
        <p14:creationId xmlns:p14="http://schemas.microsoft.com/office/powerpoint/2010/main" val="78018422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5C0177-163A-4CEA-AAD8-EF0E0E4B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A00239-1A35-4571-983F-ADF07D0A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25C82-3787-4EED-86BC-A696980D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9B78CE-C92F-4676-A7F2-ED480FBA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RACI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64789-CEE2-4FC4-BB32-62725C88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FDE与四类角色如何协同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A8AF4-05D2-4E0A-8CC9-2966ED72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FDE不替代所有人，而是把各角色串成可交付闭环。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AD13B-F3BB-459F-A57C-6A2DD1C7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3FC0D-5339-4ADC-A651-BD144AEB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1A79D-CCE6-45B2-9CF7-4BE1AC24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34492-2E40-4CDE-9557-01D0241D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BE1C9-D5F9-4668-854B-B165090F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AD7DC-CD71-46D2-868C-3016480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B5766-0B73-4E73-BAA0-EB2E20D2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业务负责人：定义指标与边界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4A61D-953C-4CD4-B93B-519FF4EB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B867F-834E-4933-8610-B9E1FA68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2A07B1-FA95-41B3-A724-5F86F9F0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26BB5-37A9-4D3F-989E-57510EE8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IT/数据团队：接口、权限、数据质量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8339F-4D0F-4EDD-BA5C-5C87E144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BC2057-CB49-4E2D-AF73-3E5DC262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B92AD-BB69-457E-8275-BA3E5308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5846B-CFC8-47FB-892D-B3E4C2F3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AI工程师：模型、工具、部署实现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69632-8402-46AA-BCCE-1E90950C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AFC97-9DBF-4CD7-9F11-F1C24B35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4E4AC5-C025-42FF-84E3-70710677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F2E03-B550-4CD4-AE9F-8B460ADB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FDE：诊断、方案、集成、运营</a:t>
            </a:r>
          </a:p>
        </p:txBody>
      </p:sp>
    </p:spTree>
    <p:extLst>
      <p:ext uri="{BB962C8B-B14F-4D97-AF65-F5344CB8AC3E}">
        <p14:creationId xmlns:p14="http://schemas.microsoft.com/office/powerpoint/2010/main" val="35272551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EE1DE5-9609-41C7-AC0A-3C83C70A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4E407-5BDA-441E-98BC-4B6FE9CE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038C1-D65F-4EEB-95F5-258CCF27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5318BE-4AC5-4CC6-B4A5-ED624D17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INTERVIEW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527FB-D199-4831-8075-95C40C67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访谈三角：老板、业务、一线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FDBEC-114D-4AE5-95D5-5D3BAE7C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只访谈老板会得到愿景，只访谈一线会得到抱怨，FDE必须把三者对齐。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33232-3D8C-43F3-9763-176D9E71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5457F-EE96-499B-8627-C066864E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81241-0078-462A-9F26-242834CE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DFD46-EF97-47EB-8C68-41E0FB44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2FB50-7BD0-48D1-B636-1094D3EE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6A7A8-1F27-4410-B553-255DAE62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12288-1065-483E-B40C-1D0D5076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老板：目标、预算、风险承受度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38AE0B-338D-4DC2-9E50-4085EBAA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2CD3A-C780-471E-B433-EA0ADC05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3EB99-FAD8-4EAC-B4E6-A80ED20E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9E533-543D-4DA3-AAFF-0BD9F7D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业务主管：流程、指标、资源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05FDF-DB1A-47F0-9657-7AEBE33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27C0DC-77EC-45BB-8F4D-CFF20B7C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B8224-F782-4A4E-82BE-71E7EE7A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8DCAB7-2330-4F56-80B5-A5AFB074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一线员工：真实动作、例外、阻力</a:t>
            </a:r>
          </a:p>
        </p:txBody>
      </p:sp>
    </p:spTree>
    <p:extLst>
      <p:ext uri="{BB962C8B-B14F-4D97-AF65-F5344CB8AC3E}">
        <p14:creationId xmlns:p14="http://schemas.microsoft.com/office/powerpoint/2010/main" val="50357255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520C70-4E04-433F-A55A-D3729E31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C35B3-E4CA-4821-814F-B85A9374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11A33-EC2F-423F-B869-DA55649B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5D49492-0E75-4E41-A0D5-4A153C9C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SCENARIO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45DFC-4BD1-4D7B-9729-1A35D2A7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场景选择五因子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1BAF9-BF0D-4943-B4B9-58141A0E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好场景不是最酷的，而是最能部署、最能证明价值的。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F765F-CB69-4177-ACCA-963B1F60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118E9-0B80-4FE8-A1E1-B8979BCB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4F80D-5379-43F3-9D19-E8494A1F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BA6AD-3279-4E98-B5BC-741015BC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CFD44-41E0-4030-9C4A-BB224A7E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2286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0A08A-7D4C-415C-B978-41EC37E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14575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FDE讲解重点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6AD9D-6883-4D44-9409-421F354A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A7704-3C6B-410C-8760-8998F092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痛点强度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C018C-E8EF-4017-BE6D-29A49122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痛点越靠近收入、成本、风险，越适合作为第一批AI场景。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0B6E3-443B-4E80-8E18-5796EA62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1F2AD-7607-43C2-93F4-EAABD07B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频次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AD151-B18A-4B56-8A8F-7B70C99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高频流程更容易形成ROI，也更需要运营和质量监控。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5CC9B-63F8-4582-BAB2-0484FF91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76BD3-8F7D-45A5-B3E2-DFFF436D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数据可得性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C0483-5F8C-4674-8FC1-A314337C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数据不是越多越好，而是要可取、可信、可引用、可更新。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9BA75-203F-4EB2-A2DA-47E132BD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F7B9F-4C07-4388-8AC6-3565452E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可控性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DB30D-74A4-4D8D-A85C-721619D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把这一项落到真实流程、上下文、工具、指标和风险边界。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20291B-AC61-4A40-A070-379F42E3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2943B4-D1D0-4232-A0EB-8660E13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ROI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996261-9DF1-4ECA-919D-EA10AD2A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149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优先选择4-8周内能证明效果的最小闭环。</a:t>
            </a:r>
          </a:p>
        </p:txBody>
      </p:sp>
    </p:spTree>
    <p:extLst>
      <p:ext uri="{BB962C8B-B14F-4D97-AF65-F5344CB8AC3E}">
        <p14:creationId xmlns:p14="http://schemas.microsoft.com/office/powerpoint/2010/main" val="156652817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17CAB6-D689-40A5-814E-1F705F32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3E28F-E4F8-4482-9B20-BED2EACB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8BA01-D16E-4884-AD17-A34753BE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F52E485-C4BA-4045-89A4-3E4D1419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CC47E-A5D3-4D93-865B-2FCEFCD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风险分级决定部署方式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2CCE4-B6AC-4160-9112-0675DAE6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不同风险层级对应不同自动化程度和人工接管方式。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0A421-2308-4B91-B2EA-0F42C645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D7294-32FB-4826-8706-8A687AD7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03886-7AC9-4553-B9EC-01F530E3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0270A-3BF0-40D9-8E68-64DC734A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9EA81-DBE0-4141-92C7-E98B46E6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307F3-52FF-4A54-AFE8-FD30F288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995E5-2BBA-451A-B65E-886F764E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低风险：生成草稿/推荐/总结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B0061-71D2-456A-B0E3-BA143F96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F8045-23EA-445E-BA5C-3114E38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3A6B5-A14F-437F-8F2A-63785781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CF48CC-EDCF-48F9-BA88-733110CE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中风险：人审后写回系统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00378-3A5D-44A6-9B31-3B339140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10A46-7A5A-4EAC-B137-8F1C9EED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30019-5455-4D29-8C66-33F6D46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A9944-FB85-4B2A-BFCD-0B7811AE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高风险：只做辅助判断或必须双人审批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1F4DC-DB20-4009-9100-D9EECC5E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5EB25-4EFD-408D-9CF8-997469CF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6BF4A-3886-4D12-BA3C-8E8CB18B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83F852-10A5-46E3-BE6C-619B00C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禁止区：法律、金融、医疗等未经授权决策</a:t>
            </a:r>
          </a:p>
        </p:txBody>
      </p:sp>
    </p:spTree>
    <p:extLst>
      <p:ext uri="{BB962C8B-B14F-4D97-AF65-F5344CB8AC3E}">
        <p14:creationId xmlns:p14="http://schemas.microsoft.com/office/powerpoint/2010/main" val="70883093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8AED1-3CAA-4270-832D-C6345ECE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A4CFF-17E4-411A-B569-D17BA0DC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43C4C-AF79-4B09-855F-D6096D88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95A1EE4-E48E-4AFD-B4EB-A394995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DELIVERABLES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05074-CD30-45E6-9EF9-3C5A7B90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FDE第一阶段交付包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A6F92-3A73-4D92-8489-28D3A265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交付包让FDE从会聊天的人变成可管理、可复盘、可复制的工程角色。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94A11-406D-436F-9E4A-8E751EDC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EE74E-9154-415A-BA52-434E8BD0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18B16-6B66-43D0-A97D-9C6C7028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B0A79-B4A7-4618-A321-603C0FF1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117B6-C7F7-48BE-B2D1-4C14BDAC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F8834-6BE2-483D-A70B-3E7D74A6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6929C-BCA7-4E65-984F-D4649E23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诊断纪要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4CBC6-8ED9-48AC-80B9-5F802184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16644-FE74-4D43-90A8-471C4B23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2CF6E-EC05-4824-A2B4-27BDA59C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F3280-E7CB-47B2-8EDE-C317C42E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流程现状图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9BE2F-BE57-47D5-A559-CB925182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B79B5-46C8-4EE3-8064-83C7B6C5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BB1575-78AB-4253-8DAB-C6EAAF17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B18D6C-9B7F-4F92-8F4A-6953ADEF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AI机会地图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0FA88-3F7B-48DD-8E77-98A1F674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92785-4686-4EF8-B8D8-54B422B5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A14E72-226B-4C90-9E3B-14021114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1E5DE7-8306-40E7-8274-56BA4926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EA3FBE-5FF2-4A41-9823-9642BA01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E68FF0-2877-450C-B7D4-2919FE0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30AC54-95B9-41D8-816C-2EA9896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39CC4-6555-43EC-A017-3F1026A7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项目Brief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14564-FCE0-44E5-9412-E75A4E34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736D01-FEFE-4966-A14E-7BE9ECE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78E2B5-7983-4B49-8C94-95BF32E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2C5E99-4050-42B4-982C-D87A49DC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验证计划</a:t>
            </a:r>
          </a:p>
        </p:txBody>
      </p:sp>
    </p:spTree>
    <p:extLst>
      <p:ext uri="{BB962C8B-B14F-4D97-AF65-F5344CB8AC3E}">
        <p14:creationId xmlns:p14="http://schemas.microsoft.com/office/powerpoint/2010/main" val="47549103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32368A-1598-4C0F-A1C1-12CEBD25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71E28-4EDC-49AC-A4AA-C8D883C6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DF567-5498-4F21-B692-B017A6E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ECAF5D-5A4D-4B71-B31E-9A128936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26486-EA7C-461B-BA84-7C5FADC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Claude / OpenAI / 腾讯体系如何兼容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B2921-DC6C-467C-8631-C8258CC0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课程不绑定某个模型，而是训练跨平台部署逻辑。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FE12A-D5C9-44D5-9560-D2AA191E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42DD3-321B-4B3D-9DB5-5D9489E7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508D4-9916-4363-B3AA-284A6699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B5C55-CBC7-4C53-BA3A-5FFE9160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D5E549-8A1B-4313-BCBF-EEC8830B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141A4-CAD7-4288-9677-1F76BF40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5D0CD-00F8-4C22-ABF7-273F0805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Claude：上下文、Claude Code、MCP、可靠性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FFDA5-659A-43F6-AD4A-32FA288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66950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8169E-E08A-49BA-882E-9049F418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6C4EB-C49C-4393-87D1-AAC55292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CDF18-B212-442E-93CA-D845FBE4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419350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OpenAI：Agent、工具调用、评估、企业流程部署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4DC97E-5C88-45D2-8109-D85AB1D2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B01C2-950F-4681-833A-A9905CE3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D2A83-1D3B-4DA6-B989-B20CC8B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84C10-C7EF-4890-B3F3-49AB655E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腾讯：ADP、CodeBuddy、CloudBase、企业微信生态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BE0412-3AE8-4578-8FB9-DD4E1BA2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67175"/>
            <a:ext cx="5248275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6E36D0-66F5-4B7D-BF91-D107F113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ABC21-6CE7-4879-B05F-F6546C6F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3A6F7E-BF5D-4B4D-BA14-1F3863C8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219575"/>
            <a:ext cx="4448175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国内模型：同样落到知识、工具、流程、治理</a:t>
            </a:r>
          </a:p>
        </p:txBody>
      </p:sp>
    </p:spTree>
    <p:extLst>
      <p:ext uri="{BB962C8B-B14F-4D97-AF65-F5344CB8AC3E}">
        <p14:creationId xmlns:p14="http://schemas.microsoft.com/office/powerpoint/2010/main" val="82630631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18D22-E435-4AF8-9EDB-49E0CFE4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FBBBF-4D72-44A1-87B1-3C840E93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CBDD3-FDA2-44DA-BC25-68094E06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851CFAC-8584-4C6E-963F-813AC2C2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F5707-B968-4D62-9004-5871DC3E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上下文不是提示词长度，而是运行时记忆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94685-27B5-4D12-9CB9-B07AAFD0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真正的上下文工程，是让AI知道当前任务、相关事实、可用工具、业务状态和风险边界。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58842-C161-4C1B-B5CC-12695B5E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BAF9F-413B-4AD7-A87F-91434BFD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B1A72-D30F-4153-89CF-640FE7AB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DC590-8304-4C22-B987-394050F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994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4EF4A-2915-43DA-8735-8682F737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76200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814E3-68F2-4B8A-A2B2-A21AC47E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78105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上下文不是提示词长度，而是运行时记忆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3E38E-81F7-4680-AAFC-4118B1C3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7429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真正的上下文工程，是让AI知道当前任务、相关事实、可用工具、业务状态和风险边界。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4B18B-377E-469C-A980-C08D952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Context Window：本次可见工作记忆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4051F-34D9-499B-B3FF-CD199784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Memory：跨轮/跨项目沉淀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445B9-AB0C-4E49-967C-30192CAC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Retrieval：按需取回证据</a:t>
            </a:r>
          </a:p>
        </p:txBody>
      </p:sp>
    </p:spTree>
    <p:extLst>
      <p:ext uri="{BB962C8B-B14F-4D97-AF65-F5344CB8AC3E}">
        <p14:creationId xmlns:p14="http://schemas.microsoft.com/office/powerpoint/2010/main" val="45779057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949F5-DDB3-41FD-8F7C-F872C12B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94C12-7706-48DD-9554-065A8D02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994B8-0920-467D-90EB-68E9AF86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092FAB-BEEE-4010-B52B-17036D9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CONTEXT OPS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40A28-6116-4A39-BD84-16EB47DB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上下文工程的五个动作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C8851-AE61-48A7-91F6-5062C792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Claude体系中的上下文、缓存和记忆，是FDE需要重点掌握的部署基础。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EE196-6E14-45A6-9220-94186C0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9BCCC-FC2B-47D0-AE60-D59CA77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0DD10-DBB0-454A-9C3D-241964C9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8F733-ABA1-493F-A332-017EC11B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3D2FB-36FB-438F-B92B-2CD64F4F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5583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筛选：只给必要材料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3017F-D741-4D61-85FA-3AC05445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DC93A-3745-455E-8B05-3BED047A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9C42A-4406-44EC-AD4D-50E67EB0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排序：关键事实放在显眼位置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D1979-9963-4A1B-B0C5-2B453AE6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DEE9A-7206-4796-8875-3DCB618A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36732F-DAB5-42F9-A391-5BCE402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5583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压缩：长流程做摘要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E8959-ED7D-4363-9207-94E4EC2C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186EC-5D89-4E7F-A1CA-5F1647F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5EBD85-192F-4897-B2EE-0699ACCA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隔离：不同Agent不同上下文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550F4-799B-4441-A34A-F6A64A26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C6A33-8F53-419B-BFBA-A1F45CD7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F223A-5B81-4B82-ACA4-9DE81BC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恢复：异常后能重建状态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CA8DF-5BA4-421D-BA90-0D34D76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501C5-F32C-410B-9304-CEB26878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290486733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1D650-3225-467A-995C-C37F721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58B09-5CE8-40BB-BF4E-298F3F21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F5BFC1-8BE9-48E1-A35E-9929BE7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BC4F013-108A-43B9-8557-5AD3EAD9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QUIZ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EEC74-E99B-44FB-AE46-6A9BDCF8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Checkpoint：判断FDE该问什么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ABFDC-C46A-4892-A04B-85F21AA0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用三个问题检查学员是否进入FDE视角。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5F23C-BE44-445B-8011-6B4E59E1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B2354-494E-4D02-92D0-76F76108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C0DBD-B7EA-4B6F-BAD5-A0A11AC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能力模型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FF182-EAEF-4105-9D9C-D5C8709E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714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81C70-6698-4F6C-A70C-0D3855BF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9A00F-1C52-4AA0-A1E5-730467EE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143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6分钟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B1E40-1D6F-4C18-BD35-DAAAEC55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857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讲师先示范，再让学员分组产出。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55708-F3C2-4842-93F1-8CBEE610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C3F13-7D5D-4836-9184-BE2F762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193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F246B-70D5-49C9-959D-257BCA1D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这个流程的输入和输出是什么？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491735-B285-479D-BFE6-8718FF30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52D92-0C76-4A62-B01D-72B999ED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242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E7984-9B50-4302-A47E-B5DFDD54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哪些信息必须进入上下文？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51718-D37B-419C-A71A-6DE96D82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C37A8C-2CFE-469C-A8FF-0AC2AB0A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BD8AA5-BC99-4773-919C-8D1BDEC5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哪些决策必须由规则或人工接管？</a:t>
            </a:r>
          </a:p>
        </p:txBody>
      </p:sp>
    </p:spTree>
    <p:extLst>
      <p:ext uri="{BB962C8B-B14F-4D97-AF65-F5344CB8AC3E}">
        <p14:creationId xmlns:p14="http://schemas.microsoft.com/office/powerpoint/2010/main" val="212004206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DA47DD-F934-42C5-B004-EF5D2111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CCD50-F2A3-49F8-BE0E-56BA47C1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726A9-CDCC-455A-8163-99C18EE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946AB-BA76-4F14-BE66-2745B2C1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66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FDDB4-1C0A-4AF2-A3A8-4F36F725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7E467-6F0B-4C60-BEED-63643407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8191500" cy="1219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企业AI转型五层进化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C8916-93C4-4973-86BB-CC8125A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这一段用90分钟完成：识别层级、画流程、设计目标态。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D25DA-C8DA-4BD6-8990-CE2E54CF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9B42BA-B325-4710-9044-CB402CE5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工具增强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BA82E-E082-44C8-B7D1-30FAD498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AB89C-99B2-45CB-B606-BA2910B2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部门助手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86D4D-418F-45F3-B558-8DA074E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9DF84-4C3F-4D22-A1C8-0D0A9649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流程自动化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1DD847-1BCB-49D1-97C3-A7BDCCA3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13531-D97A-406C-AFBA-C8099DBE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数字员工团队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036187-8B58-4BBF-B0EF-CB88B884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13D17-E901-4D12-9DAD-9B7AB3F5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AI原生组织</a:t>
            </a:r>
          </a:p>
        </p:txBody>
      </p:sp>
    </p:spTree>
    <p:extLst>
      <p:ext uri="{BB962C8B-B14F-4D97-AF65-F5344CB8AC3E}">
        <p14:creationId xmlns:p14="http://schemas.microsoft.com/office/powerpoint/2010/main" val="54298755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9C007-88EF-4E5F-B694-A325F11A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986BD-1249-422A-BB47-4469D043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4BB1-CBA0-452A-A5BE-B8F581C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E232487-5111-44E1-9DBE-10EA4D87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B9D5C-9B10-4D4F-B1B9-C6A33D4A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五层不是等级崇拜，而是部署成熟度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61BA7-829E-46A4-BC2C-B2A26791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每个企业都能从当前层级出发，先找到最近可交付的一层。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83DD8-5E68-411E-A27A-8837883C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B3049-0F12-4ABA-A3B6-2ED553F2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89E23-6258-4D26-B532-D789B930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DEDCD-B08B-46A7-ADFB-F4862B31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56249-8464-46CA-AD17-8B32FC6B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90775"/>
            <a:ext cx="78105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工具增强：个人或小组用通用AI工具提升写作、检索、分析、代码、设计效率。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E2015-AD9C-4573-8C7C-EACBE0C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7829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8A1C4-5C3A-432A-9D13-C95FCE6E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95625"/>
            <a:ext cx="74485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部门助手：围绕一个部门的稳定知识和任务，形成可复用助手。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AD12BD-9B10-4426-B201-96D47F01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676650"/>
            <a:ext cx="7467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3199B-000C-466C-B190-18BF6F84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00475"/>
            <a:ext cx="70866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流程自动化：AI进入跨系统流程，调用工具、读写数据、触发审批或工单。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6C49B-1CE3-4134-8AF6-2EF992E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81500"/>
            <a:ext cx="710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88C17A-BC8B-479A-82E3-3A5A1B12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05325"/>
            <a:ext cx="672465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数字员工团队：多个Agent围绕岗位分工协作，形成可运营的AI员工团队。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7F65B5-4A65-4944-BE4B-B0AB52C3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6743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201AF-1C24-4C11-B958-0C32AA0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0175"/>
            <a:ext cx="6362700" cy="228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L5 AI原生组织：组织把AI能力嵌入战略、岗位、流程、数据和经营指标。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4176F1-4055-4465-90C2-85D0D5B6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857500" cy="6286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越往上，越需要组织机制、治理和运营能力。</a:t>
            </a:r>
          </a:p>
        </p:txBody>
      </p:sp>
    </p:spTree>
    <p:extLst>
      <p:ext uri="{BB962C8B-B14F-4D97-AF65-F5344CB8AC3E}">
        <p14:creationId xmlns:p14="http://schemas.microsoft.com/office/powerpoint/2010/main" val="277322396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57CC1-88CB-4B98-BD79-352E79B7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B44EE-CFDE-4C6F-91C0-F27C09C4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A0926-A97F-488B-A709-727D435D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D64B51-D236-4C18-AE52-0171C840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5F171-C93B-475F-B7B8-BBF4CEE8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 工具增强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CED6A-A17E-42AA-A2C7-76F07DD8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个人或小组用通用AI工具提升写作、检索、分析、代码、设计效率。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30960-F35B-4732-B2EE-3FB47EDF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81AA1-6188-4F26-8341-8579BF60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BF97C-DF83-4153-8F24-13C986F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5E1DB-4239-4125-876F-C34557BE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EFCB6-28CB-4D7A-BAC5-418CFED8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1EEC77-6FF9-4EC1-A1AD-0122F40F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00025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工具增强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E8E969-D394-4CBC-B4C4-2D9F486C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1905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个人或小组用通用AI工具提升写作、检索、分析、代码、设计效率。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1DFEA8-3648-49F2-92D8-73EA290E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8CD5C-207D-436C-B11F-55A5E7D9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D6C43-B249-43EA-B76D-AEE811AF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业务流程不改，数据不接入，结果依靠个人判断。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4BCA5-4965-45C4-9803-9FC1FF2E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7D8557-A8DB-4D8A-BF8F-BCD56B97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575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73A61-E8DE-480E-84AB-A89839CC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会议纪要、文案初稿、Excel公式、代码解释、竞品信息整理。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48C6C-558E-4ECD-B917-A86F5F73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F9E02-FFAE-419B-BF67-824C18B8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9C8B7-ED7D-47F3-AB1A-E8232BD0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工具清单、提示词模板、场景SOP、风险边界、培训记录。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50E93-AABC-40D7-AA02-663B3214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F170F-CD68-46F2-B0BB-BD667FA5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529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3D08FD-F8C3-445B-81DF-F93F2EAA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人均节省时间、返工率、素材产出速度、员工使用率。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5C8B5F-24CF-4E33-B091-FAE92EE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577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6C7A44-BE28-44FE-A558-9CA5832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0AE658-DCA2-4C50-9C15-0902D21E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625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信息泄露、输出未经验证、模板漂移、只会演示不会落地。</a:t>
            </a:r>
          </a:p>
        </p:txBody>
      </p:sp>
    </p:spTree>
    <p:extLst>
      <p:ext uri="{BB962C8B-B14F-4D97-AF65-F5344CB8AC3E}">
        <p14:creationId xmlns:p14="http://schemas.microsoft.com/office/powerpoint/2010/main" val="130156133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A934A-B119-4E1E-9016-DA325659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58E2B-0502-4FD1-A6F5-9573CE18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26E7C-B24E-4697-AD3E-7E061E7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5DA666C-67B0-4175-BEA9-D093DDCF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618D5-6E38-4025-9C10-4BAE1B60A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 部门助手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18EAF-3565-4419-AFC0-85E5EDB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围绕一个部门的稳定知识和任务，形成可复用助手。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E1AC9-B7C9-478A-828E-61303D6C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03926-BA43-429C-B094-873A9500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8DF18-4959-44F2-9D83-1B9109BF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32B34-57CE-4233-8F41-E774FCB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EB1639-72FB-4D7C-9490-FA328E05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93B72-BF97-4A04-8A5B-23176458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00025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部门助手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AC5A2-67A0-4E32-AC57-3E17A664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1905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围绕一个部门的稳定知识和任务，形成可复用助手。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3C6D6-D90C-43BF-9F40-5F4F05D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D30B4-0FCF-44FE-8DDE-EEC4F56F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6CE23-9033-4F51-8CCB-3F6B2B06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有部门知识库、有固定问答/生成任务、有负责人维护。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88A14-AE90-4E3C-B4FE-4EFA53BB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895FB7-0608-45CF-A9E9-EF0035A4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575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4AB1E-FDAD-474C-83D7-A3D489C5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销售话术助手、客服知识助手、HR制度问答、法务合同初审。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2A80B-856E-41BA-B19F-1B753019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A36D2-5A00-4725-96DF-74C9E89A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5FAD85-9544-4316-8DF3-04E5F88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知识库、角色提示词、权限分层、答案引用、更新机制。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DC8B46-18B7-4DED-BAA5-7D4210A4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2B3F45-BD43-425B-BEF1-EA0356B3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529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584D83-CCCA-4A89-8126-E326AB1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命中率、引用覆盖率、首次响应时间、部门满意度。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CBE92F-8A2D-43BF-B47C-B5559401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577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C9408-0779-4054-9F34-1B7CAD0D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FA8A5-E8C5-49F2-B3B3-3EBAA626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625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知识过期、没有引用、权限混乱、部门负责人不维护。</a:t>
            </a:r>
          </a:p>
        </p:txBody>
      </p:sp>
    </p:spTree>
    <p:extLst>
      <p:ext uri="{BB962C8B-B14F-4D97-AF65-F5344CB8AC3E}">
        <p14:creationId xmlns:p14="http://schemas.microsoft.com/office/powerpoint/2010/main" val="51163072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97CC07-7B28-49F4-AC0C-AF65F21F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F70E2-4F11-4C22-A66B-4592D503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7B0F3-4948-4DBE-9EA6-D7E365CC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D37689-C19C-42FC-AE4F-1B75D4B7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439A2-6072-4BD5-9C17-77CC7BE1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 流程自动化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FE049-DA80-430E-AC39-CD7CAA9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AI进入跨系统流程，调用工具、读写数据、触发审批或工单。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4B319-4038-4EA2-B9F6-84341990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67CE4-208E-4708-9956-496B1754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C55DD-92A4-402D-BA4F-7A13AD1E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76D42-931A-4C38-8DE5-CE2A9615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6BA6D-EB93-45C8-8437-2FEF6CD7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6BF5C-290E-4D58-8AEE-7FBBB1A1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00025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流程自动化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F280B-213D-40B1-93DB-4D60A181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1905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AI进入跨系统流程，调用工具、读写数据、触发审批或工单。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4B628-BBF9-4D76-97AD-13ECBA7A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FC347-5890-4BA7-912D-AE393300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937D6-0563-47B5-835C-B6C46352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流程边界清楚，系统接口可用，异常有人工接管。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6FDFE-3845-4034-921F-1C58ED93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5A9A6-1719-4D02-9CDE-A17A2CAB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575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B5DF3-B620-402F-A7C1-5ECFF475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售后工单分流、订单异常处理、合同信息抽取、线索评分入库。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333EED-D996-4241-BD6B-9B9E20BF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04BC1D-533E-41B6-B3B5-E13ED4EF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D3B9E-C2A7-480C-84E9-2B19F633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流程图、工具/API清单、结构化输出、校验规则、人工接管机制。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0ABBC-1EFF-4409-BB73-35D67D5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F406F5-BA9E-4968-A02B-406B8F1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529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101F5-3EC9-4798-B344-DF790AE9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周期缩短、自动化率、异常率、人工接管率、单次处理成本。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DF2ED-B3E1-4FD4-9111-CA54903A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577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6ED40-2F9C-45D7-8CB7-4D1F502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011C50-ECC2-4D1D-97DA-AAB05446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625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把业务规则写进提示词、没有幂等/审计、失败后无回滚。</a:t>
            </a:r>
          </a:p>
        </p:txBody>
      </p:sp>
    </p:spTree>
    <p:extLst>
      <p:ext uri="{BB962C8B-B14F-4D97-AF65-F5344CB8AC3E}">
        <p14:creationId xmlns:p14="http://schemas.microsoft.com/office/powerpoint/2010/main" val="856362433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009412-C1F1-4609-8570-C7198706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85648-B37A-4322-8524-CA1F988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EB92A-BD48-4E01-B451-36171F2F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1B9725-8381-4999-8217-61069658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FAF08-E272-4800-8664-FE943C0E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 数字员工团队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E5B05-39F5-4B0C-8F45-7C3642A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多个Agent围绕岗位分工协作，形成可运营的AI员工团队。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CD058-D521-4451-84AC-AFBAD07B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EC949E-7842-4A6F-9186-44F2C920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C3A07-8B90-4E57-B906-68E4CA87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8DF25-9666-4067-889A-D08168E2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89380-D701-4DB3-B85F-89003E13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C0BD7-1E50-4283-B95D-5EBAD3FD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00025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数字员工团队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C336A-4100-468E-981E-233EE459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1905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505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多个Agent围绕岗位分工协作，形成可运营的AI员工团队。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B7F32-A9AC-473D-9F78-13AF9738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E6D9E-7767-446F-A292-E11C1502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C6ABB-B323-4C1F-93CF-BC1325D2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任务可拆分，子Agent职责清楚，有调度、上下文传递和质量检查。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6643D-4376-4107-AC2B-A4BA7E5C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5D2F1-0B99-4E7F-BBF3-546F4FFB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575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F0DBC-D55E-4382-9A5D-600037A2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市场研究团队、客服主管+专员团队、财务报销审核团队、开发协作团队。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AD2D7-725B-42D6-93D9-E8074ABB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AFCFE4-84C8-4086-BDFE-8B165446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F1CE7-1E51-4B17-85BC-D4F9A466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Agent角色表、上下文契约、工具权限、质量门、运营看板。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DC650-9896-4E12-97C0-8C28E3D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722BCA-CFE6-422D-AF90-1B9DF789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529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F0129-9065-40A2-BE3F-9BF99271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端到端交付量、质量通过率、人工监督时长、队列积压、复用率。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1F280-5353-4204-AE4D-C4FD8398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577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DAB016-38CE-4A7E-BB67-F6AF5B0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32BBA4-4B99-4E89-9F48-DDE2246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625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子Agent上下文不一致、工具过多导致路由错误、无人负责运营。</a:t>
            </a:r>
          </a:p>
        </p:txBody>
      </p:sp>
    </p:spTree>
    <p:extLst>
      <p:ext uri="{BB962C8B-B14F-4D97-AF65-F5344CB8AC3E}">
        <p14:creationId xmlns:p14="http://schemas.microsoft.com/office/powerpoint/2010/main" val="88381317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AD5128-0612-444A-8A7D-0E7272B8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64F5A-2335-4544-B57F-97A36770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35F7F-F1D9-4E59-9058-DD43475F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496B822-F123-4647-869D-B8E5AA68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E3980-8E61-4D88-8331-5C1E33AA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L5 AI原生组织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4E44C-07B6-4F53-B0AB-3507304B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组织把AI能力嵌入战略、岗位、流程、数据和经营指标。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11DFD-1C01-4A59-98D5-CB46110E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5D024-11B0-483B-9CB8-013DBDE4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5CC4C-B99C-48E0-86D7-B6B985CB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BB471-A524-43D5-A052-A481E01E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381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65A5E-9807-4F97-9DE5-CE44F777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8097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L5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2143E-DE19-41AF-AB69-E600B67C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000250" cy="838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AI原生组织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64901-4A1E-44EF-9626-F50CEEE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1905000" cy="552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505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组织把AI能力嵌入战略、岗位、流程、数据和经营指标。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7B9A5-2BFC-4F33-99AC-57FC469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FA074-3EFC-4127-8749-5DBE724F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进入条件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2FE6E-A601-45DF-BDB2-D28871DE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AI项目与经营目标绑定，有预算、治理、人才、复盘和规模复制机制。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99CD5-EA36-4C6C-8840-9E2BDB42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B22F1-B49C-4C45-851C-4078A19E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575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典型场景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B4EDE0-16BF-4369-9907-5AE54F87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194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AI原生销售组织、AI原生研发体系、AI驱动运营中台、OPC生态。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713C8C-94EC-4C38-AA20-9510DD06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623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ACF5C-860A-48EB-9E97-7AF76659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052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0E5B9-1732-4F97-B9F3-C0261A88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组织蓝图、AI岗位体系、治理制度、经营仪表盘、项目组合管理。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87ABA-DC01-49E6-9884-C5938B93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100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DD660-659E-40C9-B78B-918A818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529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1B08C5-A70A-4438-8549-C0D322FE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148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收入/利润贡献、组织人效、项目复制速度、风险事件数、人才产出。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E299A-7A34-48B5-B7CE-FE3654F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57750"/>
            <a:ext cx="7353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7D29E3-C2C9-4A6F-A064-32B6114C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006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CB0E3B-84A8-4937-9C32-AE779E4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62525"/>
            <a:ext cx="5905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只换工具不换组织、没有激励机制、数据孤岛、无法形成复利。</a:t>
            </a:r>
          </a:p>
        </p:txBody>
      </p:sp>
    </p:spTree>
    <p:extLst>
      <p:ext uri="{BB962C8B-B14F-4D97-AF65-F5344CB8AC3E}">
        <p14:creationId xmlns:p14="http://schemas.microsoft.com/office/powerpoint/2010/main" val="1630845132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3D4C2-C227-4EE6-97A9-8C236920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48B3-BF17-4562-ACE0-06BFC5E2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90F97-ED0D-4E63-A806-E0AF6F60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BA7261-CC41-4229-97DD-C9AF3678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TRANSITION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F5E3C-277D-4268-A799-C7D1046D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层级跃迁靠流程，不靠口号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ECF7C-2D8D-49C5-8974-BDF98A92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从L1到L5，每一层的跃迁都对应新增的组织能力。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2A6B9-5661-465F-A6E4-1BA3152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D7421-53FA-4E51-A0F2-B3E7AE4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7ACCC-77C9-4C56-8FA7-60621B77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AB446-BF03-471B-92D9-515E59DC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E4078-CDEB-4816-9112-73B1025F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L1到L2：沉淀知识与负责人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FB21F-EB0D-4647-AA4D-62DF7951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DF2DA-C107-4681-8630-1F40E7EA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C98EB-C718-4D48-84C2-94849662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L2到L3：接入系统与规则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C00DF0-5B23-47D0-852D-CB37E7D7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FBD78-C18B-411A-8ED6-AF351435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CB5D2-9C25-44E9-8FCF-1706981F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L3到L4：拆分岗位与多Agent协作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B1BF8-2185-4BFA-94C3-218E7261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EB8BB-FBE6-49CB-BB39-792427FA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34823-280B-4F67-A2ED-A2D0AE81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L4到L5：纳入组织治理与经营指标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51FAF-8EE9-4CA6-94B1-A8421D2F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21043-0A98-463E-9B9A-056DDF29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286381192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3858B9-8120-408C-AD5B-C7574B73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6D262-72A7-489E-BAE2-5EE6819D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F8AB2-A852-4FF1-B20C-17464FF0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1322914-920A-4EA7-9566-F9786AB7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DIAGNOSE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2C38A-EB61-4B0A-914F-2ABC6FFD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如何判断一家企业当前在哪一层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18C37-A093-4EDC-B1F6-728F0CB0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看它的AI成果是否进入流程、系统、岗位和指标。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5A40D-5C76-419F-AD9E-9F70F088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509D4-33BC-41EF-BD49-D28B7B0D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64FC0-B4DD-417F-8928-63A6AB2C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E4EFD-E498-4E81-B0CF-84F8D511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22A9E-A546-497E-A70A-80558B77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884F1-D187-419E-B7FB-BF904665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08284-A400-48A6-8ADD-55319AF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是否只有个人在用？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F10ED-D138-4FD9-A2BB-A9A185F9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218D8-6290-4198-B13C-0EDDBE81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7B0434-E732-42A8-803B-A8FF0203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27F25-BCDA-4A1C-947B-8C479C35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85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是否有部门知识资产？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B5466-C9E6-4398-B394-2694433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3523F-791F-4017-BFF4-C3C69386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02CA7-49ED-4ACA-8B6D-BE343BE6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1B6CF-C292-402B-B537-E86F0A7B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是否能调用系统工具？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2BF89D-7B2D-4FC1-9616-F78BCD2F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D58E6B-CEF4-42FC-BE06-C21A325E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08156-F852-4002-8A73-633C8023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552636-FBE4-4A19-85A9-1A7E7C11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是否有多角色协作？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2BA2A-6B5E-4EA5-B11C-5F4F583A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67175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6D3F7-B922-43F0-977A-37DFF361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0">
            <a:solidFill>
              <a:srgbClr val="FEEC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9DA01-2D4C-40C8-8822-909CC36D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6E9CD-3990-499B-8D47-B8302D8A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850" y="4219575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是否纳入经营管理？</a:t>
            </a:r>
          </a:p>
        </p:txBody>
      </p:sp>
    </p:spTree>
    <p:extLst>
      <p:ext uri="{BB962C8B-B14F-4D97-AF65-F5344CB8AC3E}">
        <p14:creationId xmlns:p14="http://schemas.microsoft.com/office/powerpoint/2010/main" val="180481490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E67A2-7E55-4C70-894E-EFA8655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D560D-4018-40EA-B926-05D03A56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11736-C6EB-4E89-B912-A01558F5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49C976-DCDD-4F62-808D-2656C376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CURRENT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60E87-20B6-41CA-A39C-4963CCB7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现状流程图：先画人怎么工作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D3002-2716-4D5A-ABFF-8DAAF6A4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FDE不要急着画AI，先把现在的人工流程画清楚。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1151E-2559-43BF-9B8A-B56B82A1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2A5EB-142E-4DD1-A22D-33A80ABD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E18C6-1ADA-4116-8341-14742EBD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C14DF-A6E2-4384-9CD4-C27B0606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C053D-1F2E-405B-9864-46BD625D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447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现状要素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C9581-14FE-4C7C-9BD9-13BD4CC8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800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884CE-4EF2-4F2F-BB41-5E9B35F4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14575"/>
            <a:ext cx="447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FDE要追问的证据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FEB226-C223-4167-A6B8-B3141BA4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B04F0-F92E-4DA8-B8EE-5DACA896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触发事件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E1BBF-30D5-42A1-9C1E-B0C39C8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98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11160-ED22-4150-8EA4-3D8328C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谁在什么情况下启动这个流程？有没有表单或消息样例？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DFF05-8CE7-4519-A515-64E383D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69CDAB-CB70-4CED-994E-5B6ECC74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输入材料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8D473-CD9F-4ACD-B658-DC612C23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1D4C5-15AB-417E-8CFA-F0DC9D35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输入字段是否完整？哪些字段经常缺失或错误？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E56E9-F914-46AF-8948-A54BC131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2C7F8-3817-4A00-9EB1-B2B66116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人工动作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DDA8AA-2C4B-40A4-9F84-0741BFE1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BE4BD-3B6B-4C3B-B28E-9BDC590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人实际做了哪些判断、复制、查找、等待和沟通？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CD874-8667-47EC-991B-C44A533F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F6E2AE-AA2B-4915-A813-20CC1F5A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系统记录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A6B7B-3658-4591-B219-821283DF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672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BB90D-C802-49FD-8A94-BC5208FE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数据记录在哪些系统里？是否可以读写或导出？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482352-B8FC-4CC1-BC8F-43E1C3DA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6BA81C-7F38-4776-B4AA-96E203E1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等待/返工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A2B8E-1073-478C-B602-E99D74C9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196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AA46EC-480D-4D92-86BF-B7417BB2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B5ACDA-01ED-4C0A-BF2B-78EF405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22C28B-325B-4272-A60F-BB020927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6189A5-AE0B-403B-9801-AD550AA1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721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71DF9E-A304-4CE0-B3FB-795E40C2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864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哪些节点不能自动化？何时必须升级给主管？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6759BF-FB13-4493-97E6-230F0847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B6CC0A-F804-48C7-A117-3F1CF32D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864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当前指标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5BFAA6-E442-48CC-9178-B44E8A26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9245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874851-E254-489F-8524-0A91CEDC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388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当前周期、成本、质量、满意度的基线是什么？</a:t>
            </a:r>
          </a:p>
        </p:txBody>
      </p:sp>
    </p:spTree>
    <p:extLst>
      <p:ext uri="{BB962C8B-B14F-4D97-AF65-F5344CB8AC3E}">
        <p14:creationId xmlns:p14="http://schemas.microsoft.com/office/powerpoint/2010/main" val="190377986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714A83-903F-485D-986A-79CC5195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8F773-AECF-4FBC-B074-F4ECA0FC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3BD8F-5477-44A5-80FA-E1E1342D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0F99B7A-9CCE-4BF3-87C5-D35F664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TARGET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474C6-9DF2-416E-A247-E54FD6D1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目标态流程图：再画AI怎么接管或增强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651B5-AF49-400A-A171-F06D0958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目标态不是全自动，而是明确哪些由AI处理、哪些由人决定。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1DC66-26EF-4835-82E4-08FFCDBF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6396C-C623-4DAD-8DC1-4ACB839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06274-963B-4F12-9561-917EB099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2EC60-781B-4998-97E4-BDDD7258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734DB-427C-41F6-901D-4BF75A14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447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现状要素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2A2A6-9AA3-41CB-A3AB-B8B27838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800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CE009-B5AA-4EF5-8869-1FD0EC6D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14575"/>
            <a:ext cx="447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FDE要追问的证据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6A520-3041-4935-B01F-7E300CED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A1EB9-3737-48C0-A80E-2F16180E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AI读取什么上下文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32AF3-F1CC-4397-BDF9-0C7FC411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98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DBE7B-968F-44BC-AB76-B19B3E1A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19006-307F-4636-B451-0D20536E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9CBCC-CABB-4B19-AE75-050B72B6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调用什么工具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CE0D9-F2FB-4B02-BF61-F0ED01A7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E42898-B356-415F-9C0A-B02160C8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5B930-2EE5-4CF3-9CAE-040B5B0F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693B1A-BEE7-400A-BC70-3DBA5CCF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输出什么结构化结果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A14AB7-9A87-4845-9932-D2B79E4C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3326C-7862-4921-80A5-26BC2910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E705D8-0A1A-435A-83D7-21A7E1CC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E59BE5-D80D-4172-AF67-270D6145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何时转人工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D7EAF6-3D8C-43AC-B50F-268389A6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672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4971F-7380-4027-BB31-0BBB33E1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人实际做了哪些判断、复制、查找、等待和沟通？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033DBE-BBD2-4C6E-9466-11F2F583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D85135-4B2B-4193-B8BD-CA76F2A0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写回哪里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958A3-277F-4659-928E-06C91E35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196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F25B9A-9F0C-43A4-BBD3-A30E8B05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26C38-2373-4BD6-A0B0-CF40438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C0F2FC-D67F-4A88-B886-DEC1F25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如何监控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105E10-9CBB-4E6B-8A8E-D0AE3B09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721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99CEEE-25D8-4736-87C5-8323956C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864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</p:spTree>
    <p:extLst>
      <p:ext uri="{BB962C8B-B14F-4D97-AF65-F5344CB8AC3E}">
        <p14:creationId xmlns:p14="http://schemas.microsoft.com/office/powerpoint/2010/main" val="131613610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E7441C-2262-4EA4-BD1B-26BFA237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2AD6D-31DE-4066-A82E-7B888C04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FB9BB-FE83-47EA-BACC-3E805A56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C0D6D0-88A3-4E71-8C3F-B408D45D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DEMO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2D8A3-0388-4B0E-AC18-F1E8EE5E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案例现状：售后工单如何被人工拖慢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85885-78F3-486F-87BB-AA94DD98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现状图的重点是暴露等待、重复、查找和责任不清。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AFC4C-4347-42BC-A593-8C0ADC47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7BC29-6C05-4FB2-8A14-E6EEE822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37E04-9F7F-46C4-B20B-7E067BE2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4D4CE-FFCB-40AC-8476-107F9950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流程现状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F6829-81C9-4C51-8E52-72A74871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FDE观察点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52FDE-6B46-4EB6-9D74-D7FD5477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185A1-44AD-41CE-B4D0-C29D3CD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客户提交报修信息不完整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89478-75D4-4BE6-8284-8CA566AE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5A77E-2A28-4C25-82C3-BE33B1E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客服手工查合同与保修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2CCE9-1F34-4D9B-AC8D-392799A1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4D220-AE52-4E36-9277-271F9D81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技术专家反复回答同类问题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7DD1A-39C1-4125-92C3-F3ECC90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34A5E-A60A-4F77-9DE6-691CFD55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仓库库存与工单系统割裂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5F7AF-0C1E-46D0-BF74-40AFB837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34978-B592-4B53-8858-28EBD148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主管只能事后统计</a:t>
            </a:r>
          </a:p>
        </p:txBody>
      </p:sp>
    </p:spTree>
    <p:extLst>
      <p:ext uri="{BB962C8B-B14F-4D97-AF65-F5344CB8AC3E}">
        <p14:creationId xmlns:p14="http://schemas.microsoft.com/office/powerpoint/2010/main" val="211975513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503E17-881C-491D-B7E8-5891524D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6E986-E2A6-47D7-B87E-6957175A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5623F9-2004-4D1C-AC8E-F5720305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42C3F9-3741-49C4-86AA-0CEDE908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DEMO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8C207-F157-4AB2-8221-6DB975D8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案例目标态：售后数字员工团队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4BB3D-CAF6-49C4-8348-3035F0E4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目标态把AI员工嵌入工单、知识库、库存和人工审批之间。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39A31E-4AC6-4943-A77F-39BE7C34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46C70-B802-48AE-B959-D78B87A3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FE12A-CCAB-43D2-AD89-C08CE3C0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86AD2-963C-4B14-8E0C-8A55B8A7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AI目标态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6CE7B-4130-4CA8-8EFA-6C4CC35F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FDE观察点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35043-56D4-4D70-B31C-5585254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2E4C1-DAEF-45AE-8CAE-1C2AEC43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入口Agent补齐报修信息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0C046-D3F2-469B-B269-2FF2044E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A5E7A-9CF1-43B8-A64A-76B6DA83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诊断Agent检索历史案例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571692-2690-4EB2-915D-BECAC4F2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4A4B0-CF0E-492C-A35D-35827DCB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调度Agent查询库存与工程师档期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1D011-604E-4123-8205-1A9931D0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5F050A-A42F-48DB-ACDB-6A02E656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主管只处理高风险或低置信异常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4344C-3EEA-467D-854D-3E5131C3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7F80C-C18E-45CC-82FE-49BAA238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看板每周复盘自动化率与满意度</a:t>
            </a:r>
          </a:p>
        </p:txBody>
      </p:sp>
    </p:spTree>
    <p:extLst>
      <p:ext uri="{BB962C8B-B14F-4D97-AF65-F5344CB8AC3E}">
        <p14:creationId xmlns:p14="http://schemas.microsoft.com/office/powerpoint/2010/main" val="2019029136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3B4BF8-DA4D-47AE-B411-2D1B08D7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25081-C68C-4CF8-B0F2-0E4D7F1C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B2B5B-831E-4FEF-8AE3-AAC3A11E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F548CD-89DB-4546-AB18-6F0990A4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WORKSHOP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8C9F6-EB09-46E9-B64A-97B700BD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分组练习：画一个流程的现状与目标态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F25B2-AA96-4362-9668-B3FBE7B4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练习目标不是画得漂亮，而是让流程足够真实，能暴露部署条件。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C0416-8104-48CA-BA24-C710CC96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8F844-0720-4B8E-A7A1-93DB3A87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10133-4818-4478-BE38-F95ECA21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5F245-5A2D-40CB-B4E4-02E2975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7147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4D46F-67BD-4393-A85B-CA3A492C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课堂动作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41BE1-0BDB-49F1-9B57-A1C2F565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14300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10分钟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95164A-1175-4491-9C7E-7FC7D5B5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857500" cy="5334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讲师先示范，再让学员分组产出。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DF036-FD38-4731-9CA8-848E350B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3CF8F-B682-4BB3-88F0-57CEB13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193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A7646-9F9B-4DCF-83A2-E5380AC7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2410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任选销售、客服、HR、财务、制造、研发一个流程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6C6FD-4E7D-4A73-B5C3-67584593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48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C57D9-F5DE-4F21-8AE3-B8E33DB5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1242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72F03-FAAC-4E7B-B2A9-B90B22CE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2895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先画现状，不允许直接写AI方案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9F804-824A-485A-B435-B983713F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7926DD-016D-472E-9DCE-7A6EE8CB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905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7EC0D-C887-4A2F-8EA1-DA2539C2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73380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再标出AI可接管、辅助、必须人工决策的节点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46F0E-B05A-49B7-AF00-C5B9DE50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9C300-3559-48ED-BAF0-DCFEDC7D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339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9444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5C0636-4FA6-4F48-BE75-542BEE6A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38650"/>
            <a:ext cx="5143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最后判断当前层级与下一层目标</a:t>
            </a:r>
          </a:p>
        </p:txBody>
      </p:sp>
    </p:spTree>
    <p:extLst>
      <p:ext uri="{BB962C8B-B14F-4D97-AF65-F5344CB8AC3E}">
        <p14:creationId xmlns:p14="http://schemas.microsoft.com/office/powerpoint/2010/main" val="2138578417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BAAA5A-D3AA-4569-BABB-F890045E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77BB7-3C7E-4CFE-963C-9879889C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590FAC-B93E-4FE3-922B-E4901FB4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A3CD80-0227-4C80-8754-5799A79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RUBRIC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69F1E-ABA8-4AC5-947A-74A014F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练习评分：看四件事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2E144-2E6D-48B4-9F21-E5A40126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评分标准会倒逼学员关注部署质量，而不是堆功能。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AC285-53CF-4365-B569-678F94AB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0232B-5B70-4D16-AB3E-6A0B1FDB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8DC86-83CB-48EA-ABA6-B49E04D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64117-F0AC-4F41-9DD1-100F9A3C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8034D-A640-40D5-9ECE-1771C47C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2286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CE5A3-D490-4896-A88B-DF380C83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14575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FDE讲解重点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50DCA-12D6-4E51-B537-8C6112E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2FE00-658B-4AF6-B847-35281467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流程真实性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1ABFF-FE29-43B7-BD09-DF4E259B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把这一项落到真实流程、上下文、工具、指标和风险边界。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F2812-137E-4D2C-896B-FA6D4B1C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FA1927-3C5E-4705-B75F-08DC28DB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上下文完整度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2570B-8BE3-4DE3-86F7-04BA01E9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把这一项落到真实流程、上下文、工具、指标和风险边界。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B2608-29F9-4813-ABF9-B48FC60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51FAC-A76D-4A9C-9AF0-4D44BF3F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工具/数据可接入性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9FFC6-EFD9-4EF0-84F2-02048F34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数据不是越多越好，而是要可取、可信、可引用、可更新。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1C257-B36B-4C18-AEA5-6AAFC84D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B0215-1CFC-4E54-98B1-7A931C8F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风险与指标设计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48D44-556A-4BD7-AB51-71D31CB7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风险决定自动化边界，高风险节点必须有规则和人工接管。</a:t>
            </a:r>
          </a:p>
        </p:txBody>
      </p:sp>
    </p:spTree>
    <p:extLst>
      <p:ext uri="{BB962C8B-B14F-4D97-AF65-F5344CB8AC3E}">
        <p14:creationId xmlns:p14="http://schemas.microsoft.com/office/powerpoint/2010/main" val="132359515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E4723-F403-469C-8BBC-CAB9136F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DBA14-17A5-4670-AF11-F51BD4B7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32CD7-4578-4D0A-B941-7D3C173F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E3497D4-12A7-4AEF-BA43-D0F1D5EE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DEBRIEF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B0E1A-61E8-4046-B263-E3195110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常见误判：很多L1项目被包装成L4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ACAE7-7EC2-45B6-8523-002D3F74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判断层级看运行机制，不看宣传文案。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687CE-856A-4E71-AB13-6BBA9F5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A0657-4C51-4238-8454-665CD6F7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48B20-89E6-4977-B005-1DEC2D46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1365E-D9C5-4888-9D07-27946B08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528A5-73E5-42CC-9DDE-252F12BC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EF88D-13A6-4CB1-AEED-2958ADAC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EEE5F-85D7-48D3-BD57-6CC99D3A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有多个机器人名字，不等于数字员工团队。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EEF10A-E6CE-4DFB-9F79-0531E31E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B342C-3695-4F66-A70D-BB5F44E6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A5475-AA33-4466-B960-637E61BA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D85ED-8F7A-47F1-9C91-DAD9DB5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有知识库问答，不等于流程自动化。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B1576-67E6-42FC-9E02-278F5E5A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ECCB5-2BB2-4465-BA0B-92DDE7CB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D3BA2-2438-495D-9EC1-E6C9B4C5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4D27CC-70C9-4635-8BAA-87BA88A5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有API，不等于组织AI原生。</a:t>
            </a:r>
          </a:p>
        </p:txBody>
      </p:sp>
    </p:spTree>
    <p:extLst>
      <p:ext uri="{BB962C8B-B14F-4D97-AF65-F5344CB8AC3E}">
        <p14:creationId xmlns:p14="http://schemas.microsoft.com/office/powerpoint/2010/main" val="1771438511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A32AD3-5090-470E-BFC8-55AB4D1F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96283-5996-44AC-9FBA-12A01C84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11BB4-DBC4-4DB5-986F-C6A8A06C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0008AA7-6D78-4FB6-8666-8AA49E58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TAKEAWAY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A5F58-E6A8-449A-B73F-5723F7F9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五层模型的真正用途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30D44-8B2F-4E35-8805-C6D3F2D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五层模型不是讲给客户听的术语，而是FDE做诊断、报价、交付和复盘的底层坐标系。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D4548-9385-4B6D-B94A-3C6AEF91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A5161-6C2C-4EEB-9295-B61D78C6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8ACDA-CCFA-4678-BEA8-9C2B934F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五层进化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2FC2D-C1C4-4E77-A46F-945A6E30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DE30F-A940-4B78-8B41-5BBF1991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428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>
            <a:normAutofit fontScale="7835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诊断：企业在哪一层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B5FDA-D3D2-46D2-8F71-E11B1126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9FCAF-C67E-4823-85F5-007D412E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428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>
            <a:normAutofit fontScale="6578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方案：下一层最小跃迁是什么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75F05-92AF-41CD-81D7-BF58C013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1230BF-45E6-4F50-9789-24FDD8BA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1428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>
            <a:normAutofit fontScale="6578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交付：本阶段交付物是什么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B48D6-DEA3-4EE7-B740-04069556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11430">
            <a:solidFill>
              <a:srgbClr val="16653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9D5F7-DFE7-48EB-94A8-E4B9B3B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1428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>
            <a:normAutofit fontScale="6578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复盘：指标是否证明跃迁成功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D348AC-EA44-45AC-8117-F97606A3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87630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五层模型不是讲给客户听的术语，而是FDE做诊断、报价、交付和复盘的底层坐标系。</a:t>
            </a:r>
          </a:p>
        </p:txBody>
      </p:sp>
    </p:spTree>
    <p:extLst>
      <p:ext uri="{BB962C8B-B14F-4D97-AF65-F5344CB8AC3E}">
        <p14:creationId xmlns:p14="http://schemas.microsoft.com/office/powerpoint/2010/main" val="154407269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AD0053-F207-48CF-BB06-35CEA6AD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8CD06-782B-40F0-B223-CB7B105C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4A4B8-0D02-4F4C-84B8-4B35B547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AF1F5-83B5-4649-A0F5-B5857789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66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928C8-63AA-4BD5-85B8-9EB6E2CE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57FC4-773C-4408-B8D8-FBCDE2E6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8191500" cy="1219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SPACE生态与人才分流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92732-8DE1-4495-A2ED-1A0C141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FDE训练不是单点课程，而是人才、项目、交付和孵化的入口。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91796-3313-4990-8F76-52D9EF56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19D98-A9CC-479D-941C-5D241B67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培训筛选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6D991-3948-41F2-A39D-A2E43987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30ABE-8965-4E90-9CDE-BA2B29FA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交付实战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8F19F-F4C8-4C52-ADF7-2D56BCC9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D73E6-BDEE-4E5D-9747-ED8687D1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OPC孵化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1397D1-C4AE-4E50-9C3E-223CFF6D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2DE03-1DE4-4B0B-9756-CF868423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讲师复制</a:t>
            </a:r>
          </a:p>
        </p:txBody>
      </p:sp>
    </p:spTree>
    <p:extLst>
      <p:ext uri="{BB962C8B-B14F-4D97-AF65-F5344CB8AC3E}">
        <p14:creationId xmlns:p14="http://schemas.microsoft.com/office/powerpoint/2010/main" val="1338638324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03B83A-1184-4F7B-8FE7-F1BD93B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AAFBC-0C1E-4D8E-90E1-37A33C37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3D681-F43B-42F5-BDC2-1CE5BEFD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7AD031-0919-4C4C-B358-5105BE5B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ECOSYSTEM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99AFA-99B9-4FFD-B721-93CF866E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SPACE闭环生态如何承接FDE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8DC95-5DB5-401F-AAE3-62F1251C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模型算力、数字员工、咨询交付、物理空间与资本一起形成孵化闭环。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70151-0513-4982-AD15-52F211FD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6419C-0E5B-4BB9-85F1-43832EDC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EBD20-1F86-4A61-B4D7-013DC2A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WEI生态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173A8-19B5-447D-8AD7-CC334192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DD7A2-27EC-437F-BAA1-FDA596F3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solidFill>
              <a:srgbClr val="E6F4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1E3C0-A8C5-428C-8731-8DAEC2F8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B54DF-2F2D-4675-AD1B-CB4ACE37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API：模型与算力资源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AE9CC-5974-4F51-8006-0569F88B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A7996-99CC-4D86-9228-7CA4AC69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AE109-6DAA-4F3C-B09A-A5698482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F3A18-BE29-47E3-BEE0-527614EC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85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BOT：数字员工代养平台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D5BEA-4D34-4050-94A3-D53123D8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266950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13DF2-D86C-4306-9D05-6C3CFAD5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438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0">
            <a:solidFill>
              <a:srgbClr val="FFF3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6B5609-F49C-4DE6-B9AC-06A51D05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514600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4A5FF-0643-4CDB-B745-563BFE95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2419350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CONSULTING：结果负责的AI转型咨询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35D6C-B4B2-4741-A5AC-A0B3236D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8422D-DB5B-4914-8993-0BCF9A80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0">
            <a:solidFill>
              <a:srgbClr val="EBF7E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3DCDB-6696-42A9-82ED-5BFA48C7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A91618-8CCD-4439-8CE7-52F26F72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SPACE：黑客松、培训、实战基地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87D94F-1468-4A02-BDE4-1C57F49E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4067175"/>
            <a:ext cx="34417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30E33-9637-4CB3-B2E7-95DC924B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238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0">
            <a:solidFill>
              <a:srgbClr val="FEECE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C11E6-3706-4B5E-B6E4-C8B55FA6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314825"/>
            <a:ext cx="32385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F91D2-B6BA-47C8-B351-DD106113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850" y="4219575"/>
            <a:ext cx="2641600" cy="1343025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CAPITAL：种子投资与产业退出</a:t>
            </a:r>
          </a:p>
        </p:txBody>
      </p:sp>
    </p:spTree>
    <p:extLst>
      <p:ext uri="{BB962C8B-B14F-4D97-AF65-F5344CB8AC3E}">
        <p14:creationId xmlns:p14="http://schemas.microsoft.com/office/powerpoint/2010/main" val="981637970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D5FFC-B261-4D7D-8D96-D4C1FB67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9807E-CA28-4A05-8D3A-EBDA7372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1258F-40E0-458A-8973-9F947D20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5BF4DFC-024A-4829-AAE4-2B61FE28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FOUR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C275A-EB31-484A-9813-D6349E80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四类学员出口对应四套能力证明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D7C81-2848-4C13-AE58-0300CFA2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分流不是凭感觉，而是看能力证据。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9802E-0DC0-4272-820A-BA0F4901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8B833F-8206-4372-9EA0-F01DB4E0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42EE5-DFA2-409E-B236-14A208E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WEI生态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65633-52E8-4E75-B852-1F2590BA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49F9D-055D-4145-8504-17608A3A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2C4AB-3EC1-4AB9-B474-DC723C80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F6D4B-EA31-4473-B326-D121E697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交付团队：真实项目表现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524AB-E59E-4ED9-8D59-F3E3DCE5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345CB-CCAA-4CDA-9199-AB24B6EE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C1B87-CF9D-4622-BF9E-CCEB1756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ED046-E911-4655-B9FA-7A7CD90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企业就业：岗位能力与作品集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05A1A-34CD-4C1B-A740-CE0179C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43398-303C-490B-89E7-AD9C01F3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AC9D4-4D16-4DC0-87F3-82DFADD0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619E2-0C26-411F-A2E9-395F4321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OPC创业：客户获取与交付闭环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66D6B-7255-4CFC-8D41-9A427D4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2E2944-1C8E-41E2-AE2E-BD54836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37E40-664F-471C-B6D6-44AF79A0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BABF9-491D-495C-B1F9-B5EE1099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讲师：表达、教案、课堂控制</a:t>
            </a:r>
          </a:p>
        </p:txBody>
      </p:sp>
    </p:spTree>
    <p:extLst>
      <p:ext uri="{BB962C8B-B14F-4D97-AF65-F5344CB8AC3E}">
        <p14:creationId xmlns:p14="http://schemas.microsoft.com/office/powerpoint/2010/main" val="116180967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66A2D2-0390-42F6-A1A9-85157F37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53E0F-E451-4DEF-A1F2-8CFB527F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C086E-A205-4AE6-BC5F-210CAB0D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4BDD3A7-7270-4673-8724-C95F6C5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OPC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39267-29A3-4E4A-A961-FCC2F165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FDE OPC：一人公司也要有交付系统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3BB88-5E48-435F-A1C7-1F6D9749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OPC不是自由职业的包装，而是用AI员工团队放大一个人的交付能力。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DA2B6B-E2C6-475A-B1D5-23AF6071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4C5B3-0034-4A1A-96B0-627410A1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9E55C-695C-4D65-9ACA-FFB850F0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WEI生态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156A1-BF8E-4BDF-A059-2564A01F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2DB4B-E644-4E8B-BA52-ABE64342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定位细分行业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66D61-4A5C-4462-ABFA-022A6B82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3E162-3733-4C5C-AE39-1984F248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97E10-585D-479F-94F2-E04A55E1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打磨标准诊断包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EDD42-22FD-4B7B-94C5-4840D509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34609-8724-40C7-8067-E7BB5373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59BF59-C6AE-4EEA-810A-47889928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复用数字员工模板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58BA1-5967-4447-B801-D430AC4F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489A7-5209-49A6-9A78-3D097DF4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9296C0-D9F1-4473-90D8-6A21952D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接入WEI生态资源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BD9E7-2753-4207-82A2-B223A83D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80404-25F5-4DDE-8D1A-7616FA2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EFCA12-07CC-47DC-ACA9-1D8760D8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5583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进入孵化器迭代项目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9A0BAC-B7C7-4F24-940F-93655CF0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53860-C0DB-4C8A-A7F7-47240FA2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293861858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8CB84-81DD-4330-AF6E-9D2E4AC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59FC6-DF09-4470-89DD-0BAEBD8A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77576-CF76-460C-98F9-9480034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0BC94E-08B8-4802-A3A5-5FBA489D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TRAINER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9522D-6B01-407A-AB0A-1215270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从FDE到讲师：能交付才有资格教学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C3DE4-3CB0-4BBE-B403-F7E954B7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优秀讲师不是会念课件，而是能把复杂项目拆成学员可操作的训练。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57B16-0739-49C8-901C-1115A59F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8F722-866B-45FE-9A2E-0F1D56A4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B8A11-005B-4BC4-9760-E179753C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WEI生态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C6DFA-B4CE-4C2C-8C5B-4D187113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2A605-5A37-4102-9D9E-48D4E2D4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1DA74-E4D3-43CB-9F4D-67DF25C2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B108E-5E44-402C-9982-8832E9E8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讲真实案例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FAEFB-8F92-484E-832B-003BE2B4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23B7A-8F90-4D30-8B42-5A29244F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7A66C8-118A-460F-89D8-CA747055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9462C-0CD7-4741-9EBF-77D09FF7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带学员产出模板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3ABC6-1265-4DF3-833C-908EC4F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B6884B-1C00-4D3E-8616-89D246DD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EB088-066D-4569-BD36-F40F4413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186B6-6A49-40D3-99CB-FDBB16D4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能诊断学员作品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34D22-8C2B-4E52-B283-A97F7C60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D217B3-2119-4498-8514-0B4FE383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48FDCE-DDBE-422F-8BCF-8507B3C6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749AE-2E11-4D17-BB99-B36ADF79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能把成人课程转化为青少年课程</a:t>
            </a:r>
          </a:p>
        </p:txBody>
      </p:sp>
    </p:spTree>
    <p:extLst>
      <p:ext uri="{BB962C8B-B14F-4D97-AF65-F5344CB8AC3E}">
        <p14:creationId xmlns:p14="http://schemas.microsoft.com/office/powerpoint/2010/main" val="954432229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195E4-DEC5-4137-8E9E-CD7737A6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F3229-0EA2-48B9-9274-7EB43C63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127EB-EFDD-4CAD-8B0F-B6E962D6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05ACC-A00A-4943-A215-2763CD74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66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7AC53-ECF0-4871-864D-579F52D1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EA37B-38EB-4D9D-853B-A442BA7D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8191500" cy="1219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D-D-D-O-S：FDE现场交付方法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9D056-2295-4E22-8913-7769D7FD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从第二章开始，每个技术模块都要回到这条交付链。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B02F7-62B8-41E4-B71F-DE9FC585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F2EC6-174A-4C34-8E49-C304F35C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FCD8E-4B28-4822-B16A-63271D5F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D2857-909A-47A5-8358-7AC84A0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9E977-03E1-4501-8413-362036D6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F4B6F-C898-4F22-BE54-DED8BE98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Deploy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3E90E-0582-4B3F-99B4-CF5AF1B6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976C2-A24B-40F3-8E47-DC6015B6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Operate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EB8A1-42C7-48AF-BDC0-D133A687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8CC13-21CE-4E98-A57B-BE6C4520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</p:spTree>
    <p:extLst>
      <p:ext uri="{BB962C8B-B14F-4D97-AF65-F5344CB8AC3E}">
        <p14:creationId xmlns:p14="http://schemas.microsoft.com/office/powerpoint/2010/main" val="316992462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360F12-9992-43A0-A0A6-830B7486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8E5A2-ED1B-4A06-AAE1-5ED79D24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75934-0514-4E8B-B03F-AE026519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C0164E-D6A1-4FC7-AB13-EDE220AE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6DDB1-0A1B-43E3-B91F-A5E0C043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D-D-D-O-S总览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78B6A-13C2-400C-88E3-F96F300E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FDE不是一次性搭建工具，而是持续把AI项目推向业务结果。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876D3-800A-4392-9004-DD1A85E7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16D71-0FC3-4C76-A82A-55AC271D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7DBC1-A2C0-44C5-A5A7-0E220396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方法论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5F1330-B917-44C2-8AFF-92F42DE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3A915-B5BD-4C91-93E9-BE01E554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Discover 诊断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01CA9-1E6B-4C16-BC31-36B00A3D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0AA0E-0BCE-4BF0-BD98-CEE8AE6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70640-3CF7-4B45-BC1A-6EFB3AAE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Design 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13668-8740-4B11-A48B-70BCFFF5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8D1CE-3F21-4C41-BB2A-39200799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E23C3B-BDB6-44B1-A937-DA9857F3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Deploy 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0D739-D88B-4A79-8EF1-D18739B8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8DE34-EC67-47EA-A35E-614EF1F4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8950B-3750-4CE4-8776-ED22C2C9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Operate 运营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9B8A0-71A7-42DD-A63C-297FD926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E1B8FB-3270-474D-87F5-14EA2F38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B91C1C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EF027-7814-47B1-8742-C6F6A50B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Scale 复制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0D8211-95C4-4C81-A621-DF25C22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44924-EF2F-42FE-BF78-89A11CEC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976672702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81F3B-C675-42DC-A72C-4266BAAD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6A174-9E0D-4F3D-A431-F6707997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66CF1-6DDA-4FD2-8C45-C50ABBCA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980DB93-81EB-41E7-863E-FCFB7594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DISCOVER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F5AA0-B4FC-4AA6-ABC3-AFBD9BE8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Discover：先问对业务问题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40099-96E6-400A-BDAB-6B2C7DEF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诊断阶段要拿到流程、指标、数据、系统和阻力，而不是只听需求。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279684-C0A2-42FE-ADE9-73EF3CB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1F61A-7024-4CC7-A6EF-6405C23E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9ECD1-501D-4A3A-BB69-D24DFAB3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方法论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36489-4361-4452-A008-4C9745CF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FB7E1-5068-4D92-809C-A9666113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4DEB4-F24B-4F1A-AB7A-839E26E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7EB62-F97E-4D22-B672-F78822BB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目标指标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E0B70-5DD3-4853-B93C-956720096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40383-BB1D-4F1C-8574-C7D57417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CE529-5F63-4CC3-A453-5D9C2108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0ECA8-6880-4670-83CE-D738BCFA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D5807-79E4-4EEC-B1FC-982E2927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A3765-9324-4EAC-8FC2-A7B8990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19385-48AC-4B9C-AD1F-884302B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B43DD-CFDE-4FF4-8217-21508BC0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98C878-4EB8-4640-ABF9-91E2CDD6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11AD3-5F82-47AE-88FD-A0D5355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0F9E9B-58A8-4E83-A1A1-6E81196C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377D0-F31B-461A-9122-075F3048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系统权限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8DB2E6-64CD-44D4-9992-046044B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FC550-6E26-4205-8B7E-BE1EEC50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57EDD-F182-4D3F-8BE3-683FDFCC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88A205-0C8D-4B5C-9996-8C3E314E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E52BD-89BB-4D8C-9E1A-89BE9B3D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F6AA89-E6B1-4518-86AC-091A18FB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B0D428-860A-4722-8FFF-F882EE9B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E4DECA-17B0-4808-807D-9A3C0548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决策链路</a:t>
            </a:r>
          </a:p>
        </p:txBody>
      </p:sp>
    </p:spTree>
    <p:extLst>
      <p:ext uri="{BB962C8B-B14F-4D97-AF65-F5344CB8AC3E}">
        <p14:creationId xmlns:p14="http://schemas.microsoft.com/office/powerpoint/2010/main" val="406986238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146EF-5BAD-49F6-A791-DCF24BBC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0B0CA-6EF0-488C-ACCE-CE721327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DF51C-DD95-431C-86D6-2300BAB6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A51E8B-B014-479F-998B-71DB7E29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300A-3411-4DF1-8C73-3EC5B30E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Design：把AI员工画成蓝图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48762-3873-4520-B411-D608BB15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设计阶段要确定角色、上下文、工具、输出、规则和人工接管。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8AD0E-3016-440D-B57E-C86D351A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4A505-1EDE-4F31-B306-B3C5CEA3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CAE23-90B3-4B07-8567-76A236C9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方法论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A7E6C-B56A-4257-BC1A-BBF7DA5C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13F43-68C9-427B-BCC5-5BD705D5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EC40A-3162-4282-AE46-AE2D3054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702D1-95F7-4F79-8EB2-CD9392B8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角色定义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2D90C-24C6-4483-9BC1-EF1575AC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4EC73-A599-4A64-BAFF-B53BE103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49811-F831-4B1D-AE8C-1EFF02C2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D2CCF-9839-4C5F-834B-27F4E82E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961BC-2551-470D-A1E9-35F69CDD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A5E8CC-F5ED-433B-B532-234670E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BB6D4-4021-4427-81C3-912ADF89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26C22-4A90-4464-A623-CCE2BA4C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工具/API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77887-97A7-45D1-9F3C-BDFAF07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64398-240F-4315-83C4-E8EDA0F5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DB61F-4174-4B5B-B3A8-F533A55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E473D-8B29-43CA-A250-9D104F5D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24B23-1C6E-437C-A4DF-9BD32C4D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5BAA9E-6317-4B8A-8EA3-5EC5A038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0CAF62-ECAC-4277-978F-778CA9C5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D11C5-9871-4A6D-B446-846DDB4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质量门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746860-B15B-4EC8-9C01-08710F99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F88F08-48E0-433D-BE24-C8601833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3F006-AEEB-4DDA-A531-47EC00A9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2B1E13-CC9F-45E9-8258-8B70CCEB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人机协作</a:t>
            </a:r>
          </a:p>
        </p:txBody>
      </p:sp>
    </p:spTree>
    <p:extLst>
      <p:ext uri="{BB962C8B-B14F-4D97-AF65-F5344CB8AC3E}">
        <p14:creationId xmlns:p14="http://schemas.microsoft.com/office/powerpoint/2010/main" val="180992692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7536B8-B60B-49A7-96D9-0E6AC00A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06034-F200-458B-86BF-22814385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3F6D8-DBD1-4B88-AAFF-233C343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FE15312-2DAD-4D4E-A105-24E65C1D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DEPLOY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E97DE-96F0-425A-9271-7216A4B5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Deploy：从原型到可用系统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52AE0-1207-446C-9B14-481CE0E7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部署阶段要优先做最小可用闭环，而不是把所有能力一次做满。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C9781-664A-41B5-AD49-F4CEAF74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61DB6-9866-4EC3-92CA-4E83887F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E11BF-7689-4006-B1A9-3E76CC98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方法论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47059-0A6E-4AEF-B79F-88EFB5CD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0F7DE-48B5-4951-AC70-012FDDA6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B0229D-6F46-4712-A4AA-D80D2592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3CBF1-6844-4EEE-817E-5231AAFB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MVP流程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F5C222-3E6E-47EB-8E8B-19852657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69BEAD-90AE-4342-972F-1F7D1B71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7E8519-BF56-423F-8CAA-2DC9B989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2E8B0-606B-477B-BCF8-93568AFB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数据接入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260E1-8547-4AAB-B2DE-F8E8039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00466-D055-4A68-A6E7-ADB8D4B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390B69-0171-4F69-8A13-97273E4E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034602-3F5B-4925-A7B3-B8F698D5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0EFB4C-7C03-409D-8A77-5CE2E7D9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15E50-F9AD-467C-B323-0FECBF5F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08B2CC-C0DA-4EBF-9292-29301B97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62FFE-DE15-4E9C-B3E2-B4FFE415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日志审计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27C7F-2AAA-4FDE-BA21-74EA75C0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2CFDB5-0581-4ACE-A385-23722C33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DF9CEE-3F2B-47EA-A918-21ED7090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54F9C-636F-4E53-BF0B-48D1D0F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灰度发布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96D5D0-80AD-45C7-8033-647E027C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8B68F7-2C8C-486A-A57F-C91DAE32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BDD0C-D2E7-472A-A8AD-5EF5EF7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A178BA-A399-4AF0-8FAE-54646E86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用户培训</a:t>
            </a:r>
          </a:p>
        </p:txBody>
      </p:sp>
    </p:spTree>
    <p:extLst>
      <p:ext uri="{BB962C8B-B14F-4D97-AF65-F5344CB8AC3E}">
        <p14:creationId xmlns:p14="http://schemas.microsoft.com/office/powerpoint/2010/main" val="842714498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42185-2870-4B88-AFCB-BB45615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8AF78-DF83-4F82-846B-398EDA94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B0300-1223-4E28-9444-1DFDA34D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CDD00A-8BEB-4111-A4D2-54BF3BFE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OPERATE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02480-934D-4838-84C9-5A3CDB38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Operate：上线后才是真正开始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B2ED7-4D7D-4DB6-BDE8-E265C08B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AI员工必须有运营节奏，否则很快失效。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E8A07-0607-4902-AB4A-851B6406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2105D-F152-41E5-9AAF-F6DB46C7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3A032-D247-48E8-90D2-2966FC07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方法论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12C6E-0F94-4E1E-9D3A-5656C051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F8374-DB21-4D0D-8559-09A855A7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326DF-DCFB-48C0-9493-F0310F17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EEAEB-A06E-44DA-8C6D-9BD45E1D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看板监控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4F51A-57DE-40D8-A114-57B9DDE3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40440-38CA-44C9-9EE8-876CF816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02617-0A76-4C7B-B29A-B2AC3616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DE78B-3B5F-4606-A47C-4AD98C84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异常工单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4DE2EC-B5F5-44EF-8429-22824F62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CEAC6-D67D-42B7-B6B3-2C027BCE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0B53F-4BDC-4823-9B20-734819E9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B2AA1-CFC6-4F0D-AE2F-02EEEBFD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知识更新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E92A6-8975-448E-A780-F5749E36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4FDAF-7B7E-4491-A595-DCAB9668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4D27B4-89C7-49D4-B748-CD74AAE7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E4A189-4C6C-4506-BD11-47AFADFB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Prompt/规则版本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7E932B-275B-49ED-BF61-FEFF8CAF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D4FD5-AD9E-4CAE-9C8B-53384518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BC8236-1FAE-40AD-9E98-8E2F6F84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1C2A72-373B-479F-9EBE-15D41CDA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周复盘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67678-F1ED-46E1-83BF-567AAB4B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8B9348-67B6-4B8A-B7A5-46B1B81D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B20A3C-87C1-4886-B168-F218AD6C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8321D0-7A28-428E-8AA3-534858B9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ROI汇报</a:t>
            </a:r>
          </a:p>
        </p:txBody>
      </p:sp>
    </p:spTree>
    <p:extLst>
      <p:ext uri="{BB962C8B-B14F-4D97-AF65-F5344CB8AC3E}">
        <p14:creationId xmlns:p14="http://schemas.microsoft.com/office/powerpoint/2010/main" val="2063919940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EA051A-EE9C-4214-A1BC-856D9E3D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BD917-E167-4B60-A5BB-897F8865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F0859-35AB-4B56-9FE0-FB8D9E8C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B20E1D4-D87C-49E1-9C14-6B758558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7BD80-145C-495F-A1F9-29B94893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Scale：复制到更多场景与组织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D2890-0C28-4F34-981A-91B1ED67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规模化的基础是模板化、治理化和人才化。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76713-DE1E-401A-B85F-2CAD4C9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BCF8A-F558-4249-99AC-2FA74194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69A68C-57D3-4720-BF89-C38D4335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方法论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643126-9F1D-4802-A608-F216A73E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51191-9164-4A6A-B9EF-324E809C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85C8D-BED7-43D9-84D1-55D74994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E6DC8-07C0-43C8-A42E-41D56C8C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模板库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5A7F2B-03B0-4413-9CB4-01FE6CAC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901E6-0EF4-471B-AE9D-A4465175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3B200-F53D-4E35-8F0E-D56A1409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468BE-76FD-461C-A68F-8E7353E1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工具库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D31AC-2CB9-4361-8E69-5439626D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68B914-F57E-466F-A2DC-0AF2B7A8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45775-E994-4FA2-BB03-6091D308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A343B-AC04-4DC9-8D05-CB3446AD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41935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评估集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033B20-77B2-43F6-B9D9-C04FF314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5A9D84-B5E1-46C2-9AD2-86F4063B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1817C-0F13-43FF-AA8D-E2DFE5F8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F3494-7D37-4D5B-B8B9-381A002D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权限规范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CD58A-8D6E-4B95-93EE-CD418298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D781E6-47CE-4624-990F-312709CC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412A5-4A75-4559-9FB7-D314FDEF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5173E-53B8-4392-85ED-D81CBCCF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9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培训体系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F6EA78-937A-49D7-BF1D-D5E5FD08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347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0A733-1B0E-4958-8524-7E1EE60F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F7489-D715-4C74-A89C-A2DC40A7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3D1289-20CD-473A-9878-5649A583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3962400"/>
            <a:ext cx="2603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项目组合管理</a:t>
            </a:r>
          </a:p>
        </p:txBody>
      </p:sp>
    </p:spTree>
    <p:extLst>
      <p:ext uri="{BB962C8B-B14F-4D97-AF65-F5344CB8AC3E}">
        <p14:creationId xmlns:p14="http://schemas.microsoft.com/office/powerpoint/2010/main" val="2145045868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90E029-B5FE-4EB1-8731-08841BCC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31FCF-A950-4C6A-A8D4-F4081F8D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0C5D5-B28A-4B15-8310-1F6994A3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C78F7-7041-43EB-BC74-66FBCEC9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66675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757FBD-131F-4FB1-B615-BAC717EF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7145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7506E-7FCB-42A9-B791-50EF1EB9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8191500" cy="1219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综合案例与作业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F564F-C06D-46FA-A97C-DB449152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7239000" cy="6096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最后一段把本章所有工具合并成一个可提交作品。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AD72B-C405-4D67-82F1-B4D69D2C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E7CAF-CC0F-4506-A0C6-1C823DC3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AI机会Brief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52116-DA3B-41F2-844F-8D467DDE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F78A7-A80F-4639-963C-CA3E0DB3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小组讲解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5CC2D-E3C4-494C-9520-8734CCAC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482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EF14F-CDC2-44FE-A003-EF89FA4C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讲师点评</a:t>
            </a:r>
          </a:p>
        </p:txBody>
      </p:sp>
    </p:spTree>
    <p:extLst>
      <p:ext uri="{BB962C8B-B14F-4D97-AF65-F5344CB8AC3E}">
        <p14:creationId xmlns:p14="http://schemas.microsoft.com/office/powerpoint/2010/main" val="1826670031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74705-1EEA-4380-BC6B-9D3E2DF9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8BAC5-F43E-4FF9-9B32-CD6674C8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EC3F0-469C-42D4-8D4B-3D4F35B2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9D87B67-C0F8-4E8F-80DE-B256CC4E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ASSIGNMENT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21342-98E5-473D-A61B-23D3629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综合任务：写一页AI机会Brief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43405-1B30-4F32-8C26-5B908CE5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Brief是FDE进入客户现场的第一份专业输出。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00CF0-1226-4086-98DD-85A3E4DE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0F6A9-0B15-4B48-89A5-38A8036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F88E7-CFA1-4419-A6D6-1F69DA77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综合实训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D0492-41E2-4B93-8929-7B74CF64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流程现状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7DB2A-667A-471A-9591-79BD165E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3429000" cy="285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FDE观察点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1D724F-1858-4BCA-8E5A-8761170D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A08FD-AD74-497D-8D59-1A5B9BA5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D56DF-1D6A-4F6A-9777-ACE988C6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213A5-4B77-4189-8C08-A8E4C620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当前流程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BFF555-FF20-4A0E-84FA-CF06882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FA5B8-E942-4AFF-8BB2-ADC52688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81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目标层级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F9E09-3BF5-470A-89D1-C53D38BB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ABCDB-1798-4F6D-BC2E-D3B631AC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AI员工设想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E2904B-4F3F-4F11-83A9-F6A4F49D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24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CFEA25-B758-4E43-BB1F-796C7B42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57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数据/工具条件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1E2AC-9D4C-46F6-823B-B44C086A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1C094-9AED-478F-8FAB-B108C934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风险与接管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C1C44-6D75-4DD3-9E81-0AC0B85E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5BEBA-16E6-4606-9537-EE2A37EC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4196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成功指标</a:t>
            </a:r>
          </a:p>
        </p:txBody>
      </p:sp>
    </p:spTree>
    <p:extLst>
      <p:ext uri="{BB962C8B-B14F-4D97-AF65-F5344CB8AC3E}">
        <p14:creationId xmlns:p14="http://schemas.microsoft.com/office/powerpoint/2010/main" val="1934662079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E8EDB-0709-4931-A9F4-7662270E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4CAE4-968A-438F-B810-176CAD87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9C299-71B5-460C-AD50-BD34BDB6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6C281DB-6FB2-44A0-9AC7-9043FC2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WORKSHEET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89CCB-761A-484C-86A6-65DFAF7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AI机会Brief模板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0406B-358D-4A4D-9F84-076E653D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模板让学员把想法压缩成可讨论、可评审、可推进的项目语言。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3E55E-6821-41FB-9049-33B2DB04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BACC8-9DC0-4F50-802C-548DB9D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1AF74-E3CC-4249-B96E-7348B0AA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综合实训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C2BB2-8641-4EFA-8BA5-9D0C9A68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8FC0D-CD96-4106-B95B-3849399A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447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现状要素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BC58B-022E-436E-AA85-FFEA4950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09800"/>
            <a:ext cx="4838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1F20B-E0DF-4E77-99F3-F7A23102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14575"/>
            <a:ext cx="447675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FDE要追问的证据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28286-27D5-4057-8263-5A5713A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E56E1-DAD5-4593-97FD-A1FCEC5C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717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场景名称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C7AB18-183B-4FA9-B55B-D067D588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98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0A887-E430-4872-915D-09A55FE7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46C0D-07EF-421F-85CC-4E100CA7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59F77-5D14-4273-B618-54CAAE6C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痛点和频次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3B40DB-C5C4-46B5-B048-D99F8028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40328B-FDBD-4A4F-80FB-393A3DEE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766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D8B67-6893-4C1A-87CE-F0CF7F37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7238F-F3E7-44C8-B4E1-D16344F4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现状层级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A56487-0CFC-4767-A6CB-FB66548F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9E2D6-A8A1-4330-B461-0EB9A648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F3E79-644C-4AAD-B483-1944B983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015A8-E09B-41D3-9123-4ABDE8AE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291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目标层级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176EA-689F-4B0C-8634-9FD1D23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672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2A196-8FAE-4360-9B67-DD2B22D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0C95CD-60D7-4E5C-BA67-E65D239A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D6D7D-73C1-4894-834A-ACAA8566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最小闭环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709433-3423-4EFA-B360-706F6036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196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A1D65C-5475-471E-83D2-70F73CD6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339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9BC878-EF7C-4A80-B87B-2F378F57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DF4A40-A509-40E9-97ED-9B1FB2AD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3402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A95C38-1181-42AB-9C73-6DF04B52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721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1CA519-CB4C-4BD8-8001-95AB3210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8640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当前周期、成本、质量、满意度的基线是什么？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DC04C8-87EB-4B37-A02D-0BF85160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4838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6C76E3-DAD5-4140-97E5-CF4FC6E8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86475"/>
            <a:ext cx="4476750" cy="209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下周行动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CC8950-9CF3-4E6D-AAEF-2425AA28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9245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574F51-8737-4346-93CE-B280906D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038850"/>
            <a:ext cx="5353050" cy="304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这里需要具体证据，不接受抽象描述。</a:t>
            </a:r>
          </a:p>
        </p:txBody>
      </p:sp>
    </p:spTree>
    <p:extLst>
      <p:ext uri="{BB962C8B-B14F-4D97-AF65-F5344CB8AC3E}">
        <p14:creationId xmlns:p14="http://schemas.microsoft.com/office/powerpoint/2010/main" val="1525386378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5A0CB5-9BAE-40FE-9541-386AF53D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7B2AA-E22F-4075-ABE4-E7E237AF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D61B9-DB73-40C6-AD77-F715BB28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3B7331-743D-404A-91CB-53241926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PASS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81438-85E7-4F8A-9EB2-F1174CFE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本章合格标准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BE872-A942-48C4-A3CA-2A57FB5B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能说明FDE、能判断层级、能画流程、能写Brief，才算完成第一章。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D5738-09A8-4AB1-9B09-84B451A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477B3-4EB5-42FA-8F03-0A383A25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6DAF0-B243-4510-8930-727B3C08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综合实训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0C004-BF94-4B71-98EC-B187C05B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C39FC-A841-40FF-9BE2-EF35A458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14575"/>
            <a:ext cx="2286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4ACD1-0BF0-41D2-B50B-99D6558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14575"/>
            <a:ext cx="6858000" cy="1905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FDE讲解重点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011F6-B1D8-43D5-BA68-4009D6F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8B053-45A5-48E1-945D-0F1265A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432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角色认知清楚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887066-81EF-411C-9443-914E8DD8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必须拿出可被讲师评审的证据，而不是泛泛表态。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219FA-9165-4BDF-9D3B-068F4E9C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0406D-0D3C-4E62-829A-3F3A4822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五层判断有证据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122AF-5EEB-4F17-8368-E6F07D1D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718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必须拿出可被讲师评审的证据，而不是泛泛表态。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A8226-A669-4A97-BDE1-8A85BF00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C1CA7F-A5C1-4DE6-9DB3-C59D3177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流程图真实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9FBF8-C099-46B0-A6E5-581409CD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195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必须拿出可被讲师评审的证据，而不是泛泛表态。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4FC0B-ED5A-4EC1-AB80-7F60E82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D698FA-D1D4-4E1C-87CF-ACBCF0CB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上下文/工具/风险讲得清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1F3A25-E769-4BC8-8D54-40675A3E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风险决定自动化边界，高风险节点必须有规则和人工接管。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1E2A17-BE40-4249-ACD7-7FF53179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1047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BD17F-C77A-464F-8F1D-2646BCBD5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2476500" cy="3810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Brief可进入下一章深化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4482C7-224A-4796-A911-1116D9CF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314950"/>
            <a:ext cx="695325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必须拿出可被讲师评审的证据，而不是泛泛表态。</a:t>
            </a:r>
          </a:p>
        </p:txBody>
      </p:sp>
    </p:spTree>
    <p:extLst>
      <p:ext uri="{BB962C8B-B14F-4D97-AF65-F5344CB8AC3E}">
        <p14:creationId xmlns:p14="http://schemas.microsoft.com/office/powerpoint/2010/main" val="1484003298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1CD1C4-D08F-4D61-B9E3-1678DC1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28FB9-7B9A-4D6A-ACEA-23058F24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BCF1F-0372-4C77-BE96-8C56550C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BBFF269-B441-4A23-917D-0CC0B0CC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CERTIFICATION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6AAC0-1DBB-46C2-AAB0-B0A3556A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认证与就业方向预告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ADE5F-FD0F-4AC0-AAD7-E875DD2D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认证不是终点，而是帮助学员把能力装进市场可识别标签。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F1A4E-F2BD-4176-846E-848D875E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86BD6-F6C8-44CF-93A5-2B181933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4EF2C-3D93-4250-801E-C4C9ACF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综合实训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E62F7-91E5-463A-9A30-13421B82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EDD6F-E6FB-4E57-AD96-66337699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61536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WEI FDE认证：交付作品与实战评审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BF1FC-73B8-4425-801A-AD20AF03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6D456-B70C-4DAA-8CE6-F2C424A7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2D2AD-0669-451C-B44C-F2E1AEC5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Claude体系：架构、上下文、工具、可靠性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08528-37F3-4D7D-8AB3-160FA481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42578-17AC-451C-803A-AB65E230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B4530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A6F3AE-BC84-45BB-B688-10D1EE7D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3103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OpenAI体系：Agent、工具、评估、企业部署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A220B-F5F8-4DB8-BAB4-71EE3817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1714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2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371AB-F794-4B65-9A38-90800BF4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695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16653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EBA2B-C321-4D49-ABAB-F8E6A64F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1504950" cy="4000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5824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国内体系：生成式AI应用与企业AI岗位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D5C6A-912A-4F0D-876E-53F1B42B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9650"/>
            <a:ext cx="902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08C7A-6BB0-4C4F-98D9-4DEA19DA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判断标准：能否进入流程、接入工具、保留证据、持续运营。</a:t>
            </a:r>
          </a:p>
        </p:txBody>
      </p:sp>
    </p:spTree>
    <p:extLst>
      <p:ext uri="{BB962C8B-B14F-4D97-AF65-F5344CB8AC3E}">
        <p14:creationId xmlns:p14="http://schemas.microsoft.com/office/powerpoint/2010/main" val="1710841294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ED988C-08DE-44D2-A6FE-98791014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612ED-A019-42C6-BD77-4D0B61B9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797AA-0551-4DE0-99D0-7339F484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B3F8986-693D-4BAB-BA65-C52406B9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HOMEWORK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2E2AF-5214-4CD4-B8A6-D5039D37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课后作业：带着一个真实流程回来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40759-635D-4A30-80CA-C1028A1D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下一章要训练业务诊断，必须有真实流程素材。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A9715-11F5-4429-8CB6-A66AB874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E4503-C022-4B86-B4B5-1A940BC2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A650A-6C77-4A83-8765-3953547A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综合实训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EFA92-BA3C-471F-B752-EA3DD0A9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0B07E-D738-47AC-8C5D-38D961EB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6116EE-BB78-4D58-9AAB-1D88A53D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3EF3F-3306-41F5-A1CB-01B1E153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访谈1名业务人员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2FA26-B3FA-4815-B826-31641CE2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0D0586-B6BA-47CB-B325-18016725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C91A4-79E1-41FD-9155-09DBBC9D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A43E4-240B-415A-8F77-67A5053E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收集1个流程样例或表单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25DB8-C895-41D5-9589-3721F3AD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16193-FF19-442E-AF86-12902CD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1E933-8E61-4C29-8320-8FE224E1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E5E57-29FC-4E57-A262-43A6CD9B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写出当前痛点和指标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A08E0-82CA-42DA-85AB-403E8C2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531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7EE"/>
          </a:solidFill>
          <a:ln xmlns:a="http://schemas.openxmlformats.org/drawingml/2006/main" w="9525">
            <a:solidFill>
              <a:srgbClr val="D6DE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D90F5-29EB-4F9C-B000-61E32133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6667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solidFill>
              <a:srgbClr val="16653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D065C1-AD24-4355-BACF-B0AE9692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81450"/>
            <a:ext cx="4381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AB52A-806F-4AF3-A446-D92FB20F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62400"/>
            <a:ext cx="443865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标注可能的上下文材料</a:t>
            </a:r>
          </a:p>
        </p:txBody>
      </p:sp>
    </p:spTree>
    <p:extLst>
      <p:ext uri="{BB962C8B-B14F-4D97-AF65-F5344CB8AC3E}">
        <p14:creationId xmlns:p14="http://schemas.microsoft.com/office/powerpoint/2010/main" val="111850102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2B84CA-7821-47AD-AECD-6D1B85E2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6E740-8AF4-4B3F-91FB-B0470D56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A9779-B6C7-4D16-8911-DA3BD969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C43C638-1962-40E0-AE4D-D647F64B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RECAP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95553-9DF9-4476-AF13-5A25F1C7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第一章复盘：一句话记住FDE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5CFA5F-06F0-464F-9A14-02878716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FDE用业务语言发现问题，用工程语言部署AI，用运营语言证明价值。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78B3B-2626-48CC-9A10-56C6F65F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CC991-0284-42B0-BFA3-F6E44D3A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56434A-1DF6-439B-9CF8-6F5C315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综合实训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C4E6B-D9A1-40AB-A530-578B947D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1143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D17BCC-919F-4781-BCA0-59DF46F6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1428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业务语言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C114B-EC1E-46A7-BDF7-FEB15D93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11430">
            <a:solidFill>
              <a:srgbClr val="25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1D5A5-D324-4209-A2B7-EE109F35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0250" y="3333750"/>
            <a:ext cx="1428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工程语言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7830B-C70F-431F-A7A3-191230A6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0" y="26479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E2"/>
          </a:solidFill>
          <a:ln xmlns:a="http://schemas.openxmlformats.org/drawingml/2006/main" w="11430">
            <a:solidFill>
              <a:srgbClr val="B4530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9A414-0461-4ADD-B067-04C576B5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0" y="3333750"/>
            <a:ext cx="142875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运营语言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E4C27-DED9-4CC4-9EF2-1CB55CD3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8763000" cy="4953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FDE用业务语言发现问题，用工程语言部署AI，用运营语言证明价值。</a:t>
            </a:r>
          </a:p>
        </p:txBody>
      </p:sp>
    </p:spTree>
    <p:extLst>
      <p:ext uri="{BB962C8B-B14F-4D97-AF65-F5344CB8AC3E}">
        <p14:creationId xmlns:p14="http://schemas.microsoft.com/office/powerpoint/2010/main" val="1775643924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D58B7-96A2-4145-BFFA-4038E73A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2E9FB-4775-4334-96AB-2D1BE3F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70261-4E72-4D4B-8910-0B768390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D6DEE8"/>
            </a:solidFill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93A4DAB-9024-45AB-8C76-20586407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42875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FIRST PRINCIPLE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5360D-B73C-4B0C-BDE2-6EE7F0A6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382000" cy="6858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不要问能不能用AI，先问要改变哪条流程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C9577-2105-4C3B-BE06-723BDCBF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572500" cy="419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这个原则会贯穿100课时FDE训练营。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9C424-CCB7-4631-AB1A-423E402D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"/>
            <a:ext cx="838200" cy="361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91BD3-FD0E-4702-99C5-74175A9E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WEI SPACE FDE TRAINING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EF10A-94AE-4150-9A42-47FDF86A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72250"/>
            <a:ext cx="1714500" cy="1714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综合实训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FBF30-0F56-433D-83BF-11DAF2C8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994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D53D7-5520-4A40-ACC1-65BD536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52700"/>
            <a:ext cx="762000" cy="8001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002DF-C0A3-436D-A053-FC63925D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7810500" cy="7429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22033"/>
                </a:solidFill>
                <a:latin typeface="Microsoft YaHei"/>
                <a:ea typeface="Microsoft YaHei"/>
                <a:cs typeface="Microsoft YaHei"/>
              </a:rPr>
              <a:t>不要问能不能用AI，先问要改变哪条流程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BF0AC-E782-4921-8762-01028D5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33800"/>
            <a:ext cx="7429500" cy="4381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这个原则会贯穿100课时FDE训练营。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A2229-A589-4D81-A656-1C1B9EE1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流程是AI落地的容器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FA962-EDBF-4CFC-88B8-8477B9E7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上下文是AI工作的燃料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81B13-A4F2-489E-B5E6-384510F4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2286000" cy="4572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指标是AI项目的裁判</a:t>
            </a:r>
          </a:p>
        </p:txBody>
      </p:sp>
    </p:spTree>
    <p:extLst>
      <p:ext uri="{BB962C8B-B14F-4D97-AF65-F5344CB8AC3E}">
        <p14:creationId xmlns:p14="http://schemas.microsoft.com/office/powerpoint/2010/main" val="1906616636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A23AD8-1F50-4EA8-AADC-364CFD85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33"/>
          </a:solidFill>
          <a:ln xmlns:a="http://schemas.openxmlformats.org/drawingml/2006/main" w="0">
            <a:solidFill>
              <a:srgbClr val="12203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A1E25-FAC6-4B4C-BDF8-DB1B3ECA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BAC28-B192-4F27-8504-330D5719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8200"/>
            <a:ext cx="1714500" cy="2667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A390B-F33E-4B9B-9A9C-539F4912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8191500" cy="10477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下一章：企业AI诊断与场景筛选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C1BDD-C820-494A-82DA-3193845D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7429500" cy="5905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7DEE9"/>
                </a:solidFill>
                <a:latin typeface="Microsoft YaHei"/>
                <a:ea typeface="Microsoft YaHei"/>
                <a:cs typeface="Microsoft YaHei"/>
              </a:rPr>
              <a:t>下一章开始训练访谈、痛点量化、场景评分和项目Brief深化。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3725E-9753-4C90-AC1E-E0AA945A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带真实流程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4A720-E287-436E-9787-7781EA4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9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44281-7E94-425B-BE11-5FA24E05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带业务访谈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A9862-29F2-44DC-9A14-46F458D6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29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723CA-85F9-4050-B04D-E472DF7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762500"/>
            <a:ext cx="1809750" cy="32385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带可验证指标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025DC-B2E7-4CE4-B34A-FEEB536D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959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</a:ln>
        </p:spPr>
      </p:sp>
    </p:spTree>
    <p:extLst>
      <p:ext uri="{BB962C8B-B14F-4D97-AF65-F5344CB8AC3E}">
        <p14:creationId xmlns:p14="http://schemas.microsoft.com/office/powerpoint/2010/main" val="1077357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2026-05-15T17:19:07.6490000Z</dcterms:created>
  <dcterms:modified xsi:type="dcterms:W3CDTF">2026-05-15T17:19:07.6490000Z</dcterms:modified>
</coreProperties>
</file>