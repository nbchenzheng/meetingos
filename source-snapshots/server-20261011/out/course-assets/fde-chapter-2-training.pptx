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02d03687349b4" /><Relationship Type="http://schemas.openxmlformats.org/officeDocument/2006/relationships/extended-properties" Target="/docProps/app.xml" Id="Rda494087d446477d" /><Relationship Type="http://schemas.openxmlformats.org/officeDocument/2006/relationships/officeDocument" Target="/ppt/presentation.xml" Id="R487bfa93215a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3ff7155564caf"/>
  </p:sldMasterIdLst>
  <p:notesMasterIdLst>
    <p:notesMasterId xmlns:r="http://schemas.openxmlformats.org/officeDocument/2006/relationships" r:id="R9d52f9b3cdfc4d6c"/>
  </p:notesMasterIdLst>
  <p:sldIdLst>
    <p:sldId xmlns:r="http://schemas.openxmlformats.org/officeDocument/2006/relationships" id="256" r:id="R725e9ced14644501"/>
    <p:sldId xmlns:r="http://schemas.openxmlformats.org/officeDocument/2006/relationships" id="257" r:id="R5f1fb555100e4f78"/>
    <p:sldId xmlns:r="http://schemas.openxmlformats.org/officeDocument/2006/relationships" id="258" r:id="R234d8778c5604e8a"/>
    <p:sldId xmlns:r="http://schemas.openxmlformats.org/officeDocument/2006/relationships" id="259" r:id="Re0c27f99009a4f95"/>
    <p:sldId xmlns:r="http://schemas.openxmlformats.org/officeDocument/2006/relationships" id="260" r:id="R714c4e6dae424259"/>
    <p:sldId xmlns:r="http://schemas.openxmlformats.org/officeDocument/2006/relationships" id="261" r:id="R453ba41b313f4b99"/>
    <p:sldId xmlns:r="http://schemas.openxmlformats.org/officeDocument/2006/relationships" id="262" r:id="Rf8d2b93d77d544be"/>
    <p:sldId xmlns:r="http://schemas.openxmlformats.org/officeDocument/2006/relationships" id="263" r:id="Rd9979bd00e334db1"/>
    <p:sldId xmlns:r="http://schemas.openxmlformats.org/officeDocument/2006/relationships" id="264" r:id="R486b8282a1804339"/>
    <p:sldId xmlns:r="http://schemas.openxmlformats.org/officeDocument/2006/relationships" id="265" r:id="R60ae751998cc4f11"/>
    <p:sldId xmlns:r="http://schemas.openxmlformats.org/officeDocument/2006/relationships" id="266" r:id="R843e36196cba459b"/>
    <p:sldId xmlns:r="http://schemas.openxmlformats.org/officeDocument/2006/relationships" id="267" r:id="Rcf9fa51edf6e4598"/>
    <p:sldId xmlns:r="http://schemas.openxmlformats.org/officeDocument/2006/relationships" id="268" r:id="R580772cfbc2a49ed"/>
    <p:sldId xmlns:r="http://schemas.openxmlformats.org/officeDocument/2006/relationships" id="269" r:id="R11e297442ae04931"/>
    <p:sldId xmlns:r="http://schemas.openxmlformats.org/officeDocument/2006/relationships" id="270" r:id="Re80649640bc645aa"/>
    <p:sldId xmlns:r="http://schemas.openxmlformats.org/officeDocument/2006/relationships" id="271" r:id="R1bc1a21edf334d5b"/>
    <p:sldId xmlns:r="http://schemas.openxmlformats.org/officeDocument/2006/relationships" id="272" r:id="R742d0c6671cd436c"/>
    <p:sldId xmlns:r="http://schemas.openxmlformats.org/officeDocument/2006/relationships" id="273" r:id="Rfe4d2696985c43ee"/>
    <p:sldId xmlns:r="http://schemas.openxmlformats.org/officeDocument/2006/relationships" id="274" r:id="Rd2d2401a4627409a"/>
    <p:sldId xmlns:r="http://schemas.openxmlformats.org/officeDocument/2006/relationships" id="275" r:id="R8f70dd8c60224e4b"/>
    <p:sldId xmlns:r="http://schemas.openxmlformats.org/officeDocument/2006/relationships" id="276" r:id="Rccdc4ef947764030"/>
    <p:sldId xmlns:r="http://schemas.openxmlformats.org/officeDocument/2006/relationships" id="277" r:id="R2e4edad6b4444d75"/>
    <p:sldId xmlns:r="http://schemas.openxmlformats.org/officeDocument/2006/relationships" id="278" r:id="Rcc2f763093d64179"/>
    <p:sldId xmlns:r="http://schemas.openxmlformats.org/officeDocument/2006/relationships" id="279" r:id="Rf5850e0e41674316"/>
    <p:sldId xmlns:r="http://schemas.openxmlformats.org/officeDocument/2006/relationships" id="280" r:id="R3dcac16a9b504bad"/>
    <p:sldId xmlns:r="http://schemas.openxmlformats.org/officeDocument/2006/relationships" id="281" r:id="Rbe55be0994634d73"/>
    <p:sldId xmlns:r="http://schemas.openxmlformats.org/officeDocument/2006/relationships" id="282" r:id="R51854daf3ac74d59"/>
    <p:sldId xmlns:r="http://schemas.openxmlformats.org/officeDocument/2006/relationships" id="283" r:id="R072602e2596447fc"/>
    <p:sldId xmlns:r="http://schemas.openxmlformats.org/officeDocument/2006/relationships" id="284" r:id="R19cbb317370a467a"/>
    <p:sldId xmlns:r="http://schemas.openxmlformats.org/officeDocument/2006/relationships" id="285" r:id="Rf59c49a8bb7949e2"/>
    <p:sldId xmlns:r="http://schemas.openxmlformats.org/officeDocument/2006/relationships" id="286" r:id="Rbcfeda5ba4424482"/>
    <p:sldId xmlns:r="http://schemas.openxmlformats.org/officeDocument/2006/relationships" id="287" r:id="R350c5cd12a3d4c9c"/>
    <p:sldId xmlns:r="http://schemas.openxmlformats.org/officeDocument/2006/relationships" id="288" r:id="R925954eb56624a5a"/>
    <p:sldId xmlns:r="http://schemas.openxmlformats.org/officeDocument/2006/relationships" id="289" r:id="Raae744815b524a79"/>
    <p:sldId xmlns:r="http://schemas.openxmlformats.org/officeDocument/2006/relationships" id="290" r:id="R2c45cf54aa314940"/>
    <p:sldId xmlns:r="http://schemas.openxmlformats.org/officeDocument/2006/relationships" id="291" r:id="Rc95d12df70614929"/>
    <p:sldId xmlns:r="http://schemas.openxmlformats.org/officeDocument/2006/relationships" id="292" r:id="R4423474d66014e21"/>
    <p:sldId xmlns:r="http://schemas.openxmlformats.org/officeDocument/2006/relationships" id="293" r:id="Rc642850236e24a30"/>
    <p:sldId xmlns:r="http://schemas.openxmlformats.org/officeDocument/2006/relationships" id="294" r:id="R72afd73fd4f04b04"/>
    <p:sldId xmlns:r="http://schemas.openxmlformats.org/officeDocument/2006/relationships" id="295" r:id="Raa161a109a0d46d8"/>
    <p:sldId xmlns:r="http://schemas.openxmlformats.org/officeDocument/2006/relationships" id="296" r:id="R71a50766f09b4de9"/>
    <p:sldId xmlns:r="http://schemas.openxmlformats.org/officeDocument/2006/relationships" id="297" r:id="R5ccc7d749dfa4235"/>
    <p:sldId xmlns:r="http://schemas.openxmlformats.org/officeDocument/2006/relationships" id="298" r:id="R28a3dfa39f20417c"/>
    <p:sldId xmlns:r="http://schemas.openxmlformats.org/officeDocument/2006/relationships" id="299" r:id="R76caa706aef54f68"/>
    <p:sldId xmlns:r="http://schemas.openxmlformats.org/officeDocument/2006/relationships" id="300" r:id="Re3b606b51524412f"/>
    <p:sldId xmlns:r="http://schemas.openxmlformats.org/officeDocument/2006/relationships" id="301" r:id="R5e251f4c6f764477"/>
    <p:sldId xmlns:r="http://schemas.openxmlformats.org/officeDocument/2006/relationships" id="302" r:id="R27d6bcb2938d4e31"/>
    <p:sldId xmlns:r="http://schemas.openxmlformats.org/officeDocument/2006/relationships" id="303" r:id="R8326a24265584ee7"/>
    <p:sldId xmlns:r="http://schemas.openxmlformats.org/officeDocument/2006/relationships" id="304" r:id="R9e91659977134529"/>
    <p:sldId xmlns:r="http://schemas.openxmlformats.org/officeDocument/2006/relationships" id="305" r:id="Rc110345f18db43b1"/>
    <p:sldId xmlns:r="http://schemas.openxmlformats.org/officeDocument/2006/relationships" id="306" r:id="R11ae51c3652d465a"/>
    <p:sldId xmlns:r="http://schemas.openxmlformats.org/officeDocument/2006/relationships" id="307" r:id="R9cb0ca2c76834c04"/>
    <p:sldId xmlns:r="http://schemas.openxmlformats.org/officeDocument/2006/relationships" id="308" r:id="R6f105733660a40fe"/>
    <p:sldId xmlns:r="http://schemas.openxmlformats.org/officeDocument/2006/relationships" id="309" r:id="Rdf682ed3ead24d46"/>
    <p:sldId xmlns:r="http://schemas.openxmlformats.org/officeDocument/2006/relationships" id="310" r:id="R38984c58f532420b"/>
    <p:sldId xmlns:r="http://schemas.openxmlformats.org/officeDocument/2006/relationships" id="311" r:id="R89fe45f4a7754838"/>
    <p:sldId xmlns:r="http://schemas.openxmlformats.org/officeDocument/2006/relationships" id="312" r:id="Rfd72edc0f12b42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3ff7155564caf" /><Relationship Type="http://schemas.openxmlformats.org/officeDocument/2006/relationships/theme" Target="/ppt/theme/theme1.xml" Id="R299236f142044feb" /><Relationship Type="http://schemas.openxmlformats.org/officeDocument/2006/relationships/notesMaster" Target="/ppt/notesMasters/notesMaster1.xml" Id="R9d52f9b3cdfc4d6c" /><Relationship Type="http://schemas.openxmlformats.org/officeDocument/2006/relationships/presProps" Target="/ppt/presProps.xml" Id="R4ce72f636c1c4474" /><Relationship Type="http://schemas.openxmlformats.org/officeDocument/2006/relationships/viewProps" Target="/ppt/viewProps.xml" Id="R0760505b9a394d42" /><Relationship Type="http://schemas.openxmlformats.org/officeDocument/2006/relationships/tableStyles" Target="/ppt/tableStyles.xml" Id="R76dac0fca27b4f21" /><Relationship Type="http://schemas.openxmlformats.org/officeDocument/2006/relationships/slide" Target="/ppt/slides/slide1.xml" Id="R725e9ced14644501" /><Relationship Type="http://schemas.openxmlformats.org/officeDocument/2006/relationships/slide" Target="/ppt/slides/slide2.xml" Id="R5f1fb555100e4f78" /><Relationship Type="http://schemas.openxmlformats.org/officeDocument/2006/relationships/slide" Target="/ppt/slides/slide3.xml" Id="R234d8778c5604e8a" /><Relationship Type="http://schemas.openxmlformats.org/officeDocument/2006/relationships/slide" Target="/ppt/slides/slide4.xml" Id="Re0c27f99009a4f95" /><Relationship Type="http://schemas.openxmlformats.org/officeDocument/2006/relationships/slide" Target="/ppt/slides/slide5.xml" Id="R714c4e6dae424259" /><Relationship Type="http://schemas.openxmlformats.org/officeDocument/2006/relationships/slide" Target="/ppt/slides/slide6.xml" Id="R453ba41b313f4b99" /><Relationship Type="http://schemas.openxmlformats.org/officeDocument/2006/relationships/slide" Target="/ppt/slides/slide7.xml" Id="Rf8d2b93d77d544be" /><Relationship Type="http://schemas.openxmlformats.org/officeDocument/2006/relationships/slide" Target="/ppt/slides/slide8.xml" Id="Rd9979bd00e334db1" /><Relationship Type="http://schemas.openxmlformats.org/officeDocument/2006/relationships/slide" Target="/ppt/slides/slide9.xml" Id="R486b8282a1804339" /><Relationship Type="http://schemas.openxmlformats.org/officeDocument/2006/relationships/slide" Target="/ppt/slides/slide10.xml" Id="R60ae751998cc4f11" /><Relationship Type="http://schemas.openxmlformats.org/officeDocument/2006/relationships/slide" Target="/ppt/slides/slide11.xml" Id="R843e36196cba459b" /><Relationship Type="http://schemas.openxmlformats.org/officeDocument/2006/relationships/slide" Target="/ppt/slides/slide12.xml" Id="Rcf9fa51edf6e4598" /><Relationship Type="http://schemas.openxmlformats.org/officeDocument/2006/relationships/slide" Target="/ppt/slides/slide13.xml" Id="R580772cfbc2a49ed" /><Relationship Type="http://schemas.openxmlformats.org/officeDocument/2006/relationships/slide" Target="/ppt/slides/slide14.xml" Id="R11e297442ae04931" /><Relationship Type="http://schemas.openxmlformats.org/officeDocument/2006/relationships/slide" Target="/ppt/slides/slide15.xml" Id="Re80649640bc645aa" /><Relationship Type="http://schemas.openxmlformats.org/officeDocument/2006/relationships/slide" Target="/ppt/slides/slide16.xml" Id="R1bc1a21edf334d5b" /><Relationship Type="http://schemas.openxmlformats.org/officeDocument/2006/relationships/slide" Target="/ppt/slides/slide17.xml" Id="R742d0c6671cd436c" /><Relationship Type="http://schemas.openxmlformats.org/officeDocument/2006/relationships/slide" Target="/ppt/slides/slide18.xml" Id="Rfe4d2696985c43ee" /><Relationship Type="http://schemas.openxmlformats.org/officeDocument/2006/relationships/slide" Target="/ppt/slides/slide19.xml" Id="Rd2d2401a4627409a" /><Relationship Type="http://schemas.openxmlformats.org/officeDocument/2006/relationships/slide" Target="/ppt/slides/slide20.xml" Id="R8f70dd8c60224e4b" /><Relationship Type="http://schemas.openxmlformats.org/officeDocument/2006/relationships/slide" Target="/ppt/slides/slide21.xml" Id="Rccdc4ef947764030" /><Relationship Type="http://schemas.openxmlformats.org/officeDocument/2006/relationships/slide" Target="/ppt/slides/slide22.xml" Id="R2e4edad6b4444d75" /><Relationship Type="http://schemas.openxmlformats.org/officeDocument/2006/relationships/slide" Target="/ppt/slides/slide23.xml" Id="Rcc2f763093d64179" /><Relationship Type="http://schemas.openxmlformats.org/officeDocument/2006/relationships/slide" Target="/ppt/slides/slide24.xml" Id="Rf5850e0e41674316" /><Relationship Type="http://schemas.openxmlformats.org/officeDocument/2006/relationships/slide" Target="/ppt/slides/slide25.xml" Id="R3dcac16a9b504bad" /><Relationship Type="http://schemas.openxmlformats.org/officeDocument/2006/relationships/slide" Target="/ppt/slides/slide26.xml" Id="Rbe55be0994634d73" /><Relationship Type="http://schemas.openxmlformats.org/officeDocument/2006/relationships/slide" Target="/ppt/slides/slide27.xml" Id="R51854daf3ac74d59" /><Relationship Type="http://schemas.openxmlformats.org/officeDocument/2006/relationships/slide" Target="/ppt/slides/slide28.xml" Id="R072602e2596447fc" /><Relationship Type="http://schemas.openxmlformats.org/officeDocument/2006/relationships/slide" Target="/ppt/slides/slide29.xml" Id="R19cbb317370a467a" /><Relationship Type="http://schemas.openxmlformats.org/officeDocument/2006/relationships/slide" Target="/ppt/slides/slide30.xml" Id="Rf59c49a8bb7949e2" /><Relationship Type="http://schemas.openxmlformats.org/officeDocument/2006/relationships/slide" Target="/ppt/slides/slide31.xml" Id="Rbcfeda5ba4424482" /><Relationship Type="http://schemas.openxmlformats.org/officeDocument/2006/relationships/slide" Target="/ppt/slides/slide32.xml" Id="R350c5cd12a3d4c9c" /><Relationship Type="http://schemas.openxmlformats.org/officeDocument/2006/relationships/slide" Target="/ppt/slides/slide33.xml" Id="R925954eb56624a5a" /><Relationship Type="http://schemas.openxmlformats.org/officeDocument/2006/relationships/slide" Target="/ppt/slides/slide34.xml" Id="Raae744815b524a79" /><Relationship Type="http://schemas.openxmlformats.org/officeDocument/2006/relationships/slide" Target="/ppt/slides/slide35.xml" Id="R2c45cf54aa314940" /><Relationship Type="http://schemas.openxmlformats.org/officeDocument/2006/relationships/slide" Target="/ppt/slides/slide36.xml" Id="Rc95d12df70614929" /><Relationship Type="http://schemas.openxmlformats.org/officeDocument/2006/relationships/slide" Target="/ppt/slides/slide37.xml" Id="R4423474d66014e21" /><Relationship Type="http://schemas.openxmlformats.org/officeDocument/2006/relationships/slide" Target="/ppt/slides/slide38.xml" Id="Rc642850236e24a30" /><Relationship Type="http://schemas.openxmlformats.org/officeDocument/2006/relationships/slide" Target="/ppt/slides/slide39.xml" Id="R72afd73fd4f04b04" /><Relationship Type="http://schemas.openxmlformats.org/officeDocument/2006/relationships/slide" Target="/ppt/slides/slide40.xml" Id="Raa161a109a0d46d8" /><Relationship Type="http://schemas.openxmlformats.org/officeDocument/2006/relationships/slide" Target="/ppt/slides/slide41.xml" Id="R71a50766f09b4de9" /><Relationship Type="http://schemas.openxmlformats.org/officeDocument/2006/relationships/slide" Target="/ppt/slides/slide42.xml" Id="R5ccc7d749dfa4235" /><Relationship Type="http://schemas.openxmlformats.org/officeDocument/2006/relationships/slide" Target="/ppt/slides/slide43.xml" Id="R28a3dfa39f20417c" /><Relationship Type="http://schemas.openxmlformats.org/officeDocument/2006/relationships/slide" Target="/ppt/slides/slide44.xml" Id="R76caa706aef54f68" /><Relationship Type="http://schemas.openxmlformats.org/officeDocument/2006/relationships/slide" Target="/ppt/slides/slide45.xml" Id="Re3b606b51524412f" /><Relationship Type="http://schemas.openxmlformats.org/officeDocument/2006/relationships/slide" Target="/ppt/slides/slide46.xml" Id="R5e251f4c6f764477" /><Relationship Type="http://schemas.openxmlformats.org/officeDocument/2006/relationships/slide" Target="/ppt/slides/slide47.xml" Id="R27d6bcb2938d4e31" /><Relationship Type="http://schemas.openxmlformats.org/officeDocument/2006/relationships/slide" Target="/ppt/slides/slide48.xml" Id="R8326a24265584ee7" /><Relationship Type="http://schemas.openxmlformats.org/officeDocument/2006/relationships/slide" Target="/ppt/slides/slide49.xml" Id="R9e91659977134529" /><Relationship Type="http://schemas.openxmlformats.org/officeDocument/2006/relationships/slide" Target="/ppt/slides/slide50.xml" Id="Rc110345f18db43b1" /><Relationship Type="http://schemas.openxmlformats.org/officeDocument/2006/relationships/slide" Target="/ppt/slides/slide51.xml" Id="R11ae51c3652d465a" /><Relationship Type="http://schemas.openxmlformats.org/officeDocument/2006/relationships/slide" Target="/ppt/slides/slide52.xml" Id="R9cb0ca2c76834c04" /><Relationship Type="http://schemas.openxmlformats.org/officeDocument/2006/relationships/slide" Target="/ppt/slides/slide53.xml" Id="R6f105733660a40fe" /><Relationship Type="http://schemas.openxmlformats.org/officeDocument/2006/relationships/slide" Target="/ppt/slides/slide54.xml" Id="Rdf682ed3ead24d46" /><Relationship Type="http://schemas.openxmlformats.org/officeDocument/2006/relationships/slide" Target="/ppt/slides/slide55.xml" Id="R38984c58f532420b" /><Relationship Type="http://schemas.openxmlformats.org/officeDocument/2006/relationships/slide" Target="/ppt/slides/slide56.xml" Id="R89fe45f4a7754838" /><Relationship Type="http://schemas.openxmlformats.org/officeDocument/2006/relationships/slide" Target="/ppt/slides/slide57.xml" Id="Rfd72edc0f12b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de920aa2fa4a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e43db4e784fa9" /><Relationship Type="http://schemas.openxmlformats.org/officeDocument/2006/relationships/notesMaster" Target="/ppt/notesMasters/notesMaster1.xml" Id="R4534e0178edd4d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ed71e1e6164b04" /><Relationship Type="http://schemas.openxmlformats.org/officeDocument/2006/relationships/notesMaster" Target="/ppt/notesMasters/notesMaster1.xml" Id="R479e898c724e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f2bf7844344f1" /><Relationship Type="http://schemas.openxmlformats.org/officeDocument/2006/relationships/notesMaster" Target="/ppt/notesMasters/notesMaster1.xml" Id="R671933a74fd4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118c1420394b6d" /><Relationship Type="http://schemas.openxmlformats.org/officeDocument/2006/relationships/notesMaster" Target="/ppt/notesMasters/notesMaster1.xml" Id="Rdb2a0545108945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2f513c49e74657" /><Relationship Type="http://schemas.openxmlformats.org/officeDocument/2006/relationships/notesMaster" Target="/ppt/notesMasters/notesMaster1.xml" Id="R16b46c4e09ae48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493ffef5a6488c" /><Relationship Type="http://schemas.openxmlformats.org/officeDocument/2006/relationships/notesMaster" Target="/ppt/notesMasters/notesMaster1.xml" Id="R80342a22ff3e45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58e72f0ad84d72" /><Relationship Type="http://schemas.openxmlformats.org/officeDocument/2006/relationships/notesMaster" Target="/ppt/notesMasters/notesMaster1.xml" Id="Rd5aa69e4ee294d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80e6edfcc4795" /><Relationship Type="http://schemas.openxmlformats.org/officeDocument/2006/relationships/notesMaster" Target="/ppt/notesMasters/notesMaster1.xml" Id="R352c4010757442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d6cee9f9fc481f" /><Relationship Type="http://schemas.openxmlformats.org/officeDocument/2006/relationships/notesMaster" Target="/ppt/notesMasters/notesMaster1.xml" Id="R2690520d710f49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2586d332404e09" /><Relationship Type="http://schemas.openxmlformats.org/officeDocument/2006/relationships/notesMaster" Target="/ppt/notesMasters/notesMaster1.xml" Id="Rbfec81ec426242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4c8192f098491f" /><Relationship Type="http://schemas.openxmlformats.org/officeDocument/2006/relationships/notesMaster" Target="/ppt/notesMasters/notesMaster1.xml" Id="R268bdb6f52e04f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a83123ec304355" /><Relationship Type="http://schemas.openxmlformats.org/officeDocument/2006/relationships/notesMaster" Target="/ppt/notesMasters/notesMaster1.xml" Id="R07698ea13e7c44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ee31078aee48d9" /><Relationship Type="http://schemas.openxmlformats.org/officeDocument/2006/relationships/notesMaster" Target="/ppt/notesMasters/notesMaster1.xml" Id="R5bf3623517e142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3e1bd5ae1a495a" /><Relationship Type="http://schemas.openxmlformats.org/officeDocument/2006/relationships/notesMaster" Target="/ppt/notesMasters/notesMaster1.xml" Id="Rbae36a29a9124b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6847ae8bb64d00" /><Relationship Type="http://schemas.openxmlformats.org/officeDocument/2006/relationships/notesMaster" Target="/ppt/notesMasters/notesMaster1.xml" Id="R2ebfc378ac6444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bde64f78294fb9" /><Relationship Type="http://schemas.openxmlformats.org/officeDocument/2006/relationships/notesMaster" Target="/ppt/notesMasters/notesMaster1.xml" Id="R1868f7d5f0094e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2cc74055e8453d" /><Relationship Type="http://schemas.openxmlformats.org/officeDocument/2006/relationships/notesMaster" Target="/ppt/notesMasters/notesMaster1.xml" Id="R24d224fca7574c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67cc570e7a45ff" /><Relationship Type="http://schemas.openxmlformats.org/officeDocument/2006/relationships/notesMaster" Target="/ppt/notesMasters/notesMaster1.xml" Id="R7ad2646b92b843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2c90f6c76e4b15" /><Relationship Type="http://schemas.openxmlformats.org/officeDocument/2006/relationships/notesMaster" Target="/ppt/notesMasters/notesMaster1.xml" Id="Rd37971b4e69b40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1ceb0148244351" /><Relationship Type="http://schemas.openxmlformats.org/officeDocument/2006/relationships/notesMaster" Target="/ppt/notesMasters/notesMaster1.xml" Id="Rc01db852d9a94f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3ea8666cd84fbd" /><Relationship Type="http://schemas.openxmlformats.org/officeDocument/2006/relationships/notesMaster" Target="/ppt/notesMasters/notesMaster1.xml" Id="R39f0c48bccad48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354ed92ca94e26" /><Relationship Type="http://schemas.openxmlformats.org/officeDocument/2006/relationships/notesMaster" Target="/ppt/notesMasters/notesMaster1.xml" Id="R24df2f340ac141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dd30c2daea41e7" /><Relationship Type="http://schemas.openxmlformats.org/officeDocument/2006/relationships/notesMaster" Target="/ppt/notesMasters/notesMaster1.xml" Id="R61f55648696a4a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55fa5269d546c0" /><Relationship Type="http://schemas.openxmlformats.org/officeDocument/2006/relationships/notesMaster" Target="/ppt/notesMasters/notesMaster1.xml" Id="R06892c5ecc7b4c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807bbdf0d942d6" /><Relationship Type="http://schemas.openxmlformats.org/officeDocument/2006/relationships/notesMaster" Target="/ppt/notesMasters/notesMaster1.xml" Id="R2cce35ce5f7b42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e17c6c533d4af7" /><Relationship Type="http://schemas.openxmlformats.org/officeDocument/2006/relationships/notesMaster" Target="/ppt/notesMasters/notesMaster1.xml" Id="Rf50a8625919e45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fd6191e7c384806" /><Relationship Type="http://schemas.openxmlformats.org/officeDocument/2006/relationships/notesMaster" Target="/ppt/notesMasters/notesMaster1.xml" Id="R0298fd4757794d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ea08e2800f41e4" /><Relationship Type="http://schemas.openxmlformats.org/officeDocument/2006/relationships/notesMaster" Target="/ppt/notesMasters/notesMaster1.xml" Id="R4a2fdd41296c43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f182f512234c86" /><Relationship Type="http://schemas.openxmlformats.org/officeDocument/2006/relationships/notesMaster" Target="/ppt/notesMasters/notesMaster1.xml" Id="Reeba486d184649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36b4f66248e4ead" /><Relationship Type="http://schemas.openxmlformats.org/officeDocument/2006/relationships/notesMaster" Target="/ppt/notesMasters/notesMaster1.xml" Id="Rb5f6c9c0a87647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948d5bbe3404d18" /><Relationship Type="http://schemas.openxmlformats.org/officeDocument/2006/relationships/notesMaster" Target="/ppt/notesMasters/notesMaster1.xml" Id="Rfe83067c2ea7445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d4f2da0dd547d8" /><Relationship Type="http://schemas.openxmlformats.org/officeDocument/2006/relationships/notesMaster" Target="/ppt/notesMasters/notesMaster1.xml" Id="R38131f8e62ed454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84f9247eaf42a4" /><Relationship Type="http://schemas.openxmlformats.org/officeDocument/2006/relationships/notesMaster" Target="/ppt/notesMasters/notesMaster1.xml" Id="Re23be8a713654c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f36bef1b5f4888" /><Relationship Type="http://schemas.openxmlformats.org/officeDocument/2006/relationships/notesMaster" Target="/ppt/notesMasters/notesMaster1.xml" Id="Rd6ab179e9821437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975e96e8b1419a" /><Relationship Type="http://schemas.openxmlformats.org/officeDocument/2006/relationships/notesMaster" Target="/ppt/notesMasters/notesMaster1.xml" Id="Rc165cd71bde141e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153233166534098" /><Relationship Type="http://schemas.openxmlformats.org/officeDocument/2006/relationships/notesMaster" Target="/ppt/notesMasters/notesMaster1.xml" Id="R8600606652cf438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f391f508304e2e" /><Relationship Type="http://schemas.openxmlformats.org/officeDocument/2006/relationships/notesMaster" Target="/ppt/notesMasters/notesMaster1.xml" Id="R134560720f044d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8ecf208cae844be" /><Relationship Type="http://schemas.openxmlformats.org/officeDocument/2006/relationships/notesMaster" Target="/ppt/notesMasters/notesMaster1.xml" Id="R5b2a922ecadb446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a4874191b214aaa" /><Relationship Type="http://schemas.openxmlformats.org/officeDocument/2006/relationships/notesMaster" Target="/ppt/notesMasters/notesMaster1.xml" Id="Rd169f0b0c7b24b1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a41b45fba41420d" /><Relationship Type="http://schemas.openxmlformats.org/officeDocument/2006/relationships/notesMaster" Target="/ppt/notesMasters/notesMaster1.xml" Id="R8a1d62c58314457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c5e6f9983b448d9" /><Relationship Type="http://schemas.openxmlformats.org/officeDocument/2006/relationships/notesMaster" Target="/ppt/notesMasters/notesMaster1.xml" Id="R619f0a9bb0c9479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7a5e9165fac46ee" /><Relationship Type="http://schemas.openxmlformats.org/officeDocument/2006/relationships/notesMaster" Target="/ppt/notesMasters/notesMaster1.xml" Id="Red09203e68f44ac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0e55bfe63d6413a" /><Relationship Type="http://schemas.openxmlformats.org/officeDocument/2006/relationships/notesMaster" Target="/ppt/notesMasters/notesMaster1.xml" Id="R373fd4d557574d1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75b0276b9f6426d" /><Relationship Type="http://schemas.openxmlformats.org/officeDocument/2006/relationships/notesMaster" Target="/ppt/notesMasters/notesMaster1.xml" Id="R79a47a9ee504415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a5f2dbdf21f496c" /><Relationship Type="http://schemas.openxmlformats.org/officeDocument/2006/relationships/notesMaster" Target="/ppt/notesMasters/notesMaster1.xml" Id="Re8dfccc6cb4b45f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ed090c9e26441b3" /><Relationship Type="http://schemas.openxmlformats.org/officeDocument/2006/relationships/notesMaster" Target="/ppt/notesMasters/notesMaster1.xml" Id="R64dc5d4fcbef43f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ef0f378eeb1414c" /><Relationship Type="http://schemas.openxmlformats.org/officeDocument/2006/relationships/notesMaster" Target="/ppt/notesMasters/notesMaster1.xml" Id="Ra560dafa38864b0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6dd0156b280400b" /><Relationship Type="http://schemas.openxmlformats.org/officeDocument/2006/relationships/notesMaster" Target="/ppt/notesMasters/notesMaster1.xml" Id="R65c7445ee46e4b9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3f5f5115fc243d4" /><Relationship Type="http://schemas.openxmlformats.org/officeDocument/2006/relationships/notesMaster" Target="/ppt/notesMasters/notesMaster1.xml" Id="Rd398a8cc861e457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119eeebd3b24b5f" /><Relationship Type="http://schemas.openxmlformats.org/officeDocument/2006/relationships/notesMaster" Target="/ppt/notesMasters/notesMaster1.xml" Id="R6287413e0e214cf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c9a5c50f35f48c6" /><Relationship Type="http://schemas.openxmlformats.org/officeDocument/2006/relationships/notesMaster" Target="/ppt/notesMasters/notesMaster1.xml" Id="R4581bc500317440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dda31d6a39f4483" /><Relationship Type="http://schemas.openxmlformats.org/officeDocument/2006/relationships/notesMaster" Target="/ppt/notesMasters/notesMaster1.xml" Id="R587c1a16ef954d4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1f1a00c6e3a4a01" /><Relationship Type="http://schemas.openxmlformats.org/officeDocument/2006/relationships/notesMaster" Target="/ppt/notesMasters/notesMaster1.xml" Id="Rb65488cc1cf64c0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ed89ae974b24286" /><Relationship Type="http://schemas.openxmlformats.org/officeDocument/2006/relationships/notesMaster" Target="/ppt/notesMasters/notesMaster1.xml" Id="R832f381412e74d5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4b4e4ddb35d4d07" /><Relationship Type="http://schemas.openxmlformats.org/officeDocument/2006/relationships/notesMaster" Target="/ppt/notesMasters/notesMaster1.xml" Id="R2cfe8468b3f34d9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2fa20231d1a4c20" /><Relationship Type="http://schemas.openxmlformats.org/officeDocument/2006/relationships/notesMaster" Target="/ppt/notesMasters/notesMaster1.xml" Id="R64018cb5300a4f5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7e1f78e9fcc426b" /><Relationship Type="http://schemas.openxmlformats.org/officeDocument/2006/relationships/notesMaster" Target="/ppt/notesMasters/notesMaster1.xml" Id="R0c3c8ad4d8ed4c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本页目的：第2章要训练FDE进入客户现场后最关键的能力：问对问题、画对流程、选对场景。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AI诊断与场景筛选”。这一页不是让大家记一个概念，而是训练一个FDE在客户现场要做的判断。请先记住本页的核心句：第2章要训练FDE进入客户现场后最关键的能力：问对问题、画对流程、选对场景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三层访谈；流程六格；机会地图；FDE-SCORE；诊断工作坊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开场不能只介绍目录，因为学员已经知道自己来学AI，真正需要建立的是训练边界。要告诉他们：第2章不是工具演示，不比较模型参数，不讲谁的按钮在哪里，而是训练FDE在企业现场把“想做AI”的模糊愿望变成“可部署MVP”的方法。这样先立边界，后面学员才不会不断追问某个工具怎么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三层访谈；流程六格；机会地图；FDE-SCORE；诊断工作坊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章边界，约1分钟】请强调第2章不是为了做一套通用调研问卷，而是为了训练一种进入客户现场的工作方式。真正的诊断不是把客户话术记录下来，而是把客户表达拆成可验证事实，再把事实变成可部署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与第1章连接，约1分钟】可以回扣第1章的五层进化：工具提效层看单点工具，知识上下文层看企业资料，Agent协作层看数字员工，流程重构层看系统写回和闭环，组织跃迁层看人机分工。本章诊断，就是判断企业现在在哪层、下一层从哪条流程切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【收束，约30秒】所以这一页要带走的不是“CHAPTER 02”这个标签，而是一个动作：下次听到客户讲类似需求时，你要知道下一句该怎么问。明确本章输出后，我们进入FDE诊断的基本原则。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过渡语：明确本章输出后，我们进入FDE诊断的基本原则。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本页目的：本章不是泛泛收需求，而是把混乱需求压缩成可评审的场景优先级。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8课时：把企业需求变成可部署MVP”。这一页不是让大家记一个概念，而是训练一个FDE在客户现场要做的判断。请先记住本页的核心句：本章不是泛泛收需求，而是把混乱需求压缩成可评审的场景优先级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【概念展开，约1分30秒】屏幕上的关键词是：0. 复盘与诊断契约 / 15 min；1. FDE诊断心法 / 35 min；2. 三层访谈法 / 55 min；3. 流程拆解六格 / 55 min；4. AI机会地图 / 45 min；5. 场景评分与优先级 / 65 min；6. 数据/系统/权限/风险盘点 / 45 min；7. 诊断工作坊与作业 / 45 min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开场不能只介绍目录，因为学员已经知道自己来学AI，真正需要建立的是训练边界。要告诉他们：第2章不是工具演示，不比较模型参数，不讲谁的按钮在哪里，而是训练FDE在企业现场把“想做AI”的模糊愿望变成“可部署MVP”的方法。这样先立边界，后面学员才不会不断追问某个工具怎么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进入工作坊时，讲师要把交付标准讲硬一点：今天不是交一份漂亮作业，而是交一个客户现场能继续推进的诊断包。一个合格MVP建议至少要说清楚七件事：业务目标是什么，当前流程怎么跑，痛点证据在哪里，AI需要什么上下文，接哪些工具，哪些节点必须人工接管，4到8周看什么指标。如果这七件事说不清，说明还没到方案设计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章边界，约1分钟】请强调第2章不是为了做一套通用调研问卷，而是为了训练一种进入客户现场的工作方式。真正的诊断不是把客户话术记录下来，而是把客户表达拆成可验证事实，再把事实变成可部署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与第1章连接，约1分钟】可以回扣第1章的五层进化：工具提效层看单点工具，知识上下文层看企业资料，Agent协作层看数字员工，流程重构层看系统写回和闭环，组织跃迁层看人机分工。本章诊断，就是判断企业现在在哪层、下一层从哪条流程切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【收束，约30秒】所以这一页要带走的不是“TODAY”这个标签，而是一个动作：下次听到客户讲类似需求时，你要知道下一句该怎么问。明确本章输出后，我们进入FDE诊断的基本原则。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过渡语：明确本章输出后，我们进入FDE诊断的基本原则。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本页目的：FDE的诊断成果必须能被客户、交付团队和后续讲师共同复用。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本章结课要交付四份材料”。这一页不是让大家记一个概念，而是训练一个FDE在客户现场要做的判断。请先记住本页的核心句：FDE的诊断成果必须能被客户、交付团队和后续讲师共同复用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访谈纪要；流程六格图；AI机会地图；场景优先级矩阵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开场不能只介绍目录，因为学员已经知道自己来学AI，真正需要建立的是训练边界。要告诉他们：第2章不是工具演示，不比较模型参数，不讲谁的按钮在哪里，而是训练FDE在企业现场把“想做AI”的模糊愿望变成“可部署MVP”的方法。这样先立边界，后面学员才不会不断追问某个工具怎么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访谈纪要；流程六格图；AI机会地图；场景优先级矩阵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章边界，约1分钟】请强调第2章不是为了做一套通用调研问卷，而是为了训练一种进入客户现场的工作方式。真正的诊断不是把客户话术记录下来，而是把客户表达拆成可验证事实，再把事实变成可部署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与第1章连接，约1分钟】可以回扣第1章的五层进化：工具提效层看单点工具，知识上下文层看企业资料，Agent协作层看数字员工，流程重构层看系统写回和闭环，组织跃迁层看人机分工。本章诊断，就是判断企业现在在哪层、下一层从哪条流程切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【收束，约30秒】所以这一页要带走的不是“OUTPUT”这个标签，而是一个动作：下次听到客户讲类似需求时，你要知道下一句该怎么问。明确本章输出后，我们进入FDE诊断的基本原则。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过渡语：明确本章输出后，我们进入FDE诊断的基本原则。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本页目的：FDE诊断的第一步，是把抽象AI愿望翻译成具体流程问题。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不要从“我要做AI”开始，从“哪条流程要变好”开始”。这一页不是让大家记一个概念，而是训练一个FDE在客户现场要做的判断。请先记住本页的核心句：FDE诊断的第一步，是把抽象AI愿望翻译成具体流程问题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；流程；指标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开场不能只介绍目录，因为学员已经知道自己来学AI，真正需要建立的是训练边界。要告诉他们：第2章不是工具演示，不比较模型参数，不讲谁的按钮在哪里，而是训练FDE在企业现场把“想做AI”的模糊愿望变成“可部署MVP”的方法。这样先立边界，后面学员才不会不断追问某个工具怎么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章边界，约1分钟】请强调第2章不是为了做一套通用调研问卷，而是为了训练一种进入客户现场的工作方式。真正的诊断不是把客户话术记录下来，而是把客户表达拆成可验证事实，再把事实变成可部署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与第1章连接，约1分钟】可以回扣第1章的五层进化：工具提效层看单点工具，知识上下文层看企业资料，Agent协作层看数字员工，流程重构层看系统写回和闭环，组织跃迁层看人机分工。本章诊断，就是判断企业现在在哪层、下一层从哪条流程切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【收束，约30秒】所以这一页要带走的不是“FIRST RULE”这个标签，而是一个动作：下次听到客户讲类似需求时，你要知道下一句该怎么问。明确本章输出后，我们进入FDE诊断的基本原则。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过渡语：明确本章输出后，我们进入FDE诊断的基本原则。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本页目的：第1章判断企业在哪一层，第2章判断先从哪个场景向下一层跃迁。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第1章五层模型如何进入第2章”。这一页不是让大家记一个概念，而是训练一个FDE在客户现场要做的判断。请先记住本页的核心句：第1章判断企业在哪一层，第2章判断先从哪个场景向下一层跃迁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识别层级；找到流程；筛选场景；定义MVP；进入部署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【为什么这样讲，约1分钟】这一页承担承上启下作用，讲师要把它和第1章五层模型连接起来：诊断不是为了写报告，而是为了判断企业下一层跃迁的最小入口。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识别层级；找到流程；筛选场景；定义MVP；进入部署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第1章五层模型如何进入第2章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【收束，约30秒】所以这一页要带走的不是“RECAP”这个标签，而是一个动作：下次听到客户讲类似需求时，你要知道下一句该怎么问。下一章会把这个MVP继续设计成可运行的知识和上下文系统。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本页目的：诊断不是问客户想买什么，而是建立业务问题的证据链。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诊断心法”。这一页不是让大家记一个概念，而是训练一个FDE在客户现场要做的判断。请先记住本页的核心句：诊断不是问客户想买什么，而是建立业务问题的证据链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结果导向；证据链；最小闭环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诊断心法是本章的地基。很多AI项目失败，不是因为模型不够强，而是项目开始时就没有把业务目标、证据和最小闭环讲清楚。讲师要强调：FDE不是需求记录员，也不是客户说什么就做什么的外包执行者。FDE要有专业判断，能把客户的话翻译成可验证命题。结果导向解决“为什么做”，证据链解决“凭什么判断”，最小闭环解决“先做哪一段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结果导向；证据链；最小闭环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结果导向不是喊口号，而是把“好用”翻译成指标。比如客户说客服要更聪明，FDE要追问：是首次响应时间、一次解决率、转人工率、满意度，还是知识更新周期？指标不同，方案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学员会把“客户很痛”当成价值证据。讲师要纠正：痛点强不等于价值高。价值要看频次、影响人数、成本、收入、风险和战略优先级。只有把痛点放到业务指标里，才能判断项目是否值得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【最小闭环，约1分钟】最小闭环不是最小功能，而是最小业务结果。一个只会生成文案的功能不是闭环；如果它能读取线索、生成跟进建议、销售确认、写回CRM、主管看转化率，这才是能复盘的闭环。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1”这个标签，而是一个动作：下次听到客户讲类似需求时，你要知道下一句该怎么问。诊断原则清楚之后，我们开始学习如何访谈不同层级的人。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过渡语：诊断原则清楚之后，我们开始学习如何访谈不同层级的人。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本页目的：没有成功线的AI项目，最后只能靠感觉验收。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结果导向：先定义成功线”。这一页不是让大家记一个概念，而是训练一个FDE在客户现场要做的判断。请先记住本页的核心句：没有成功线的AI项目，最后只能靠感觉验收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要提升什么；要降低什么；要缩短什么；要减少什么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诊断心法是本章的地基。很多AI项目失败，不是因为模型不够强，而是项目开始时就没有把业务目标、证据和最小闭环讲清楚。讲师要强调：FDE不是需求记录员，也不是客户说什么就做什么的外包执行者。FDE要有专业判断，能把客户的话翻译成可验证命题。结果导向解决“为什么做”，证据链解决“凭什么判断”，最小闭环解决“先做哪一段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要提升什么；要降低什么；要缩短什么；要减少什么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结果导向不是喊口号，而是把“好用”翻译成指标。比如客户说客服要更聪明，FDE要追问：是首次响应时间、一次解决率、转人工率、满意度，还是知识更新周期？指标不同，方案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学员会把“客户很痛”当成价值证据。讲师要纠正：痛点强不等于价值高。价值要看频次、影响人数、成本、收入、风险和战略优先级。只有把痛点放到业务指标里，才能判断项目是否值得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【最小闭环，约1分钟】最小闭环不是最小功能，而是最小业务结果。一个只会生成文案的功能不是闭环；如果它能读取线索、生成跟进建议、销售确认、写回CRM、主管看转化率，这才是能复盘的闭环。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【收束，约30秒】所以这一页要带走的不是“PRINCIPLE 1”这个标签，而是一个动作：下次听到客户讲类似需求时，你要知道下一句该怎么问。诊断原则清楚之后，我们开始学习如何访谈不同层级的人。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过渡语：诊断原则清楚之后，我们开始学习如何访谈不同层级的人。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本页目的：FDE不能只听故事，要拿到样例、数据、系统截图、表单和真实对话。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证据链：每个判断都要有现场证据”。这一页不是让大家记一个概念，而是训练一个FDE在客户现场要做的判断。请先记住本页的核心句：FDE不能只听故事，要拿到样例、数据、系统截图、表单和真实对话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样例；数据；系统；表单；对话；指标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诊断心法是本章的地基。很多AI项目失败，不是因为模型不够强，而是项目开始时就没有把业务目标、证据和最小闭环讲清楚。讲师要强调：FDE不是需求记录员，也不是客户说什么就做什么的外包执行者。FDE要有专业判断，能把客户的话翻译成可验证命题。结果导向解决“为什么做”，证据链解决“凭什么判断”，最小闭环解决“先做哪一段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样例；数据；系统；表单；对话；指标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结果导向不是喊口号，而是把“好用”翻译成指标。比如客户说客服要更聪明，FDE要追问：是首次响应时间、一次解决率、转人工率、满意度，还是知识更新周期？指标不同，方案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学员会把“客户很痛”当成价值证据。讲师要纠正：痛点强不等于价值高。价值要看频次、影响人数、成本、收入、风险和战略优先级。只有把痛点放到业务指标里，才能判断项目是否值得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【最小闭环，约1分钟】最小闭环不是最小功能，而是最小业务结果。一个只会生成文案的功能不是闭环；如果它能读取线索、生成跟进建议、销售确认、写回CRM、主管看转化率，这才是能复盘的闭环。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【收束，约30秒】所以这一页要带走的不是“PRINCIPLE 2”这个标签，而是一个动作：下次听到客户讲类似需求时，你要知道下一句该怎么问。诊断原则清楚之后，我们开始学习如何访谈不同层级的人。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过渡语：诊断原则清楚之后，我们开始学习如何访谈不同层级的人。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本页目的：第一批场景不是越大越好，而是要在短周期内证明价值。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最小闭环：先找能跑通的第一段流程”。这一页不是让大家记一个概念，而是训练一个FDE在客户现场要做的判断。请先记住本页的核心句：第一批场景不是越大越好，而是要在短周期内证明价值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范围小；指标清；风险低；能接入；可复盘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诊断心法是本章的地基。很多AI项目失败，不是因为模型不够强，而是项目开始时就没有把业务目标、证据和最小闭环讲清楚。讲师要强调：FDE不是需求记录员，也不是客户说什么就做什么的外包执行者。FDE要有专业判断，能把客户的话翻译成可验证命题。结果导向解决“为什么做”，证据链解决“凭什么判断”，最小闭环解决“先做哪一段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结果导向不是喊口号，而是把“好用”翻译成指标。比如客户说客服要更聪明，FDE要追问：是首次响应时间、一次解决率、转人工率、满意度，还是知识更新周期？指标不同，方案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学员会把“客户很痛”当成价值证据。讲师要纠正：痛点强不等于价值高。价值要看频次、影响人数、成本、收入、风险和战略优先级。只有把痛点放到业务指标里，才能判断项目是否值得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【最小闭环，约1分钟】最小闭环不是最小功能，而是最小业务结果。一个只会生成文案的功能不是闭环；如果它能读取线索、生成跟进建议、销售确认、写回CRM、主管看转化率，这才是能复盘的闭环。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【收束，约30秒】所以这一页要带走的不是“PRINCIPLE 3”这个标签，而是一个动作：下次听到客户讲类似需求时，你要知道下一句该怎么问。诊断原则清楚之后，我们开始学习如何访谈不同层级的人。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过渡语：诊断原则清楚之后，我们开始学习如何访谈不同层级的人。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本页目的：这些诊断方式会把FDE带进无底洞，必须在第一天就避免。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四种错误诊断方式”。这一页不是让大家记一个概念，而是训练一个FDE在客户现场要做的判断。请先记住本页的核心句：这些诊断方式会把FDE带进无底洞，必须在第一天就避免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只问老板不问一线；只看工具不看流程；只听痛点不量化；只做方案不看权限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诊断心法是本章的地基。很多AI项目失败，不是因为模型不够强，而是项目开始时就没有把业务目标、证据和最小闭环讲清楚。讲师要强调：FDE不是需求记录员，也不是客户说什么就做什么的外包执行者。FDE要有专业判断，能把客户的话翻译成可验证命题。结果导向解决“为什么做”，证据链解决“凭什么判断”，最小闭环解决“先做哪一段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只问老板不问一线；只看工具不看流程；只听痛点不量化；只做方案不看权限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结果导向不是喊口号，而是把“好用”翻译成指标。比如客户说客服要更聪明，FDE要追问：是首次响应时间、一次解决率、转人工率、满意度，还是知识更新周期？指标不同，方案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学员会把“客户很痛”当成价值证据。讲师要纠正：痛点强不等于价值高。价值要看频次、影响人数、成本、收入、风险和战略优先级。只有把痛点放到业务指标里，才能判断项目是否值得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【最小闭环，约1分钟】最小闭环不是最小功能，而是最小业务结果。一个只会生成文案的功能不是闭环；如果它能读取线索、生成跟进建议、销售确认、写回CRM、主管看转化率，这才是能复盘的闭环。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四种错误诊断方式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【收束，约30秒】所以这一页要带走的不是“ANTI-PATTERN”这个标签，而是一个动作：下次听到客户讲类似需求时，你要知道下一句该怎么问。诊断原则清楚之后，我们开始学习如何访谈不同层级的人。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过渡语：诊断原则清楚之后，我们开始学习如何访谈不同层级的人。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本页目的：本章用销售线索场景训练从访谈、流程拆解到场景评分的完整动作。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贯穿案例：AI化销售线索跟进”。这一页不是让大家记一个概念，而是训练一个FDE在客户现场要做的判断。请先记住本页的核心句：本章用销售线索场景训练从访谈、流程拆解到场景评分的完整动作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线索来源分散；销售跟进不及时；CRM记录不完整；主管无法判断线索质量；客户重复收到低质量话术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诊断心法是本章的地基。很多AI项目失败，不是因为模型不够强，而是项目开始时就没有把业务目标、证据和最小闭环讲清楚。讲师要强调：FDE不是需求记录员，也不是客户说什么就做什么的外包执行者。FDE要有专业判断，能把客户的话翻译成可验证命题。结果导向解决“为什么做”，证据链解决“凭什么判断”，最小闭环解决“先做哪一段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销售线索案例的价值在于它足够常见。很多企业都有市场活动、表单、企微、CRM、销售跟进这些元素，但问题往往不在“没有AI话术”，而在线索质量不清、跟进不及时、记录不完整、主管看不到过程。讲师要把学员从“做一个销售助手”带到“重构线索跟进流程”：AI先清洗线索、补客户画像、给优先级、生成建议，销售确认后写回CRM，主管用看板复盘转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结果导向不是喊口号，而是把“好用”翻译成指标。比如客户说客服要更聪明，FDE要追问：是首次响应时间、一次解决率、转人工率、满意度，还是知识更新周期？指标不同，方案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学员会把“客户很痛”当成价值证据。讲师要纠正：痛点强不等于价值高。价值要看频次、影响人数、成本、收入、风险和战略优先级。只有把痛点放到业务指标里，才能判断项目是否值得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【最小闭环，约1分钟】最小闭环不是最小功能，而是最小业务结果。一个只会生成文案的功能不是闭环；如果它能读取线索、生成跟进建议、销售确认、写回CRM、主管看转化率，这才是能复盘的闭环。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【收束，约30秒】所以这一页要带走的不是“RUNNING CASE”这个标签，而是一个动作：下次听到客户讲类似需求时，你要知道下一句该怎么问。诊断原则清楚之后，我们开始学习如何访谈不同层级的人。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过渡语：诊断原则清楚之后，我们开始学习如何访谈不同层级的人。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本页目的：同一家企业里，不同层级会给出不同版本的真相。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三层访谈法”。这一页不是让大家记一个概念，而是训练一个FDE在客户现场要做的判断。请先记住本页的核心句：同一家企业里，不同层级会给出不同版本的真相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决策层；业务主管；一线员工；IT/数据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可以直接给学员示范一段问法。客户说：“我们想让销售用AI自动跟进客户。”普通问法是：“你想要什么功能？”FDE问法是：“先不谈功能，我们看一条线索从进入到成交，中间经过哪些人、哪些系统、哪些判断？最近有没有一个跟丢的线索样例？如果AI介入，哪一步最能减少损失？”这样一问，客户会从想象回到事实。讲师要让学员听出差别：FDE不是问客户要什么按钮，而是问业务结果如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2”这个标签，而是一个动作：下次听到客户讲类似需求时，你要知道下一句该怎么问。访谈拿到信息后，下一步是把信息拆成流程。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本页目的：FDE要同时获取目标真相、流程真相、操作真相和系统真相。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访谈对象地图”。这一页不是让大家记一个概念，而是训练一个FDE在客户现场要做的判断。请先记住本页的核心句：FDE要同时获取目标真相、流程真相、操作真相和系统真相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决策层：目标、预算、战略优先级、风险承受度、成功线；业务主管：流程、资源、指标、瓶颈、协同关系、Owner；一线员工：真实动作、例外情况、暗知识、抵触点、表单样例；IT/数据：系统边界、接口、权限、数据质量、审计要求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可以直接给学员示范一段问法。客户说：“我们想让销售用AI自动跟进客户。”普通问法是：“你想要什么功能？”FDE问法是：“先不谈功能，我们看一条线索从进入到成交，中间经过哪些人、哪些系统、哪些判断？最近有没有一个跟丢的线索样例？如果AI介入，哪一步最能减少损失？”这样一问，客户会从想象回到事实。讲师要让学员听出差别：FDE不是问客户要什么按钮，而是问业务结果如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访谈对象地图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【收束，约30秒】所以这一页要带走的不是“STAKEHOLDER MAP”这个标签，而是一个动作：下次听到客户讲类似需求时，你要知道下一句该怎么问。访谈拿到信息后，下一步是把信息拆成流程。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本页目的：决策层访谈要拿到战略优先级、成功线和风险边界。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决策层访谈：问目标，不问功能”。这一页不是让大家记一个概念，而是训练一个FDE在客户现场要做的判断。请先记住本页的核心句：决策层访谈要拿到战略优先级、成功线和风险边界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为什么现在做；谁为结果负责；成功线是什么；不能碰的风险是什么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可以直接给学员示范一段问法。客户说：“我们想让销售用AI自动跟进客户。”普通问法是：“你想要什么功能？”FDE问法是：“先不谈功能，我们看一条线索从进入到成交，中间经过哪些人、哪些系统、哪些判断？最近有没有一个跟丢的线索样例？如果AI介入，哪一步最能减少损失？”这样一问，客户会从想象回到事实。讲师要让学员听出差别：FDE不是问客户要什么按钮，而是问业务结果如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决策层访谈：问目标，不问功能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【收束，约30秒】所以这一页要带走的不是“EXECUTIVE”这个标签，而是一个动作：下次听到客户讲类似需求时，你要知道下一句该怎么问。访谈拿到信息后，下一步是把信息拆成流程。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本页目的：主管最了解资源、指标和跨部门卡点。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业务主管访谈：问流程，不问想象”。这一页不是让大家记一个概念，而是训练一个FDE在客户现场要做的判断。请先记住本页的核心句：主管最了解资源、指标和跨部门卡点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流程从哪里开始；谁参与；哪里等待；哪里返工；目前怎么考核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可以直接给学员示范一段问法。客户说：“我们想让销售用AI自动跟进客户。”普通问法是：“你想要什么功能？”FDE问法是：“先不谈功能，我们看一条线索从进入到成交，中间经过哪些人、哪些系统、哪些判断？最近有没有一个跟丢的线索样例？如果AI介入，哪一步最能减少损失？”这样一问，客户会从想象回到事实。讲师要让学员听出差别：FDE不是问客户要什么按钮，而是问业务结果如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业务主管访谈：问流程，不问想象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【收束，约30秒】所以这一页要带走的不是“MANAGER”这个标签，而是一个动作：下次听到客户讲类似需求时，你要知道下一句该怎么问。访谈拿到信息后，下一步是把信息拆成流程。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本页目的：一线员工知道系统外的真实工作方式。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一线访谈：问真实动作和暗知识”。这一页不是让大家记一个概念，而是训练一个FDE在客户现场要做的判断。请先记住本页的核心句：一线员工知道系统外的真实工作方式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每天重复什么；最怕哪里出错；实际用哪些表；遇到异常找谁；有什么土办法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可以直接给学员示范一段问法。客户说：“我们想让销售用AI自动跟进客户。”普通问法是：“你想要什么功能？”FDE问法是：“先不谈功能，我们看一条线索从进入到成交，中间经过哪些人、哪些系统、哪些判断？最近有没有一个跟丢的线索样例？如果AI介入，哪一步最能减少损失？”这样一问，客户会从想象回到事实。讲师要让学员听出差别：FDE不是问客户要什么按钮，而是问业务结果如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一线访谈：问真实动作和暗知识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【收束，约30秒】所以这一页要带走的不是“FRONTLINE”这个标签，而是一个动作：下次听到客户讲类似需求时，你要知道下一句该怎么问。访谈拿到信息后，下一步是把信息拆成流程。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本页目的：如果没有系统边界，场景很容易从可部署变成空想。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IT/数据访谈：问边界和接入”。这一页不是让大家记一个概念，而是训练一个FDE在客户现场要做的判断。请先记住本页的核心句：如果没有系统边界，场景很容易从可部署变成空想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能读什么；能写什么；权限怎么批；日志怎么留；哪些数据不能用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可以直接给学员示范一段问法。客户说：“我们想让销售用AI自动跟进客户。”普通问法是：“你想要什么功能？”FDE问法是：“先不谈功能，我们看一条线索从进入到成交，中间经过哪些人、哪些系统、哪些判断？最近有没有一个跟丢的线索样例？如果AI介入，哪一步最能减少损失？”这样一问，客户会从想象回到事实。讲师要让学员听出差别：FDE不是问客户要什么按钮，而是问业务结果如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IT/数据访谈：问边界和接入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【收束，约30秒】所以这一页要带走的不是“IT DATA”这个标签，而是一个动作：下次听到客户讲类似需求时，你要知道下一句该怎么问。访谈拿到信息后，下一步是把信息拆成流程。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本页目的：优秀FDE会把对方的主观判断追问成可验证证据。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访谈问题库：从开放问题到证据问题”。这一页不是让大家记一个概念，而是训练一个FDE在客户现场要做的判断。请先记住本页的核心句：优秀FDE会把对方的主观判断追问成可验证证据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你觉得效率低在哪里？→请给我看最近3个样例。；你们想自动化什么？→目前人工每次要做哪些动作？；这个流程重要吗？→它影响哪个指标，当前基线是多少？；数据都有吗？→在哪个系统，谁有权限导出？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你觉得效率低在哪里？→请给我看最近3个样例。；你们想自动化什么？→目前人工每次要做哪些动作？；这个流程重要吗？→它影响哪个指标，当前基线是多少？；数据都有吗？→在哪个系统，谁有权限导出？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访谈问题库：从开放问题到证据问题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【收束，约30秒】所以这一页要带走的不是“QUESTION BANK”这个标签，而是一个动作：下次听到客户讲类似需求时，你要知道下一句该怎么问。访谈拿到信息后，下一步是把信息拆成流程。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本页目的：让学员第一次感受到：问法不同，得到的信息完全不同。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角色扮演：10分钟访谈演练”。这一页不是让大家记一个概念，而是训练一个FDE在客户现场要做的判断。请先记住本页的核心句：让学员第一次感受到：问法不同，得到的信息完全不同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一人扮演业务主管；一人扮演FDE；三分钟开放访谈；五分钟证据追问；两分钟复盘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三层访谈的核心，是让学员理解企业里没有单一真相。老板讲战略，主管讲流程，一线讲真实动作，IT讲系统边界。四种说法都可能是真的，但都不完整。FDE的专业性体现在能把这些碎片拼成一条可部署链路。讲师要提醒学员：访谈不是套问卷，而是从主观表达追到客观证据，从愿望追到流程，从流程追到系统，从系统追到权限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一人扮演业务主管；一人扮演FDE；三分钟开放访谈；五分钟证据追问；两分钟复盘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【访谈深水区，约1分钟】三层访谈最难的地方，是不同层级会互相矛盾。老板说要增长，主管说流程太乱，一线说系统不好用，IT说数据不能开放。FDE不要急着判断谁对谁错，而要把矛盾写成待验证假设。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问法示范，约1分钟】可以示范一句专业问法：“我先不判断能不能自动化，我们先看一条真实样例。请您找一个最近发生、最好有结果的案例，我们沿着它从触发到输出走一遍。”这句话能把访谈从观点拉回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【访谈纪律，约1分钟】讲师要提醒学员：访谈时不要炫技，不要连续讲模型能力，不要让客户变成听众。FDE应该让客户多展示真实材料，自己负责追问、归纳和复述确认。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角色扮演：10分钟访谈演练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【收束，约30秒】所以这一页要带走的不是“ROLE PLAY”这个标签，而是一个动作：下次听到客户讲类似需求时，你要知道下一句该怎么问。访谈拿到信息后，下一步是把信息拆成流程。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互动问题：请学员把同一个问题分别改写成问老板、问主管、问一线员工的三种问法。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过渡语：访谈拿到信息后，下一步是把信息拆成流程。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本页目的：流程图不是画线条，而是暴露AI部署条件。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流程拆解六格”。这一页不是让大家记一个概念，而是训练一个FDE在客户现场要做的判断。请先记住本页的核心句：流程图不是画线条，而是暴露AI部署条件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；输入；动作；系统；输出；异常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3”这个标签，而是一个动作：下次听到客户讲类似需求时，你要知道下一句该怎么问。流程拆清楚之后，我们把多个机会放到同一张地图中比较。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本页目的：六格模型能让学员从“需求描述”进入“部署语言”。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六格模型：把任何流程拆成可诊断对象”。这一页不是让大家记一个概念，而是训练一个FDE在客户现场要做的判断。请先记住本页的核心句：六格模型能让学员从“需求描述”进入“部署语言”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：谁在什么条件下启动流程？；输入：需要哪些材料、字段、上下文？；动作：人实际做了哪些判断、查找、复制、沟通？；系统：数据在哪些工具/系统里流转？；输出：流程最终交付什么结果？；异常：哪里出错、等待、返工、升级？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六格模型：把任何流程拆成可诊断对象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【收束，约30秒】所以这一页要带走的不是“PROCESS GRID”这个标签，而是一个动作：下次听到客户讲类似需求时，你要知道下一句该怎么问。流程拆清楚之后，我们把多个机会放到同一张地图中比较。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本页目的：FDE先画现状，不急着画AI，否则会把真实问题盖住。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现状流程：先画人和系统怎么工作”。这一页不是让大家记一个概念，而是训练一个FDE在客户现场要做的判断。请先记住本页的核心句：FDE先画现状，不急着画AI，否则会把真实问题盖住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；输入；人工动作；系统记录；输出；异常/等待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【收束，约30秒】所以这一页要带走的不是“CURRENT STATE”这个标签，而是一个动作：下次听到客户讲类似需求时，你要知道下一句该怎么问。流程拆清楚之后，我们把多个机会放到同一张地图中比较。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本页目的：目标态必须说明AI读取什么、调用什么、输出什么、何时转人工。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目标流程：再定义AI接管哪一段”。这一页不是让大家记一个概念，而是训练一个FDE在客户现场要做的判断。请先记住本页的核心句：目标态必须说明AI读取什么、调用什么、输出什么、何时转人工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上下文；工具调用；结构化输出；校验；人工接管；写回系统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目标流程：再定义AI接管哪一段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【收束，约30秒】所以这一页要带走的不是“TARGET STATE”这个标签，而是一个动作：下次听到客户讲类似需求时，你要知道下一句该怎么问。流程拆清楚之后，我们把多个机会放到同一张地图中比较。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本页目的：销售AI化不能只做话术生成，先看线索从进入到成交的链路。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销售线索现状：问题藏在跟进链路里”。这一页不是让大家记一个概念，而是训练一个FDE在客户现场要做的判断。请先记住本页的核心句：销售AI化不能只做话术生成，先看线索从进入到成交的链路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市场活动产生线索；销售手工判断意向；CRM记录不完整；主管每周追问进度；客户跟进节奏不一致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销售线索案例的价值在于它足够常见。很多企业都有市场活动、表单、企微、CRM、销售跟进这些元素，但问题往往不在“没有AI话术”，而在线索质量不清、跟进不及时、记录不完整、主管看不到过程。讲师要把学员从“做一个销售助手”带到“重构线索跟进流程”：AI先清洗线索、补客户画像、给优先级、生成建议，销售确认后写回CRM，主管用看板复盘转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销售线索现状：问题藏在跟进链路里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【收束，约30秒】所以这一页要带走的不是“SALES CASE A”这个标签，而是一个动作：下次听到客户讲类似需求时，你要知道下一句该怎么问。流程拆清楚之后，我们把多个机会放到同一张地图中比较。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本页目的：一个好的MVP可以先做线索摘要、优先级评分、跟进建议和CRM回填。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销售线索目标态：从辅助写作到流程处理”。这一页不是让大家记一个概念，而是训练一个FDE在客户现场要做的判断。请先记住本页的核心句：一个好的MVP可以先做线索摘要、优先级评分、跟进建议和CRM回填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线索自动清洗；AI生成客户画像；AI给出跟进优先级；销售确认后写回CRM；主管看板复盘转化率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销售线索目标态：从辅助写作到流程处理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【收束，约30秒】所以这一页要带走的不是“SALES CASE B”这个标签，而是一个动作：下次听到客户讲类似需求时，你要知道下一句该怎么问。流程拆清楚之后，我们把多个机会放到同一张地图中比较。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本页目的：学员要把第1章带来的真实流程材料转成可诊断结构。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练习：把一个流程填进六格”。这一页不是让大家记一个概念，而是训练一个FDE在客户现场要做的判断。请先记住本页的核心句：学员要把第1章带来的真实流程材料转成可诊断结构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写出触发事件；列出输入材料；拆人工动作；标系统位置；定义输出；圈出异常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六格是把“业务语言”转成“部署语言”的工具。客户说“客服效率低”，工程师不知道从哪里做；但如果拆成触发、输入、动作、系统、输出、异常，就能判断AI应该读什么、做什么、写回哪里、什么时候转人工。讲师要反复强调：现状流程图不是为了好看，而是为了暴露等待、返工、重复劳动、信息断点和风险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【流程视角，约1分钟】流程拆解不是BPM咨询的复杂建模，而是FDE能快速找到AI插入点的轻量方法。六格里最关键的是异常，因为异常决定模型是否可以自动执行，还是只能给建议。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现场动作，约1分钟】可以让学员在纸上画一条横线，左边写触发，右边写输出，中间写人工动作，然后把系统和异常贴在每一步下面。这个动作比画精美流程图更重要，因为它逼迫他们看清AI实际要介入哪一个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【判断口径，约1分钟】如果某个流程说不出触发条件，说明场景还太虚；如果说不出输入材料，说明上下文不可控；如果说不出输出去向，说明无法闭环；如果说不出异常，说明风险边界没有建立。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练习：把一个流程填进六格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【收束，约30秒】所以这一页要带走的不是“WORKSHOP”这个标签，而是一个动作：下次听到客户讲类似需求时，你要知道下一句该怎么问。流程拆清楚之后，我们把多个机会放到同一张地图中比较。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互动问题：请学员用自己的真实流程补充一个六格字段，并说明证据从哪里来。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过渡语：流程拆清楚之后，我们把多个机会放到同一张地图中比较。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本页目的：机会地图把大量需求归一到同一张可讨论的业务地图。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I机会地图”。这一页不是让大家记一个概念，而是训练一个FDE在客户现场要做的判断。请先记住本页的核心句：机会地图把大量需求归一到同一张可讨论的业务地图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；流程；痛点；数据；工具；指标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客户往往会在一次访谈里抛出十几个AI想法。如果FDE没有机会地图，就会被想法牵着走，最后变成一堆零散试点。机会地图把所有想法放到同一张表里：岗位是谁，流程是哪一步，痛点是什么，AI需要什么上下文，要接哪些工具，用什么指标衡量。这样才能进入比较和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岗位；流程；痛点；数据；工具；指标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【地图价值，约1分钟】机会地图的作用是让客户从“我想到一个AI点子”切换到“我们有一组可比较的AI机会”。FDE用同一组列去描述所有机会，就能避免会议被声音最大的人带走。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上下文重点，约1分钟】这里要特别强调上下文。Claude、OpenAI和国内大模型都能处理越来越长的上下文，但企业部署不是把资料塞进去这么简单。FDE要诊断上下文的来源、结构、更新频率、权限、可信度和过期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【工具连接，约1分钟】机会地图中的工具列不是“未来可以接很多系统”的想象，而是要写清楚第一版MVP到底读哪个系统、写哪个系统、是否只读不写、有没有API、没有API时是否允许人工导入导出。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4”这个标签，而是一个动作：下次听到客户讲类似需求时，你要知道下一句该怎么问。机会进入地图后，还需要通过评分模型选出优先级。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过渡语：机会进入地图后，还需要通过评分模型选出优先级。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本页目的：客户会给出很多想法，FDE要把它们放到同一个比较框架里。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I机会地图六列”。这一页不是让大家记一个概念，而是训练一个FDE在客户现场要做的判断。请先记住本页的核心句：客户会给出很多想法，FDE要把它们放到同一个比较框架里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/角色；流程节点；痛点；上下文材料；工具/系统；指标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客户往往会在一次访谈里抛出十几个AI想法。如果FDE没有机会地图，就会被想法牵着走，最后变成一堆零散试点。机会地图把所有想法放到同一张表里：岗位是谁，流程是哪一步，痛点是什么，AI需要什么上下文，要接哪些工具，用什么指标衡量。这样才能进入比较和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岗位/角色；流程节点；痛点；上下文材料；工具/系统；指标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【地图价值，约1分钟】机会地图的作用是让客户从“我想到一个AI点子”切换到“我们有一组可比较的AI机会”。FDE用同一组列去描述所有机会，就能避免会议被声音最大的人带走。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上下文重点，约1分钟】这里要特别强调上下文。Claude、OpenAI和国内大模型都能处理越来越长的上下文，但企业部署不是把资料塞进去这么简单。FDE要诊断上下文的来源、结构、更新频率、权限、可信度和过期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【工具连接，约1分钟】机会地图中的工具列不是“未来可以接很多系统”的想象，而是要写清楚第一版MVP到底读哪个系统、写哪个系统、是否只读不写、有没有API、没有API时是否允许人工导入导出。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AI机会地图六列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【收束，约30秒】所以这一页要带走的不是“OPPORTUNITY MAP”这个标签，而是一个动作：下次听到客户讲类似需求时，你要知道下一句该怎么问。机会进入地图后，还需要通过评分模型选出优先级。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过渡语：机会进入地图后，还需要通过评分模型选出优先级。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本页目的：不同场景对应不同层级、风险和交付物，不能用同一套话术评估。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五类AI场景：不要混在一起评估”。这一页不是让大家记一个概念，而是训练一个FDE在客户现场要做的判断。请先记住本页的核心句：不同场景对应不同层级、风险和交付物，不能用同一套话术评估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效率增强型：L1-L2；知识问答型：L2；流程处理型：L3；数字员工型：L4；组织转型型：L5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客户往往会在一次访谈里抛出十几个AI想法。如果FDE没有机会地图，就会被想法牵着走，最后变成一堆零散试点。机会地图把所有想法放到同一张表里：岗位是谁，流程是哪一步，痛点是什么，AI需要什么上下文，要接哪些工具，用什么指标衡量。这样才能进入比较和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效率增强型：L1-L2；知识问答型：L2；流程处理型：L3；数字员工型：L4；组织转型型：L5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【地图价值，约1分钟】机会地图的作用是让客户从“我想到一个AI点子”切换到“我们有一组可比较的AI机会”。FDE用同一组列去描述所有机会，就能避免会议被声音最大的人带走。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上下文重点，约1分钟】这里要特别强调上下文。Claude、OpenAI和国内大模型都能处理越来越长的上下文，但企业部署不是把资料塞进去这么简单。FDE要诊断上下文的来源、结构、更新频率、权限、可信度和过期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【工具连接，约1分钟】机会地图中的工具列不是“未来可以接很多系统”的想象，而是要写清楚第一版MVP到底读哪个系统、写哪个系统、是否只读不写、有没有API、没有API时是否允许人工导入导出。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五类AI场景：不要混在一起评估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【收束，约30秒】所以这一页要带走的不是“SCENARIO TYPES”这个标签，而是一个动作：下次听到客户讲类似需求时，你要知道下一句该怎么问。机会进入地图后，还需要通过评分模型选出优先级。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过渡语：机会进入地图后，还需要通过评分模型选出优先级。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本页目的：这页帮助讲师快速调动学员经验，但不能停在清单上。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不同部门的典型机会”。这一页不是让大家记一个概念，而是训练一个FDE在客户现场要做的判断。请先记住本页的核心句：这页帮助讲师快速调动学员经验，但不能停在清单上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销售：线索评分、客户画像、话术生成、CRM补全；客服：知识问答、工单分流、投诉升级、质检总结；HR：JD生成、简历初筛、制度问答、培训助手；财务：报销初审、合同抽取、预算说明、异常提醒；研发：需求澄清、代码解释、测试生成、变更影响分析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客户往往会在一次访谈里抛出十几个AI想法。如果FDE没有机会地图，就会被想法牵着走，最后变成一堆零散试点。机会地图把所有想法放到同一张表里：岗位是谁，流程是哪一步，痛点是什么，AI需要什么上下文，要接哪些工具，用什么指标衡量。这样才能进入比较和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销售：线索评分、客户画像、话术生成、CRM补全；客服：知识问答、工单分流、投诉升级、质检总结；HR：JD生成、简历初筛、制度问答、培训助手；财务：报销初审、合同抽取、预算说明、异常提醒；研发：需求澄清、代码解释、测试生成、变更影响分析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【地图价值，约1分钟】机会地图的作用是让客户从“我想到一个AI点子”切换到“我们有一组可比较的AI机会”。FDE用同一组列去描述所有机会，就能避免会议被声音最大的人带走。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上下文重点，约1分钟】这里要特别强调上下文。Claude、OpenAI和国内大模型都能处理越来越长的上下文，但企业部署不是把资料塞进去这么简单。FDE要诊断上下文的来源、结构、更新频率、权限、可信度和过期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【工具连接，约1分钟】机会地图中的工具列不是“未来可以接很多系统”的想象，而是要写清楚第一版MVP到底读哪个系统、写哪个系统、是否只读不写、有没有API、没有API时是否允许人工导入导出。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不同部门的典型机会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【收束，约30秒】所以这一页要带走的不是“USE CASES”这个标签，而是一个动作：下次听到客户讲类似需求时，你要知道下一句该怎么问。机会进入地图后，还需要通过评分模型选出优先级。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过渡语：机会进入地图后，还需要通过评分模型选出优先级。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本页目的：FDE要把零散需求归并、去重、拆分，再进入评分。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把“想法池”整理成“机会地图””。这一页不是让大家记一个概念，而是训练一个FDE在客户现场要做的判断。请先记住本页的核心句：FDE要把零散需求归并、去重、拆分，再进入评分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收集；归并；拆分；证据补齐；进入评分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客户往往会在一次访谈里抛出十几个AI想法。如果FDE没有机会地图，就会被想法牵着走，最后变成一堆零散试点。机会地图把所有想法放到同一张表里：岗位是谁，流程是哪一步，痛点是什么，AI需要什么上下文，要接哪些工具，用什么指标衡量。这样才能进入比较和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收集；归并；拆分；证据补齐；进入评分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【地图价值，约1分钟】机会地图的作用是让客户从“我想到一个AI点子”切换到“我们有一组可比较的AI机会”。FDE用同一组列去描述所有机会，就能避免会议被声音最大的人带走。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上下文重点，约1分钟】这里要特别强调上下文。Claude、OpenAI和国内大模型都能处理越来越长的上下文，但企业部署不是把资料塞进去这么简单。FDE要诊断上下文的来源、结构、更新频率、权限、可信度和过期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【工具连接，约1分钟】机会地图中的工具列不是“未来可以接很多系统”的想象，而是要写清楚第一版MVP到底读哪个系统、写哪个系统、是否只读不写、有没有API、没有API时是否允许人工导入导出。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把“想法池”整理成“机会地图”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【收束，约30秒】所以这一页要带走的不是“FROM IDEAS TO MAP”这个标签，而是一个动作：下次听到客户讲类似需求时，你要知道下一句该怎么问。机会进入地图后，还需要通过评分模型选出优先级。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过渡语：机会进入地图后，还需要通过评分模型选出优先级。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本页目的：先发散，再收敛。不要一开始就争论哪个最好。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练习：每组列出10个AI机会”。这一页不是让大家记一个概念，而是训练一个FDE在客户现场要做的判断。请先记住本页的核心句：先发散，再收敛。不要一开始就争论哪个最好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每人写3个痛点；合并同类项；标岗位和流程；补数据/系统证据；选5个进入评分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客户往往会在一次访谈里抛出十几个AI想法。如果FDE没有机会地图，就会被想法牵着走，最后变成一堆零散试点。机会地图把所有想法放到同一张表里：岗位是谁，流程是哪一步，痛点是什么，AI需要什么上下文，要接哪些工具，用什么指标衡量。这样才能进入比较和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每人写3个痛点；合并同类项；标岗位和流程；补数据/系统证据；选5个进入评分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【地图价值，约1分钟】机会地图的作用是让客户从“我想到一个AI点子”切换到“我们有一组可比较的AI机会”。FDE用同一组列去描述所有机会，就能避免会议被声音最大的人带走。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上下文重点，约1分钟】这里要特别强调上下文。Claude、OpenAI和国内大模型都能处理越来越长的上下文，但企业部署不是把资料塞进去这么简单。FDE要诊断上下文的来源、结构、更新频率、权限、可信度和过期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【工具连接，约1分钟】机会地图中的工具列不是“未来可以接很多系统”的想象，而是要写清楚第一版MVP到底读哪个系统、写哪个系统、是否只读不写、有没有API、没有API时是否允许人工导入导出。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练习：每组列出10个AI机会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【收束，约30秒】所以这一页要带走的不是“MAP PRACTICE”这个标签，而是一个动作：下次听到客户讲类似需求时，你要知道下一句该怎么问。机会进入地图后，还需要通过评分模型选出优先级。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互动问题：请学员用一句话复述本页，并举一个自己熟悉企业里的例子。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过渡语：机会进入地图后，还需要通过评分模型选出优先级。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本页目的：场景筛选不是拍脑袋，而是建立优先级证据。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-SCORE场景评分”。这一页不是让大家记一个概念，而是训练一个FDE在客户现场要做的判断。请先记住本页的核心句：场景筛选不是拍脑袋，而是建立优先级证据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Value；Frequency；Data；Execution；Safety；Time-to-value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5”这个标签，而是一个动作：下次听到客户讲类似需求时，你要知道下一句该怎么问。评分之后，必须检查这个场景是否真的具备生产部署条件。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本页目的：高分场景不是最酷，而是价值明确、数据可得、风险可控、见效快。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六因子评分：筛出第一批MVP”。这一页不是让大家记一个概念，而是训练一个FDE在客户现场要做的判断。请先记住本页的核心句：高分场景不是最酷，而是价值明确、数据可得、风险可控、见效快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【概念展开，约1分30秒】屏幕上的关键词是：Value 业务价值：是否直连收入、成本、效率、风险或客户体验。；Frequency 频次规模：流程发生频率和涉及人员规模。；Data 数据可得：上下文材料、历史样本、结构化数据是否可取得。；Execution 可执行性：工具/API/权限/流程Owner是否具备。；Safety 风险可控：错误后果、人工接管、审计和合规边界是否清楚。；Time-to-value 见效周期：能否在4-8周做出可演示、可度量的最小闭环。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六因子评分：筛出第一批MVP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【收束，约30秒】所以这一页要带走的不是“FDE-SCORE”这个标签，而是一个动作：下次听到客户讲类似需求时，你要知道下一句该怎么问。评分之后，必须检查这个场景是否真的具备生产部署条件。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本页目的：价值不能只写提升效率，要说明影响哪类业务指标。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Value：业务价值要直连指标”。这一页不是让大家记一个概念，而是训练一个FDE在客户现场要做的判断。请先记住本页的核心句：价值不能只写提升效率，要说明影响哪类业务指标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收入增长；成本下降；周期缩短；风险降低；体验提升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【收束，约30秒】所以这一页要带走的不是“VALUE”这个标签，而是一个动作：下次听到客户讲类似需求时，你要知道下一句该怎么问。评分之后，必须检查这个场景是否真的具备生产部署条件。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本页目的：低频高价值也可以做，但训练营第一批场景优先选高频可复盘。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requency：频次决定ROI速度”。这一页不是让大家记一个概念，而是训练一个FDE在客户现场要做的判断。请先记住本页的核心句：低频高价值也可以做，但训练营第一批场景优先选高频可复盘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日常高频；多人参与；重复规则；样本充足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Frequency：频次决定ROI速度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【收束，约30秒】所以这一页要带走的不是“FREQUENCY”这个标签，而是一个动作：下次听到客户讲类似需求时，你要知道下一句该怎么问。评分之后，必须检查这个场景是否真的具备生产部署条件。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本页目的：没有上下文材料，模型只能凭常识回答，企业项目会失真。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Data：上下文材料决定可用性”。这一页不是让大家记一个概念，而是训练一个FDE在客户现场要做的判断。请先记住本页的核心句：没有上下文材料，模型只能凭常识回答，企业项目会失真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历史样本；知识文档；结构化字段；引用来源；更新机制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【收束，约30秒】所以这一页要带走的不是“DATA”这个标签，而是一个动作：下次听到客户讲类似需求时，你要知道下一句该怎么问。评分之后，必须检查这个场景是否真的具备生产部署条件。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本页目的：如果工具、权限、Owner都没有，场景再有价值也要降级。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Execution：接入条件决定能否部署”。这一页不是让大家记一个概念，而是训练一个FDE在客户现场要做的判断。请先记住本页的核心句：如果工具、权限、Owner都没有，场景再有价值也要降级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系统可读；系统可写；权限可批；有人维护；流程可改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【收束，约30秒】所以这一页要带走的不是“EXECUTION”这个标签，而是一个动作：下次听到客户讲类似需求时，你要知道下一句该怎么问。评分之后，必须检查这个场景是否真的具备生产部署条件。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本页目的：风险越高，越要采用人审、灰度、审计和规则校验。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Safety：风险决定自动化边界”。这一页不是让大家记一个概念，而是训练一个FDE在客户现场要做的判断。请先记住本页的核心句：风险越高，越要采用人审、灰度、审计和规则校验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错误后果；人工接管；审计日志；合规边界；回滚机制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【收束，约30秒】所以这一页要带走的不是“SAFETY”这个标签，而是一个动作：下次听到客户讲类似需求时，你要知道下一句该怎么问。评分之后，必须检查这个场景是否真的具备生产部署条件。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本页目的：FDE第一战要选择能在4-8周证明价值的场景。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Time-to-value：先赢一个小闭环”。这一页不是让大家记一个概念，而是训练一个FDE在客户现场要做的判断。请先记住本页的核心句：FDE第一战要选择能在4-8周证明价值的场景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两周原型；四周灰度；八周复盘；有基线；有看板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【收束，约30秒】所以这一页要带走的不是“TIME”这个标签，而是一个动作：下次听到客户讲类似需求时，你要知道下一句该怎么问。评分之后，必须检查这个场景是否真的具备生产部署条件。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本页目的：先做右上角，再培养中长期项目；低价值低可行直接放弃。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讲师逐字稿：【开场，约40秒】各位看这一页，标题是“优先级矩阵：高价值 × 高可行”。这一页不是让大家记一个概念，而是训练一个FDE在客户现场要做的判断。请先记住本页的核心句：先做右上角，再培养中长期项目；低价值低可行直接放弃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高价值高可行：第一批MVP；高价值低可行：补数据/系统后再做；低价值高可行：作为培训或工具增强；低价值低可行：暂不推进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【本页再落一层，约1分钟】围绕“优先级矩阵：高价值 × 高可行”，请把屏幕上的概念翻译成一个客户现场句式：我们已经知道什么、还不知道什么、需要谁提供材料、下一步要验证什么。FDE的表达要让客户愿意继续配合，而不是只觉得我们在讲理论。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【收束，约30秒】所以这一页要带走的不是“PRIORITY MATRIX”这个标签，而是一个动作：下次听到客户讲类似需求时，你要知道下一句该怎么问。评分之后，必须检查这个场景是否真的具备生产部署条件。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本页目的：示范如何给一个真实场景打分，而不是只讲评分表。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案例评分：销售线索跟进”。这一页不是让大家记一个概念，而是训练一个FDE在客户现场要做的判断。请先记住本页的核心句：示范如何给一个真实场景打分，而不是只讲评分表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Value=4：影响转化率和销售效率；Frequency=5：每天产生新线索；Data=3：CRM有数据但记录不完整；Execution=3：可半自动写回；Safety=4：人审后触达客户；Time=4：四周可灰度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案例评分：销售线索跟进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【收束，约30秒】所以这一页要带走的不是“SCORING DEMO”这个标签，而是一个动作：下次听到客户讲类似需求时，你要知道下一句该怎么问。评分之后，必须检查这个场景是否真的具备生产部署条件。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本页目的：让学员体验从想法池到MVP优先级的收敛过程。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练习：给5个机会打分并排序”。这一页不是让大家记一个概念，而是训练一个FDE在客户现场要做的判断。请先记住本页的核心句：让学员体验从想法池到MVP优先级的收敛过程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择5个机会；六因子1-5分；写出评分证据；选出第一批MVP；说明为什么不是另一个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评分模块的重点不是算分，而是训练学员用证据做取舍。客户通常会偏爱听起来最酷、老板最关注、或者供应商最容易演示的场景，但FDE要选的是第一批可赢场景。FDE-SCORE把价值、频次、数据、执行、风险和见效周期放在一起，就是为了避免只看单一维度。每个分数都必须能解释，否则评分表就会退化成主观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选择5个机会；六因子1-5分；写出评分证据；选出第一批MVP；说明为什么不是另一个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【评分纪律，约1分钟】评分时禁止只报总分。总分只是排序入口，真正有价值的是每一项为什么这样打。两个场景同样是22分，可能一个是高价值高风险，一个是中价值高可行，优先级完全不同。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争议处理，约1分钟】如果小组内评分差异大，不要马上投票。让高分和低分的人分别说证据。通常争议会暴露信息缺口：有人知道数据质量，有人知道业务价值，有人知道权限困难。评分表就是为了让这些信息浮出水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【商业判断，约1分钟】FDE筛选第一批MVP时，要考虑信任建立。第一战不是证明公司最复杂的问题能被AI解决，而是证明FDE方法能在真实流程里带来可见结果。第一战打赢，后面才有机会进入更深的系统和组织层。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练习：给5个机会打分并排序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【收束，约30秒】所以这一页要带走的不是“SCORING WORKSHOP”这个标签，而是一个动作：下次听到客户讲类似需求时，你要知道下一句该怎么问。评分之后，必须检查这个场景是否真的具备生产部署条件。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互动问题：请学员给当前案例打1-5分，并说出评分证据，而不是只报数字。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过渡语：评分之后，必须检查这个场景是否真的具备生产部署条件。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本页目的：场景进入部署前，必须过生产可行性检查。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据、系统、权限与风险盘点”。这一页不是让大家记一个概念，而是训练一个FDE在客户现场要做的判断。请先记住本页的核心句：场景进入部署前，必须过生产可行性检查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数据；系统；权限；风险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生产盘点可以用一句话打醒学员：能在ChatGPT里跑通，不代表能在企业里上线。企业上线要问系统能不能读、能不能写、谁有权限、日志留在哪里、客户数据能不能出域、模型错了谁负责。讲师可以举例：如果AI给客户发错报价，后果和写错内部总结完全不同，所以自动化比例必须由风险决定。低风险可以自动执行，高风险最多生成建议或草稿，中风险必须人审后写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6”这个标签，而是一个动作：下次听到客户讲类似需求时，你要知道下一句该怎么问。最后我们把所有判断合成一份诊断简报和MVP建议。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本页目的：FDE要判断数据是否可取、可信、可更新、可引用。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据盘点：不是有没有数据，而是能不能用”。这一页不是让大家记一个概念，而是训练一个FDE在客户现场要做的判断。请先记住本页的核心句：FDE要判断数据是否可取、可信、可更新、可引用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位置；质量；格式；频率；Owner；引用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生产盘点可以用一句话打醒学员：能在ChatGPT里跑通，不代表能在企业里上线。企业上线要问系统能不能读、能不能写、谁有权限、日志留在哪里、客户数据能不能出域、模型错了谁负责。讲师可以举例：如果AI给客户发错报价，后果和写错内部总结完全不同，所以自动化比例必须由风险决定。低风险可以自动执行，高风险最多生成建议或草稿，中风险必须人审后写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数据盘点：不是有没有数据，而是能不能用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【收束，约30秒】所以这一页要带走的不是“DATA READINESS”这个标签，而是一个动作：下次听到客户讲类似需求时，你要知道下一句该怎么问。最后我们把所有判断合成一份诊断简报和MVP建议。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本页目的：无法接入系统的场景，通常只能停留在助手或工具增强。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系统盘点：AI能否进入流程”。这一页不是让大家记一个概念，而是训练一个FDE在客户现场要做的判断。请先记住本页的核心句：无法接入系统的场景，通常只能停留在助手或工具增强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读数据；写结果；触发动作；日志审计；权限审批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流程六格时，建议把一个简单流程现场拆给学员看。比如报销：触发是员工提交发票；输入是发票、金额、项目、审批人；动作是财务查规则、核发票、问补充材料；系统是企业微信、财务系统、Excel；输出是通过、驳回或补充；异常是发票不合规、项目错误、审批人缺失。拆完以后再问：AI能做哪一段？它需要什么上下文？需要调用什么工具？错了谁接管？这样学员会自然理解为什么不能跳过现状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系统盘点：AI能否进入流程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【收束，约30秒】所以这一页要带走的不是“SYSTEM READINESS”这个标签，而是一个动作：下次听到客户讲类似需求时，你要知道下一句该怎么问。最后我们把所有判断合成一份诊断简报和MVP建议。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本页目的：权限不是上线前的细节，而是方案设计的一部分。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权限盘点：谁可以看、谁可以改、谁负责”。这一页不是让大家记一个概念，而是训练一个FDE在客户现场要做的判断。请先记住本页的核心句：权限不是上线前的细节，而是方案设计的一部分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用户角色；数据范围；操作权限；审批路径；审计记录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生产盘点可以用一句话打醒学员：能在ChatGPT里跑通，不代表能在企业里上线。企业上线要问系统能不能读、能不能写、谁有权限、日志留在哪里、客户数据能不能出域、模型错了谁负责。讲师可以举例：如果AI给客户发错报价，后果和写错内部总结完全不同，所以自动化比例必须由风险决定。低风险可以自动执行，高风险最多生成建议或草稿，中风险必须人审后写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【收束，约30秒】所以这一页要带走的不是“PERMISSION”这个标签，而是一个动作：下次听到客户讲类似需求时，你要知道下一句该怎么问。最后我们把所有判断合成一份诊断简报和MVP建议。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本页目的：FDE要把场景分成建议、草稿、人审后执行、自动执行四种模式。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风险阶梯：决定自动化比例”。这一页不是让大家记一个概念，而是训练一个FDE在客户现场要做的判断。请先记住本页的核心句：FDE要把场景分成建议、草稿、人审后执行、自动执行四种模式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只给建议；生成草稿；人审执行；低风险自动执行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生产盘点可以用一句话打醒学员：能在ChatGPT里跑通，不代表能在企业里上线。企业上线要问系统能不能读、能不能写、谁有权限、日志留在哪里、客户数据能不能出域、模型错了谁负责。讲师可以举例：如果AI给客户发错报价，后果和写错内部总结完全不同，所以自动化比例必须由风险决定。低风险可以自动执行，高风险最多生成建议或草稿，中风险必须人审后写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风险阶梯：决定自动化比例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【收束，约30秒】所以这一页要带走的不是“RISK LADDER”这个标签，而是一个动作：下次听到客户讲类似需求时，你要知道下一句该怎么问。最后我们把所有判断合成一份诊断简报和MVP建议。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本页目的：人工接管能让AI项目安全进入真实业务，而不是停在实验室。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人工接管不是失败，而是生产级设计”。这一页不是让大家记一个概念，而是训练一个FDE在客户现场要做的判断。请先记住本页的核心句：人工接管能让AI项目安全进入真实业务，而不是停在实验室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条件；接管角色；待办通知；处理SOP；结果回写；复盘优化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生产盘点可以用一句话打醒学员：能在ChatGPT里跑通，不代表能在企业里上线。企业上线要问系统能不能读、能不能写、谁有权限、日志留在哪里、客户数据能不能出域、模型错了谁负责。讲师可以举例：如果AI给客户发错报价，后果和写错内部总结完全不同，所以自动化比例必须由风险决定。低风险可以自动执行，高风险最多生成建议或草稿，中风险必须人审后写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人工接管不是失败，而是生产级设计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【收束，约30秒】所以这一页要带走的不是“HUMAN-IN-LOOP”这个标签，而是一个动作：下次听到客户讲类似需求时，你要知道下一句该怎么问。最后我们把所有判断合成一份诊断简报和MVP建议。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本页目的：任何MVP进入部署前，都要通过最小检查清单。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线前Go/No-Go检查”。这一页不是让大家记一个概念，而是训练一个FDE在客户现场要做的判断。请先记住本页的核心句：任何MVP进入部署前，都要通过最小检查清单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目标指标已定义；流程Owner已确认；数据来源可取得；系统权限可申请；风险边界已写清；人工接管已设计；灰度对象已选定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盘点治理是FDE区别于普通AI培训师的关键。培训师可以教一个工具，FDE必须判断它能不能上线。数据在哪里，系统能不能读写，权限怎么申请，日志怎么留，风险怎么接管，这些问题不性感，但决定项目能不能从Demo进入生产。讲师要让学员明白：越早问这些问题，越像专业交付者；越晚问，项目越容易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生产盘点可以用一句话打醒学员：能在ChatGPT里跑通，不代表能在企业里上线。企业上线要问系统能不能读、能不能写、谁有权限、日志留在哪里、客户数据能不能出域、模型错了谁负责。讲师可以举例：如果AI给客户发错报价，后果和写错内部总结完全不同，所以自动化比例必须由风险决定。低风险可以自动执行，高风险最多生成建议或草稿，中风险必须人审后写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生产视角，约1分钟】生产盘点要让学员有敬畏感。模型在演示环境里说错一句话，成本很低；在企业流程里写错一个字段、发错一封客户邮件、给错一个合规建议，成本可能很高。上线前的边界设计不是保守，而是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风险分层，约1分钟】可以把风险分成三档：低风险可以自动执行并留日志，中风险生成草稿由人确认，高风险只做检索、建议或预警。这个分层能帮助学员把“能不能自动化”的争论变成“自动化到什么程度”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【治理语言，约1分钟】面对管理层时，不要只说“有风险”。要说清风险类型、触发条件、人工接管人、回滚方法、日志留存和复盘周期。这样客户会感到FDE不是阻碍创新，而是在帮助创新进入可管理状态。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上线前Go/No-Go检查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【收束，约30秒】所以这一页要带走的不是“GO / NO-GO”这个标签，而是一个动作：下次听到客户讲类似需求时，你要知道下一句该怎么问。最后我们把所有判断合成一份诊断简报和MVP建议。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互动问题：请学员指出该场景上线前最大的生产风险，并设计一个人工接管条件。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过渡语：最后我们把所有判断合成一份诊断简报和MVP建议。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本页目的：最后45分钟把所有方法合成一份可评审的企业AI诊断简报。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诊断工作坊与交付物”。这一页不是让大家记一个概念，而是训练一个FDE在客户现场要做的判断。请先记住本页的核心句：最后45分钟把所有方法合成一份可评审的企业AI诊断简报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诊断简报；场景矩阵；MVP建议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进入工作坊时，讲师要把交付标准讲硬一点：今天不是交一份漂亮作业，而是交一个客户现场能继续推进的诊断包。一个合格MVP建议至少要说清楚七件事：业务目标是什么，当前流程怎么跑，痛点证据在哪里，AI需要什么上下文，接哪些工具，哪些节点必须人工接管，4到8周看什么指标。如果这七件事说不清，说明还没到方案设计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【收束，约30秒】所以这一页要带走的不是“PART 7”这个标签，而是一个动作：下次听到客户讲类似需求时，你要知道下一句该怎么问。下一章会把这个MVP继续设计成可运行的知识和上下文系统。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本页目的：这份简报是FDE第一阶段最重要的专业输出。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AI诊断简报结构”。这一页不是让大家记一个概念，而是训练一个FDE在客户现场要做的判断。请先记住本页的核心句：这份简报是FDE第一阶段最重要的专业输出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企业目标；访谈发现；流程现状；机会地图；优先级矩阵；第一批MVP；风险与下一步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进入工作坊时，讲师要把交付标准讲硬一点：今天不是交一份漂亮作业，而是交一个客户现场能继续推进的诊断包。一个合格MVP建议至少要说清楚七件事：业务目标是什么，当前流程怎么跑，痛点证据在哪里，AI需要什么上下文，接哪些工具，哪些节点必须人工接管，4到8周看什么指标。如果这七件事说不清，说明还没到方案设计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企业AI诊断简报结构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【收束，约30秒】所以这一页要带走的不是“DIAGNOSIS BRIEF”这个标签，而是一个动作：下次听到客户讲类似需求时，你要知道下一句该怎么问。下一章会把这个MVP继续设计成可运行的知识和上下文系统。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本页目的：每组必须说明为什么先做这个，而不是别的。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小组任务：提交一个MVP建议”。这一页不是让大家记一个概念，而是训练一个FDE在客户现场要做的判断。请先记住本页的核心句：每组必须说明为什么先做这个，而不是别的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一个真实流程；完成六格拆解；列出5个机会；完成FDE-SCORE；推荐第一批MVP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进入工作坊时，讲师要把交付标准讲硬一点：今天不是交一份漂亮作业，而是交一个客户现场能继续推进的诊断包。一个合格MVP建议至少要说清楚七件事：业务目标是什么，当前流程怎么跑，痛点证据在哪里，AI需要什么上下文，接哪些工具，哪些节点必须人工接管，4到8周看什么指标。如果这七件事说不清，说明还没到方案设计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如果这一页设计了练习，不要让学员直接自由讨论。先给30秒个人思考，再给2分钟小组互相追问，最后让一组用60秒汇报。汇报时讲师只追问三类问题：第一，证据是什么；第二，分数或判断为什么不是更高也不是更低；第三，如果明天进客户现场，还缺哪份材料。这样可以避免课堂变成聊天，而是变成FDE交付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小组任务：提交一个MVP建议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【收束，约30秒】所以这一页要带走的不是“FINAL WORKSHOP”这个标签，而是一个动作：下次听到客户讲类似需求时，你要知道下一句该怎么问。下一章会把这个MVP继续设计成可运行的知识和上下文系统。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本页目的：评分标准要逼迫学员拿证据说话。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讲师评分标准”。这一页不是让大家记一个概念，而是训练一个FDE在客户现场要做的判断。请先记住本页的核心句：评分标准要逼迫学员拿证据说话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访谈是否覆盖三层角色；流程六格是否完整；评分是否有证据；风险边界是否清楚；MVP是否能4-8周见效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评分时要提醒学员：分数不是为了显得科学，而是为了把争论显性化。比如销售线索评分场景，业务价值可能是4分，因为它影响转化率；频次可能是5分，因为每天都有线索；数据可能只有3分，因为CRM字段不完整；执行可能3分，因为暂时只能半自动回填；安全可能4分，因为由销售确认后再触达客户；见效周期可能4分，因为四周可以灰度。这样一讲，学员会看到同一个场景不是“好或不好”，而是由多个条件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建议讲师不要只讲销售案例，可以顺手换一个行业例子。比如客服场景里，客户说“我们想要一个客服AI”，FDE不能马上回答“可以做知识库”。要继续问：客服每天接多少咨询？重复问题占比多少？现在知识在哪里？哪些问题必须转人工？AI回答错了会造成退款、投诉还是合规风险？同样的诊断逻辑放到HR、财务、法务、制造都成立。这样讲的目的，是让学员看到方法可以跨行业迁移，而不是只会套一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/白板动作，约1分钟】请在白板上写六个词：岗位、流程、证据、系统、风险、指标。然后对学员说：本章所有提问都必须落到这六个词里。客户说“效率低”，我们问哪个岗位；客户说“流程复杂”，我们问哪一步；客户说“AI能不能做”，我们问证据、系统和风险；客户说“效果会很好”，我们问指标。这个板书要保留到本章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讲师评分标准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【收束，约30秒】所以这一页要带走的不是“EVALUATION”这个标签，而是一个动作：下次听到客户讲类似需求时，你要知道下一句该怎么问。下一章会把这个MVP继续设计成可运行的知识和上下文系统。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本页目的：下一章要进入方案设计，必须带着可验证的诊断材料回来。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课后作业：完成真实企业诊断包”。这一页不是让大家记一个概念，而是训练一个FDE在客户现场要做的判断。请先记住本页的核心句：下一章要进入方案设计，必须带着可验证的诊断材料回来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访谈2-3人；收集3个样例；画1张现状流程；做1张机会地图；选1个MVP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进入工作坊时，讲师要把交付标准讲硬一点：今天不是交一份漂亮作业，而是交一个客户现场能继续推进的诊断包。一个合格MVP建议至少要说清楚七件事：业务目标是什么，当前流程怎么跑，痛点证据在哪里，AI需要什么上下文，接哪些工具，哪些节点必须人工接管，4到8周看什么指标。如果这七件事说不清，说明还没到方案设计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FDE现场工作最怕两个极端：一种是过度兴奋，什么都答应；另一种是过度保守，什么都说要先做治理。本章训练的是中间能力：能把场景拆小，能识别第一步能做什么，能给客户一个既有野心又能落地的MVP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后让学员把本页内容改写成一句客户现场能说的话。例如：“我们先不讨论AI助手长什么样，先把这条流程的触发、输入、动作、系统、输出和异常看清楚，再判断AI放在哪一步最合适。”这种改写能帮助他们从课堂语言转成咨询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再落一层，约1分钟】围绕“课后作业：完成真实企业诊断包”，请把屏幕上的概念翻译成一个客户现场句式：我们已经知道什么、还不知道什么、需要谁提供材料、下一步要验证什么。FDE的表达要让客户愿意继续配合，而不是只觉得我们在讲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口前检查，约1分钟】在进入下一页前，快速检查三件事：学员是否能说出本页的业务含义，是否能给出一个真实企业例子，是否能提出至少一个证据追问。如果三件事做不到，就不要急着翻页，应该用一个更简单的案例再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【收束，约30秒】所以这一页要带走的不是“HOMEWORK”这个标签，而是一个动作：下次听到客户讲类似需求时，你要知道下一句该怎么问。下一章会把这个MVP继续设计成可运行的知识和上下文系统。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本页目的：FDE不是靠灵感选场景，而是靠证据链选择最小可赢的第一战。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第2章一句话：先诊断，再部署”。这一页不是让大家记一个概念，而是训练一个FDE在客户现场要做的判断。请先记住本页的核心句：FDE不是靠灵感选场景，而是靠证据链选择最小可赢的第一战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问对人；画对流程；选对场景；控住风险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问对人；画对流程；选对场景；控住风险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这一页不要急着给答案。你要观察学员是否会自然追问证据。如果学员只会说“这个场景适合AI”，说明还停在工具用户层；如果他能说出“这个场景的输入来自哪里、输出写回哪里、错误后谁接管”，才开始进入FDE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全班：如果客户现在只给你一句模糊表达，你下一句问什么？请不要问“想用哪个模型”，也不要问“预算多少”。先问业务结果、当前流程和最近样例，因为这些信息决定后面是否真的需要模型、需要哪类模型、需要多深的系统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【收束，约30秒】所以这一页要带走的不是“RECAP”这个标签，而是一个动作：下次听到客户讲类似需求时，你要知道下一句该怎么问。下一章会把这个MVP继续设计成可运行的知识和上下文系统。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本页目的：下一章会把本章选出的MVP场景，进一步设计成可运行的上下文、知识库和记忆系统。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下一章：企业知识与上下文工程”。这一页不是让大家记一个概念，而是训练一个FDE在客户现场要做的判断。请先记住本页的核心句：下一章会把本章选出的MVP场景，进一步设计成可运行的上下文、知识库和记忆系统。如果这句话听起来抽象，我们马上把它落到岗位、流程、数据、系统、风险和指标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带诊断包；带流程图；带样例数据。讲这些词的时候，不要像念清单一样念过去。FDE要把每个词翻译成现场动作：谁说了这句话，证据在哪里，哪个系统能看到，当前指标是多少，出错后谁负责。如果讲完一页，学员只记住名词，说明我们还没有进入FDE训练；如果学员能用这些词去追问客户，才说明这一页讲到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工作坊不是课堂收尾，而是本章真正的验收。学员必须把访谈、流程、机会地图、评分、风险盘点合成一份诊断简报。讲师要控制节奏，让每组都产出具体材料。不要接受“我们觉得这个场景很好”这种回答，必须追问：你访谈了谁，流程怎么拆，为什么这个分数，风险怎么控，第一批MVP如何在4到8周内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的关键词是：带诊断包；带流程图；带样例数据。请讲师每讲一个关键词，都补一句“现场怎么问”。例如讲到指标，就问当前基线；讲到数据，就问系统位置和权限；讲到风险，就问错误后果和接管人。这样学员会形成肌肉记忆：所有AI想法都必须被翻译成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【交付标准，约1分钟】工作坊产出不能停在课堂作业。讲师要按真实客户交付标准检查：有没有目标，有没有流程，有没有证据，有没有机会地图，有没有评分，有没有MVP边界，有没有下周行动。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【点评方法，约1分钟】点评时不要泛泛夸“思路不错”。请按FDE-SCORE逐项点评，指出最强证据和最大缺口。比如“你们价值判断清楚，但数据可得性没有证据，所以这个场景不能直接进MVP”。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讲到这里时，可以补一句行业背景：企业今天不缺AI工具，也不缺试用账号，真正缺的是把工具放进业务现场的人。很多项目停在演示，是因为一开始没有问清楚流程、数据、权限和风险。FDE训练的价值，就在于把这些前置问题标准化，减少后期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【收束，约30秒】所以这一页要带走的不是“NEXT”这个标签，而是一个动作：下次听到客户讲类似需求时，你要知道下一句该怎么问。下一章会把这个MVP继续设计成可运行的知识和上下文系统。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互动问题：请每组用一分钟说明自己的MVP选择，以及放弃其他场景的理由。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过渡语：下一章会把这个MVP继续设计成可运行的知识和上下文系统。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c74444ca545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8c894f945c74123" /><Relationship Type="http://schemas.openxmlformats.org/officeDocument/2006/relationships/slideLayout" Target="/ppt/slideLayouts/slideLayout2.xml" Id="R35dd7886e9ac48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d7886e9ac48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1e9fc1aed479e" /><Relationship Type="http://schemas.openxmlformats.org/officeDocument/2006/relationships/notesSlide" Target="/ppt/notesSlides/notesSlide1.xml" Id="R539a8595d867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8f938a7ad441c" /><Relationship Type="http://schemas.openxmlformats.org/officeDocument/2006/relationships/notesSlide" Target="/ppt/notesSlides/notesSlide2.xml" Id="R090aa4aa6bd74f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ab4a4839d4626" /><Relationship Type="http://schemas.openxmlformats.org/officeDocument/2006/relationships/notesSlide" Target="/ppt/notesSlides/notesSlide3.xml" Id="R1aa430511ec2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952ee45c2e4e8a" /><Relationship Type="http://schemas.openxmlformats.org/officeDocument/2006/relationships/notesSlide" Target="/ppt/notesSlides/notesSlide4.xml" Id="Re758e125652c40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0bb2eed534011" /><Relationship Type="http://schemas.openxmlformats.org/officeDocument/2006/relationships/notesSlide" Target="/ppt/notesSlides/notesSlide5.xml" Id="R4855ab61fa724a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c73baaec4045d0" /><Relationship Type="http://schemas.openxmlformats.org/officeDocument/2006/relationships/notesSlide" Target="/ppt/notesSlides/notesSlide6.xml" Id="R5617868f45764d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625322899649ec" /><Relationship Type="http://schemas.openxmlformats.org/officeDocument/2006/relationships/notesSlide" Target="/ppt/notesSlides/notesSlide7.xml" Id="R4c8273a18dfc45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b800d01c84bf6" /><Relationship Type="http://schemas.openxmlformats.org/officeDocument/2006/relationships/notesSlide" Target="/ppt/notesSlides/notesSlide8.xml" Id="R92511eaab57646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ff65d09664879" /><Relationship Type="http://schemas.openxmlformats.org/officeDocument/2006/relationships/notesSlide" Target="/ppt/notesSlides/notesSlide9.xml" Id="R0cf719cd605d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6559fd9044aba" /><Relationship Type="http://schemas.openxmlformats.org/officeDocument/2006/relationships/notesSlide" Target="/ppt/notesSlides/notesSlide10.xml" Id="R784cf3e5466b4c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dde4fca7a47c2" /><Relationship Type="http://schemas.openxmlformats.org/officeDocument/2006/relationships/notesSlide" Target="/ppt/notesSlides/notesSlide11.xml" Id="R03f34588e20648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fd72c143c4e67" /><Relationship Type="http://schemas.openxmlformats.org/officeDocument/2006/relationships/notesSlide" Target="/ppt/notesSlides/notesSlide12.xml" Id="R108c1e3cbd7841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46ede61d1a463d" /><Relationship Type="http://schemas.openxmlformats.org/officeDocument/2006/relationships/notesSlide" Target="/ppt/notesSlides/notesSlide13.xml" Id="R7b126934b8d549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8870d8afbd4499" /><Relationship Type="http://schemas.openxmlformats.org/officeDocument/2006/relationships/notesSlide" Target="/ppt/notesSlides/notesSlide14.xml" Id="R8afe6b6773f142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87d53fff643dc" /><Relationship Type="http://schemas.openxmlformats.org/officeDocument/2006/relationships/notesSlide" Target="/ppt/notesSlides/notesSlide15.xml" Id="R5a5192fad28940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1cc389127d43e4" /><Relationship Type="http://schemas.openxmlformats.org/officeDocument/2006/relationships/notesSlide" Target="/ppt/notesSlides/notesSlide16.xml" Id="Rdb7c605d509e4f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7057923604bf0" /><Relationship Type="http://schemas.openxmlformats.org/officeDocument/2006/relationships/notesSlide" Target="/ppt/notesSlides/notesSlide17.xml" Id="Rc597a1b8b07643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29822f6fe14a6e" /><Relationship Type="http://schemas.openxmlformats.org/officeDocument/2006/relationships/notesSlide" Target="/ppt/notesSlides/notesSlide18.xml" Id="R67e1b6dd66b044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57ddf96054c43" /><Relationship Type="http://schemas.openxmlformats.org/officeDocument/2006/relationships/notesSlide" Target="/ppt/notesSlides/notesSlide19.xml" Id="Rab80972ce5c94d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d1ae1ca32149a4" /><Relationship Type="http://schemas.openxmlformats.org/officeDocument/2006/relationships/notesSlide" Target="/ppt/notesSlides/notesSlide20.xml" Id="R523f70bbc6d24f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01ecdc3244dfd" /><Relationship Type="http://schemas.openxmlformats.org/officeDocument/2006/relationships/notesSlide" Target="/ppt/notesSlides/notesSlide21.xml" Id="R94294fd0ac0148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6df27bfa54b7a" /><Relationship Type="http://schemas.openxmlformats.org/officeDocument/2006/relationships/notesSlide" Target="/ppt/notesSlides/notesSlide22.xml" Id="R8b4479c8553047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f9a30c30354b9e" /><Relationship Type="http://schemas.openxmlformats.org/officeDocument/2006/relationships/notesSlide" Target="/ppt/notesSlides/notesSlide23.xml" Id="Rd65c8b6fc54140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15e282ea04bd0" /><Relationship Type="http://schemas.openxmlformats.org/officeDocument/2006/relationships/notesSlide" Target="/ppt/notesSlides/notesSlide24.xml" Id="Rb183ec1e285f41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6ab96a6c364848" /><Relationship Type="http://schemas.openxmlformats.org/officeDocument/2006/relationships/notesSlide" Target="/ppt/notesSlides/notesSlide25.xml" Id="R1b52c26eed4943d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c35ab5e58438f" /><Relationship Type="http://schemas.openxmlformats.org/officeDocument/2006/relationships/notesSlide" Target="/ppt/notesSlides/notesSlide26.xml" Id="Rda7a8dc31476472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31e840a2040f1" /><Relationship Type="http://schemas.openxmlformats.org/officeDocument/2006/relationships/notesSlide" Target="/ppt/notesSlides/notesSlide27.xml" Id="R9eac3cf24eed46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2c64f4c5fe42b2" /><Relationship Type="http://schemas.openxmlformats.org/officeDocument/2006/relationships/notesSlide" Target="/ppt/notesSlides/notesSlide28.xml" Id="Rde7e87ff0b7a46e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2ab29a9ed4f0b" /><Relationship Type="http://schemas.openxmlformats.org/officeDocument/2006/relationships/notesSlide" Target="/ppt/notesSlides/notesSlide29.xml" Id="Raf87d81ca95342b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ec5f5ffe94333" /><Relationship Type="http://schemas.openxmlformats.org/officeDocument/2006/relationships/notesSlide" Target="/ppt/notesSlides/notesSlide30.xml" Id="R8168ef38b19146b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1f27513044a4e" /><Relationship Type="http://schemas.openxmlformats.org/officeDocument/2006/relationships/notesSlide" Target="/ppt/notesSlides/notesSlide31.xml" Id="R23de06699e2e406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07fb0487446a0" /><Relationship Type="http://schemas.openxmlformats.org/officeDocument/2006/relationships/notesSlide" Target="/ppt/notesSlides/notesSlide32.xml" Id="Rd9c20cacd1e844a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8bf4b5d70d4740" /><Relationship Type="http://schemas.openxmlformats.org/officeDocument/2006/relationships/notesSlide" Target="/ppt/notesSlides/notesSlide33.xml" Id="R6c44c796ee9c4fc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debc8cd5f4dd8" /><Relationship Type="http://schemas.openxmlformats.org/officeDocument/2006/relationships/notesSlide" Target="/ppt/notesSlides/notesSlide34.xml" Id="R9cbf51c619db4ea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6951b59d2b47fc" /><Relationship Type="http://schemas.openxmlformats.org/officeDocument/2006/relationships/notesSlide" Target="/ppt/notesSlides/notesSlide35.xml" Id="R69c297af8b86433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105b383ce843b7" /><Relationship Type="http://schemas.openxmlformats.org/officeDocument/2006/relationships/notesSlide" Target="/ppt/notesSlides/notesSlide36.xml" Id="R388814a4b99d42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e2408343bd4e64" /><Relationship Type="http://schemas.openxmlformats.org/officeDocument/2006/relationships/notesSlide" Target="/ppt/notesSlides/notesSlide37.xml" Id="R9080269497a943c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4352e6bfc44da" /><Relationship Type="http://schemas.openxmlformats.org/officeDocument/2006/relationships/notesSlide" Target="/ppt/notesSlides/notesSlide38.xml" Id="Rb234150f898b410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e51c0fb654448" /><Relationship Type="http://schemas.openxmlformats.org/officeDocument/2006/relationships/notesSlide" Target="/ppt/notesSlides/notesSlide39.xml" Id="R9adea64f579c43f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d8a404d7442bc" /><Relationship Type="http://schemas.openxmlformats.org/officeDocument/2006/relationships/notesSlide" Target="/ppt/notesSlides/notesSlide40.xml" Id="Rc3d5d28f3bcd426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c25aecf204f5d" /><Relationship Type="http://schemas.openxmlformats.org/officeDocument/2006/relationships/notesSlide" Target="/ppt/notesSlides/notesSlide41.xml" Id="R3b2456eebdd24bf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ddab08a1674066" /><Relationship Type="http://schemas.openxmlformats.org/officeDocument/2006/relationships/notesSlide" Target="/ppt/notesSlides/notesSlide42.xml" Id="R1639852eacd040b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09b9947ea4e80" /><Relationship Type="http://schemas.openxmlformats.org/officeDocument/2006/relationships/notesSlide" Target="/ppt/notesSlides/notesSlide43.xml" Id="R43e60cdd58364b3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3be67bfd2412b" /><Relationship Type="http://schemas.openxmlformats.org/officeDocument/2006/relationships/notesSlide" Target="/ppt/notesSlides/notesSlide44.xml" Id="R16a30c8a9f9942a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46ecb87e224af9" /><Relationship Type="http://schemas.openxmlformats.org/officeDocument/2006/relationships/notesSlide" Target="/ppt/notesSlides/notesSlide45.xml" Id="R65902ebf7a5b4fb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ad34461fe4663" /><Relationship Type="http://schemas.openxmlformats.org/officeDocument/2006/relationships/notesSlide" Target="/ppt/notesSlides/notesSlide46.xml" Id="Rc45ddfb78d1f4db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13b907e4494588" /><Relationship Type="http://schemas.openxmlformats.org/officeDocument/2006/relationships/notesSlide" Target="/ppt/notesSlides/notesSlide47.xml" Id="Re9e9bfcff6c1430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d6c20782a47e9" /><Relationship Type="http://schemas.openxmlformats.org/officeDocument/2006/relationships/notesSlide" Target="/ppt/notesSlides/notesSlide48.xml" Id="R60418ef7675241b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a6b8c9fb04ef1" /><Relationship Type="http://schemas.openxmlformats.org/officeDocument/2006/relationships/notesSlide" Target="/ppt/notesSlides/notesSlide49.xml" Id="R0f9dc5d0794a467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04c096d6284bea" /><Relationship Type="http://schemas.openxmlformats.org/officeDocument/2006/relationships/notesSlide" Target="/ppt/notesSlides/notesSlide50.xml" Id="Re395d19391764c0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763b1bc77e4a29" /><Relationship Type="http://schemas.openxmlformats.org/officeDocument/2006/relationships/notesSlide" Target="/ppt/notesSlides/notesSlide51.xml" Id="Rfb951f267fb34af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a2a3bdfed14383" /><Relationship Type="http://schemas.openxmlformats.org/officeDocument/2006/relationships/notesSlide" Target="/ppt/notesSlides/notesSlide52.xml" Id="R5126f8b110014b0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34bfbdd2344821" /><Relationship Type="http://schemas.openxmlformats.org/officeDocument/2006/relationships/notesSlide" Target="/ppt/notesSlides/notesSlide53.xml" Id="Radde49c589b54cd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58f839b11f4d12" /><Relationship Type="http://schemas.openxmlformats.org/officeDocument/2006/relationships/notesSlide" Target="/ppt/notesSlides/notesSlide54.xml" Id="Rea40efe12842476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9fb95838d4174" /><Relationship Type="http://schemas.openxmlformats.org/officeDocument/2006/relationships/notesSlide" Target="/ppt/notesSlides/notesSlide55.xml" Id="R0a564fef79654c1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f29479e4b64b1a" /><Relationship Type="http://schemas.openxmlformats.org/officeDocument/2006/relationships/notesSlide" Target="/ppt/notesSlides/notesSlide56.xml" Id="R4999ac2d47fc4e5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c2a407f5ab4b06" /><Relationship Type="http://schemas.openxmlformats.org/officeDocument/2006/relationships/notesSlide" Target="/ppt/notesSlides/notesSlide57.xml" Id="R19a0078ec38b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3F579D-F4CB-46F8-A7C9-C3749BDE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079E2-C54D-4546-8249-FC2DAA0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4A43E-07B1-4A88-A35F-95F549AA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C8A63-34B8-43C2-9815-618350B0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CHAPTER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79AEC-9823-4131-BFAC-0C6B0EB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企业AI诊断与场景筛选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EB69A-E9D9-4479-9EA2-4A030A0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76275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第2章要训练FDE进入客户现场后最关键的能力：问对问题、画对流程、选对场景。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44364-CBAB-4F42-B2A1-74F36C3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43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CE2C-994D-440E-AED0-7077434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9A40E-5A9E-4357-9D44-A90251A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F0D3E-4964-4CE7-995A-E5B2C503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流程六格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4E635-F094-48A1-9786-97D5D992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1CB23-634E-4A0B-A87D-079B3FAC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82917-11B3-4025-BDB7-B0C04FC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76A74-3D3A-4573-A46E-A35D22AF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FDE-SCORE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66200-11AB-4EA8-8F02-09940EB6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AE4E6-5C29-4D97-8E25-B86ED29D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诊断工作坊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A09E8-21DE-4F28-9024-8E3B29EB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课程课本 + 逐页讲师稿 + 商务大字号PPT</a:t>
            </a:r>
          </a:p>
        </p:txBody>
      </p:sp>
    </p:spTree>
    <p:extLst>
      <p:ext uri="{BB962C8B-B14F-4D97-AF65-F5344CB8AC3E}">
        <p14:creationId xmlns:p14="http://schemas.microsoft.com/office/powerpoint/2010/main" val="10927327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8786D-EB42-4685-B4F5-662D720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0A35B-06E9-4118-902A-AA529CC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C1BE9-42E7-47D6-A48B-D2127BDB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D2F77-DE05-4F94-A102-85CF1456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D8C31-132C-4C8B-87AD-7968B06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8课时：把企业需求变成可部署MVP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2DD56-0A83-4884-B7AA-E76C7EF6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本章不是泛泛收需求，而是把混乱需求压缩成可评审的场景优先级。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FFD70-1FC4-4B3B-B6EC-4058719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5C9D3-908B-4E6B-A941-256582A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BACC3-3BD6-4FB9-8EEE-18C292E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6A919-4965-4519-BC92-316B207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44643-085D-4793-8E4F-DC3ADFA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23458-0BCD-48D4-8673-DF547601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591FD-C2CE-44BF-8B1C-46ECFEF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 复盘与诊断契约 / 15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27973-AEEA-471D-8F75-FA38E05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A757C-1B77-4204-A4C7-891490CD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D4C9F-91B9-4599-8D87-0D4CBA3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FAA7D-0379-4E7C-A283-3FE6D7B1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FDE诊断心法 / 35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A3728-950F-4079-9496-23087AD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50CB0-2A2F-4966-A638-9838B69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0B53F-1966-42D6-8444-E706B21F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240F0-F04B-47C2-AACF-3CA61D82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三层访谈法 / 55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A050C-47A9-4EF2-A9A7-590CEC7D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F9888-CA59-4EEC-B331-2B07655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CAE4F-7821-4ABC-AE7D-7AE8108E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325F0-0098-4711-B407-98CA600B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流程拆解六格 / 55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0D6F4-2668-4E55-AD7E-3007F51C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60F0A-1A83-4428-8284-5AF2C244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9F783E-732E-4189-8A09-0DA025FD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C922A-D568-4E2D-819D-8892A5A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 AI机会地图 / 45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AFAACA-3C24-468D-B7E6-175F4CA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12085-CC8D-4B1E-8AD1-1EDB36C9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61CD3-95B4-4A05-BF51-43B8598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A08590-1826-4ED3-9B2C-628301E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5. 场景评分与优先级 / 65 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98A0F-1224-45F2-8E17-02648C4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956C3-9863-43EB-A2A4-32ADDCB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090C6C-7FAA-4F4D-95A3-CB391B6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19CC9F-4631-4A3D-9107-805E43EB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 数据/系统/权限/风险盘点 / 45 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15BC94-0009-4284-B4D6-39EA090F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B9827-154B-4876-8F66-3114EBC5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DCC80-7FC0-4A2E-8028-ACE75AE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5FC9F6-D1FD-4004-817F-4475D1C9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7. 诊断工作坊与作业 / 45 min</a:t>
            </a:r>
          </a:p>
        </p:txBody>
      </p:sp>
    </p:spTree>
    <p:extLst>
      <p:ext uri="{BB962C8B-B14F-4D97-AF65-F5344CB8AC3E}">
        <p14:creationId xmlns:p14="http://schemas.microsoft.com/office/powerpoint/2010/main" val="5217250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8C1D9-3FBA-41A8-827C-1190CC3A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5F8FB-B5F6-4503-93A8-522E6C8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B45E1-301D-4ABF-9824-D2258A2D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78F63-2AD7-41C0-BC6A-4878021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F8F27-03EF-4B67-A829-6F7EE4F3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本章结课要交付四份材料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E53E2-6AF5-4FA8-AEFD-849BFE36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FDE的诊断成果必须能被客户、交付团队和后续讲师共同复用。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F6D9C-575F-4D5D-B17A-8878D63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F0480-E50C-41E1-A502-2D2CFAD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1BAED-53D2-47F8-AF8A-70094E54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E1D9A-67B5-4069-841A-281227D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2FEC7-3D99-4E5D-9C25-25395F8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1488E-56E7-445D-9C50-282FEE9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734B4-2C95-4527-95D3-A93BE4D1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访谈纪要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C7C8A-9A7C-45A2-8D05-6830433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5A8DF-BF66-45DA-B211-51ADD882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76314-7E8A-4CCA-AB8C-530A93ED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BF3D4-5F20-430E-B5D5-560C5D20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流程六格图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A9020-D5D9-4E16-8232-F15353E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18C97-ED40-4A68-964B-5444F003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931F7-629A-4978-93D1-A22083B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2DC51-C486-46A2-91C4-3F235373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AI机会地图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8207F-2791-4714-9037-7C8C848E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8186D-2546-4A95-ACED-2AA421A6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0778F-0EB2-4CF8-AA0B-10BB5522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89A15-2C0F-4107-BDC9-9E2AB54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场景优先级矩阵</a:t>
            </a:r>
          </a:p>
        </p:txBody>
      </p:sp>
    </p:spTree>
    <p:extLst>
      <p:ext uri="{BB962C8B-B14F-4D97-AF65-F5344CB8AC3E}">
        <p14:creationId xmlns:p14="http://schemas.microsoft.com/office/powerpoint/2010/main" val="6384204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B6EE1-D18F-417D-963A-39E2749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64271-676C-4374-B10E-BA6B086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2D7F0-9DFD-4FDA-95CA-3D0E53C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6C5DC-5A81-433A-A224-841B0BB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FIRST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DA4EE-080F-4D7A-B135-4632A26B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不要从“我要做AI”开始，从“哪条流程要变好”开始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76C11-8EBF-4A50-994B-CB8A53C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FDE诊断的第一步，是把抽象AI愿望翻译成具体流程问题。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6A606-ACEB-4BFA-A1B7-A76B573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0B2F-2E2D-474E-99D6-65519FA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A8355-F998-4EA9-BB58-9E31BADF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4B4AF-F6B2-4462-84BA-6D5600FA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9829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8624F-A70C-415C-AFBD-DC4FAC94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7810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368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48B2A-6D59-43A6-90DE-E1608D7E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7810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不要从“我要做AI”开始，从“哪条流程要变好”开始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C281B-CB18-44F1-8C7B-6D3A50B8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723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FDE诊断的第一步，是把抽象AI愿望翻译成具体流程问题。</a:t>
            </a:r>
          </a:p>
        </p:txBody>
      </p:sp>
    </p:spTree>
    <p:extLst>
      <p:ext uri="{BB962C8B-B14F-4D97-AF65-F5344CB8AC3E}">
        <p14:creationId xmlns:p14="http://schemas.microsoft.com/office/powerpoint/2010/main" val="7520732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FF77B-ABB4-4F9C-A8A2-6800B575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F0194-3DF2-44C5-B080-F07D0B78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7A4B-528B-4357-840F-6BE147DE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12C94-2F7E-4947-8A89-755BF0A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426F0-1DEA-4775-BC7A-AEA1C02F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第1章五层模型如何进入第2章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C2E6A-6F89-4192-AA2A-33F1AB04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第1章判断企业在哪一层，第2章判断先从哪个场景向下一层跃迁。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55215-AAB4-493B-B731-CA2AB42D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86FB5-D74A-4155-AC2C-9AF5EDCE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F9708-29BC-4E18-9249-6C5BE3D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E240B-9324-4642-82E0-3763472B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20570-3257-485E-BBDF-FB92329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识别层级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4491E-00A3-4247-AE45-38D15674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7F2ED-F44C-4243-9A16-99B5B6F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DEE73-8E73-483B-9CC2-85E3256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找到流程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54FDA-2DCF-4429-994A-EB3DBEE7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9689C-E330-4F8F-B6A3-9EB8E35D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AA72A-B27E-4868-9BB9-F6E94CD0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筛选场景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DB05E-CF0B-4DB8-A016-9B92DF57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E55E5-513F-46A5-99A5-F4743B04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F5977-982A-420B-8815-368592D5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84FAD-CFA5-415D-A3B7-779548C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3AAA3-18F7-4C94-BBE7-6D92D00E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72E73-CB29-4F1F-A9E2-D71C51CA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进入部署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C46EE-03D1-4711-8B88-9E69D965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C0035-F3E0-4029-B74D-5B023E67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FDE判断：这个流程是否有清晰输入、处理动作、输出和复盘指标。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1871654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D801E-1106-45A2-8A27-0C8381C4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E4360-C968-421A-916F-7515DE9D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C641C-A06F-4029-B3F8-4E09C1B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ECEA1-481F-4DD5-A43E-A33D1DC3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FDE诊断心法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3702C-85EF-416B-BF14-47656811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诊断不是问客户想买什么，而是建立业务问题的证据链。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DC70F-9929-4424-9718-E12A84B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A5966-5F60-4C56-9A88-EF6A5758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结果导向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0AA47-75E8-4997-ABE2-835DE39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EE6EB-7985-44CC-B6A0-06A51C02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07CD1-A4CA-4776-B086-B0594BA1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D1992-C611-4720-BB59-3C2E22BF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最小闭环</a:t>
            </a:r>
          </a:p>
        </p:txBody>
      </p:sp>
    </p:spTree>
    <p:extLst>
      <p:ext uri="{BB962C8B-B14F-4D97-AF65-F5344CB8AC3E}">
        <p14:creationId xmlns:p14="http://schemas.microsoft.com/office/powerpoint/2010/main" val="5033632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DFD06-3192-43B4-9E0A-B90E3EF0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BF144-5108-4DEA-9BC2-B32832DC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CCC99-7FAC-45A4-B7A1-A1C7065B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060BA-0A07-445A-AAA4-6B419D8A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PRINCIPLE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AF332-54F8-4817-93F3-9E1F40BE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结果导向：先定义成功线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0F4AC-68E8-4522-9B2A-CC54F0AB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没有成功线的AI项目，最后只能靠感觉验收。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A4D4-97B9-49C4-9145-12FE573D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DBA3E-770A-4780-AEC9-BE981EF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4CD9A-FAD8-4454-9691-D1A1A3B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诊断心法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7570C-A7F8-4086-BA38-C9D3026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DFE62-D0A0-4340-A5C4-D7B81108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35671-9800-4C3E-8347-6BB99F96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E124E-BAAD-4AF6-9401-35493F7C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要提升什么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20D2D-0E69-48D6-8182-EDA87C6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1E73A-FE29-49DC-99CD-50193104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751DC-D00B-4998-B164-29863374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F1ECA-0173-4358-8E34-22D4B051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要降低什么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9EC72-45BF-4527-BC8F-D8E0B9E6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D1415-FC17-4402-AA1D-C503DBA7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93871-7A70-49CF-A325-B606A5E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D3442-8E51-4E3D-9995-C7EDAA0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要缩短什么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12CD6-065F-4414-9214-1704021B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A7BBC-8C19-4573-B6BB-773713C5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83AFC-ED62-4CC1-AEA1-47CFD4D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ECEE5-2AF1-491C-89D6-08AABBB1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要减少什么</a:t>
            </a:r>
          </a:p>
        </p:txBody>
      </p:sp>
    </p:spTree>
    <p:extLst>
      <p:ext uri="{BB962C8B-B14F-4D97-AF65-F5344CB8AC3E}">
        <p14:creationId xmlns:p14="http://schemas.microsoft.com/office/powerpoint/2010/main" val="1139466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E2E61-23CE-450F-A8B0-F3C138D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75B3D-E512-4B87-A304-F7A87AE0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35CA8-81B1-42EA-96FD-8463534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BECC0-4A10-4FA5-A134-0B5F3393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PRINCIPLE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EDB6D-A67C-4A2B-B406-215A8712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证据链：每个判断都要有现场证据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3F333-9BD5-41F3-ADCB-6120DD11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FDE不能只听故事，要拿到样例、数据、系统截图、表单和真实对话。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09F57-D3B4-4E2B-A9BB-2982180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04BC9-A4CF-4F1C-8E23-5669C59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66954-8D84-4A70-93F6-C75F58DC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诊断心法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90E01-DBDA-4A6B-B41B-FD83616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A4E38-5996-4F4A-9F9C-711AA13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79BEB-4FD9-4741-BEF5-2B8C8E30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ADDFE-2510-49E6-AE50-B41B62B9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B1CC1-9315-48DC-8BF1-D9F164C0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88D94-97E3-422D-AF03-17A99D01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9D930-E0F7-4683-9807-655973FD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2D68A-E666-48B5-81A6-902C4E5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24DBF-F0F6-42C0-A460-61710882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CDF6A-5172-4346-801D-7017071E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8E476-2BCF-47BE-B8F7-8653EE21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A145F-3477-4E1A-AE92-41EFC486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288A6E-EBEC-4CA1-B9EF-26D1AF8E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ABB97-67FF-42B5-A61D-60A76425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8B6E4-83E0-4B9F-A463-F9C82269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6818D-6F7E-458B-A461-9792A325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B1FAF-6F1D-4DA3-9046-48480B9E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47497-F406-474F-8CDE-2377F0A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E1262-7A4D-4E23-B931-A359DFA4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B13B5-3176-45E5-B929-6FD10A0E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05551-B817-402A-9585-1B957C5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F03BA-EA80-47A0-8BC1-E729E1E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338A1-8F6D-4551-A30A-F1F519E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740BBF-4BF2-4AC1-B143-DE1348D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9283584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1B3C4-CED0-438B-BE03-23643A20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034FF-E188-4B6C-B349-7E40552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A8731-48EB-4DCE-881B-03F82A02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BD5AD-5EB4-4818-879F-B58412A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PRINCIPLE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9E830-089B-4FB1-9566-B1FF4B2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最小闭环：先找能跑通的第一段流程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04783-D6B2-48A9-BFD9-49387D8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第一批场景不是越大越好，而是要在短周期内证明价值。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84E5E-1A66-4CC4-A772-5F0525FD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86CA1-7B29-4D75-8733-8965219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A41CC-53F7-478E-A62B-2BC0F4C5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诊断心法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41DD9-1F6B-4B3B-92D4-67A4E25B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387FF-635E-4275-8FC0-ACC06DA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6ED9C-4BF2-4120-8B41-5F9AA7A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F7FCE-5341-4EBC-B4ED-A2255A4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范围小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8B317-BD56-458D-B4B4-B7EF09F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73290-6268-42A7-9445-A0FE3F27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CF526-ACD3-44A9-84A5-3AC83AFF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6B7A3-55A3-46D5-BC2E-7C3CED5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E031D-3431-4822-8702-F7BB8805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EEBA6-9C77-4129-99CF-B70DD474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F5809-D4EC-49E9-B18A-009172D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77A44-2AA3-43DD-A5E8-BC4FD80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B289B-3E96-4611-9EB7-5B7CB99B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741AF-8797-4A43-BC69-A1AF45D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4D4FB-88B6-4A5B-AB59-A885EE0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555D9-AA79-4E34-8134-01384151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能接入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C7FF6-CED5-4910-80B7-3F3F7605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E01C8-66F3-414F-8FAD-6AE257BE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3ECB4-E2BD-4A4A-97AE-76AB3CB7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F41556-9DBE-4B6B-BBD7-7E8EBB16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可复盘</a:t>
            </a:r>
          </a:p>
        </p:txBody>
      </p:sp>
    </p:spTree>
    <p:extLst>
      <p:ext uri="{BB962C8B-B14F-4D97-AF65-F5344CB8AC3E}">
        <p14:creationId xmlns:p14="http://schemas.microsoft.com/office/powerpoint/2010/main" val="17505340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25244-A2E4-4F1F-A485-319A9E0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2361E-E62E-4F5B-A133-A78FBC3B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9096D-E400-44A9-B82F-80750C1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9D823-95AA-4B92-9365-18F2BE71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ANTI-PATTERN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CC8C-00F3-405F-82CD-87C42AE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四种错误诊断方式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32D92-A7A5-44BD-9FCA-D6648CB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这些诊断方式会把FDE带进无底洞，必须在第一天就避免。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9A11D-54BD-4DC3-8328-42471EF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70B97-C037-4E50-86AF-B543A590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7B33E-D423-4DD5-9B6E-F9E79FE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诊断心法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B4002-B6BC-429A-99EF-2D2F192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A5199-6916-495A-A223-64E30331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只问老板不问一线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19C9E-85D6-4939-9A36-F618C96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CC547-901F-4D1C-B401-5BB67D6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只看工具不看流程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A66AD-EEA5-44C3-9BF3-7B95E49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E6924-F53C-4A4A-8859-3AAA298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只听痛点不量化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2FF5C-78B2-48DE-9FB2-B4E2FAB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03FC0-DA40-40EA-80BF-A7EC615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925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只做方案不看权限</a:t>
            </a:r>
          </a:p>
        </p:txBody>
      </p:sp>
    </p:spTree>
    <p:extLst>
      <p:ext uri="{BB962C8B-B14F-4D97-AF65-F5344CB8AC3E}">
        <p14:creationId xmlns:p14="http://schemas.microsoft.com/office/powerpoint/2010/main" val="9388402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1C50E-4150-41B0-9B82-CC20E679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BFDC6-D3F7-488E-8FA3-54B731A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F2DA-FC79-4621-A4D8-681FE92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18ED2-9132-4F24-ADEE-FEA6C8B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RUNNING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42207-FEAB-41B9-8A4E-79B5DFA2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贯穿案例：AI化销售线索跟进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B4E82-3AD8-4059-A013-E2655DB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本章用销售线索场景训练从访谈、流程拆解到场景评分的完整动作。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9A00-C95B-4B7A-8B4A-A2884AD9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D1D34-74E0-41DD-B0D2-06549B1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EAEA2-62B3-44FB-9E7D-4789534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诊断心法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47969-1C5C-42AA-B81C-2ED4AA65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C129A-038B-420E-B830-FA73A043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1A353-5297-4550-AB23-0325D1C6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1D0AF-7B15-40F0-B9EF-C93C18B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线索来源分散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97C81-B97E-48B3-913E-6B64688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4282D-C050-4FF5-874F-4B6CA258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销售跟进不及时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9B5E8-43FC-43BB-9A41-957BE25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701F1-A3A0-4976-9B0A-77F15BF2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CRM记录不完整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3E546-54D8-46EC-88B2-0908E0BF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A9CEE-2DC2-4944-AC2A-66A97C7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主管无法判断线索质量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0DB34-D75D-4314-88C5-4E4FB46F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4E924-71F6-4D74-970B-131AC6E4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客户重复收到低质量话术</a:t>
            </a:r>
          </a:p>
        </p:txBody>
      </p:sp>
    </p:spTree>
    <p:extLst>
      <p:ext uri="{BB962C8B-B14F-4D97-AF65-F5344CB8AC3E}">
        <p14:creationId xmlns:p14="http://schemas.microsoft.com/office/powerpoint/2010/main" val="16947070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236D72-3B3B-4C84-B0F1-0F2D45CD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A8220-A715-4184-9463-858CDB6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28770-2F4F-461A-8D52-84CD2B2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95002-535D-4E44-A576-0A631124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三层访谈法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D4CB7-B0B9-48DA-AE72-7D5932A0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同一家企业里，不同层级会给出不同版本的真相。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13B6D-4557-4F90-BEA1-52D017FB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E68C1-F982-460E-A0DE-C3AB69EF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CFA14-A800-40A6-86EB-C212B3F1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524AC-C4AB-44DA-9AD0-772CFD9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业务主管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2437-CAB4-43C7-A841-AC12A63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40317-96C6-457C-88B1-1F16A5D5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一线员工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E32D8-7E9C-4C80-8E09-03267E7A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B1D75-4E38-44E8-92C8-625C00E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IT/数据</a:t>
            </a:r>
          </a:p>
        </p:txBody>
      </p:sp>
    </p:spTree>
    <p:extLst>
      <p:ext uri="{BB962C8B-B14F-4D97-AF65-F5344CB8AC3E}">
        <p14:creationId xmlns:p14="http://schemas.microsoft.com/office/powerpoint/2010/main" val="797853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DFAA6-CDFB-45FD-973A-228F82B7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CE9C9-2A64-4A87-B5F6-2A7E9540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36EEC-E4FF-43B6-B7E8-FDD950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38736-1CF8-4FC3-9829-4FD2429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STAKEHOLDER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C0C2C-04A4-4DEB-A872-D262036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访谈对象地图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0558F-5353-4200-B361-F04F55E8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FDE要同时获取目标真相、流程真相、操作真相和系统真相。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82F70-E9D3-4EB2-8351-4EFC18FB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3D7B2-252F-4F08-855B-816C3372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BC0CA-E8F7-4155-BCAD-998E835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433C1-4703-4C9B-93ED-2BB2AA6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C3D77-2922-454A-859F-A2F80F2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决策层：目标、预算、战略优先级、风险承受度、成功线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6E5DE-F513-4A7A-9DFB-4125039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BA9B8-4744-4814-8A8D-C8829B2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业务主管：流程、资源、指标、瓶颈、协同关系、Owner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81A7A-F82F-40C7-AAB4-8C32C8B8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D4260-13D3-4AE5-89B6-45E8CEF1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一线员工：真实动作、例外情况、暗知识、抵触点、表单样例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599F4-D7A2-486B-A186-A825E32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1E9FB-04C4-4F6C-9F1E-0CA07E3A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925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IT/数据：系统边界、接口、权限、数据质量、审计要求</a:t>
            </a:r>
          </a:p>
        </p:txBody>
      </p:sp>
    </p:spTree>
    <p:extLst>
      <p:ext uri="{BB962C8B-B14F-4D97-AF65-F5344CB8AC3E}">
        <p14:creationId xmlns:p14="http://schemas.microsoft.com/office/powerpoint/2010/main" val="14039939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9CCDC-EF10-4188-9043-20A22AD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AD43D-A2EE-47F5-B0C8-40042F7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A49AE-A198-4967-B100-062FCA3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917A0-AE90-4039-B715-BD55912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EXECUTIVE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5888A-1A7E-449C-A438-FE7716DB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决策层访谈：问目标，不问功能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5D5EE-A14D-4FDE-A7A5-D8D6DC6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决策层访谈要拿到战略优先级、成功线和风险边界。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30713-23A3-46CE-AFA1-5A1CDA8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64F5C-D7D6-4F20-9C13-FCD081D7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2B72D-2E0C-4259-B34B-5A769A04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25AC1-99BF-45B7-962A-5A9B296D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03DD0-1C96-4CF9-B8CA-A2078B5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F4BA0-9F95-40F3-AD12-C810DE1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24340-1E07-48DE-A0A5-E4BA2EA1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为什么现在做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72BA9-201F-4C1F-98E7-ECC4216A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D2468-9287-4E30-973F-C581A3C7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F30D7-2854-4B80-97CA-84BE083C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87B64-080C-4EB7-8514-30B8572D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谁为结果负责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9B968-40E5-4D29-B9A0-98456FAF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B863A-9F0A-4C80-91D4-A8E3213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1418E-9A26-4A67-A398-0EEDCECF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C21B9-53ED-442E-8556-E6A3CBE2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成功线是什么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77070-E91E-40D8-AAA4-6F53190A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13D00-274E-423D-AAB0-5961AD3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3132E-1840-4E33-98A4-A037A6C3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0F65E-2FF9-480E-A32D-6E33025D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不能碰的风险是什么</a:t>
            </a:r>
          </a:p>
        </p:txBody>
      </p:sp>
    </p:spTree>
    <p:extLst>
      <p:ext uri="{BB962C8B-B14F-4D97-AF65-F5344CB8AC3E}">
        <p14:creationId xmlns:p14="http://schemas.microsoft.com/office/powerpoint/2010/main" val="16658724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83152-9B84-42CF-9E91-051E3780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175F3-EA63-4643-ABC8-5D72D03D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5BBD3-9B01-4D88-98E0-0565929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82A43-627D-4E1E-B248-8026A58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7419A-0212-45D4-9E3C-356D10D8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业务主管访谈：问流程，不问想象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A3E83-2945-4BDD-9357-8B282C45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主管最了解资源、指标和跨部门卡点。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CE247-0DAA-45CA-80F6-F8610450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FAF35-66D3-410C-B873-3FE42231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841DF-423B-4073-B7F0-F5F27FB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BEDC8-4486-4C04-9EB9-13F7BA58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0B15F-6A8F-49BF-98E5-C22D0DF4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B736D-B7C6-4DA3-B99E-F0E15E1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71107-F890-4F25-8AD0-D1F7761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流程从哪里开始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F25A1-E8AD-4F83-B9BC-67FB40D2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AFE82-43D7-46F4-AB32-D9997E26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CB30D-ADF9-418C-BE63-39FEB7CE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9E638-BBF5-4591-96F9-D0013E7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谁参与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45C25-3D01-44DA-BBE7-64A0F08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FAE07-09F3-448F-B35E-C53C328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DE03D-BC7B-4355-941F-BD5C4D2E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1B7B8-933E-44DB-9FBC-98AB0FD6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哪里等待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CC295-694B-4F54-9613-4ABC25F8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866D2-3E49-46A0-B64A-CE5CB258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B1DD5-951B-4E64-924D-7DFF18A9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CECB4-0CDB-45CD-B1C5-919CF98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哪里返工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E1F6C-0BB1-412D-B251-386A6086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02BA9-297C-4321-84CA-3183E38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FA0FE-CA82-48A2-B039-326DAEC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40557-9AED-41DD-907D-EFBA7CA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目前怎么考核</a:t>
            </a:r>
          </a:p>
        </p:txBody>
      </p:sp>
    </p:spTree>
    <p:extLst>
      <p:ext uri="{BB962C8B-B14F-4D97-AF65-F5344CB8AC3E}">
        <p14:creationId xmlns:p14="http://schemas.microsoft.com/office/powerpoint/2010/main" val="11262481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3A9AF-9344-4680-88B9-D39C1E9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12140-C99D-4624-A861-4E1DB5B3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5AB07-265F-4B8A-9BC4-3AC5FFCF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98D91-F02A-452D-89B5-7D22A7FA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FRONTLINE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EE0E4-A956-4FFF-A2AC-9182687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一线访谈：问真实动作和暗知识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D1C45-EFFD-4A04-AD21-0E5C1EC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一线员工知道系统外的真实工作方式。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D70E9-31C3-482F-8342-C2389380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2C74F-9239-4DD8-A4B6-773886CA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17EFC-B3D5-4A89-B15C-9B9DDC75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6DD8F-9CE7-48B8-816F-0C9B1DC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84110-27E9-4EE3-A9DA-EC82BBCE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D107D-6E91-4500-8F76-CD568898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7DAD7-BD61-4763-BBED-3D42EBB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每天重复什么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5744D-3919-4300-91BB-FB6A47FD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5FF93-8F4B-4DA2-8A0F-64C7C195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CAE06-363C-4F3F-9205-2C4966CB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668BD-5AFF-4D99-AE89-231400A6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最怕哪里出错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E228F-0855-467F-A4E1-F9B3B72A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63B8A-360B-4195-8492-6C91E1D2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3AC84-36F1-45D2-B742-99E52A7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12BE6-09FD-43EB-B985-F8BAA090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实际用哪些表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F1C93-210B-4B86-8CFF-0413882B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0B519-15F9-4346-BBFD-57A960D4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250C4-B08A-4E8B-8DE1-BD7667B2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D31E3-B622-4842-82AB-ADB8DE7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遇到异常找谁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E1569-0C7D-47E0-A2A2-96AE0DE3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1A3F5-7662-45B8-9A79-839AD0A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FDA3D-B18E-4609-831C-92689A0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6572A5-79D1-456B-A2E6-FC1B4441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有什么土办法</a:t>
            </a:r>
          </a:p>
        </p:txBody>
      </p:sp>
    </p:spTree>
    <p:extLst>
      <p:ext uri="{BB962C8B-B14F-4D97-AF65-F5344CB8AC3E}">
        <p14:creationId xmlns:p14="http://schemas.microsoft.com/office/powerpoint/2010/main" val="8057071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22902-10F7-4A14-9681-F797918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B0628-E7AA-45D8-9742-525E1989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C43EB-ECF5-4CDE-AE4D-F1AD0E55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541C8-3BE9-4840-B152-27175D0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IT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D8562-D7EA-43F3-A465-F3B76815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IT/数据访谈：问边界和接入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2F96F-1C27-4E1A-AA79-01C20FD7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如果没有系统边界，场景很容易从可部署变成空想。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64265-CF9D-4FBF-BE33-9C94D12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9C334-BED6-4775-9884-54D1247B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09DDF-2C7B-4CF5-B44C-65BB0AB5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E91EB-29C2-4AF3-96F6-87F7B72E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D2097-DD39-45B6-8ABB-F3539CC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2D302-2302-45AF-BF00-2671773A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1767F-14A7-417D-A1BF-CF58B4F2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能读什么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8A76E-1DFC-4C1E-AA6D-9F0A56F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B0B41-6B62-4AB8-85F2-C7AF5CE6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D6E9F-EF53-43E1-917E-8128147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83AD1-A41F-4FF8-9077-A9FEBA0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能写什么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EE50D-D549-49EB-B1A2-0B56542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AD6CA-DBA8-443B-97CD-FD98C09F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51733-D757-4C50-AEBC-CA0ABA04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C1A33-A38B-450A-8F37-D27E2672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权限怎么批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875E4-A98B-4493-82E4-DCA619A4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CE2A0-92BA-4FA3-B28C-BE08056F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C46BD-439E-4261-92CD-B9DA88C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2DC8D-7CB9-4ED8-B03D-B84438E7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日志怎么留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C071E-89DF-45C4-9C29-432A0865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8797E-0D72-487B-9733-CF86360E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70C51-A6AA-4EB4-8021-9629E873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79805-B63B-410A-A218-3B79F4C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哪些数据不能用</a:t>
            </a:r>
          </a:p>
        </p:txBody>
      </p:sp>
    </p:spTree>
    <p:extLst>
      <p:ext uri="{BB962C8B-B14F-4D97-AF65-F5344CB8AC3E}">
        <p14:creationId xmlns:p14="http://schemas.microsoft.com/office/powerpoint/2010/main" val="5683053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91B932-1A15-4C5C-9ADF-5E831D17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5BFC8-5BF8-408A-8771-6A64301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A00DB-EEC3-497E-A08F-E8B262D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5E68B-63F6-4A74-AEA2-4E05D5C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QUESTION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150C6-86D2-4655-8133-A2B4949C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访谈问题库：从开放问题到证据问题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98AD8-EB09-4393-BB7A-630CFEA6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优秀FDE会把对方的主观判断追问成可验证证据。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A1946-9656-48C3-976B-63787C6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80B11-5821-4CC0-BA2C-B737798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A176A-350B-400B-9212-21F6451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A834A-ADE1-4541-9FC9-AA8A250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E6C77-9AF9-4370-8256-D17804D0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C4FDF-94F1-4A69-B9E9-3576D75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8D610-6BE6-47DC-B0DF-37CD2184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FE2B3-7BB7-40DE-8B42-F6CC6C3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你觉得效率低在哪里？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10C21-BBA8-4AEB-9379-C401FE1C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请给我看最近3个样例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2536F-7439-46CD-9834-2205585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35D1D-A5A1-4BCC-B736-7B9E645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你们想自动化什么？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78F59-F516-4BE2-8D19-14C42EC9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目前人工每次要做哪些动作？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A2558-5EB0-428E-A70A-707A4CF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412C6-3A94-41E1-BB9C-B199066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这个流程重要吗？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DA227-F205-49C5-B5BA-20427AC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它影响哪个指标，当前基线是多少？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07CE9-EC72-4974-869F-E143F3F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7E5AD-5497-47C6-977B-78E1EAF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数据都有吗？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EE55D5-0714-405D-9ADB-D45B765A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在哪个系统，谁有权限导出？</a:t>
            </a:r>
          </a:p>
        </p:txBody>
      </p:sp>
    </p:spTree>
    <p:extLst>
      <p:ext uri="{BB962C8B-B14F-4D97-AF65-F5344CB8AC3E}">
        <p14:creationId xmlns:p14="http://schemas.microsoft.com/office/powerpoint/2010/main" val="7412386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6CA3C-61A6-43BF-A78D-D792839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802E7-9328-4816-A1AA-9D931D5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FF452-4F75-4BC9-B03E-975ADD4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A6419-1C39-4B92-9C2F-41166E81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ROLE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63CC8-9A7F-47C6-8246-FBC5DA6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角色扮演：10分钟访谈演练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ABEF9-6D79-4AAF-9ACC-392D2CD5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让学员第一次感受到：问法不同，得到的信息完全不同。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51E35-FFA1-4AA7-993A-C624968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31AA6-52F8-4144-AC5F-BD4A5172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CF609-F2CE-4C39-913C-4AA5F727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75A5A-D3B6-4F25-A758-2199D355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06A05-228D-4AF0-97FE-B9B56B27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61E95-FC5A-45C5-BC6A-1E556E5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68CAB-055F-4B79-A7CC-FBAB24A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E5340-7FCB-4556-973E-FDF961D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3A091-A6C5-4ADD-8209-A953CC93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89B88-D120-46D7-8E7F-8CA4D4DC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一人扮演业务主管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762FE-D7C8-4EAB-BDFA-63488B7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84CDC-1EED-4413-A347-AA981E3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19FFE-14E1-4EE2-8340-C9AFC46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一人扮演FDE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0815A-4325-42BC-B0A1-248892E3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7204C-50FC-4B34-90B7-4BD8C129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0D348-1D26-46A6-BDB0-2A73668D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三分钟开放访谈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7D3DB-BAE0-4E04-841A-F07BFD2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102962-AB2A-4244-9F66-86F52CE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E9C1D-6AA9-4603-832A-507530FE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五分钟证据追问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F6BC5-DDB3-4032-95CF-9BAFB3A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5244B1-C070-4B0F-85EA-6C5618D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73421-6342-44FD-A009-6A0D52AB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两分钟复盘</a:t>
            </a:r>
          </a:p>
        </p:txBody>
      </p:sp>
    </p:spTree>
    <p:extLst>
      <p:ext uri="{BB962C8B-B14F-4D97-AF65-F5344CB8AC3E}">
        <p14:creationId xmlns:p14="http://schemas.microsoft.com/office/powerpoint/2010/main" val="21064089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61867-36F3-446C-81F4-5711849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5FFB5-8E24-402D-A704-43C35058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56648-158F-4BC8-A60D-813FF70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A93F8-27E5-449F-B5DA-EC35935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流程拆解六格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59C6F-2512-47F9-AA63-07756105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流程图不是画线条，而是暴露AI部署条件。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5A83B-10FB-4C1E-8CC3-5D213ED2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0310D-EB37-4CC4-9505-A1C74BE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263D7-0BE6-4BE3-BBCA-4386094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CAAE7-60FA-4FCD-AFF9-E09ED801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72BC2-FE5E-4701-9AB5-175BC910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9F528-CEB8-4232-86FE-53CE9B2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F707D-33D6-4F51-ACE1-93C0ED85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91CB3-9A75-439D-9350-E681910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3DEF4-8C58-4051-AFD8-FDF4E3AD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CD2DA-1DD4-46DB-9266-1685D7B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2DD34-28FB-48F9-B604-4A4F65B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D9343-7168-416E-B512-0BAB7E5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</p:spTree>
    <p:extLst>
      <p:ext uri="{BB962C8B-B14F-4D97-AF65-F5344CB8AC3E}">
        <p14:creationId xmlns:p14="http://schemas.microsoft.com/office/powerpoint/2010/main" val="65196289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C2651-EA89-441F-9313-A103F432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CDC6A-E960-438A-A751-1FBB77D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34973-E15F-4449-B63D-DB2AF58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56AD-88D3-41FB-8D31-C36667B3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PROCESS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70376-527E-4A24-987C-C36A1AA6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六格模型：把任何流程拆成可诊断对象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332B4-4023-4B5F-8B0B-57F2522C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六格模型能让学员从“需求描述”进入“部署语言”。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0BD3A-950F-43B5-85D9-FCF1303C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C9E17-507F-4792-A33B-67181D95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F49C6-58BB-4AA8-8EB1-552F849D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ABBC0-1FD3-4CF1-A27A-591E05A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55222-E8A3-40C4-803F-236E510B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2A7EB-0058-4A7E-8F83-3BC3F1F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1A588-29EE-4470-ABEB-A431D090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谁在什么条件下启动流程？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B79BE-BE10-48FE-B6E0-02034FAC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3DD0-CBA8-4940-8121-E81B6EB6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67A60-A6F7-4D27-ACE3-ADAC2BF7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B12D6-D5A7-4639-9034-FD8440F6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需要哪些材料、字段、上下文？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2D09E-A69D-4ED2-A4E9-D2B8AAC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E8C64-59A0-4B6E-A29F-1818D9E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09AC1-8485-43A8-AC71-95880D2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8DA47-487F-4FDD-969C-2EF4C4AD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78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人实际做了哪些判断、查找、复制、沟通？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3CEFF-187C-43C3-9C2A-A2C3AC7F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7DB38-B6C8-45B3-95E7-698FDBC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BCA9D-E314-4648-A7E9-8F36880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66840-F6D8-44E7-8495-8DA1A094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数据在哪些工具/系统里流转？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5F3EC-C973-4C13-ABE9-83920CCB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87ABF-6088-43FD-9BF5-9BC335D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F676F-50C0-4B57-909C-89DE14F1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43B66-039E-494F-8EA8-EDDAD521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流程最终交付什么结果？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39B1D-B0E7-43FC-A09F-81157345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0B07B-44C0-49C9-822D-489C8E1C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9B27C-B9AB-441F-AA0C-9BA3EA7F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9BCCC-3F6E-4577-AF86-4F5F391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哪里出错、等待、返工、升级？</a:t>
            </a:r>
          </a:p>
        </p:txBody>
      </p:sp>
    </p:spTree>
    <p:extLst>
      <p:ext uri="{BB962C8B-B14F-4D97-AF65-F5344CB8AC3E}">
        <p14:creationId xmlns:p14="http://schemas.microsoft.com/office/powerpoint/2010/main" val="208445738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033E4-7330-4737-B253-D9131B64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4A0CB-8B2E-4C71-986E-6F8F3A6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0312B-DFAA-411E-8C9D-9DA8351A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09D47-02F3-44D8-9736-D9326C2B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CURRENT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E4647-058E-482F-9523-005F071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现状流程：先画人和系统怎么工作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B33AC-23EA-470F-A186-BD61525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FDE先画现状，不急着画AI，否则会把真实问题盖住。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FFFD1-0FCC-4472-A5C6-28325F87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AEE7F-74A4-4054-BB63-ED036886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752C0-B534-48FA-97D6-245E492B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63F6C-F9DB-40E3-9020-0931D37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F82E5-644E-44EA-9D42-0F752B73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87B7A-3E00-4391-AA03-D2D430A9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DB938-AB58-4E54-9D05-0B1CC7D9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CFAFE-9B06-4B0F-83EA-F42CB58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FD862-4D26-4679-944B-DAAF1CC1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15E57-85CD-4EA3-975A-7CA4752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2B8EC-FD64-4B0C-9C9E-681C57F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64809-40C6-4B44-8DA8-2CBD008E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D02D2-96BF-48BD-B456-9F2019C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45DDF-FB35-4973-A7FE-53A61D06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6E6D9-8C19-4258-A35B-9B8EF594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71F7F-DB81-46DB-852F-71FF9262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0D71E-DFA1-4FCE-89E0-070F97E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7C2A7-6B38-47C9-A6C3-AE79253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3B31B-B617-4511-95B9-1A02FA2D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0CA00-9A11-41F5-A0C9-46EF0452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异常/等待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553B4-B475-4816-A375-78FEEEA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8CFEFE-8B84-4A98-BBD9-94320F3B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FDE判断：这个流程是否有清晰输入、处理动作、输出和复盘指标。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34158172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4B862-24F0-4ABB-BB58-2515C5F2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80671-EC24-4A9C-94CC-D6E4457B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F06F0-5F11-437D-A953-FA1D73AD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E2117-3FEF-4535-9488-6A6BEDD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TARGET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A4D73-4BA9-4E86-A840-56B65A55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目标流程：再定义AI接管哪一段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0363D-79CB-4798-96D3-F49F7033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目标态必须说明AI读取什么、调用什么、输出什么、何时转人工。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84267-7A16-43BA-9B7D-59845236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E8A8F-9419-4B40-BB07-CFBF970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143B1-015F-4939-8ED4-9AD7946B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B620E-6FA3-47A8-B5C0-DEFC858A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745EF-8900-4A23-A1F2-3B83A7AD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33B98-E270-4152-9963-08571AC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F16D5-BD79-461E-991B-63873CE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5C3F0-FCFE-4CA0-B3F4-9AE40DE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EBF86-2879-4DF1-A178-357F16C4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985AA-72C5-4813-BF68-6C9D5CF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1AD1B-DF36-4C59-B6E0-7E7DAD27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5FE1B-2D82-4B23-AA1B-1499D72D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DDDBF-9167-4C6E-A9FA-EA47EF75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AD2A2-B1BA-45F6-A640-D3762849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4B58D-A031-4C86-91AE-FAED034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21CF8-F4DF-474F-A798-13727E7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CF66F-89FD-4803-86E9-BAB905BC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FD9E5-D71C-4A7D-9432-A6D4049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85DD5-02EC-4D09-B786-148EE56D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18841-5694-41A0-834B-6C233498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写回系统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3986F-611F-4E1E-808C-71CCB9B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8D0A4-6462-45FE-98FC-D5C9D30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FDE判断：这个流程是否有清晰输入、处理动作、输出和复盘指标。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126854074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117D3-D7B4-4B0D-9CCE-DA7A406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19FF9-941A-4B6C-A831-65E5A1B1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36AD4-E217-4220-8628-5433FDA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86243-2A85-42CE-9E90-DF01FB4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SALES CASE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64AFA-45F0-468B-827E-C4C5943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销售线索现状：问题藏在跟进链路里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B3090-DE11-4F62-9E52-B912478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销售AI化不能只做话术生成，先看线索从进入到成交的链路。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CE983-D778-4674-B071-0ED9BC6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E8D7B-F267-4142-8FAB-D797311C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77709-23C7-4250-A415-1B4AE4B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D9390-859E-4E9C-A5BE-C7E2BBC0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A8E6F-43A7-4472-8044-4D47692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1F9A3-7DB7-4C70-8A93-4E8932A9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70063-D287-4480-ABF5-5178E035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市场活动产生线索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BD1ED-9798-4694-A100-876ED4D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0D58D-D002-40E0-82CE-0D86F5A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销售手工判断意向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2E999-0DF7-4D09-9068-7A2974C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2E7EF-9509-4431-876B-270B5BCD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CRM记录不完整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332E5-FF1B-49FB-9616-DA8DDB1A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D2C06-4629-4BB0-9EBF-0AB3B5D3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主管每周追问进度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7E069-185A-4C3C-BABE-F38D2E02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DF181-9939-463C-9691-908C1EE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客户跟进节奏不一致</a:t>
            </a:r>
          </a:p>
        </p:txBody>
      </p:sp>
    </p:spTree>
    <p:extLst>
      <p:ext uri="{BB962C8B-B14F-4D97-AF65-F5344CB8AC3E}">
        <p14:creationId xmlns:p14="http://schemas.microsoft.com/office/powerpoint/2010/main" val="51538470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F7DE0-5ABD-429D-AF17-2BF90A0B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98FC-3DE4-431B-AE34-BA744FC0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5393C-839D-47D1-9956-BA30D523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6C09E-C735-4EEB-8A27-06BA3B28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SALES CASE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D705F-B491-49A0-98CD-40B4CF8B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销售线索目标态：从辅助写作到流程处理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65F9B-5B5E-43FC-B953-841BCF46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一个好的MVP可以先做线索摘要、优先级评分、跟进建议和CRM回填。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F16E4-09D0-4CE6-ACE2-3E7E706C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1DFC1-DC53-432D-A505-D94AD395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19DBF-5992-49B9-B57B-40CDF49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8F5C5-F360-48A5-9049-7F215FAA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5B1FE-7AF6-4DA4-9CEF-11C00EF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72F59-B406-4326-AF79-EB10B45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E1482-3A2B-4371-AAB2-7F705069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线索自动清洗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D813F-D626-4290-A08D-F534F8C7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24D85-3478-414D-A844-7FF0E0C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AI生成客户画像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6D4B9-35D2-48F0-B32E-19E34BF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3273F-0881-4D41-97BE-0BF75E4C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AI给出跟进优先级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44438-D90F-4F24-9276-12D9A7D9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3454A-190D-4F7E-B8E2-D3F25F26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销售确认后写回CRM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65029-5F14-4AFE-BE68-FA9B052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78B15-E8DE-4A2F-AF5D-7A33E079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主管看板复盘转化率</a:t>
            </a:r>
          </a:p>
        </p:txBody>
      </p:sp>
    </p:spTree>
    <p:extLst>
      <p:ext uri="{BB962C8B-B14F-4D97-AF65-F5344CB8AC3E}">
        <p14:creationId xmlns:p14="http://schemas.microsoft.com/office/powerpoint/2010/main" val="113827409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969F5B-AE22-4225-8D07-415292A4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34698-8559-41D2-8015-629D7233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C343A-F1A0-45BB-840E-230E709A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B2D7E-6505-4A98-ADA7-E6CCC1C8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1B172-0C36-4D28-BBCE-CA40F59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练习：把一个流程填进六格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8104C-9FD3-4D0D-9964-BD0C2DA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学员要把第1章带来的真实流程材料转成可诊断结构。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15F52-677B-426C-B292-57D475FC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87694-1089-4D8D-B665-1225F629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EAD78-843A-491B-8CC3-68F8D17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C0630-1C2B-4521-8BC6-B68CE5D4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044C8-7414-49F0-936A-8612F3E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BEFEB-8978-4130-B4A0-CEF7AB8B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E6B46-86D0-4CD9-9EF9-AC544848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8AF63-72E9-4032-80C3-7F72CD9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4BF0C-298D-4876-98DB-388EE0D3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FD9BD-5C7D-4FA3-916C-06CECB59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写出触发事件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ACBCC-D28B-426C-A691-DC6CE83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F0478-3C71-44C2-9886-5B2B8DB6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F83CE-BAE2-49DA-AB2E-F0D539A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列出输入材料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2BBEE-9FD8-45E8-9A02-B41A3BDE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CE6B3-4BE0-4E6E-A032-71E2DB16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0CD0E-3C4C-4EB2-A8AF-4EB2EF6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拆人工动作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53F8C-20C1-4993-8042-BEE15E8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F20B2-366C-478F-B4AD-B1E9E59A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12FE3-E349-481F-947A-B291448A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标系统位置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76F27-C824-4F1E-A648-57608948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F275D-7D19-4618-B561-571971B0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0035CB-6E8B-476B-960E-781D528C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CCC903-5A7E-40F9-9A3D-2BCD6732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99835-658D-4132-A499-030A1318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FE2D4F-304E-46AD-BCAC-E4840AA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圈出异常</a:t>
            </a:r>
          </a:p>
        </p:txBody>
      </p:sp>
    </p:spTree>
    <p:extLst>
      <p:ext uri="{BB962C8B-B14F-4D97-AF65-F5344CB8AC3E}">
        <p14:creationId xmlns:p14="http://schemas.microsoft.com/office/powerpoint/2010/main" val="90863407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785D5-BD33-4350-93C8-2ADBF76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8DE2-E13C-4745-9DE6-6D047FA4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7EB8D-49F5-411E-BAD6-306F8F3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DC4D5-0879-4BD5-89A5-976B47F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AI机会地图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8C4CB-9744-4BE8-A3B4-E22B673B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机会地图把大量需求归一到同一张可讨论的业务地图。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A739-1F2D-459D-909B-55A0DA1A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AE166-0A40-47A9-A6F6-11A0CFA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43383-EAF9-4611-B4ED-9C289911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00269-DBC3-454E-B7A5-3069CF5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57D74-F01B-4123-B249-140DD2C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6B8A6-E6A5-47BF-87E7-B9EB381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A0FA9-8246-4F1D-ABA9-A7E7C2CC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D84C7-4252-4805-9B7E-978E07B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E402F-725B-4C70-AF82-8094EC7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B5BDB-76CA-4DEA-BC29-8943F29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7C9E2-B3F1-4F0D-9B58-AC4A5422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2D5F1-E7ED-479C-BB54-A7AD809B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4361521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DE1EB0-D3B0-4AEC-9F8B-40B73A7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8D35D-634E-43F7-A36E-5D6C08CC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52875-8E02-4A0E-9424-3527306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19360-6E72-4391-96B9-3F6CF23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OPPORTUNITY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B2717-CBEF-44CF-B20F-0A801B76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AI机会地图六列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01937-8A94-406F-BD81-492BE6A7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客户会给出很多想法，FDE要把它们放到同一个比较框架里。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579E6-FAEE-4EDA-9494-1264E299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F86C7-8FFD-48C6-B4BD-7A0F75D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7528C-14CE-4AF6-9328-532AE31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8CA66-5CAE-4A4A-AAC7-B5976D87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6BDB7-4EC8-4C78-89E6-0DFF18C9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B2A97-473A-41E5-8F0A-6434ABB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B3472-49AA-424C-88AB-97F30EFE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46EA6-C66B-42F5-866D-3616C0A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岗位/角色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FA961-679F-49F3-99B2-A883DA2F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谁负责结果？谁真正操作？谁会抵触？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9D933-241F-4DE8-A278-1AF9B0E7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C7349-6224-4872-86A3-8B2A3012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DDB46-94F5-4373-9A77-371F51ED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具体是哪一步，不接受“整个部门都要AI化”。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34F78-6F94-42CE-909D-76388FD3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A2478-26E6-4D41-975C-D59FEF1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DE492-F2BC-438E-AD4C-5FD9B76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等待、重复、错误、风险、成本，哪一类最明显？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FA0E3-B22D-49D7-BB17-076D9FB2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76C40-F86B-4942-9629-F001E0E8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FA92D-929F-40FB-9241-24272BD1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AI需要哪些事实、样例、知识、状态和引用？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9B506-8875-406A-9749-30925931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F2010-2C51-48E5-B945-739E4BB8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工具/系统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ED3DA-6EC0-4533-AFB5-47DBE272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需要读写哪些系统？权限由谁批准？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D3AF9-8297-4551-A47B-7850157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8FF43-7F54-457A-AB2D-A1E075EC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F0DC16-3B24-4C2E-9750-C87EA020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成功后看什么数，当前基线是多少？</a:t>
            </a:r>
          </a:p>
        </p:txBody>
      </p:sp>
    </p:spTree>
    <p:extLst>
      <p:ext uri="{BB962C8B-B14F-4D97-AF65-F5344CB8AC3E}">
        <p14:creationId xmlns:p14="http://schemas.microsoft.com/office/powerpoint/2010/main" val="69925381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58A37-E6C4-4A83-9E59-3DBDB5D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8F328-B3D5-48FA-8311-528299D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1BC91-E884-412C-9703-79EF574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B7B43-9FC6-41C6-9168-4278CCCA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SCENARIO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C959D-9451-43BB-968D-0F453652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五类AI场景：不要混在一起评估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D8304-AB66-4498-9E8A-58EC85C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不同场景对应不同层级、风险和交付物，不能用同一套话术评估。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88D35-C14C-4686-ABC0-E6827D39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6D463-AC57-4899-96EE-1C1148D7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1F574-2FFB-490A-BC58-E90BACDC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2364D-B8C2-441D-B38C-91EEFFAD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E640C-30B7-4F4B-8742-C9233B50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效率增强型：L1-L2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16E73-BD62-4668-A066-543D7B0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CB13A-BF83-43F3-AF2D-CAEA779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知识问答型：L2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CA18C-798A-4AD1-AC10-E84CEE9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4702E-C364-469A-B3EB-DCDEC7F4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流程处理型：L3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BFD71-978A-401E-AABC-8B6798B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A0AA8-5EF3-4447-B85A-1B083D76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数字员工型：L4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C9BA3-A4D7-491D-9858-1176CF56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1505B-8AE6-4612-B3FE-8275A4C6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组织转型型：L5</a:t>
            </a:r>
          </a:p>
        </p:txBody>
      </p:sp>
    </p:spTree>
    <p:extLst>
      <p:ext uri="{BB962C8B-B14F-4D97-AF65-F5344CB8AC3E}">
        <p14:creationId xmlns:p14="http://schemas.microsoft.com/office/powerpoint/2010/main" val="4916437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63AB5-4385-45F7-82A6-A63BE7F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78A3C-230A-4770-A0C7-483C1FBE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D02D8-6F33-45F5-9834-B98ECDC8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4F826-F114-4CBA-BC9D-962186E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USE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04652-A3FB-47F6-9162-CFB99D2D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不同部门的典型机会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4188D-B4B9-4BB2-9D64-154BECB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这页帮助讲师快速调动学员经验，但不能停在清单上。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AF776-B386-4DA4-91E1-B97B7FA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A6355-0632-4133-AAFB-C9815BF6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D585F-337C-4D2B-A43D-7D7DA609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26937-6CEC-4BD9-99AD-8A1B0FA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D7ABC-D6FC-47C5-85B9-7B1C46FF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0FBD4-FAA4-4162-A01A-F80B8F3E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59CEA-45A7-4E3F-885D-B83D46D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5D0F8-4954-410A-836D-D37A66F5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2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销售：线索评分、客户画像、话术生成、CRM补全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3E13D-C754-4A9D-9952-EE8C250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每个分数都有样例、数据、权限或指标作为证据。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9DBF3-E593-4524-AD01-9685F78D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0BAA4-9303-4BD3-A26F-6AD6126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660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客服：知识问答、工单分流、投诉升级、质检总结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D96B9-DC6F-45D4-89D9-D6BCC2E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把抽象描述追问成样例、数据、系统和指标。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90DAD-5BFA-49D9-80F5-0802C802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AA060-CD4B-44D1-A9D3-9323F9BE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8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HR：JD生成、简历初筛、制度问答、培训助手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E9534-4F66-418E-A219-37AB498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把抽象描述追问成样例、数据、系统和指标。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88E26-7142-483D-8E57-1F0D1D4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3382C-B4A8-4A3B-962A-2531E535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660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财务：报销初审、合同抽取、预算说明、异常提醒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58C83-FA8A-4CDF-BBEC-F5DEA24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把抽象描述追问成样例、数据、系统和指标。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9F5AD-41BD-4EE0-B359-77AE14F8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25F6E-3A12-442E-ABBA-77AFBB4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94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研发：需求澄清、代码解释、测试生成、变更影响分析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B51FC-3674-42C0-A5DC-F6B3ECD3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把抽象描述追问成样例、数据、系统和指标。</a:t>
            </a:r>
          </a:p>
        </p:txBody>
      </p:sp>
    </p:spTree>
    <p:extLst>
      <p:ext uri="{BB962C8B-B14F-4D97-AF65-F5344CB8AC3E}">
        <p14:creationId xmlns:p14="http://schemas.microsoft.com/office/powerpoint/2010/main" val="195450822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8841D-CE2F-40BB-99A9-2B05D06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6328D-DEFB-4D6B-A6CC-1C0576EA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D024-D302-4896-A5E5-BA6F4D7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4EFC7-2387-4F1B-B22F-D1DE53EE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FROM IDEAS TO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D8FB8-F1DE-43E0-BD83-D278F02F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把“想法池”整理成“机会地图”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D85E0-2785-4F5C-ADC4-D8B688A9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FDE要把零散需求归并、去重、拆分，再进入评分。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2A906-FCB1-4C3A-AAFE-FB770B92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C6133-48AB-4021-9A64-79783C35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6F1E1-25E3-4273-8110-F4106A19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C4010-A613-4DFE-A6FD-C2B8763B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E0AD6-C35B-4CAE-8F20-78B3849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EBB55-112A-4A79-979C-ABAA39C7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D07B8-EEEF-4981-B9CD-6202A9B3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0191B-7D2A-4283-A185-B015A44C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EB4FE-317C-47FC-84D4-CE68CD06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D6FDF-6C3C-40F6-B16F-A79AA95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C4685-128B-4AEB-BCF7-22AC15F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归并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2A209-8BDD-4421-AE1A-3DCA175E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A704A-4924-4DF3-98F5-B093A37D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14C68-2803-443C-95CF-B3A6F28C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0FE82-1484-4C38-B217-491CFF9D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拆分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23E5B-E53E-48EF-8B60-70B9646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4C38A-077D-4AF7-925F-5A5BF77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96B7A-92A4-4FED-985A-25DB4D31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78380-B414-400B-80C9-17B46749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证据补齐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C3AC5-9FD2-4D27-A86C-67FFE35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5266A-E194-417B-B8BD-C5C675B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766DC-AC26-4552-BF4C-8D49017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CE4F2A-3902-4E2A-AEB2-7EC50200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进入评分</a:t>
            </a:r>
          </a:p>
        </p:txBody>
      </p:sp>
    </p:spTree>
    <p:extLst>
      <p:ext uri="{BB962C8B-B14F-4D97-AF65-F5344CB8AC3E}">
        <p14:creationId xmlns:p14="http://schemas.microsoft.com/office/powerpoint/2010/main" val="130420210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BC23E3-8800-49FF-81AF-DA729383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54B2F-901F-4694-A5C9-62C17BA2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9FF42-EE52-4CBF-9AA6-CE2A426C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0F63B-CCF4-46E8-91B0-2D41F3DB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MAP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42D72-1539-44BB-AF37-8DCE895A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练习：每组列出10个AI机会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30E1F-FA6B-4591-BCDF-F270FD1B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先发散，再收敛。不要一开始就争论哪个最好。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C348F-A396-46FA-A750-397C76CC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A2569-5ADB-4A6D-86FA-FD3E01A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855F9-0CE6-4905-A9AE-3C44384E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B255B-F01A-4063-B8D2-D771361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4E733-A7BB-469B-90A8-4DB74CA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D1F12-E54B-4FE4-9631-EC9240C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E2937-8496-41CA-BF0E-FF6F729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2A73B-3A9F-4B16-8F61-B86ACF89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C890A-279F-48F7-8836-ECA8D6E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77A10-DDA8-4B42-8401-E2BE9E0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每人写3个痛点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F20A6-03D5-4EDC-AB51-446ED4D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0C659-A063-4B30-8EE2-3B22E0E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0037B-BCFF-4B1A-B4AA-4BE2EB99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合并同类项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281F2-1CA6-4EB8-AC1F-19370C85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278A0-DE93-44D4-B2DC-F8014E4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AC600-6714-4DA1-B3B5-2B7FF6C2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标岗位和流程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AA249-B267-461B-8C48-641B3B6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C5033-7DD3-40D6-B871-794E2CA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0F1F9-95E4-461C-AF8B-FC667A89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补数据/系统证据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4CFC5-375F-4E2B-AB35-7E51EE6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69977-0A3C-428A-9247-8F895B2D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53F93-795E-4918-B9A1-1DC80FD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选5个进入评分</a:t>
            </a:r>
          </a:p>
        </p:txBody>
      </p:sp>
    </p:spTree>
    <p:extLst>
      <p:ext uri="{BB962C8B-B14F-4D97-AF65-F5344CB8AC3E}">
        <p14:creationId xmlns:p14="http://schemas.microsoft.com/office/powerpoint/2010/main" val="43013024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1FA9A2-50A7-47B1-9F90-B3889BA9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F2197-2D1F-4932-95BD-0957DFB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A1FC2-D8C7-4A1C-9B73-5EAFFC1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966BD-0D5F-4359-80C0-805B1756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FDE-SCORE场景评分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232FE-167D-4F7B-A8AA-4DBE7A3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场景筛选不是拍脑袋，而是建立优先级证据。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5CCBB-DADA-40F0-88A6-13FB6EF7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0D96C-8AE8-4EBF-A27B-017FBA34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C714-7AD5-44CA-911F-90A9D9C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8E40A-6CB9-48A5-A64F-FF382567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6D198-D6C5-4EC8-BEB5-1D7BE7D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13512-210B-4CC7-B33E-84F90AC3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D64FE-4430-43FE-B611-F071A837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9F44E-16D1-444E-9AA0-3B27202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BDF73-E99D-4F9B-9191-3CDB2024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35691-37A6-48DF-9F5A-06C129F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F1741-1A55-41B5-A1DC-11417968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74186-9DF4-40DD-A323-B03C9B83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Time-to-value</a:t>
            </a:r>
          </a:p>
        </p:txBody>
      </p:sp>
    </p:spTree>
    <p:extLst>
      <p:ext uri="{BB962C8B-B14F-4D97-AF65-F5344CB8AC3E}">
        <p14:creationId xmlns:p14="http://schemas.microsoft.com/office/powerpoint/2010/main" val="90041184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0FF1E5-0610-44A9-97D2-5A9D0A4D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0A1D3-0406-4DFB-AA14-7B318A8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89613-2919-465F-8713-AFFE2B6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62009-75D2-43D0-BCEF-9D93182E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FDE-SCORE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CA587-C790-4D4C-B4F3-DC4A5223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六因子评分：筛出第一批MVP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6D163-043A-4863-813F-65236942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高分场景不是最酷，而是价值明确、数据可得、风险可控、见效快。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A170B-CB6D-4850-A6D6-996B9B8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B6F47-C151-4CD8-9DB7-275FF23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E7CE9-4856-40C3-8452-A873053B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17CFF-CAB6-4523-B214-C305633A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2B116-3AF5-4F1F-BDCD-7A2460C9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Value 业务价值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49BEB-2596-4A3C-A421-737811A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是否直连收入、成本、效率、风险或客户体验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FDF89-88DB-415D-97FE-9CC47B5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9DC48-EF00-4AEE-9CF6-30CB6275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Frequency 频次规模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6CB0F-0AC7-4584-B02B-BDF1903A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流程发生频率和涉及人员规模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A750-C062-4F99-B9AC-D89DA3E8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91CC4-8EA3-4396-99E8-83F2D3C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Data 数据可得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23C03-AB2A-4D58-A92B-A9D17D5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上下文材料、历史样本、结构化数据是否可取得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EC494-057F-4143-96AD-EB7BA34F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7EDB6-4643-4AC4-B4A4-08EDE23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Execution 可执行性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31AC3-AB64-4EB8-98EF-2D5B2078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工具/API/权限/流程Owner是否具备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55FD8-57FC-4A86-886A-995C16E7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44035-5FCC-4F90-B5BE-7EEF310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Safety 风险可控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2BBD1-AE3F-4F4C-8584-3CA7850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错误后果、人工接管、审计和合规边界是否清楚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70F70-55F6-4969-BFAC-89224E6E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DEA80-4985-4D2C-9A63-A2BBB2AC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Time-to-value 见效周期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CCB95-E7A5-4DDC-AE92-45EB1C3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能否在4-8周做出可演示、可度量的最小闭环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D1218-93C7-4133-B132-EB7F7DE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467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评分必须写证据：不能只填数字。</a:t>
            </a:r>
          </a:p>
        </p:txBody>
      </p:sp>
    </p:spTree>
    <p:extLst>
      <p:ext uri="{BB962C8B-B14F-4D97-AF65-F5344CB8AC3E}">
        <p14:creationId xmlns:p14="http://schemas.microsoft.com/office/powerpoint/2010/main" val="174803699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EB23F-7EDA-4578-A696-25B9AEC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482A3-ABF4-42C5-AFE6-F7B8B269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D9CF8-0C7B-4A6F-BAE6-6F657D6E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323E-14AF-4C3B-83EE-BBA6B7D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E7CE4-6DB6-4558-A1CF-A126474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Value：业务价值要直连指标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E4F17-214E-4E4A-B9F5-A45CC141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价值不能只写提升效率，要说明影响哪类业务指标。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C85A8-D45B-41ED-9789-E363677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1E00D-A4D2-453B-863F-6F14B2D0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50BAE-7F98-49A5-BE5F-B1811912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500FE-5B6F-4C53-83A7-6D4CAB9C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C0297-B013-4ABD-8238-A81BBC2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AFB88-DC67-4787-981B-F07CC35D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42F20-EFE5-4C23-925F-7587C072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收入增长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0AFBC-39DA-4796-A800-E583657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E8142-8466-4805-8559-486939E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6FE5B-454F-47B0-A6C3-F203EF2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C53AE-4C1D-42EC-9875-06714C0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成本下降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D4502-801B-439E-B3CF-74864205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58326-24D2-4C3C-A4C6-75E89DC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27766-794F-4FE2-9333-1EF697B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21A9C-9BC5-4536-B568-471A85D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周期缩短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B30F2-9F58-4461-9417-4BA1ED0A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2276C-0E4F-48EA-9922-88BB44E1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F171F-0570-4504-9DED-9752553F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6E28E-746C-4DAC-B5B4-4D04AA39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风险降低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4BFAE-F553-451B-8610-047468C3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4F2BB-F2CF-45FD-ABBF-CEE4CF2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84100-44F5-4CC2-B376-162FAB12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6D1D6-E333-4BDE-BBC0-B509B815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体验提升</a:t>
            </a:r>
          </a:p>
        </p:txBody>
      </p:sp>
    </p:spTree>
    <p:extLst>
      <p:ext uri="{BB962C8B-B14F-4D97-AF65-F5344CB8AC3E}">
        <p14:creationId xmlns:p14="http://schemas.microsoft.com/office/powerpoint/2010/main" val="69886436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610E1C-766C-4AB1-B662-2FD3543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31E6D-699A-4D1E-974E-4A1B7CDF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80E3F-B574-4CE3-9B67-66D4BF4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3DC9-FC94-4F79-ACEF-6545A03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FREQUENCY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C4FA3-DE94-4319-A0A5-5BCD744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Frequency：频次决定ROI速度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A0938-D6E7-4590-9618-FA3581DA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低频高价值也可以做，但训练营第一批场景优先选高频可复盘。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2E4A-E790-4836-984B-2B387C3C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7219C-C6F8-4F38-B25B-F29499D8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69601-97CD-4DDD-A63D-F8D350A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4E50A-7478-4724-9923-F722CDC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70D25-F35D-4734-855F-B040BE47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B56A2-C919-4CBD-90A9-897BECE6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EA4D3-7D8B-48BF-96C0-93B3D3F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日常高频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03217-DE04-4208-8EFA-AD6B786F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CA0D2-4CB3-4281-BC08-E7A33332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EDFA3-0DC9-4FA1-890B-DAF0FC6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9DD4C-DEC8-4C64-8713-24C61ED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5270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多人参与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08310-3F51-4969-B6E5-84AF9246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2CBF3-2EE3-4F99-BB3E-AC9F1D8A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645CA-C540-4356-8518-287366E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8EE0E-EDCB-43E4-AA06-6D92719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重复规则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2634E-1F99-47BB-9C3E-CE61BFB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52101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19247-38D7-4794-9BBF-87EC49C0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3B092-3173-4481-8419-42914EE3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9D4B9-1791-466B-BA67-07406E0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19550"/>
            <a:ext cx="427672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样本充足</a:t>
            </a:r>
          </a:p>
        </p:txBody>
      </p:sp>
    </p:spTree>
    <p:extLst>
      <p:ext uri="{BB962C8B-B14F-4D97-AF65-F5344CB8AC3E}">
        <p14:creationId xmlns:p14="http://schemas.microsoft.com/office/powerpoint/2010/main" val="95653169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304A4-C12D-4773-8A95-D891289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A7F6D-9CB1-4CF7-B0E2-8A145500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4EA2C-5A65-436D-A555-F93B3C8B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0D1EC-3494-4C34-9C39-704AD1EF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BAC06-EBD9-4694-AEB9-2CE5986B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Data：上下文材料决定可用性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33241-81EC-484D-8D51-9996FB9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没有上下文材料，模型只能凭常识回答，企业项目会失真。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46C30-0165-467F-89C3-F3E44FE2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ACFC0-2BD1-4799-AFCA-FC228022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510B9-D3CD-4E1E-B547-93B3F08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10F1E-F1B8-4777-907A-6BDC9B78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968B9-4155-4EA3-AE5C-6EB72FEE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9467E-C035-4AE6-9DE2-AFED4BF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9A03F-BEDC-4DA1-B6C5-258B29BD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76573-277E-489C-B17E-CD1EB601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15D3B-3FCC-477F-B5EC-54D26421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B60C0-4F51-45F3-845E-486AE1DE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A5F0F-D508-431C-B218-C314D23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知识文档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4CDA6-93ED-418D-846C-DBF6A543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DA2F4-27C5-4598-8801-4CD5E5A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60B9A-6C98-47A7-8B27-8D5B11F8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D52D0-5CD2-4AAD-AC69-E53ACF55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结构化字段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4F018-C37D-4453-A05B-B6D49BD1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E066E-41B8-4CB2-BD10-5E32674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C8FFC-CEF8-4E7E-8EDA-9934BB9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A5713-CA43-48DC-BD0D-062F6FE9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0D89D-6627-4722-AEB4-DA1EB98D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4CF97-D124-4A4B-BB05-13FC9E7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3EDD9-E6AA-4EF2-8B41-0494DFA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985A26-645F-49EE-98EB-3D946457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更新机制</a:t>
            </a:r>
          </a:p>
        </p:txBody>
      </p:sp>
    </p:spTree>
    <p:extLst>
      <p:ext uri="{BB962C8B-B14F-4D97-AF65-F5344CB8AC3E}">
        <p14:creationId xmlns:p14="http://schemas.microsoft.com/office/powerpoint/2010/main" val="95046151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E623F-E3D6-4F0C-9CB5-14F75184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D9AE9-6ED1-4DEF-937A-C4F8107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5C46F-15C8-44DF-A06C-EC12E5D4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69F8C-44F9-4CAF-BBF1-0CF90DD5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C5CFB-D9A3-4A6D-ABED-1DE0292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Execution：接入条件决定能否部署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19AAB-BD1D-46FD-8A91-F1B814C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如果工具、权限、Owner都没有，场景再有价值也要降级。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D6580-E344-4AC2-A1E9-C3BD3564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57EFC-487D-4A0E-9B1C-D2391446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E6315-6990-4CBE-9F67-C8C8D0EC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0106C-28F0-48E1-B2EA-4D35C5CA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56B6E-BAA1-45B9-9A2B-CF8688F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F0ECC-C886-4329-BB27-DCDC12F2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55A04-B5D1-4AA5-95D1-51EE27D9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系统可读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DAA87-34EE-4071-A2BC-46078DB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8AFED-4B53-4F75-A18F-D210FA6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A8284-F6A2-4CD5-BF80-3FA6D08A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6B780-7A48-456F-9E2A-17B494CC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系统可写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3F213-7E4A-43D7-811A-8AC8902A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1C4C9-DAA2-43DD-807E-F2713B3D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BECDF-F10F-4055-BB6B-A91B2144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A9B2F-552A-4603-B225-20878D6C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权限可批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2EC17-8BBE-4CC4-8709-64A3367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EAC4E-AA3E-47DF-B714-BE30E50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7BD7D-195F-457E-A1AE-E84F323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AAF19-A360-4F8E-9C79-6C109140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有人维护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080DB-F406-4DFA-95D0-E555B7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24475-6C72-42AB-84C3-3C297550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7CC63-E99F-411D-A35B-5296C32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7C975-ABD2-43B2-AC08-67175FA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流程可改</a:t>
            </a:r>
          </a:p>
        </p:txBody>
      </p:sp>
    </p:spTree>
    <p:extLst>
      <p:ext uri="{BB962C8B-B14F-4D97-AF65-F5344CB8AC3E}">
        <p14:creationId xmlns:p14="http://schemas.microsoft.com/office/powerpoint/2010/main" val="185032035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C2D89-E006-49A5-BD17-A00D62D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C4132-32A4-49CD-BA8E-EDE38DDF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A6DBD-BF76-4F8C-B579-6FDE2828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84C52-BA9B-4013-9FB4-D0B691F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0A9D8-E770-449F-B73E-43A4E684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Safety：风险决定自动化边界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E54C-BDC7-4205-AEE7-B40C332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风险越高，越要采用人审、灰度、审计和规则校验。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DC012-7187-4EC3-91B0-1AE07B0D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9738E-469E-46D7-BC36-E3B2B81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70136-73E2-44DB-972E-460B19E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3BB4C-1D48-4367-8C97-9828955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0634C-9591-42BD-8E57-35F1637F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35442-2F37-4D82-99D9-93602BE0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3B0E5-6ED8-47F4-9C8D-3C7E3005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错误后果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E0DF4-366C-40E1-9C90-4D052560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0267B-E399-44D3-A9A1-575C4A5F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5C4A6-B5CE-419D-918F-C2BAD1E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74739-29A3-4617-8C25-35EFE40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3F6FA-5EE1-415D-80C4-3317607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2913B-902F-4BF4-AA5A-626C192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F1457-BE37-457B-B89D-EC730B2F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11B9B-EF5A-4C63-AE50-D85BB439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3AEDE-0EDA-4391-998E-714401DE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115BF-8A61-4E11-95CD-67794FC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01D5B-0E83-4320-979C-F4F0B1B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3A459-4CE7-495B-886D-03A67735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CB97A-89FA-4D35-99FE-A4AD8B0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E0729-620E-4C99-B14C-0DDFB6A6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994D6-FD0F-49B0-9FF3-23518898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AD118-572E-444B-9E4D-42357AE9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回滚机制</a:t>
            </a:r>
          </a:p>
        </p:txBody>
      </p:sp>
    </p:spTree>
    <p:extLst>
      <p:ext uri="{BB962C8B-B14F-4D97-AF65-F5344CB8AC3E}">
        <p14:creationId xmlns:p14="http://schemas.microsoft.com/office/powerpoint/2010/main" val="158074292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92EC4-6860-452A-8314-E6246D6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031BA-F8B8-4319-B3A7-0A8D83C4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6B1CC-7495-45A7-BDFC-103D0A12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2778D-AB21-4280-9212-3DFED12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9C19A-D072-47B9-8D52-63795C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Time-to-value：先赢一个小闭环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27A07-176E-4EDE-98CB-B0D5511D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FDE第一战要选择能在4-8周证明价值的场景。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A8F38-7894-4F27-9E78-A1D2B53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B6BF0-BAFB-499A-BA27-2AC16C75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AC67E-C7F5-4E8B-86E6-BF18731D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40BD4-2D21-489A-923B-F0449E4B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81B5D-5BF5-4E7A-83B8-855ADFB2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9267B-1A82-46F5-BB1C-8459EC0A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8DC7A-C34C-4D7A-94BE-0EF3A15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两周原型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52B4E-6731-4418-A0C1-4A3D63C3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3965D-5EB0-46EE-8070-2DE497A0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DEAF4-63C9-4AA1-A7B3-74B175B9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FEE8B-630A-46C3-8FCE-061172A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四周灰度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2349D-F200-4202-8E04-B8101C5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A07FC-0EDE-407E-8A94-05555C66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F3388-EA34-4037-8AA4-35C2D48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1E095-DAD9-4BBE-AD0B-A041714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八周复盘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0D6E6-FA62-472E-BB94-00AED97C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CEA05-1F6F-4A18-9F55-B53BFC4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24C5A-1F2F-45C8-9B54-1CE20A8F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01061-6D5C-406A-9A3E-0878789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有基线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C03C7-9DFE-48A1-8F94-ACBD82C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452AD-E437-45B5-9ABE-D9EF16FC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A09D5-6881-4AE7-92C0-62E7C37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D5AA6-FDB3-4AC0-8684-55C452A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有看板</a:t>
            </a:r>
          </a:p>
        </p:txBody>
      </p:sp>
    </p:spTree>
    <p:extLst>
      <p:ext uri="{BB962C8B-B14F-4D97-AF65-F5344CB8AC3E}">
        <p14:creationId xmlns:p14="http://schemas.microsoft.com/office/powerpoint/2010/main" val="158544969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6B0A4D-0014-479C-A99B-90970687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E8A84-83E4-40B9-8C2E-A88C635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14CEC-F2DA-4C4B-8792-34C33366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C4F83-CE51-4258-A658-814C8EF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PRIORITY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6D1F0-CA35-4A6F-B3AB-3725A93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优先级矩阵：高价值 × 高可行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607D1-AD74-4F8C-9843-06B04A0C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先做右上角，再培养中长期项目；低价值低可行直接放弃。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49504-833F-4B30-8F4B-3536D322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0DBD7-7C03-44BA-B2F8-07B3EDB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22395-50BF-4EEA-AC6E-C90B2894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F62DC-1775-43B3-BE0F-EC464BA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D7D67-96AB-40E8-95CE-A512385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高价值高可行：第一批MVP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79A0D-7F86-40EC-AD6F-28E832BD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8E81D-FC2B-4EC7-BEF9-FB729F8D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高价值低可行：补数据/系统后再做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9F364-F04C-41F0-B83D-11883AC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B26B2-6B27-4D94-94F6-8E2C42F4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低价值高可行：作为培训或工具增强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8B462-8515-4506-BC43-D7A8E69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52197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948C9-5462-4C30-A41D-388D76CB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925"/>
            <a:ext cx="48006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低价值低可行：暂不推进</a:t>
            </a:r>
          </a:p>
        </p:txBody>
      </p:sp>
    </p:spTree>
    <p:extLst>
      <p:ext uri="{BB962C8B-B14F-4D97-AF65-F5344CB8AC3E}">
        <p14:creationId xmlns:p14="http://schemas.microsoft.com/office/powerpoint/2010/main" val="200212043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A6CCE-6E98-454D-96D8-14D7DB4A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FF4D5-CF8B-4F2D-A79B-9903361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6BCD5-C05F-4BB8-9260-D94CC536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DEAE2-0BD7-437A-8540-EBA77152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SCORING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CD7D3-BA53-43AE-A347-38AEC2B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案例评分：销售线索跟进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06937-CFD4-400A-B0E7-73AE821A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示范如何给一个真实场景打分，而不是只讲评分表。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A7B6A-FB1C-4BBA-9ABC-DBE25A3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F671-716F-4C1B-A38A-71880AFD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530C-E1B4-494A-8071-99ABD83E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18A93-6F5F-418B-9A8F-1FD58060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A66A-0C13-4C12-88AA-DCF602F4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F393E-1912-420D-8428-76697256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14C1A-10F6-4DEC-99B1-F9902D82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Value=4：影响转化率和销售效率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B5FB6-40CD-4858-87F6-74F34FA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49041-3D01-47EC-AB69-C948F81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Frequency=5：每天产生新线索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2938D-14F6-4B03-AB4E-CE6E2360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16CE6-ED25-4DA6-967D-61944E75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Data=3：CRM有数据但记录不完整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9408C-6243-4DC3-B633-A328F888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20E2A-310A-4B2B-9594-AF4B9B31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Execution=3：可半自动写回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DDA1A-E575-4BE2-96E0-5D3C1047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389BE-20CB-47CE-B3BA-4A8AA29E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Safety=4：人审后触达客户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36AE6-E0CF-470D-83C0-2BF1B389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82B22-4E4E-4EEB-884B-9B84312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Time=4：四周可灰度</a:t>
            </a:r>
          </a:p>
        </p:txBody>
      </p:sp>
    </p:spTree>
    <p:extLst>
      <p:ext uri="{BB962C8B-B14F-4D97-AF65-F5344CB8AC3E}">
        <p14:creationId xmlns:p14="http://schemas.microsoft.com/office/powerpoint/2010/main" val="76222848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25501-B048-452A-A800-9635D3E5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5D77C-9097-4C7C-AAE8-4FF22BD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9253D-2015-4F1B-BABB-CFD9CE9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D014A-35A3-45DB-9401-252AA85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SCORING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03417-EC14-4F42-A23B-FEC29F1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练习：给5个机会打分并排序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511F2-28B1-4935-BCA1-136B31F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让学员体验从想法池到MVP优先级的收敛过程。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CD12-B371-4F50-86DB-0F10509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E355D-E862-45C7-82C1-FADE7A0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033DF-8FBB-4301-B54A-F48228A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场景评分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FED6D-DE42-4C4B-AEDD-9482525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C151B-B952-4A41-A10E-2EFB5A8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1F29F-92A2-49C6-81AF-69E73DC0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BBA8B-2B40-4D6B-ADB2-010A9E6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049DD-14E0-46B1-9518-A02AE9D9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4AA4B-9530-4F4F-B5DD-3833CE5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FF93B-56ED-4BD9-B524-C387E12C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选择5个机会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31BE7-E751-4997-91E3-58D6B6AD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95CE6-BF9E-4D93-A8B6-93DAED08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DAEE9-FAD3-4F2A-BE40-56AE87E6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六因子1-5分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76F9B-A9AF-422F-B71F-28F46398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D40EA-1D9F-46CB-BCEF-A0D6270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EED32-FD33-4C91-9E9F-CA1C693C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写出评分证据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EB9C5-1395-4075-B8B2-5809BD4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7D1DF-729D-40A4-8D30-EE4F4AC6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6BD91-090E-4062-9EA1-920D9F6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选出第一批MVP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C0981-F43F-4560-B771-0FA97003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07AD2-155A-4980-AB09-C253F392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C0D78-DB76-4B46-856B-B4A8CA1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说明为什么不是另一个</a:t>
            </a:r>
          </a:p>
        </p:txBody>
      </p:sp>
    </p:spTree>
    <p:extLst>
      <p:ext uri="{BB962C8B-B14F-4D97-AF65-F5344CB8AC3E}">
        <p14:creationId xmlns:p14="http://schemas.microsoft.com/office/powerpoint/2010/main" val="14580317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086B8-4582-4F2F-9730-5AEB63F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84FA2-F87E-4E64-BC24-082CE5A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D2B76-DBAD-4BD4-8840-F875B13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DF907-4351-4A7D-BC2F-F108FDFA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数据、系统、权限与风险盘点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78BC-5DAF-4FB8-8EC0-5BBB59A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场景进入部署前，必须过生产可行性检查。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0F718-594D-4E2A-A212-35DE7F3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FA3AA-A6A3-43AD-B558-F5B8D762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53718-AFB8-4DC8-888A-3C8869F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9B668-F82C-4A7B-8123-1201F490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B0A85-A603-439A-B908-A3E3B89C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E09DE-223E-4BFA-96ED-45EF0DB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06D4F-18C5-4B12-824D-1A9C0F4E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92FE6-3E90-47D8-B4D2-E965D3F2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</p:spTree>
    <p:extLst>
      <p:ext uri="{BB962C8B-B14F-4D97-AF65-F5344CB8AC3E}">
        <p14:creationId xmlns:p14="http://schemas.microsoft.com/office/powerpoint/2010/main" val="49821451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11D97-3A43-42D5-8CE1-6EB27A4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27CEC-67B9-4974-8E64-DE84B13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E94A5-EC0D-4EF7-B154-41AC27A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4A718-EF2F-4283-8537-B7589C68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DATA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AB98B-229E-4FA6-A5BB-1DCFBDC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数据盘点：不是有没有数据，而是能不能用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2021D-57D9-485E-8103-AF1738B4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FDE要判断数据是否可取、可信、可更新、可引用。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01FF9-ABBB-4243-908A-C3458BAA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70DC7-BF9E-4511-901C-4273843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2054D-8367-4E77-AFB6-9BD25014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盘点治理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001C1-1334-41D3-A973-1992F6C0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2F4FC-97D9-4450-8870-ED410D9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BB61F-22B9-4D01-A64A-7E3EE68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B6A96-D2E4-423A-B40F-D273507D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06A5B-6328-4A23-9E54-47EA6D66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E1E20-E013-47E3-96E9-D708088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47F45-9E9C-40F8-92E2-F3E5A9E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B2A6F-FAE4-40D6-9D5C-C5C062C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A5BF1-C733-488F-BB4F-2157698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CD088-74F7-4FED-BF1C-0FFA926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9DA60-3BB3-421C-9184-B858A31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1C464-292B-4914-9051-F34954F3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C41CC-E462-441F-A57B-F87DC87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329EB-79E1-4B5B-A072-66DC2EA9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31521-F52B-4E2C-A9EB-3EAF075D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B8F58-1B8D-4B08-807B-02808043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频率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A8F57-72DE-4B03-AB4D-8B4A3B78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3A246-85CE-42B2-BE2F-AADE151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CB7650-07C3-4CD6-B175-3DFCA456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745F4-00FA-4680-AA34-94ECBC9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16316B-A509-40B6-BDFF-C30130C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3866E-1116-475B-B402-51375E68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C2ABE-77BB-4A52-896B-171E8F0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92DE73-91A1-4EFF-AE3A-029C12E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</p:spTree>
    <p:extLst>
      <p:ext uri="{BB962C8B-B14F-4D97-AF65-F5344CB8AC3E}">
        <p14:creationId xmlns:p14="http://schemas.microsoft.com/office/powerpoint/2010/main" val="323103756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0ECC16-2DBC-4303-AE9E-973BE57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A06C3-EDE4-4A35-8E9A-B365C485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3183C-D95B-496E-8946-8BCE050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C6971-2304-4737-9D18-B9535DC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SYSTEM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06974-1397-4BE2-BE57-4BB67C54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系统盘点：AI能否进入流程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13D3B-91A0-4C2D-9FC7-85A47D1E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无法接入系统的场景，通常只能停留在助手或工具增强。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7771F-F226-41B4-971D-729F879C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5446C-1905-4077-A527-92564E1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FF8E4-24F5-4374-A2CB-8BA1800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盘点治理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6B9C9-00CF-4FD5-8609-B0C78C2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FA824-DC91-44EC-AD48-BA42C4A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FE075-F860-4C56-95F1-E23CB07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8763F-8DD1-4717-9EDC-8362BAD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读数据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E3E09-387D-496E-A430-3B64BBE3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68FF4-0BCE-44EB-8198-B1462278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D651E-244D-4F8A-A04F-7D9558F4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F5C6A-F7F3-418B-A061-FD0B994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FD85F-C6EC-411B-9729-86F3027E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EBE08-BF59-4FB3-B1D1-DB094376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E98B8-C3C6-4327-A2C6-BCDFF859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88FE8-AC97-40E3-A72D-A16F3437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571F2-4E67-4085-B06C-3E8A8EC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9EAB7-3F67-4C5A-8A90-448B3BAF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42B82-1326-456B-A16C-6216186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57AA3-346F-4E09-B567-BAFF76B4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F2ACE-96F0-4FA3-8A95-920FBBD6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A10474-BADF-47A3-8965-17B5B583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64479-8C40-4ED0-B67B-6A5B627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31150-8A40-4873-A97E-2706B728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权限审批</a:t>
            </a:r>
          </a:p>
        </p:txBody>
      </p:sp>
    </p:spTree>
    <p:extLst>
      <p:ext uri="{BB962C8B-B14F-4D97-AF65-F5344CB8AC3E}">
        <p14:creationId xmlns:p14="http://schemas.microsoft.com/office/powerpoint/2010/main" val="176001530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E145B-D781-4DBC-A859-F4B4CB4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6C246-BB08-419C-A0ED-F8EDCE89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5AF22-87BF-4B8F-BE5B-4A3EA79E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39C89-899B-4860-B401-11F99B1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EED74-3DC2-414A-93D8-FA23959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权限盘点：谁可以看、谁可以改、谁负责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F4150-A32A-411A-8544-42C3F6D8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权限不是上线前的细节，而是方案设计的一部分。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7B0CB-1E64-4058-8B2F-84A38D6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D328B-A883-41A9-A92A-84800C39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10B83-3E2D-4830-97E3-796D2572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盘点治理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B98C1-DE63-440B-BF79-D43557F2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F8910-9E50-4DAF-B245-52C2054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96193-6B66-4407-80CA-D99125E7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2A07D-F83C-44C2-A752-EDC9DCD3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D76A4-B6B1-4A35-BB16-768379E8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00D40-785B-4DC2-AA14-338B1A48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B38E7-8879-4701-B50F-D52CB2C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21286-60D9-4E3B-A15E-C698F72E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743E0-8B3D-479C-9C54-EC7ABAD3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50CB6-C45D-444D-929F-D7545F15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67000-5262-4C88-B2F0-ECA6D059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75F22-6576-4E07-B7A0-ED0B7EB2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操作权限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19804-4C4D-4681-8F14-0CE5519D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71102-D81B-4D90-935D-266E6BF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C95AB-43C6-42E5-AE8C-9241084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A3613-8578-4CBA-9883-3EE6784D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CA5FF-1119-4592-A979-F92D2F6C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FB414-436D-400F-94B7-38F79F3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B9F5D-B00F-4DED-ACCA-038503A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45BA5-F7F2-422B-BF36-F14A0863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</p:spTree>
    <p:extLst>
      <p:ext uri="{BB962C8B-B14F-4D97-AF65-F5344CB8AC3E}">
        <p14:creationId xmlns:p14="http://schemas.microsoft.com/office/powerpoint/2010/main" val="41725939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F0547-3255-400E-8F75-4294CED7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E98FE-EFB9-4206-A2DB-73F361D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6A6EB-A04A-46D3-98A8-F189DEE5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1DE77-B8BC-4F29-804A-FDD0976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RISK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CA2D7-0E3C-4673-977C-2D6EC64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风险阶梯：决定自动化比例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7F5ED-500C-4F33-B384-41D0B8E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FDE要把场景分成建议、草稿、人审后执行、自动执行四种模式。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3EA78-6F18-4C7A-A5BE-F9B070FB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FBB5B-ECC8-436C-ACFF-8DC9021E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43F6E-21EB-40F2-9C92-2530CAF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盘点治理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C8D50-D83C-43AE-A3FE-B1155D6E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0A777-2731-4028-A4FF-5D1CC61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只给建议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A8FA7-B70C-4D35-9F2A-69B8723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0F8E8-D0AE-4BF5-9987-DD022D5B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F9B7E-5AA7-4EA9-BCD3-F969191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B48F6-9122-4822-9A8C-96097495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人审执行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FA127-DAF3-46B4-A9EE-F759718B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FCAE-4489-4DD7-8BBB-2CB37A3C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低风险自动执行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CD38A-D16A-48C2-9042-BCCCA120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704973085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324F0-C389-4D60-B51A-FDBA97A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3D426-1349-4673-9780-C4E729A2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29ECB-B603-4A38-A26B-D8B6B2E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276FB-6A7D-4AD9-9D74-6D0C57B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HUMAN-IN-LOOP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60F68-1F52-4FF9-945A-21EAD9A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人工接管不是失败，而是生产级设计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0799C-9C63-42AE-8ECD-51568174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人工接管能让AI项目安全进入真实业务，而不是停在实验室。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B3300-5EE7-45BF-BC53-C630434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13E4-6E70-49AC-BF6F-61F852C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478A9-12C6-4112-BBAC-BBA2CE44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盘点治理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8BB27-860B-4CA2-962E-A833791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F6253-0D80-4C38-BD3C-7721107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9DAA9-5227-48DD-AB98-E815234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4E2AE-2D5C-4F20-B8AF-70DBA5BE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631DC-61C3-4B76-B92F-65BE35F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接管角色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C5386-9794-4C50-ADB4-5F9DDA5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4142D-6055-4C1D-AB2B-91422732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27C75-5105-4CD9-BF22-B7FD3DD1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待办通知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889B1-E77A-4339-96A7-C3EA606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93BB8-B38B-40E7-AB9D-394EADC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287DE-1624-4D54-A3E4-1521C2C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处理SOP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473CF-713D-46B0-A724-935CBA04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65292-C17D-4F51-A026-07F5F19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40A94-32ED-4841-AC62-BF439736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结果回写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FF3BA-4FEC-4AD9-BB00-1C5C24AC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EFB4F-318C-42F4-9782-30896980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BBB8D-4F48-49BC-AD7C-2332F4B6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320C6-91B2-42E5-968C-C81B213F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0E1FA9-85E0-49CD-A3D3-9E6617C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FDE判断：这个流程是否有清晰输入、处理动作、输出和复盘指标。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813212590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47A76-330F-44E6-8331-AFB9A522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EE565-0FC8-440E-B70C-EF352E9C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F3A90-B564-483A-BE85-38035292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AA079-1E39-48E8-9D1B-44AFFE8D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1CCBE-1FB3-413A-8D7F-A56EDA2F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上线前Go/No-Go检查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4FCD9-3223-4E72-AE34-C11A4AE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任何MVP进入部署前，都要通过最小检查清单。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FF3FB-2388-4DD4-B21F-B7E14A6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98226-0528-4076-B7B6-29F938D4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1BB77-2C44-4051-89DE-2B51E194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盘点治理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19534-1E30-4832-8A25-7250CB6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39E11-891A-4505-B6EA-F55FABC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3F4E5-3C83-4CD2-9D23-E8FB596C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B2952-2E65-4E13-85CC-FB4F2323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13349-8D0B-43E4-B9DC-3D51F15E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目标指标已定义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52568-0100-4C3E-B096-4A1E1098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必须有当前基线、目标改善幅度和业务Owner。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E1EAD-84F4-461F-80C8-3F345A48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9643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DA1B3-94F0-42B7-ACF4-A8C004F0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3943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流程Owner已确认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84249-FFC9-4AEA-8CBF-4F0573D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43943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流程负责人已确认范围、样例、数据、系统和指标。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9DB6D-1448-4060-9063-D9F65E64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2286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223C8-30EB-4755-A379-221F733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6586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数据来源可取得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2ECD6-CD6C-4576-8284-9F73D44E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6586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必须知道系统位置、权限、字段和更新频率。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7EC5D-60BB-4B9F-890D-77A1099D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4929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2E605-5E6F-4941-ABF4-3AFD5CC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9229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系统权限可申请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77176-2273-48BD-B0E7-6BEC860E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69229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读写权限、审批路径和日志要求已有明确路径。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C9D67-DF62-486B-8796-C1A65660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7571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53248-D18F-4BF9-B401-7BD7556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1871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风险边界已写清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C707F-8503-4B7D-B9E6-4DC7465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1871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必须定义自动化边界、人工接管条件和禁止动作。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9AC15-7D6D-4A10-A397-42E79095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0214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DA643-BC68-4E3E-8202-6916F658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4514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人工接管已设计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E9FCC-C4A3-4BCC-B85E-9BE58326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94514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接管角色、通知方式、处理SOP和结果回写已设计。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59D6A0-14CE-4DA1-A10A-CB6CD9A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2857"/>
            <a:ext cx="10629900" cy="462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CC0969-A746-4316-B4E9-B44B14DE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7157"/>
            <a:ext cx="323850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灰度对象已选定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4F7256-068E-4A48-901B-E61214D7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57157"/>
            <a:ext cx="6000750" cy="23404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6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已选定试点团队、样本量、观察周期和复盘节奏。</a:t>
            </a:r>
          </a:p>
        </p:txBody>
      </p:sp>
    </p:spTree>
    <p:extLst>
      <p:ext uri="{BB962C8B-B14F-4D97-AF65-F5344CB8AC3E}">
        <p14:creationId xmlns:p14="http://schemas.microsoft.com/office/powerpoint/2010/main" val="205725986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B9121-483B-441F-BC78-0B070808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E561E-8B12-4C99-BD03-386A805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B40DA-F0AF-4CC5-908D-27F23B7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B6F94-ABB5-4291-838F-5B5D80B8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诊断工作坊与交付物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338FB-1F6E-4119-AFAF-C231641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最后45分钟把所有方法合成一份可评审的企业AI诊断简报。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D8557-D31A-43C4-AAB2-85121D81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8B737-6E51-498A-AB19-8EDA5419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诊断简报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3BBE6-5640-47ED-B97C-F027D80C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BEC73-20D4-43B6-B81F-C1AA8F1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场景矩阵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B41CD-AC35-4A44-B71B-B3E932C5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070AA-7E1C-4E87-A6AB-6139E80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MVP建议</a:t>
            </a:r>
          </a:p>
        </p:txBody>
      </p:sp>
    </p:spTree>
    <p:extLst>
      <p:ext uri="{BB962C8B-B14F-4D97-AF65-F5344CB8AC3E}">
        <p14:creationId xmlns:p14="http://schemas.microsoft.com/office/powerpoint/2010/main" val="208981156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DB1DB-BDCC-40FB-B7E5-D2794151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D40AB-CB16-400B-AD5D-A3A7748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F9A20-0420-438F-900C-C6F9D8EE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39CA0-B09F-4BA9-AA8D-F817321D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DIAGNOSIS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F265C-AA75-4847-BE2B-9166B41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企业AI诊断简报结构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012C6-27A7-49EE-BBD1-A563E6F5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这份简报是FDE第一阶段最重要的专业输出。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A956-510E-462F-A733-78333E4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5074-5241-4685-9D28-FB25DCE6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59A8C-EAF8-4618-BF22-DD89B21C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CEFA6-3395-4C9E-A8ED-2F81C257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0996E-739E-405B-BA71-3C6E5508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10ADC-35F9-437F-8882-ADEB8E1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E3886-1DE4-4F3C-B227-051D6D5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6EF09-3EDC-4582-ABAD-D2A396F6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65180-7448-4479-B9F1-E0391EFF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客户为什么现在做AI？成功线和业务Owner是谁？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BB19C-F3F5-40CF-ADBA-99A65BF1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87ACE-CCED-4C4F-853A-83E23B9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访谈发现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8283C-C318-4C13-B1F9-6F3E164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四类角色分别给出了哪些事实？冲突点是什么？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53D3F-8518-432E-A882-A56EE672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74FCD-1BB6-46BC-989E-DE712A4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流程现状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445C0-4D9B-45A3-9028-C1CC8ACB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具体是哪一步，不接受“整个部门都要AI化”。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B9975-869E-478E-B21E-43BA4E6B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D0B85-BE0D-470F-81AD-E3E040B5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机会地图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811BD-1875-4FBD-882D-E8CA1FF5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至少列出5-10个机会，并标注流程节点和证据。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4913B-887F-4C51-B934-8AFB593D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E0E64-8DAD-4B39-BA6B-D137788E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优先级矩阵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52F30-EBDE-45FF-B9D4-C088CD8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用FDE-SCORE排序，写出每项分数的证据。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76C87-EE64-4550-833E-CE46293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33386-FB61-479E-9902-BCC84832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第一批MVP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DE20E-DE36-400A-A948-46F40CF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只推荐1-2个MVP，说明周期、指标和边界。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FC99E-5EE9-4B81-A57E-E07ACAA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D1F717-D008-481E-B1D2-3FCE5864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626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风险与下一步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F54A61-DE98-4D6B-87EF-88412458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列出数据、系统、权限、合规和人工接管风险。</a:t>
            </a:r>
          </a:p>
        </p:txBody>
      </p:sp>
    </p:spTree>
    <p:extLst>
      <p:ext uri="{BB962C8B-B14F-4D97-AF65-F5344CB8AC3E}">
        <p14:creationId xmlns:p14="http://schemas.microsoft.com/office/powerpoint/2010/main" val="695280222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A48A5-9ED7-42F2-BC96-48532C00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940D6-D314-4AAF-ABC6-A505C81B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80E92-EE73-45BA-B5DE-25792CF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F6A5D-BA9C-4D63-BD4C-902FDD5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FINAL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F8322-6E48-47A4-8EB3-E2A5768F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小组任务：提交一个MVP建议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E8764-CB26-4C54-8B95-DE6AE82D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每组必须说明为什么先做这个，而不是别的。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D33E-EE16-4603-99D9-29981F39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A120F-D263-4261-BFA2-4B1EC8BF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97650-1FD8-49D9-80CE-F79DDB7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59553-EA1A-4C53-9FE8-9179F79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7BEAD-476C-471D-A7B3-F5E9432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C4B79-BB02-4D52-965F-AF26AB71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14分钟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E5A5C-EB80-4F49-8163-177F3F31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A8157-1C4F-4FC3-B1D3-6B500FE4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D3C85-BD2F-4787-AC4D-FAB9332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FA236-59D8-49DA-9605-164AE94E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选一个真实流程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BCC04-C872-4B3B-BCDD-3136E99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5D202-ECE4-4C89-94C7-022798D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01984-466F-47D6-A7E4-52F44F2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完成六格拆解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C7902-466C-44B5-B812-A9A8C933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283D5-1822-4A2C-9024-BC0AC60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8BD81-01AE-4830-B3E6-6727CC79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列出5个机会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F7C1D-B6A6-4EA4-9F18-202BC65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8D88A-7546-4EC1-8FFE-CFA582C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8F60D-9A75-47EB-A611-6A0FFDC5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完成FDE-SCORE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1D638-F6FE-4732-B52D-DAC45020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F36BF-3577-46B3-B5A8-45273C61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F9554-AA71-4AFB-BA75-4715A5E0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推荐第一批MVP</a:t>
            </a:r>
          </a:p>
        </p:txBody>
      </p:sp>
    </p:spTree>
    <p:extLst>
      <p:ext uri="{BB962C8B-B14F-4D97-AF65-F5344CB8AC3E}">
        <p14:creationId xmlns:p14="http://schemas.microsoft.com/office/powerpoint/2010/main" val="82017607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137BB7-4C31-4387-AB98-9A2DD65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9902D-0FC2-4B69-A7B3-522CA074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E30C4-0B1D-4DF6-9696-7BF297D7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EE3FB-8543-4D9E-9BB1-8CDE02F5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42ADF-0B90-46B4-B27B-DD1EA47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讲师评分标准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1D944-D47A-4095-A495-9B3BDC6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评分标准要逼迫学员拿证据说话。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3E6CE-05A3-4AC5-BE03-BB71DE9F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1DEE9-1C70-439E-8860-EA34C67B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17A40-B682-41B8-8CC9-BDF03E0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6F808-1F80-4F93-8CB5-FA010EB6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F3D4A-7697-4BC6-BDF2-76E34144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3F458-DFDB-46D8-BF73-F85AE52F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47448-6D78-4345-8610-963B9A5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AB763-6AC2-48DC-A302-855EA796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访谈是否覆盖三层角色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73E33-83E2-41FC-BEBF-71DB73A0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覆盖决策层、主管、一线和IT/数据，不只听单一视角。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509B1-64E6-487A-9E06-39B9E1B1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5A648-A004-438E-A5F5-6CBE6960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流程六格是否完整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82951-4038-483E-991A-B552308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六格完整，能说清触发、输入、动作、系统、输出、异常。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AD80C-F39C-40A4-A471-BD49BB4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D85BC-4217-4DD5-BAE6-C96C9CE1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评分是否有证据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1A234-03DB-4380-A850-968B68DF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每个分数都有样例、数据、权限或指标作为证据。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9E592-8340-4B02-8384-F42904C8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2C51A-3A83-4445-AB07-ECDE288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风险边界是否清楚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5584A-D6B7-4E25-8247-FDD8A48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必须定义自动化边界、人工接管条件和禁止动作。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6249D-5E5A-4BD1-B0B3-4E2CAC95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E58F3-4680-4D14-A89E-097FE2F9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MVP是否能4-8周见效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0445F-38C3-41BC-9E87-9CA519CA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能在4-8周内形成最小闭环，并可灰度复盘。</a:t>
            </a:r>
          </a:p>
        </p:txBody>
      </p:sp>
    </p:spTree>
    <p:extLst>
      <p:ext uri="{BB962C8B-B14F-4D97-AF65-F5344CB8AC3E}">
        <p14:creationId xmlns:p14="http://schemas.microsoft.com/office/powerpoint/2010/main" val="1648051446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0B26A-0CAE-41FC-9C9B-0C87C3E4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06D96-B3CC-4673-8142-E1D8E2F4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95FF-8329-4F05-92FF-F065EB09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561CD-9BAB-4870-8660-F896DAB7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HOMEWORK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2BB6D-FF02-455E-B773-BC50F568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课后作业：完成真实企业诊断包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25D47-7426-4AC0-87EF-4ABFEE90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下一章要进入方案设计，必须带着可验证的诊断材料回来。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12F83-130A-49CF-BFB0-BE0078D1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412FF-EC16-450D-BBC3-42E294C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08F1C-B4CC-4DC6-86EE-3DDF3CDC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E9046-C933-4FF1-9DB9-514EDAEE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8A217-D2A3-41A0-927E-761A55C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75AC8-7B6D-40BE-A33B-C2610320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51BDA-F4D2-485D-9757-2A00127B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访谈2-3人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9A260-D52D-4FED-9074-6700D657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294FA-6A3C-4344-A283-447B7BFB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01AD9-AE53-4CB8-86FA-87ACB0A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5B71F-C987-4C08-BDD8-BF0531D6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收集3个样例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A92D6-73FC-406A-B6A2-C5E48BF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6E235-C510-4316-B3CD-CAE9F873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5A915-03DC-4FCC-8C93-98F99DBA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AEC68-6961-4CFD-B940-AFE5B0AA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画1张现状流程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51718-B91E-4F51-BD75-69866D2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FA327-26E0-4972-9152-3D6F2FC3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B4840-22E7-4D47-9330-5F06B4B0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F9F63-3892-4917-904F-57211AE1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做1张机会地图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E18DB-85D3-49E4-BBDC-9D6F1D8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20C24-F7DB-47C7-A4DD-AC3B16A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90F3A-F7A4-4A1C-A4B2-78D38CE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6018D-2387-4D84-AAED-0D77507F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选1个MVP</a:t>
            </a:r>
          </a:p>
        </p:txBody>
      </p:sp>
    </p:spTree>
    <p:extLst>
      <p:ext uri="{BB962C8B-B14F-4D97-AF65-F5344CB8AC3E}">
        <p14:creationId xmlns:p14="http://schemas.microsoft.com/office/powerpoint/2010/main" val="1223249715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C5DDF-C20C-4320-97AF-981FFA4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9138B-7B9C-455B-AE79-1DD3D07E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4505D-719D-4F50-96D3-61A9D50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34CB3-7843-43C8-A6D2-042D96DB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630C6-4860-430E-98FB-5621183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第2章一句话：先诊断，再部署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A8B64-8D85-4639-A95D-EBB1AD0E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FDE不是靠灵感选场景，而是靠证据链选择最小可赢的第一战。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D060D-B8AA-425D-B3A6-0BF515B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10EBA-6773-47AA-82E6-FD79193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03FC4-51E7-4E1C-889C-50BE0AAA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0842E-AF5D-41C3-9AC3-5A5606E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7F196-D2F7-4507-B8CA-BDFF9D3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428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问对人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07C1A-4639-498A-820F-D8600C3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0D9BA-4772-4296-9631-1F29528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1428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画对流程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E2B8D-54A8-412D-8B92-46ADCDB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8E6FB-C169-4B6B-A236-CDEE5DE5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1428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选对场景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FB35A-5410-4BE0-81E8-9077F21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D7EAB-FFBF-491E-8AD4-82A3FB3B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1428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控住风险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B88C9-BE9C-433B-B56F-6099623B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FDE不是靠灵感选场景，而是靠证据链选择最小可赢的第一战。</a:t>
            </a:r>
          </a:p>
        </p:txBody>
      </p:sp>
    </p:spTree>
    <p:extLst>
      <p:ext uri="{BB962C8B-B14F-4D97-AF65-F5344CB8AC3E}">
        <p14:creationId xmlns:p14="http://schemas.microsoft.com/office/powerpoint/2010/main" val="1757393284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D911C-C3EF-41EB-8F94-F3853D9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0102A-0EA2-40B8-96DD-DEB27261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55BCA-72FD-4D8C-A021-7D513149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A4EF2-D83F-4549-A68D-0B03AE71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3820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下一章：企业知识与上下文工程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5FB42-868D-4077-9157-033664CD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81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下一章会把本章选出的MVP场景，进一步设计成可运行的上下文、知识库和记忆系统。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AAFC3-4732-4401-AE7D-8729BB20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带诊断包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2467A-D062-4659-AC51-A917721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6377F-D2DE-4FA8-B183-A2686B1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带流程图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7BA1-194A-4EFB-AF3B-DFCD95E7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A4E46-E8B1-4257-BE61-4F68AB02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带样例数据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F9348-F302-4422-90A2-C6647758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</p:spTree>
    <p:extLst>
      <p:ext uri="{BB962C8B-B14F-4D97-AF65-F5344CB8AC3E}">
        <p14:creationId xmlns:p14="http://schemas.microsoft.com/office/powerpoint/2010/main" val="1684779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2026-05-16T00:14:02.6060000Z</dcterms:created>
  <dcterms:modified xsi:type="dcterms:W3CDTF">2026-05-16T00:14:02.6060000Z</dcterms:modified>
</coreProperties>
</file>