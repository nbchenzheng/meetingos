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  <Override PartName="/ppt/slides/slide46.xml" ContentType="application/vnd.openxmlformats-officedocument.presentationml.slide+xml"/>
  <Override PartName="/ppt/notesSlides/notesSlide46.xml" ContentType="application/vnd.openxmlformats-officedocument.presentationml.notesSlide+xml"/>
  <Override PartName="/ppt/slides/slide47.xml" ContentType="application/vnd.openxmlformats-officedocument.presentationml.slide+xml"/>
  <Override PartName="/ppt/notesSlides/notesSlide47.xml" ContentType="application/vnd.openxmlformats-officedocument.presentationml.notesSlide+xml"/>
  <Override PartName="/ppt/slides/slide48.xml" ContentType="application/vnd.openxmlformats-officedocument.presentationml.slide+xml"/>
  <Override PartName="/ppt/notesSlides/notesSlide48.xml" ContentType="application/vnd.openxmlformats-officedocument.presentationml.notesSlide+xml"/>
  <Override PartName="/ppt/slides/slide49.xml" ContentType="application/vnd.openxmlformats-officedocument.presentationml.slide+xml"/>
  <Override PartName="/ppt/notesSlides/notesSlide49.xml" ContentType="application/vnd.openxmlformats-officedocument.presentationml.notesSlide+xml"/>
  <Override PartName="/ppt/slides/slide50.xml" ContentType="application/vnd.openxmlformats-officedocument.presentationml.slide+xml"/>
  <Override PartName="/ppt/notesSlides/notesSlide50.xml" ContentType="application/vnd.openxmlformats-officedocument.presentationml.notesSlide+xml"/>
  <Override PartName="/ppt/slides/slide51.xml" ContentType="application/vnd.openxmlformats-officedocument.presentationml.slide+xml"/>
  <Override PartName="/ppt/notesSlides/notesSlide51.xml" ContentType="application/vnd.openxmlformats-officedocument.presentationml.notesSlide+xml"/>
  <Override PartName="/ppt/slides/slide52.xml" ContentType="application/vnd.openxmlformats-officedocument.presentationml.slide+xml"/>
  <Override PartName="/ppt/notesSlides/notesSlide52.xml" ContentType="application/vnd.openxmlformats-officedocument.presentationml.notesSlide+xml"/>
  <Override PartName="/ppt/slides/slide53.xml" ContentType="application/vnd.openxmlformats-officedocument.presentationml.slide+xml"/>
  <Override PartName="/ppt/notesSlides/notesSlide53.xml" ContentType="application/vnd.openxmlformats-officedocument.presentationml.notesSlide+xml"/>
  <Override PartName="/ppt/slides/slide54.xml" ContentType="application/vnd.openxmlformats-officedocument.presentationml.slide+xml"/>
  <Override PartName="/ppt/notesSlides/notesSlide54.xml" ContentType="application/vnd.openxmlformats-officedocument.presentationml.notesSlide+xml"/>
  <Override PartName="/ppt/slides/slide55.xml" ContentType="application/vnd.openxmlformats-officedocument.presentationml.slide+xml"/>
  <Override PartName="/ppt/notesSlides/notesSlide55.xml" ContentType="application/vnd.openxmlformats-officedocument.presentationml.notesSlide+xml"/>
  <Override PartName="/ppt/slides/slide56.xml" ContentType="application/vnd.openxmlformats-officedocument.presentationml.slide+xml"/>
  <Override PartName="/ppt/notesSlides/notesSlide5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0cc7b7a11fb46be" /><Relationship Type="http://schemas.openxmlformats.org/officeDocument/2006/relationships/extended-properties" Target="/docProps/app.xml" Id="R8927a8311ea64f82" /><Relationship Type="http://schemas.openxmlformats.org/officeDocument/2006/relationships/officeDocument" Target="/ppt/presentation.xml" Id="R32cf5e4c8aad46a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13b8e528cb74b02"/>
  </p:sldMasterIdLst>
  <p:notesMasterIdLst>
    <p:notesMasterId xmlns:r="http://schemas.openxmlformats.org/officeDocument/2006/relationships" r:id="R08bbfbcb0baa4b56"/>
  </p:notesMasterIdLst>
  <p:sldIdLst>
    <p:sldId xmlns:r="http://schemas.openxmlformats.org/officeDocument/2006/relationships" id="256" r:id="R77d9a03c70ce4f68"/>
    <p:sldId xmlns:r="http://schemas.openxmlformats.org/officeDocument/2006/relationships" id="257" r:id="Rb75e285fa7664b7d"/>
    <p:sldId xmlns:r="http://schemas.openxmlformats.org/officeDocument/2006/relationships" id="258" r:id="Rddbfe91060c44327"/>
    <p:sldId xmlns:r="http://schemas.openxmlformats.org/officeDocument/2006/relationships" id="259" r:id="R1383236767bd493e"/>
    <p:sldId xmlns:r="http://schemas.openxmlformats.org/officeDocument/2006/relationships" id="260" r:id="R6a47b6b5e1254eb7"/>
    <p:sldId xmlns:r="http://schemas.openxmlformats.org/officeDocument/2006/relationships" id="261" r:id="R899b73a5c09d429f"/>
    <p:sldId xmlns:r="http://schemas.openxmlformats.org/officeDocument/2006/relationships" id="262" r:id="R5fb130c481784f32"/>
    <p:sldId xmlns:r="http://schemas.openxmlformats.org/officeDocument/2006/relationships" id="263" r:id="R99c7e433cf064a0c"/>
    <p:sldId xmlns:r="http://schemas.openxmlformats.org/officeDocument/2006/relationships" id="264" r:id="R774ed900baa643ac"/>
    <p:sldId xmlns:r="http://schemas.openxmlformats.org/officeDocument/2006/relationships" id="265" r:id="Refb4098037fc4240"/>
    <p:sldId xmlns:r="http://schemas.openxmlformats.org/officeDocument/2006/relationships" id="266" r:id="R0fcd38978a1546d4"/>
    <p:sldId xmlns:r="http://schemas.openxmlformats.org/officeDocument/2006/relationships" id="267" r:id="R893ed261b1f1406d"/>
    <p:sldId xmlns:r="http://schemas.openxmlformats.org/officeDocument/2006/relationships" id="268" r:id="R1fff7cd22e3f49d5"/>
    <p:sldId xmlns:r="http://schemas.openxmlformats.org/officeDocument/2006/relationships" id="269" r:id="R69ba358db9f944aa"/>
    <p:sldId xmlns:r="http://schemas.openxmlformats.org/officeDocument/2006/relationships" id="270" r:id="Rcaf6665efa2947fe"/>
    <p:sldId xmlns:r="http://schemas.openxmlformats.org/officeDocument/2006/relationships" id="271" r:id="Red02e7d436554716"/>
    <p:sldId xmlns:r="http://schemas.openxmlformats.org/officeDocument/2006/relationships" id="272" r:id="R6d71d4c769c2469a"/>
    <p:sldId xmlns:r="http://schemas.openxmlformats.org/officeDocument/2006/relationships" id="273" r:id="Ra86bcb05721748b8"/>
    <p:sldId xmlns:r="http://schemas.openxmlformats.org/officeDocument/2006/relationships" id="274" r:id="R69fc1b3db6a54930"/>
    <p:sldId xmlns:r="http://schemas.openxmlformats.org/officeDocument/2006/relationships" id="275" r:id="R4180fca9e1d144a9"/>
    <p:sldId xmlns:r="http://schemas.openxmlformats.org/officeDocument/2006/relationships" id="276" r:id="R408ab9de53d9489a"/>
    <p:sldId xmlns:r="http://schemas.openxmlformats.org/officeDocument/2006/relationships" id="277" r:id="R047c1ea81ee24956"/>
    <p:sldId xmlns:r="http://schemas.openxmlformats.org/officeDocument/2006/relationships" id="278" r:id="Ra40784e1a04b4e43"/>
    <p:sldId xmlns:r="http://schemas.openxmlformats.org/officeDocument/2006/relationships" id="279" r:id="R742439f509e4424a"/>
    <p:sldId xmlns:r="http://schemas.openxmlformats.org/officeDocument/2006/relationships" id="280" r:id="Rfb7f90dde5204b23"/>
    <p:sldId xmlns:r="http://schemas.openxmlformats.org/officeDocument/2006/relationships" id="281" r:id="Rabc22ffb6b01403f"/>
    <p:sldId xmlns:r="http://schemas.openxmlformats.org/officeDocument/2006/relationships" id="282" r:id="R74ef312430db4b9a"/>
    <p:sldId xmlns:r="http://schemas.openxmlformats.org/officeDocument/2006/relationships" id="283" r:id="R217c1b5749bc4cc3"/>
    <p:sldId xmlns:r="http://schemas.openxmlformats.org/officeDocument/2006/relationships" id="284" r:id="R65282a43340b40c7"/>
    <p:sldId xmlns:r="http://schemas.openxmlformats.org/officeDocument/2006/relationships" id="285" r:id="R5c6d941a7c80456c"/>
    <p:sldId xmlns:r="http://schemas.openxmlformats.org/officeDocument/2006/relationships" id="286" r:id="R8e08c1bae322428d"/>
    <p:sldId xmlns:r="http://schemas.openxmlformats.org/officeDocument/2006/relationships" id="287" r:id="R916b37abd1b04e74"/>
    <p:sldId xmlns:r="http://schemas.openxmlformats.org/officeDocument/2006/relationships" id="288" r:id="R2c2bc23623cd43dd"/>
    <p:sldId xmlns:r="http://schemas.openxmlformats.org/officeDocument/2006/relationships" id="289" r:id="Rd4ae29b9ed2c45fc"/>
    <p:sldId xmlns:r="http://schemas.openxmlformats.org/officeDocument/2006/relationships" id="290" r:id="R411c389341a944fe"/>
    <p:sldId xmlns:r="http://schemas.openxmlformats.org/officeDocument/2006/relationships" id="291" r:id="R80fecf8d9d2b4c75"/>
    <p:sldId xmlns:r="http://schemas.openxmlformats.org/officeDocument/2006/relationships" id="292" r:id="R6b1454454ea3423f"/>
    <p:sldId xmlns:r="http://schemas.openxmlformats.org/officeDocument/2006/relationships" id="293" r:id="R0d9c2ff5f233492a"/>
    <p:sldId xmlns:r="http://schemas.openxmlformats.org/officeDocument/2006/relationships" id="294" r:id="Rde41f8b7ab6b4b19"/>
    <p:sldId xmlns:r="http://schemas.openxmlformats.org/officeDocument/2006/relationships" id="295" r:id="R541146e08ff040f7"/>
    <p:sldId xmlns:r="http://schemas.openxmlformats.org/officeDocument/2006/relationships" id="296" r:id="R50a75b566cab4544"/>
    <p:sldId xmlns:r="http://schemas.openxmlformats.org/officeDocument/2006/relationships" id="297" r:id="R66a695fe9bed4b11"/>
    <p:sldId xmlns:r="http://schemas.openxmlformats.org/officeDocument/2006/relationships" id="298" r:id="R6e2556199d7b42f2"/>
    <p:sldId xmlns:r="http://schemas.openxmlformats.org/officeDocument/2006/relationships" id="299" r:id="R4090715e15064c20"/>
    <p:sldId xmlns:r="http://schemas.openxmlformats.org/officeDocument/2006/relationships" id="300" r:id="R8d33c7d293814b0d"/>
    <p:sldId xmlns:r="http://schemas.openxmlformats.org/officeDocument/2006/relationships" id="301" r:id="Reec7c9fb72764ce4"/>
    <p:sldId xmlns:r="http://schemas.openxmlformats.org/officeDocument/2006/relationships" id="302" r:id="R6fdc91b789894273"/>
    <p:sldId xmlns:r="http://schemas.openxmlformats.org/officeDocument/2006/relationships" id="303" r:id="Rbc0758985ac24e8e"/>
    <p:sldId xmlns:r="http://schemas.openxmlformats.org/officeDocument/2006/relationships" id="304" r:id="Ree30f29b74524eca"/>
    <p:sldId xmlns:r="http://schemas.openxmlformats.org/officeDocument/2006/relationships" id="305" r:id="Rf11708e1e849423b"/>
    <p:sldId xmlns:r="http://schemas.openxmlformats.org/officeDocument/2006/relationships" id="306" r:id="R78358af2c1a9431f"/>
    <p:sldId xmlns:r="http://schemas.openxmlformats.org/officeDocument/2006/relationships" id="307" r:id="R1a27ff03682c40b0"/>
    <p:sldId xmlns:r="http://schemas.openxmlformats.org/officeDocument/2006/relationships" id="308" r:id="R89be9954856e43ed"/>
    <p:sldId xmlns:r="http://schemas.openxmlformats.org/officeDocument/2006/relationships" id="309" r:id="Rd1b8bdf8093e41a2"/>
    <p:sldId xmlns:r="http://schemas.openxmlformats.org/officeDocument/2006/relationships" id="310" r:id="Refe5ae27b2f94895"/>
    <p:sldId xmlns:r="http://schemas.openxmlformats.org/officeDocument/2006/relationships" id="311" r:id="Rd6dd513e875a4533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13b8e528cb74b02" /><Relationship Type="http://schemas.openxmlformats.org/officeDocument/2006/relationships/theme" Target="/ppt/theme/theme1.xml" Id="Rc1ed0ce3b0f94418" /><Relationship Type="http://schemas.openxmlformats.org/officeDocument/2006/relationships/notesMaster" Target="/ppt/notesMasters/notesMaster1.xml" Id="R08bbfbcb0baa4b56" /><Relationship Type="http://schemas.openxmlformats.org/officeDocument/2006/relationships/presProps" Target="/ppt/presProps.xml" Id="R86e7b40706114c6c" /><Relationship Type="http://schemas.openxmlformats.org/officeDocument/2006/relationships/viewProps" Target="/ppt/viewProps.xml" Id="Rebbc8c4d3700488c" /><Relationship Type="http://schemas.openxmlformats.org/officeDocument/2006/relationships/tableStyles" Target="/ppt/tableStyles.xml" Id="R86bf3a4cfcaf45b6" /><Relationship Type="http://schemas.openxmlformats.org/officeDocument/2006/relationships/slide" Target="/ppt/slides/slide1.xml" Id="R77d9a03c70ce4f68" /><Relationship Type="http://schemas.openxmlformats.org/officeDocument/2006/relationships/slide" Target="/ppt/slides/slide2.xml" Id="Rb75e285fa7664b7d" /><Relationship Type="http://schemas.openxmlformats.org/officeDocument/2006/relationships/slide" Target="/ppt/slides/slide3.xml" Id="Rddbfe91060c44327" /><Relationship Type="http://schemas.openxmlformats.org/officeDocument/2006/relationships/slide" Target="/ppt/slides/slide4.xml" Id="R1383236767bd493e" /><Relationship Type="http://schemas.openxmlformats.org/officeDocument/2006/relationships/slide" Target="/ppt/slides/slide5.xml" Id="R6a47b6b5e1254eb7" /><Relationship Type="http://schemas.openxmlformats.org/officeDocument/2006/relationships/slide" Target="/ppt/slides/slide6.xml" Id="R899b73a5c09d429f" /><Relationship Type="http://schemas.openxmlformats.org/officeDocument/2006/relationships/slide" Target="/ppt/slides/slide7.xml" Id="R5fb130c481784f32" /><Relationship Type="http://schemas.openxmlformats.org/officeDocument/2006/relationships/slide" Target="/ppt/slides/slide8.xml" Id="R99c7e433cf064a0c" /><Relationship Type="http://schemas.openxmlformats.org/officeDocument/2006/relationships/slide" Target="/ppt/slides/slide9.xml" Id="R774ed900baa643ac" /><Relationship Type="http://schemas.openxmlformats.org/officeDocument/2006/relationships/slide" Target="/ppt/slides/slide10.xml" Id="Refb4098037fc4240" /><Relationship Type="http://schemas.openxmlformats.org/officeDocument/2006/relationships/slide" Target="/ppt/slides/slide11.xml" Id="R0fcd38978a1546d4" /><Relationship Type="http://schemas.openxmlformats.org/officeDocument/2006/relationships/slide" Target="/ppt/slides/slide12.xml" Id="R893ed261b1f1406d" /><Relationship Type="http://schemas.openxmlformats.org/officeDocument/2006/relationships/slide" Target="/ppt/slides/slide13.xml" Id="R1fff7cd22e3f49d5" /><Relationship Type="http://schemas.openxmlformats.org/officeDocument/2006/relationships/slide" Target="/ppt/slides/slide14.xml" Id="R69ba358db9f944aa" /><Relationship Type="http://schemas.openxmlformats.org/officeDocument/2006/relationships/slide" Target="/ppt/slides/slide15.xml" Id="Rcaf6665efa2947fe" /><Relationship Type="http://schemas.openxmlformats.org/officeDocument/2006/relationships/slide" Target="/ppt/slides/slide16.xml" Id="Red02e7d436554716" /><Relationship Type="http://schemas.openxmlformats.org/officeDocument/2006/relationships/slide" Target="/ppt/slides/slide17.xml" Id="R6d71d4c769c2469a" /><Relationship Type="http://schemas.openxmlformats.org/officeDocument/2006/relationships/slide" Target="/ppt/slides/slide18.xml" Id="Ra86bcb05721748b8" /><Relationship Type="http://schemas.openxmlformats.org/officeDocument/2006/relationships/slide" Target="/ppt/slides/slide19.xml" Id="R69fc1b3db6a54930" /><Relationship Type="http://schemas.openxmlformats.org/officeDocument/2006/relationships/slide" Target="/ppt/slides/slide20.xml" Id="R4180fca9e1d144a9" /><Relationship Type="http://schemas.openxmlformats.org/officeDocument/2006/relationships/slide" Target="/ppt/slides/slide21.xml" Id="R408ab9de53d9489a" /><Relationship Type="http://schemas.openxmlformats.org/officeDocument/2006/relationships/slide" Target="/ppt/slides/slide22.xml" Id="R047c1ea81ee24956" /><Relationship Type="http://schemas.openxmlformats.org/officeDocument/2006/relationships/slide" Target="/ppt/slides/slide23.xml" Id="Ra40784e1a04b4e43" /><Relationship Type="http://schemas.openxmlformats.org/officeDocument/2006/relationships/slide" Target="/ppt/slides/slide24.xml" Id="R742439f509e4424a" /><Relationship Type="http://schemas.openxmlformats.org/officeDocument/2006/relationships/slide" Target="/ppt/slides/slide25.xml" Id="Rfb7f90dde5204b23" /><Relationship Type="http://schemas.openxmlformats.org/officeDocument/2006/relationships/slide" Target="/ppt/slides/slide26.xml" Id="Rabc22ffb6b01403f" /><Relationship Type="http://schemas.openxmlformats.org/officeDocument/2006/relationships/slide" Target="/ppt/slides/slide27.xml" Id="R74ef312430db4b9a" /><Relationship Type="http://schemas.openxmlformats.org/officeDocument/2006/relationships/slide" Target="/ppt/slides/slide28.xml" Id="R217c1b5749bc4cc3" /><Relationship Type="http://schemas.openxmlformats.org/officeDocument/2006/relationships/slide" Target="/ppt/slides/slide29.xml" Id="R65282a43340b40c7" /><Relationship Type="http://schemas.openxmlformats.org/officeDocument/2006/relationships/slide" Target="/ppt/slides/slide30.xml" Id="R5c6d941a7c80456c" /><Relationship Type="http://schemas.openxmlformats.org/officeDocument/2006/relationships/slide" Target="/ppt/slides/slide31.xml" Id="R8e08c1bae322428d" /><Relationship Type="http://schemas.openxmlformats.org/officeDocument/2006/relationships/slide" Target="/ppt/slides/slide32.xml" Id="R916b37abd1b04e74" /><Relationship Type="http://schemas.openxmlformats.org/officeDocument/2006/relationships/slide" Target="/ppt/slides/slide33.xml" Id="R2c2bc23623cd43dd" /><Relationship Type="http://schemas.openxmlformats.org/officeDocument/2006/relationships/slide" Target="/ppt/slides/slide34.xml" Id="Rd4ae29b9ed2c45fc" /><Relationship Type="http://schemas.openxmlformats.org/officeDocument/2006/relationships/slide" Target="/ppt/slides/slide35.xml" Id="R411c389341a944fe" /><Relationship Type="http://schemas.openxmlformats.org/officeDocument/2006/relationships/slide" Target="/ppt/slides/slide36.xml" Id="R80fecf8d9d2b4c75" /><Relationship Type="http://schemas.openxmlformats.org/officeDocument/2006/relationships/slide" Target="/ppt/slides/slide37.xml" Id="R6b1454454ea3423f" /><Relationship Type="http://schemas.openxmlformats.org/officeDocument/2006/relationships/slide" Target="/ppt/slides/slide38.xml" Id="R0d9c2ff5f233492a" /><Relationship Type="http://schemas.openxmlformats.org/officeDocument/2006/relationships/slide" Target="/ppt/slides/slide39.xml" Id="Rde41f8b7ab6b4b19" /><Relationship Type="http://schemas.openxmlformats.org/officeDocument/2006/relationships/slide" Target="/ppt/slides/slide40.xml" Id="R541146e08ff040f7" /><Relationship Type="http://schemas.openxmlformats.org/officeDocument/2006/relationships/slide" Target="/ppt/slides/slide41.xml" Id="R50a75b566cab4544" /><Relationship Type="http://schemas.openxmlformats.org/officeDocument/2006/relationships/slide" Target="/ppt/slides/slide42.xml" Id="R66a695fe9bed4b11" /><Relationship Type="http://schemas.openxmlformats.org/officeDocument/2006/relationships/slide" Target="/ppt/slides/slide43.xml" Id="R6e2556199d7b42f2" /><Relationship Type="http://schemas.openxmlformats.org/officeDocument/2006/relationships/slide" Target="/ppt/slides/slide44.xml" Id="R4090715e15064c20" /><Relationship Type="http://schemas.openxmlformats.org/officeDocument/2006/relationships/slide" Target="/ppt/slides/slide45.xml" Id="R8d33c7d293814b0d" /><Relationship Type="http://schemas.openxmlformats.org/officeDocument/2006/relationships/slide" Target="/ppt/slides/slide46.xml" Id="Reec7c9fb72764ce4" /><Relationship Type="http://schemas.openxmlformats.org/officeDocument/2006/relationships/slide" Target="/ppt/slides/slide47.xml" Id="R6fdc91b789894273" /><Relationship Type="http://schemas.openxmlformats.org/officeDocument/2006/relationships/slide" Target="/ppt/slides/slide48.xml" Id="Rbc0758985ac24e8e" /><Relationship Type="http://schemas.openxmlformats.org/officeDocument/2006/relationships/slide" Target="/ppt/slides/slide49.xml" Id="Ree30f29b74524eca" /><Relationship Type="http://schemas.openxmlformats.org/officeDocument/2006/relationships/slide" Target="/ppt/slides/slide50.xml" Id="Rf11708e1e849423b" /><Relationship Type="http://schemas.openxmlformats.org/officeDocument/2006/relationships/slide" Target="/ppt/slides/slide51.xml" Id="R78358af2c1a9431f" /><Relationship Type="http://schemas.openxmlformats.org/officeDocument/2006/relationships/slide" Target="/ppt/slides/slide52.xml" Id="R1a27ff03682c40b0" /><Relationship Type="http://schemas.openxmlformats.org/officeDocument/2006/relationships/slide" Target="/ppt/slides/slide53.xml" Id="R89be9954856e43ed" /><Relationship Type="http://schemas.openxmlformats.org/officeDocument/2006/relationships/slide" Target="/ppt/slides/slide54.xml" Id="Rd1b8bdf8093e41a2" /><Relationship Type="http://schemas.openxmlformats.org/officeDocument/2006/relationships/slide" Target="/ppt/slides/slide55.xml" Id="Refe5ae27b2f94895" /><Relationship Type="http://schemas.openxmlformats.org/officeDocument/2006/relationships/slide" Target="/ppt/slides/slide56.xml" Id="Rd6dd513e875a453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74b19d1afda946a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8d09fb1fc284774" /><Relationship Type="http://schemas.openxmlformats.org/officeDocument/2006/relationships/notesMaster" Target="/ppt/notesMasters/notesMaster1.xml" Id="R22e0e700210f4c7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3cd5bd57c954096" /><Relationship Type="http://schemas.openxmlformats.org/officeDocument/2006/relationships/notesMaster" Target="/ppt/notesMasters/notesMaster1.xml" Id="Ref3212276092474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d0697196e7643ea" /><Relationship Type="http://schemas.openxmlformats.org/officeDocument/2006/relationships/notesMaster" Target="/ppt/notesMasters/notesMaster1.xml" Id="R6d91adac361c482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c73733b036d4350" /><Relationship Type="http://schemas.openxmlformats.org/officeDocument/2006/relationships/notesMaster" Target="/ppt/notesMasters/notesMaster1.xml" Id="Rf36fd8fb60f74c8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063e5c77f6e4f7a" /><Relationship Type="http://schemas.openxmlformats.org/officeDocument/2006/relationships/notesMaster" Target="/ppt/notesMasters/notesMaster1.xml" Id="R302c1704b0b1432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a37143a44594446" /><Relationship Type="http://schemas.openxmlformats.org/officeDocument/2006/relationships/notesMaster" Target="/ppt/notesMasters/notesMaster1.xml" Id="Rb92b4840aac14b5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3bce83c9e63480d" /><Relationship Type="http://schemas.openxmlformats.org/officeDocument/2006/relationships/notesMaster" Target="/ppt/notesMasters/notesMaster1.xml" Id="Rc38ff7c4a61a488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c11234ea8b24a70" /><Relationship Type="http://schemas.openxmlformats.org/officeDocument/2006/relationships/notesMaster" Target="/ppt/notesMasters/notesMaster1.xml" Id="R35d848267244430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bd7ffccaa9b4faa" /><Relationship Type="http://schemas.openxmlformats.org/officeDocument/2006/relationships/notesMaster" Target="/ppt/notesMasters/notesMaster1.xml" Id="R05827c882a344c4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d188c72ffd64c15" /><Relationship Type="http://schemas.openxmlformats.org/officeDocument/2006/relationships/notesMaster" Target="/ppt/notesMasters/notesMaster1.xml" Id="R419b3773192b4f2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a0eee425e4e41bc" /><Relationship Type="http://schemas.openxmlformats.org/officeDocument/2006/relationships/notesMaster" Target="/ppt/notesMasters/notesMaster1.xml" Id="R8add79f173554e7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2473d9a4baf4ac3" /><Relationship Type="http://schemas.openxmlformats.org/officeDocument/2006/relationships/notesMaster" Target="/ppt/notesMasters/notesMaster1.xml" Id="R2b3db1a32066481b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63f75f6b69064794" /><Relationship Type="http://schemas.openxmlformats.org/officeDocument/2006/relationships/notesMaster" Target="/ppt/notesMasters/notesMaster1.xml" Id="Rd4fbfd26419b4ffe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f48888b256e54822" /><Relationship Type="http://schemas.openxmlformats.org/officeDocument/2006/relationships/notesMaster" Target="/ppt/notesMasters/notesMaster1.xml" Id="R81a0e94805894f63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0c3b8210f66f47c5" /><Relationship Type="http://schemas.openxmlformats.org/officeDocument/2006/relationships/notesMaster" Target="/ppt/notesMasters/notesMaster1.xml" Id="R9d8d929bd52845db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6f6d3c035f4b4247" /><Relationship Type="http://schemas.openxmlformats.org/officeDocument/2006/relationships/notesMaster" Target="/ppt/notesMasters/notesMaster1.xml" Id="R363a1987ae0340c4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dccea6a0e70a497a" /><Relationship Type="http://schemas.openxmlformats.org/officeDocument/2006/relationships/notesMaster" Target="/ppt/notesMasters/notesMaster1.xml" Id="Rb4faab8989b04a35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05b5012d998b4dac" /><Relationship Type="http://schemas.openxmlformats.org/officeDocument/2006/relationships/notesMaster" Target="/ppt/notesMasters/notesMaster1.xml" Id="R1eaf1efb50f24ebd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98e143ccc78243f6" /><Relationship Type="http://schemas.openxmlformats.org/officeDocument/2006/relationships/notesMaster" Target="/ppt/notesMasters/notesMaster1.xml" Id="R3ce334f9bc6e4f35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3f62e63e71e44e11" /><Relationship Type="http://schemas.openxmlformats.org/officeDocument/2006/relationships/notesMaster" Target="/ppt/notesMasters/notesMaster1.xml" Id="Rf39250eb837a444a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791fbf246e1746ab" /><Relationship Type="http://schemas.openxmlformats.org/officeDocument/2006/relationships/notesMaster" Target="/ppt/notesMasters/notesMaster1.xml" Id="R1f0285ec624a4468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e3b6ee4edc244d3f" /><Relationship Type="http://schemas.openxmlformats.org/officeDocument/2006/relationships/notesMaster" Target="/ppt/notesMasters/notesMaster1.xml" Id="R1877f6cca9ff4a3a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f344a9d092fb4bd2" /><Relationship Type="http://schemas.openxmlformats.org/officeDocument/2006/relationships/notesMaster" Target="/ppt/notesMasters/notesMaster1.xml" Id="R7df65669d11644eb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62a5b8abe00d4574" /><Relationship Type="http://schemas.openxmlformats.org/officeDocument/2006/relationships/notesMaster" Target="/ppt/notesMasters/notesMaster1.xml" Id="Rb13c31b2a4fc467e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76d15234ec17401d" /><Relationship Type="http://schemas.openxmlformats.org/officeDocument/2006/relationships/notesMaster" Target="/ppt/notesMasters/notesMaster1.xml" Id="R5bc5170adc20402f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9c4e430d71ac42a1" /><Relationship Type="http://schemas.openxmlformats.org/officeDocument/2006/relationships/notesMaster" Target="/ppt/notesMasters/notesMaster1.xml" Id="R0ad9b2115cdc480a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3bb5970ee0da4de3" /><Relationship Type="http://schemas.openxmlformats.org/officeDocument/2006/relationships/notesMaster" Target="/ppt/notesMasters/notesMaster1.xml" Id="Rdb94f3f4d46d4d47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77333e28bef54e07" /><Relationship Type="http://schemas.openxmlformats.org/officeDocument/2006/relationships/notesMaster" Target="/ppt/notesMasters/notesMaster1.xml" Id="R8b083dd51d804caf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d161363a8e274b89" /><Relationship Type="http://schemas.openxmlformats.org/officeDocument/2006/relationships/notesMaster" Target="/ppt/notesMasters/notesMaster1.xml" Id="Rd8a8a7a376a249c7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d31d5c4ba4064666" /><Relationship Type="http://schemas.openxmlformats.org/officeDocument/2006/relationships/notesMaster" Target="/ppt/notesMasters/notesMaster1.xml" Id="Rd9c8e8b4bef54a84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900e224ea0c84ae1" /><Relationship Type="http://schemas.openxmlformats.org/officeDocument/2006/relationships/notesMaster" Target="/ppt/notesMasters/notesMaster1.xml" Id="R53dcf7161bc04f8f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8ba7c43f8bc048fe" /><Relationship Type="http://schemas.openxmlformats.org/officeDocument/2006/relationships/notesMaster" Target="/ppt/notesMasters/notesMaster1.xml" Id="Rc306dff9ac9f45ac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222aca6509d34833" /><Relationship Type="http://schemas.openxmlformats.org/officeDocument/2006/relationships/notesMaster" Target="/ppt/notesMasters/notesMaster1.xml" Id="Rff362a8faad546dc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7f5a36ec622e4859" /><Relationship Type="http://schemas.openxmlformats.org/officeDocument/2006/relationships/notesMaster" Target="/ppt/notesMasters/notesMaster1.xml" Id="R295a4cbca820440c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b59acd9d41b14991" /><Relationship Type="http://schemas.openxmlformats.org/officeDocument/2006/relationships/notesMaster" Target="/ppt/notesMasters/notesMaster1.xml" Id="R0c5758ff93ed4507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4836428a962546e4" /><Relationship Type="http://schemas.openxmlformats.org/officeDocument/2006/relationships/notesMaster" Target="/ppt/notesMasters/notesMaster1.xml" Id="Rfbb596750f964d67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53eeefd39c234b69" /><Relationship Type="http://schemas.openxmlformats.org/officeDocument/2006/relationships/notesMaster" Target="/ppt/notesMasters/notesMaster1.xml" Id="R35e116e3a99e4694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68462a3795ee4df6" /><Relationship Type="http://schemas.openxmlformats.org/officeDocument/2006/relationships/notesMaster" Target="/ppt/notesMasters/notesMaster1.xml" Id="Rd9a8f03bc3f04adf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8460bd195d894e67" /><Relationship Type="http://schemas.openxmlformats.org/officeDocument/2006/relationships/notesMaster" Target="/ppt/notesMasters/notesMaster1.xml" Id="Re71935720b41485a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4b11447805ed4fed" /><Relationship Type="http://schemas.openxmlformats.org/officeDocument/2006/relationships/notesMaster" Target="/ppt/notesMasters/notesMaster1.xml" Id="R9422f9383df1478f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b93dae71ad3e4401" /><Relationship Type="http://schemas.openxmlformats.org/officeDocument/2006/relationships/notesMaster" Target="/ppt/notesMasters/notesMaster1.xml" Id="R6b26a1746dbb4066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49a31b1784a649e6" /><Relationship Type="http://schemas.openxmlformats.org/officeDocument/2006/relationships/notesMaster" Target="/ppt/notesMasters/notesMaster1.xml" Id="R318c878fe77a4760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c09e5d19206c440a" /><Relationship Type="http://schemas.openxmlformats.org/officeDocument/2006/relationships/notesMaster" Target="/ppt/notesMasters/notesMaster1.xml" Id="R42e519441a314288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da2b399958374b65" /><Relationship Type="http://schemas.openxmlformats.org/officeDocument/2006/relationships/notesMaster" Target="/ppt/notesMasters/notesMaster1.xml" Id="R60b4a229d61a421a" /></Relationships>
</file>

<file path=ppt/notesSlides/_rels/notesSlide45.xml.rels>&#65279;<?xml version="1.0" encoding="utf-8"?><Relationships xmlns="http://schemas.openxmlformats.org/package/2006/relationships"><Relationship Type="http://schemas.openxmlformats.org/officeDocument/2006/relationships/slide" Target="/ppt/slides/slide45.xml" Id="R61c0016273714746" /><Relationship Type="http://schemas.openxmlformats.org/officeDocument/2006/relationships/notesMaster" Target="/ppt/notesMasters/notesMaster1.xml" Id="R5644618be4d84aa4" /></Relationships>
</file>

<file path=ppt/notesSlides/_rels/notesSlide46.xml.rels>&#65279;<?xml version="1.0" encoding="utf-8"?><Relationships xmlns="http://schemas.openxmlformats.org/package/2006/relationships"><Relationship Type="http://schemas.openxmlformats.org/officeDocument/2006/relationships/slide" Target="/ppt/slides/slide46.xml" Id="Rb5907e3a08ef46e3" /><Relationship Type="http://schemas.openxmlformats.org/officeDocument/2006/relationships/notesMaster" Target="/ppt/notesMasters/notesMaster1.xml" Id="Rb452ce8487cb427d" /></Relationships>
</file>

<file path=ppt/notesSlides/_rels/notesSlide47.xml.rels>&#65279;<?xml version="1.0" encoding="utf-8"?><Relationships xmlns="http://schemas.openxmlformats.org/package/2006/relationships"><Relationship Type="http://schemas.openxmlformats.org/officeDocument/2006/relationships/slide" Target="/ppt/slides/slide47.xml" Id="Rb3bfbcd2ec05449e" /><Relationship Type="http://schemas.openxmlformats.org/officeDocument/2006/relationships/notesMaster" Target="/ppt/notesMasters/notesMaster1.xml" Id="R15d79a0937084a4e" /></Relationships>
</file>

<file path=ppt/notesSlides/_rels/notesSlide48.xml.rels>&#65279;<?xml version="1.0" encoding="utf-8"?><Relationships xmlns="http://schemas.openxmlformats.org/package/2006/relationships"><Relationship Type="http://schemas.openxmlformats.org/officeDocument/2006/relationships/slide" Target="/ppt/slides/slide48.xml" Id="Rf24776ed79614e86" /><Relationship Type="http://schemas.openxmlformats.org/officeDocument/2006/relationships/notesMaster" Target="/ppt/notesMasters/notesMaster1.xml" Id="R1096b3ea83b041f2" /></Relationships>
</file>

<file path=ppt/notesSlides/_rels/notesSlide49.xml.rels>&#65279;<?xml version="1.0" encoding="utf-8"?><Relationships xmlns="http://schemas.openxmlformats.org/package/2006/relationships"><Relationship Type="http://schemas.openxmlformats.org/officeDocument/2006/relationships/slide" Target="/ppt/slides/slide49.xml" Id="Rcefa2f192b5e426e" /><Relationship Type="http://schemas.openxmlformats.org/officeDocument/2006/relationships/notesMaster" Target="/ppt/notesMasters/notesMaster1.xml" Id="Rbf317b8417cb474f" /></Relationships>
</file>

<file path=ppt/notesSlides/_rels/notesSlide50.xml.rels>&#65279;<?xml version="1.0" encoding="utf-8"?><Relationships xmlns="http://schemas.openxmlformats.org/package/2006/relationships"><Relationship Type="http://schemas.openxmlformats.org/officeDocument/2006/relationships/slide" Target="/ppt/slides/slide50.xml" Id="R83d002a810024e81" /><Relationship Type="http://schemas.openxmlformats.org/officeDocument/2006/relationships/notesMaster" Target="/ppt/notesMasters/notesMaster1.xml" Id="R072657846a124880" /></Relationships>
</file>

<file path=ppt/notesSlides/_rels/notesSlide51.xml.rels>&#65279;<?xml version="1.0" encoding="utf-8"?><Relationships xmlns="http://schemas.openxmlformats.org/package/2006/relationships"><Relationship Type="http://schemas.openxmlformats.org/officeDocument/2006/relationships/slide" Target="/ppt/slides/slide51.xml" Id="R1abd7bfcb5fc4a70" /><Relationship Type="http://schemas.openxmlformats.org/officeDocument/2006/relationships/notesMaster" Target="/ppt/notesMasters/notesMaster1.xml" Id="R0f9606c30bc14149" /></Relationships>
</file>

<file path=ppt/notesSlides/_rels/notesSlide52.xml.rels>&#65279;<?xml version="1.0" encoding="utf-8"?><Relationships xmlns="http://schemas.openxmlformats.org/package/2006/relationships"><Relationship Type="http://schemas.openxmlformats.org/officeDocument/2006/relationships/slide" Target="/ppt/slides/slide52.xml" Id="Re55b425001e74168" /><Relationship Type="http://schemas.openxmlformats.org/officeDocument/2006/relationships/notesMaster" Target="/ppt/notesMasters/notesMaster1.xml" Id="R13c9bf16a7374bd7" /></Relationships>
</file>

<file path=ppt/notesSlides/_rels/notesSlide53.xml.rels>&#65279;<?xml version="1.0" encoding="utf-8"?><Relationships xmlns="http://schemas.openxmlformats.org/package/2006/relationships"><Relationship Type="http://schemas.openxmlformats.org/officeDocument/2006/relationships/slide" Target="/ppt/slides/slide53.xml" Id="Raa0f42f37e7549d0" /><Relationship Type="http://schemas.openxmlformats.org/officeDocument/2006/relationships/notesMaster" Target="/ppt/notesMasters/notesMaster1.xml" Id="Rfc31bc70f8a74805" /></Relationships>
</file>

<file path=ppt/notesSlides/_rels/notesSlide54.xml.rels>&#65279;<?xml version="1.0" encoding="utf-8"?><Relationships xmlns="http://schemas.openxmlformats.org/package/2006/relationships"><Relationship Type="http://schemas.openxmlformats.org/officeDocument/2006/relationships/slide" Target="/ppt/slides/slide54.xml" Id="R0ea85016cf964342" /><Relationship Type="http://schemas.openxmlformats.org/officeDocument/2006/relationships/notesMaster" Target="/ppt/notesMasters/notesMaster1.xml" Id="R724c8a106a214a74" /></Relationships>
</file>

<file path=ppt/notesSlides/_rels/notesSlide55.xml.rels>&#65279;<?xml version="1.0" encoding="utf-8"?><Relationships xmlns="http://schemas.openxmlformats.org/package/2006/relationships"><Relationship Type="http://schemas.openxmlformats.org/officeDocument/2006/relationships/slide" Target="/ppt/slides/slide55.xml" Id="R8aad3454076f4ea7" /><Relationship Type="http://schemas.openxmlformats.org/officeDocument/2006/relationships/notesMaster" Target="/ppt/notesMasters/notesMaster1.xml" Id="Rf4bb0037582c49bd" /></Relationships>
</file>

<file path=ppt/notesSlides/_rels/notesSlide56.xml.rels>&#65279;<?xml version="1.0" encoding="utf-8"?><Relationships xmlns="http://schemas.openxmlformats.org/package/2006/relationships"><Relationship Type="http://schemas.openxmlformats.org/officeDocument/2006/relationships/slide" Target="/ppt/slides/slide56.xml" Id="Rce07ca7abfb04ca3" /><Relationship Type="http://schemas.openxmlformats.org/officeDocument/2006/relationships/notesMaster" Target="/ppt/notesMasters/notesMaster1.xml" Id="Re0d96fa328b143e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本页目的：承接上下文工程，把知识包、工具、审批和日志接成企业可试点的数字员工。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师逐字稿：【开场，约40秒】各位看这一页，标题是“Agent流程设计与数字员工部署”。这一页要训练的不是记住一个Agent术语，而是让FDE在企业现场能判断：一个数字员工要进入真实流程，必须具备哪些角色、工具、权限、审批、日志和复盘机制。请先记住本页核心句：承接上下文工程，把知识包、工具、审批和日志接成企业可试点的数字员工。接下来我会把它落到流程、工具、人机协作、安全和上线验收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概念展开，约1分30秒】屏幕上的关键词是：角色契约；流程蓝图；工具权限；人机协作；编排模式；灰度上线。讲这些词时，不要像念清单一样念过去。FDE要把每个词翻译成部署动作：谁触发，AI先判断什么，调用哪个工具，哪些动作必须人审，结果写回哪里，失败怎么降级，日志如何追踪。只有这样，学员才会理解数字员工不是聊天框，而是受控工作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为什么这样讲，约1分钟】第4章要把第3章的上下文包变成可运行的数字员工。开场必须立清边界：本章不是泛泛讲Agent概念，也不是炫耀自动化，而是训练FDE把业务流程、工具权限、人机协作和上线验收设计成一套可交付部署蓝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怎么讲，约2分钟】这里要把“AI助手”拉回岗位语言。岗位不是功能集合，而是服务对象、工作范围、输入输出、协作关系和绩效指标。比如销售线索数字员工，不是“帮销售聊天”，而是服务销售团队，处理线索进入后的画像补全、优先级判断、跟进草稿、CRM回写和主管复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延伸背景，约1分钟】企业AI从个人工具走向数字员工时，最容易被低估的是行动责任。个人用AI写错一段文字，可以自己修改；数字员工如果写错CRM、发错客户消息、提交错误审批，就会影响真实业务。因此第4章必须把工具、权限、审批、日志和回滚讲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讲师内心判断，约1分钟】如果学员只说“Agent会自动处理”，说明还停在演示层。你要追问：自动到哪一步，哪个动作需要人审，调用什么工具，失败后如何降级，日志由谁看，业务指标如何复盘。能回答这些问题，才进入部署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课堂追问，约1分钟】可以停下来问：如果数字员工做错了，是模型问题、流程问题、工具问题、权限问题，还是人审规则问题？请学员至少说出四种可能。这个追问能训练他们上线后的问题定位能力，而不是只会换模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【落地提醒，约1分钟】数字员工部署要避免一次性全自动。第一版要围绕低风险高频任务，保留人工确认和日志复盘，先证明流程闭环和价值，再逐步放权。FDE要训练的是渐进式上线能力。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【收束，约30秒】所以这一页最后要带走的不是“Chapter 04”这个标签，而是一个动作：下次客户说“我们要做AI员工”时，你要继续问它负责哪个岗位、走哪条流程、调用哪些工具、谁审批、如何回写、怎么验收。明确本章边界后，我们进入Agent与数字员工的底层心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互动问题：请学员用一句话说明本页如何影响数字员工部署。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过渡语：明确本章边界后，我们进入Agent与数字员工的底层心法。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本页目的：本章训练FDE把AI从“会回答”推进到“能受控执行”。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师逐字稿：【开场，约40秒】各位看这一页，标题是“8课时学习路径”。这一页要训练的不是记住一个Agent术语，而是让FDE在企业现场能判断：一个数字员工要进入真实流程，必须具备哪些角色、工具、权限、审批、日志和复盘机制。请先记住本页核心句：本章训练FDE把AI从“会回答”推进到“能受控执行”。接下来我会把它落到流程、工具、人机协作、安全和上线验收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概念展开，约1分30秒】屏幕上的关键词是：部署契约；Agent心法；流程蓝图；工具权限；人机护栏；编排协作；平台实践；上线验收。讲这些词时，不要像念清单一样念过去。FDE要把每个词翻译成部署动作：谁触发，AI先判断什么，调用哪个工具，哪些动作必须人审，结果写回哪里，失败怎么降级，日志如何追踪。只有这样，学员才会理解数字员工不是聊天框，而是受控工作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为什么这样讲，约1分钟】第4章要把第3章的上下文包变成可运行的数字员工。开场必须立清边界：本章不是泛泛讲Agent概念，也不是炫耀自动化，而是训练FDE把业务流程、工具权限、人机协作和上线验收设计成一套可交付部署蓝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怎么讲，约2分钟】这一页要反复把概念落到FDE现场问法。每讲一个关键词，就补一句现场追问：谁触发，做哪一步，调用什么工具，谁审批，失败怎么办，日志在哪里，如何验收。这样学员会形成数字员工部署的肌肉记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延伸背景，约1分钟】企业AI从个人工具走向数字员工时，最容易被低估的是行动责任。个人用AI写错一段文字，可以自己修改；数字员工如果写错CRM、发错客户消息、提交错误审批，就会影响真实业务。因此第4章必须把工具、权限、审批、日志和回滚讲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讲师内心判断，约1分钟】如果学员只说“Agent会自动处理”，说明还停在演示层。你要追问：自动到哪一步，哪个动作需要人审，调用什么工具，失败后如何降级，日志由谁看，业务指标如何复盘。能回答这些问题，才进入部署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课堂追问，约1分钟】可以停下来问：如果数字员工做错了，是模型问题、流程问题、工具问题、权限问题，还是人审规则问题？请学员至少说出四种可能。这个追问能训练他们上线后的问题定位能力，而不是只会换模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【落地提醒，约1分钟】数字员工部署要避免一次性全自动。第一版要围绕低风险高频任务，保留人工确认和日志复盘，先证明流程闭环和价值，再逐步放权。FDE要训练的是渐进式上线能力。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【复盘动作，约1分钟】讲完这一页后，让学员用一句客户现场语言复述。例如：“我们不是先做一个全自动Agent，而是先把这条销售线索流程拆清楚，定义工具权限和人审节点，在试点团队里跑出可复盘结果。”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收束，约30秒】所以这一页最后要带走的不是“本章地图”这个标签，而是一个动作：下次客户说“我们要做AI员工”时，你要继续问它负责哪个岗位、走哪条流程、调用哪些工具、谁审批、如何回写、怎么验收。明确本章边界后，我们进入Agent与数字员工的底层心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互动问题：请学员用一句话说明本页如何影响数字员工部署。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过渡语：明确本章边界后，我们进入Agent与数字员工的底层心法。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本页目的：第3章解决AI知道什么，第4章解决AI在流程里怎么行动。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师逐字稿：【开场，约40秒】各位看这一页，标题是“从上下文包到数字员工”。这一页要训练的不是记住一个Agent术语，而是让FDE在企业现场能判断：一个数字员工要进入真实流程，必须具备哪些角色、工具、权限、审批、日志和复盘机制。请先记住本页核心句：第3章解决AI知道什么，第4章解决AI在流程里怎么行动。接下来我会把它落到流程、工具、人机协作、安全和上线验收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概念展开，约1分30秒】屏幕上的关键词是：上下文包；任务目标；工具清单；审批边界；执行日志；运营指标。讲这些词时，不要像念清单一样念过去。FDE要把每个词翻译成部署动作：谁触发，AI先判断什么，调用哪个工具，哪些动作必须人审，结果写回哪里，失败怎么降级，日志如何追踪。只有这样，学员才会理解数字员工不是聊天框，而是受控工作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为什么这样讲，约1分钟】第4章要把第3章的上下文包变成可运行的数字员工。开场必须立清边界：本章不是泛泛讲Agent概念，也不是炫耀自动化，而是训练FDE把业务流程、工具权限、人机协作和上线验收设计成一套可交付部署蓝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怎么讲，约2分钟】这里要把“AI助手”拉回岗位语言。岗位不是功能集合，而是服务对象、工作范围、输入输出、协作关系和绩效指标。比如销售线索数字员工，不是“帮销售聊天”，而是服务销售团队，处理线索进入后的画像补全、优先级判断、跟进草稿、CRM回写和主管复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案例补强，约1分30秒】这里可以用一个通用案例：企业想做销售数字员工。普通做法是让AI帮销售写话术；FDE做法是设计完整流程：线索进入后先匹配客户ID，调用CRM查历史，补全画像，判断优先级，生成跟进草稿，销售确认后写回CRM，异常情况转主管，最后用转化率和响应时长复盘。这样一拆，数字员工才从演示变成部署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板书动作，约1分钟】请在白板写七个词：触发、理解、计划、工具、人审、回写、复盘。然后告诉学员：以后设计任何企业Agent，都先问这七个问题。什么时候启动？如何识别意图？怎样拆步骤？调用什么工具？谁来审核？结果写到哪里？上线后看什么指标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延伸背景，约1分钟】企业AI从个人工具走向数字员工时，最容易被低估的是行动责任。个人用AI写错一段文字，可以自己修改；数字员工如果写错CRM、发错客户消息、提交错误审批，就会影响真实业务。因此第4章必须把工具、权限、审批、日志和回滚讲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讲师内心判断，约1分钟】如果学员只说“Agent会自动处理”，说明还停在演示层。你要追问：自动到哪一步，哪个动作需要人审，调用什么工具，失败后如何降级，日志由谁看，业务指标如何复盘。能回答这些问题，才进入部署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课堂追问，约1分钟】可以停下来问：如果数字员工做错了，是模型问题、流程问题、工具问题、权限问题，还是人审规则问题？请学员至少说出四种可能。这个追问能训练他们上线后的问题定位能力，而不是只会换模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【落地提醒，约1分钟】数字员工部署要避免一次性全自动。第一版要围绕低风险高频任务，保留人工确认和日志复盘，先证明流程闭环和价值，再逐步放权。FDE要训练的是渐进式上线能力。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【复盘动作，约1分钟】讲完这一页后，让学员用一句客户现场语言复述。例如：“我们不是先做一个全自动Agent，而是先把这条销售线索流程拆清楚，定义工具权限和人审节点，在试点团队里跑出可复盘结果。”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收束，约30秒】所以这一页最后要带走的不是“承接第3章”这个标签，而是一个动作：下次客户说“我们要做AI员工”时，你要继续问它负责哪个岗位、走哪条流程、调用哪些工具、谁审批、如何回写、怎么验收。明确本章边界后，我们进入Agent与数字员工的底层心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互动问题：请学员用一句话说明本页如何影响数字员工部署。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过渡语：明确本章边界后，我们进入Agent与数字员工的底层心法。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本页目的：Agent失败通常不是模型不会，而是流程、工具、权限、异常和责任没有设计清楚。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师逐字稿：【开场，约40秒】各位看这一页，标题是“为什么很多Agent试点停在Demo”。这一页要训练的不是记住一个Agent术语，而是让FDE在企业现场能判断：一个数字员工要进入真实流程，必须具备哪些角色、工具、权限、审批、日志和复盘机制。请先记住本页核心句：Agent失败通常不是模型不会，而是流程、工具、权限、异常和责任没有设计清楚。接下来我会把它落到流程、工具、人机协作、安全和上线验收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概念展开，约1分30秒】屏幕上的关键词是：只会对话；不能写回；权限越界；异常无人接；日志缺失；业务不敢用。讲这些词时，不要像念清单一样念过去。FDE要把每个词翻译成部署动作：谁触发，AI先判断什么，调用哪个工具，哪些动作必须人审，结果写回哪里，失败怎么降级，日志如何追踪。只有这样，学员才会理解数字员工不是聊天框，而是受控工作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为什么这样讲，约1分钟】第4章要把第3章的上下文包变成可运行的数字员工。开场必须立清边界：本章不是泛泛讲Agent概念，也不是炫耀自动化，而是训练FDE把业务流程、工具权限、人机协作和上线验收设计成一套可交付部署蓝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怎么讲，约2分钟】编排模式要避免炫技。高频稳定任务优先确定性工作流，复杂任务才考虑计划-执行，需要质量检查才加评估器，确实存在不同专业分工才用多Agent。FDE的专业判断是选最小可控架构，而不是选最复杂架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案例补强，约1分30秒】这里可以用一个通用案例：企业想做销售数字员工。普通做法是让AI帮销售写话术；FDE做法是设计完整流程：线索进入后先匹配客户ID，调用CRM查历史，补全画像，判断优先级，生成跟进草稿，销售确认后写回CRM，异常情况转主管，最后用转化率和响应时长复盘。这样一拆，数字员工才从演示变成部署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板书动作，约1分钟】请在白板写七个词：触发、理解、计划、工具、人审、回写、复盘。然后告诉学员：以后设计任何企业Agent，都先问这七个问题。什么时候启动？如何识别意图？怎样拆步骤？调用什么工具？谁来审核？结果写到哪里？上线后看什么指标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延伸背景，约1分钟】企业AI从个人工具走向数字员工时，最容易被低估的是行动责任。个人用AI写错一段文字，可以自己修改；数字员工如果写错CRM、发错客户消息、提交错误审批，就会影响真实业务。因此第4章必须把工具、权限、审批、日志和回滚讲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讲师内心判断，约1分钟】如果学员只说“Agent会自动处理”，说明还停在演示层。你要追问：自动到哪一步，哪个动作需要人审，调用什么工具，失败后如何降级，日志由谁看，业务指标如何复盘。能回答这些问题，才进入部署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课堂追问，约1分钟】可以停下来问：如果数字员工做错了，是模型问题、流程问题、工具问题、权限问题，还是人审规则问题？请学员至少说出四种可能。这个追问能训练他们上线后的问题定位能力，而不是只会换模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【落地提醒，约1分钟】数字员工部署要避免一次性全自动。第一版要围绕低风险高频任务，保留人工确认和日志复盘，先证明流程闭环和价值，再逐步放权。FDE要训练的是渐进式上线能力。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【复盘动作，约1分钟】讲完这一页后，让学员用一句客户现场语言复述。例如：“我们不是先做一个全自动Agent，而是先把这条销售线索流程拆清楚，定义工具权限和人审节点，在试点团队里跑出可复盘结果。”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收束，约30秒】所以这一页最后要带走的不是“失败案例”这个标签，而是一个动作：下次客户说“我们要做AI员工”时，你要继续问它负责哪个岗位、走哪条流程、调用哪些工具、谁审批、如何回写、怎么验收。明确本章边界后，我们进入Agent与数字员工的底层心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互动问题：请学员用一句话说明本页如何影响数字员工部署。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过渡语：明确本章边界后，我们进入Agent与数字员工的底层心法。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本页目的：能行动的AI必须有角色、上下文、工具、边界、接管、日志和复盘。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师逐字稿：【开场，约40秒】各位看这一页，标题是“数字员工不是聊天框，而是受控工作流”。这一页要训练的不是记住一个Agent术语，而是让FDE在企业现场能判断：一个数字员工要进入真实流程，必须具备哪些角色、工具、权限、审批、日志和复盘机制。请先记住本页核心句：能行动的AI必须有角色、上下文、工具、边界、接管、日志和复盘。接下来我会把它落到流程、工具、人机协作、安全和上线验收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概念展开，约1分30秒】屏幕上的关键词是：角色；工具；边界；日志；复盘。讲这些词时，不要像念清单一样念过去。FDE要把每个词翻译成部署动作：谁触发，AI先判断什么，调用哪个工具，哪些动作必须人审，结果写回哪里，失败怎么降级，日志如何追踪。只有这样，学员才会理解数字员工不是聊天框，而是受控工作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为什么这样讲，约1分钟】第4章要把第3章的上下文包变成可运行的数字员工。开场必须立清边界：本章不是泛泛讲Agent概念，也不是炫耀自动化，而是训练FDE把业务流程、工具权限、人机协作和上线验收设计成一套可交付部署蓝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怎么讲，约2分钟】这里要把“AI助手”拉回岗位语言。岗位不是功能集合，而是服务对象、工作范围、输入输出、协作关系和绩效指标。比如销售线索数字员工，不是“帮销售聊天”，而是服务销售团队，处理线索进入后的画像补全、优先级判断、跟进草稿、CRM回写和主管复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延伸背景，约1分钟】企业AI从个人工具走向数字员工时，最容易被低估的是行动责任。个人用AI写错一段文字，可以自己修改；数字员工如果写错CRM、发错客户消息、提交错误审批，就会影响真实业务。因此第4章必须把工具、权限、审批、日志和回滚讲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讲师内心判断，约1分钟】如果学员只说“Agent会自动处理”，说明还停在演示层。你要追问：自动到哪一步，哪个动作需要人审，调用什么工具，失败后如何降级，日志由谁看，业务指标如何复盘。能回答这些问题，才进入部署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课堂追问，约1分钟】可以停下来问：如果数字员工做错了，是模型问题、流程问题、工具问题、权限问题，还是人审规则问题？请学员至少说出四种可能。这个追问能训练他们上线后的问题定位能力，而不是只会换模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【落地提醒，约1分钟】数字员工部署要避免一次性全自动。第一版要围绕低风险高频任务，保留人工确认和日志复盘，先证明流程闭环和价值，再逐步放权。FDE要训练的是渐进式上线能力。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【复盘动作，约1分钟】讲完这一页后，让学员用一句客户现场语言复述。例如：“我们不是先做一个全自动Agent，而是先把这条销售线索流程拆清楚，定义工具权限和人审节点，在试点团队里跑出可复盘结果。”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收束，约30秒】所以这一页最后要带走的不是“本章核心句”这个标签，而是一个动作：下次客户说“我们要做AI员工”时，你要继续问它负责哪个岗位、走哪条流程、调用哪些工具、谁审批、如何回写、怎么验收。明确本章边界后，我们进入Agent与数字员工的底层心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互动问题：请学员用一句话说明本页如何影响数字员工部署。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过渡语：明确本章边界后，我们进入Agent与数字员工的底层心法。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本页目的：先把概念边界讲清，再进入流程和工具设计。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师逐字稿：【开场，约40秒】各位看这一页，标题是“Agent与数字员工心法”。这一页要训练的不是记住一个Agent术语，而是让FDE在企业现场能判断：一个数字员工要进入真实流程，必须具备哪些角色、工具、权限、审批、日志和复盘机制。请先记住本页核心句：先把概念边界讲清，再进入流程和工具设计。接下来我会把它落到流程、工具、人机协作、安全和上线验收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概念展开，约1分30秒】屏幕上的关键词是：角色；行动；责任。讲这些词时，不要像念清单一样念过去。FDE要把每个词翻译成部署动作：谁触发，AI先判断什么，调用哪个工具，哪些动作必须人审，结果写回哪里，失败怎么降级，日志如何追踪。只有这样，学员才会理解数字员工不是聊天框，而是受控工作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为什么这样讲，约2分钟】Agent心法是本章地基。很多学员会把Agent理解成“更聪明的聊天机器人”，但企业部署看的是能否进入流程、调用工具、承担任务、留下日志、接受监督。讲师要强调：数字员工不是越自主越好，而是在边界内稳定完成岗位任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怎么讲，约2分钟】这里要把“AI助手”拉回岗位语言。岗位不是功能集合，而是服务对象、工作范围、输入输出、协作关系和绩效指标。比如销售线索数字员工，不是“帮销售聊天”，而是服务销售团队，处理线索进入后的画像补全、优先级判断、跟进草稿、CRM回写和主管复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概念加深，约1分钟】数字员工的核心不是“像人一样聊天”，而是像岗位一样工作。岗位有职责边界、输入输出、协作对象、考核指标和主管关系。用岗位语言设计Agent，客户才知道谁负责、怎么验收、如何运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【常见误区，约1分钟】不要把自主性当成高级程度。企业里越是高风险动作，越需要确定性流程、人审和审批。FDE要让学员理解：最好的第一版数字员工，往往不是最自由的，而是最可控、最可复盘的。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延伸背景，约1分钟】企业AI从个人工具走向数字员工时，最容易被低估的是行动责任。个人用AI写错一段文字，可以自己修改；数字员工如果写错CRM、发错客户消息、提交错误审批，就会影响真实业务。因此第4章必须把工具、权限、审批、日志和回滚讲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讲师内心判断，约1分钟】如果学员只说“Agent会自动处理”，说明还停在演示层。你要追问：自动到哪一步，哪个动作需要人审，调用什么工具，失败后如何降级，日志由谁看，业务指标如何复盘。能回答这些问题，才进入部署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课堂追问，约1分钟】可以停下来问：如果数字员工做错了，是模型问题、流程问题、工具问题、权限问题，还是人审规则问题？请学员至少说出四种可能。这个追问能训练他们上线后的问题定位能力，而不是只会换模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【收束，约30秒】所以这一页最后要带走的不是“Part 1”这个标签，而是一个动作：下次客户说“我们要做AI员工”时，你要继续问它负责哪个岗位、走哪条流程、调用哪些工具、谁审批、如何回写、怎么验收。岗位边界清楚之后，我们开始把数字员工放进业务流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互动问题：请学员把一个AI助手改写成数字员工岗位说明，写出服务对象、任务和指标。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过渡语：岗位边界清楚之后，我们开始把数字员工放进业务流程。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本页目的：四者不是同义词，差别在行动能力、上下文深度、工具权限和责任边界。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师逐字稿：【开场，约40秒】各位看这一页，标题是“聊天机器人、工作流、Agent、数字员工”。这一页要训练的不是记住一个Agent术语，而是让FDE在企业现场能判断：一个数字员工要进入真实流程，必须具备哪些角色、工具、权限、审批、日志和复盘机制。请先记住本页核心句：四者不是同义词，差别在行动能力、上下文深度、工具权限和责任边界。接下来我会把它落到流程、工具、人机协作、安全和上线验收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概念展开，约1分30秒】屏幕上的关键词是：聊天机器人：回答；工作流：固定步骤；Agent：感知与行动；数字员工：岗位化交付；FDE：部署与运营。讲这些词时，不要像念清单一样念过去。FDE要把每个词翻译成部署动作：谁触发，AI先判断什么，调用哪个工具，哪些动作必须人审，结果写回哪里，失败怎么降级，日志如何追踪。只有这样，学员才会理解数字员工不是聊天框，而是受控工作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为什么这样讲，约2分钟】Agent心法是本章地基。很多学员会把Agent理解成“更聪明的聊天机器人”，但企业部署看的是能否进入流程、调用工具、承担任务、留下日志、接受监督。讲师要强调：数字员工不是越自主越好，而是在边界内稳定完成岗位任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怎么讲，约2分钟】这里要把“AI助手”拉回岗位语言。岗位不是功能集合，而是服务对象、工作范围、输入输出、协作关系和绩效指标。比如销售线索数字员工，不是“帮销售聊天”，而是服务销售团队，处理线索进入后的画像补全、优先级判断、跟进草稿、CRM回写和主管复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案例补强，约1分30秒】这里可以用一个通用案例：企业想做销售数字员工。普通做法是让AI帮销售写话术；FDE做法是设计完整流程：线索进入后先匹配客户ID，调用CRM查历史，补全画像，判断优先级，生成跟进草稿，销售确认后写回CRM，异常情况转主管，最后用转化率和响应时长复盘。这样一拆，数字员工才从演示变成部署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板书动作，约1分钟】请在白板写七个词：触发、理解、计划、工具、人审、回写、复盘。然后告诉学员：以后设计任何企业Agent，都先问这七个问题。什么时候启动？如何识别意图？怎样拆步骤？调用什么工具？谁来审核？结果写到哪里？上线后看什么指标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概念加深，约1分钟】数字员工的核心不是“像人一样聊天”，而是像岗位一样工作。岗位有职责边界、输入输出、协作对象、考核指标和主管关系。用岗位语言设计Agent，客户才知道谁负责、怎么验收、如何运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【常见误区，约1分钟】不要把自主性当成高级程度。企业里越是高风险动作，越需要确定性流程、人审和审批。FDE要让学员理解：最好的第一版数字员工，往往不是最自由的，而是最可控、最可复盘的。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延伸背景，约1分钟】企业AI从个人工具走向数字员工时，最容易被低估的是行动责任。个人用AI写错一段文字，可以自己修改；数字员工如果写错CRM、发错客户消息、提交错误审批，就会影响真实业务。因此第4章必须把工具、权限、审批、日志和回滚讲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讲师内心判断，约1分钟】如果学员只说“Agent会自动处理”，说明还停在演示层。你要追问：自动到哪一步，哪个动作需要人审，调用什么工具，失败后如何降级，日志由谁看，业务指标如何复盘。能回答这些问题，才进入部署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课堂追问，约1分钟】可以停下来问：如果数字员工做错了，是模型问题、流程问题、工具问题、权限问题，还是人审规则问题？请学员至少说出四种可能。这个追问能训练他们上线后的问题定位能力，而不是只会换模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【落地提醒，约1分钟】数字员工部署要避免一次性全自动。第一版要围绕低风险高频任务，保留人工确认和日志复盘，先证明流程闭环和价值，再逐步放权。FDE要训练的是渐进式上线能力。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【复盘动作，约1分钟】讲完这一页后，让学员用一句客户现场语言复述。例如：“我们不是先做一个全自动Agent，而是先把这条销售线索流程拆清楚，定义工具权限和人审节点，在试点团队里跑出可复盘结果。”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收束，约30秒】所以这一页最后要带走的不是“定义”这个标签，而是一个动作：下次客户说“我们要做AI员工”时，你要继续问它负责哪个岗位、走哪条流程、调用哪些工具、谁审批、如何回写、怎么验收。岗位边界清楚之后，我们开始把数字员工放进业务流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互动问题：请学员把一个AI助手改写成数字员工岗位说明，写出服务对象、任务和指标。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过渡语：岗位边界清楚之后，我们开始把数字员工放进业务流程。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本页目的：企业场景里，自主性必须被风险、权限、日志和人工接管约束。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师逐字稿：【开场，约40秒】各位看这一页，标题是“Agent不是越自主越高级”。这一页要训练的不是记住一个Agent术语，而是让FDE在企业现场能判断：一个数字员工要进入真实流程，必须具备哪些角色、工具、权限、审批、日志和复盘机制。请先记住本页核心句：企业场景里，自主性必须被风险、权限、日志和人工接管约束。接下来我会把它落到流程、工具、人机协作、安全和上线验收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概念展开，约1分30秒】屏幕上的关键词是：失控执行；误写系统；越权访问；责任不清。讲这些词时，不要像念清单一样念过去。FDE要把每个词翻译成部署动作：谁触发，AI先判断什么，调用哪个工具，哪些动作必须人审，结果写回哪里，失败怎么降级，日志如何追踪。只有这样，学员才会理解数字员工不是聊天框，而是受控工作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为什么这样讲，约2分钟】Agent心法是本章地基。很多学员会把Agent理解成“更聪明的聊天机器人”，但企业部署看的是能否进入流程、调用工具、承担任务、留下日志、接受监督。讲师要强调：数字员工不是越自主越好，而是在边界内稳定完成岗位任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怎么讲，约2分钟】这一页要反复把概念落到FDE现场问法。每讲一个关键词，就补一句现场追问：谁触发，做哪一步，调用什么工具，谁审批，失败怎么办，日志在哪里，如何验收。这样学员会形成数字员工部署的肌肉记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案例补强，约1分30秒】这里可以用一个通用案例：企业想做销售数字员工。普通做法是让AI帮销售写话术；FDE做法是设计完整流程：线索进入后先匹配客户ID，调用CRM查历史，补全画像，判断优先级，生成跟进草稿，销售确认后写回CRM，异常情况转主管，最后用转化率和响应时长复盘。这样一拆，数字员工才从演示变成部署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板书动作，约1分钟】请在白板写七个词：触发、理解、计划、工具、人审、回写、复盘。然后告诉学员：以后设计任何企业Agent，都先问这七个问题。什么时候启动？如何识别意图？怎样拆步骤？调用什么工具？谁来审核？结果写到哪里？上线后看什么指标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概念加深，约1分钟】数字员工的核心不是“像人一样聊天”，而是像岗位一样工作。岗位有职责边界、输入输出、协作对象、考核指标和主管关系。用岗位语言设计Agent，客户才知道谁负责、怎么验收、如何运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【常见误区，约1分钟】不要把自主性当成高级程度。企业里越是高风险动作，越需要确定性流程、人审和审批。FDE要让学员理解：最好的第一版数字员工，往往不是最自由的，而是最可控、最可复盘的。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延伸背景，约1分钟】企业AI从个人工具走向数字员工时，最容易被低估的是行动责任。个人用AI写错一段文字，可以自己修改；数字员工如果写错CRM、发错客户消息、提交错误审批，就会影响真实业务。因此第4章必须把工具、权限、审批、日志和回滚讲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讲师内心判断，约1分钟】如果学员只说“Agent会自动处理”，说明还停在演示层。你要追问：自动到哪一步，哪个动作需要人审，调用什么工具，失败后如何降级，日志由谁看，业务指标如何复盘。能回答这些问题，才进入部署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课堂追问，约1分钟】可以停下来问：如果数字员工做错了，是模型问题、流程问题、工具问题、权限问题，还是人审规则问题？请学员至少说出四种可能。这个追问能训练他们上线后的问题定位能力，而不是只会换模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【落地提醒，约1分钟】数字员工部署要避免一次性全自动。第一版要围绕低风险高频任务，保留人工确认和日志复盘，先证明流程闭环和价值，再逐步放权。FDE要训练的是渐进式上线能力。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【复盘动作，约1分钟】讲完这一页后，让学员用一句客户现场语言复述。例如：“我们不是先做一个全自动Agent，而是先把这条销售线索流程拆清楚，定义工具权限和人审节点，在试点团队里跑出可复盘结果。”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收束，约30秒】所以这一页最后要带走的不是“误区”这个标签，而是一个动作：下次客户说“我们要做AI员工”时，你要继续问它负责哪个岗位、走哪条流程、调用哪些工具、谁审批、如何回写、怎么验收。岗位边界清楚之后，我们开始把数字员工放进业务流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互动问题：请学员把一个AI助手改写成数字员工岗位说明，写出服务对象、任务和指标。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过渡语：岗位边界清楚之后，我们开始把数字员工放进业务流程。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本页目的：每个数字员工都要有岗位、任务、上下文、工具、边界、指标和Owner。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师逐字稿：【开场，约40秒】各位看这一页，标题是“数字员工七件套”。这一页要训练的不是记住一个Agent术语，而是让FDE在企业现场能判断：一个数字员工要进入真实流程，必须具备哪些角色、工具、权限、审批、日志和复盘机制。请先记住本页核心句：每个数字员工都要有岗位、任务、上下文、工具、边界、指标和Owner。接下来我会把它落到流程、工具、人机协作、安全和上线验收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概念展开，约1分30秒】屏幕上的关键词是：岗位：服务谁；任务：做什么；上下文：知道什么；工具：能做什么；边界：不能做什么；指标：如何验收。讲这些词时，不要像念清单一样念过去。FDE要把每个词翻译成部署动作：谁触发，AI先判断什么，调用哪个工具，哪些动作必须人审，结果写回哪里，失败怎么降级，日志如何追踪。只有这样，学员才会理解数字员工不是聊天框，而是受控工作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为什么这样讲，约2分钟】Agent心法是本章地基。很多学员会把Agent理解成“更聪明的聊天机器人”，但企业部署看的是能否进入流程、调用工具、承担任务、留下日志、接受监督。讲师要强调：数字员工不是越自主越好，而是在边界内稳定完成岗位任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怎么讲，约2分钟】这里要把“AI助手”拉回岗位语言。岗位不是功能集合，而是服务对象、工作范围、输入输出、协作关系和绩效指标。比如销售线索数字员工，不是“帮销售聊天”，而是服务销售团队，处理线索进入后的画像补全、优先级判断、跟进草稿、CRM回写和主管复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案例补强，约1分30秒】这里可以用一个通用案例：企业想做销售数字员工。普通做法是让AI帮销售写话术；FDE做法是设计完整流程：线索进入后先匹配客户ID，调用CRM查历史，补全画像，判断优先级，生成跟进草稿，销售确认后写回CRM，异常情况转主管，最后用转化率和响应时长复盘。这样一拆，数字员工才从演示变成部署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板书动作，约1分钟】请在白板写七个词：触发、理解、计划、工具、人审、回写、复盘。然后告诉学员：以后设计任何企业Agent，都先问这七个问题。什么时候启动？如何识别意图？怎样拆步骤？调用什么工具？谁来审核？结果写到哪里？上线后看什么指标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概念加深，约1分钟】数字员工的核心不是“像人一样聊天”，而是像岗位一样工作。岗位有职责边界、输入输出、协作对象、考核指标和主管关系。用岗位语言设计Agent，客户才知道谁负责、怎么验收、如何运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【常见误区，约1分钟】不要把自主性当成高级程度。企业里越是高风险动作，越需要确定性流程、人审和审批。FDE要让学员理解：最好的第一版数字员工，往往不是最自由的，而是最可控、最可复盘的。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延伸背景，约1分钟】企业AI从个人工具走向数字员工时，最容易被低估的是行动责任。个人用AI写错一段文字，可以自己修改；数字员工如果写错CRM、发错客户消息、提交错误审批，就会影响真实业务。因此第4章必须把工具、权限、审批、日志和回滚讲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讲师内心判断，约1分钟】如果学员只说“Agent会自动处理”，说明还停在演示层。你要追问：自动到哪一步，哪个动作需要人审，调用什么工具，失败后如何降级，日志由谁看，业务指标如何复盘。能回答这些问题，才进入部署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课堂追问，约1分钟】可以停下来问：如果数字员工做错了，是模型问题、流程问题、工具问题、权限问题，还是人审规则问题？请学员至少说出四种可能。这个追问能训练他们上线后的问题定位能力，而不是只会换模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【落地提醒，约1分钟】数字员工部署要避免一次性全自动。第一版要围绕低风险高频任务，保留人工确认和日志复盘，先证明流程闭环和价值，再逐步放权。FDE要训练的是渐进式上线能力。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【复盘动作，约1分钟】讲完这一页后，让学员用一句客户现场语言复述。例如：“我们不是先做一个全自动Agent，而是先把这条销售线索流程拆清楚，定义工具权限和人审节点，在试点团队里跑出可复盘结果。”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收束，约30秒】所以这一页最后要带走的不是“框架”这个标签，而是一个动作：下次客户说“我们要做AI员工”时，你要继续问它负责哪个岗位、走哪条流程、调用哪些工具、谁审批、如何回写、怎么验收。岗位边界清楚之后，我们开始把数字员工放进业务流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互动问题：请学员把一个AI助手改写成数字员工岗位说明，写出服务对象、任务和指标。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过渡语：岗位边界清楚之后，我们开始把数字员工放进业务流程。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本页目的：FDE要把“AI助手”写成岗位说明书，而不是功能列表。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师逐字稿：【开场，约40秒】各位看这一页，标题是“数字员工岗位说明书”。这一页要训练的不是记住一个Agent术语，而是让FDE在企业现场能判断：一个数字员工要进入真实流程，必须具备哪些角色、工具、权限、审批、日志和复盘机制。请先记住本页核心句：FDE要把“AI助手”写成岗位说明书，而不是功能列表。接下来我会把它落到流程、工具、人机协作、安全和上线验收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概念展开，约1分30秒】屏幕上的关键词是：岗位名称；服务对象；核心任务；输入输出；可用工具；升级路径；成功指标。讲这些词时，不要像念清单一样念过去。FDE要把每个词翻译成部署动作：谁触发，AI先判断什么，调用哪个工具，哪些动作必须人审，结果写回哪里，失败怎么降级，日志如何追踪。只有这样，学员才会理解数字员工不是聊天框，而是受控工作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为什么这样讲，约2分钟】Agent心法是本章地基。很多学员会把Agent理解成“更聪明的聊天机器人”，但企业部署看的是能否进入流程、调用工具、承担任务、留下日志、接受监督。讲师要强调：数字员工不是越自主越好，而是在边界内稳定完成岗位任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怎么讲，约2分钟】这里要把“AI助手”拉回岗位语言。岗位不是功能集合，而是服务对象、工作范围、输入输出、协作关系和绩效指标。比如销售线索数字员工，不是“帮销售聊天”，而是服务销售团队，处理线索进入后的画像补全、优先级判断、跟进草稿、CRM回写和主管复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案例补强，约1分30秒】这里可以用一个通用案例：企业想做销售数字员工。普通做法是让AI帮销售写话术；FDE做法是设计完整流程：线索进入后先匹配客户ID，调用CRM查历史，补全画像，判断优先级，生成跟进草稿，销售确认后写回CRM，异常情况转主管，最后用转化率和响应时长复盘。这样一拆，数字员工才从演示变成部署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板书动作，约1分钟】请在白板写七个词：触发、理解、计划、工具、人审、回写、复盘。然后告诉学员：以后设计任何企业Agent，都先问这七个问题。什么时候启动？如何识别意图？怎样拆步骤？调用什么工具？谁来审核？结果写到哪里？上线后看什么指标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概念加深，约1分钟】数字员工的核心不是“像人一样聊天”，而是像岗位一样工作。岗位有职责边界、输入输出、协作对象、考核指标和主管关系。用岗位语言设计Agent，客户才知道谁负责、怎么验收、如何运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【常见误区，约1分钟】不要把自主性当成高级程度。企业里越是高风险动作，越需要确定性流程、人审和审批。FDE要让学员理解：最好的第一版数字员工，往往不是最自由的，而是最可控、最可复盘的。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延伸背景，约1分钟】企业AI从个人工具走向数字员工时，最容易被低估的是行动责任。个人用AI写错一段文字，可以自己修改；数字员工如果写错CRM、发错客户消息、提交错误审批，就会影响真实业务。因此第4章必须把工具、权限、审批、日志和回滚讲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讲师内心判断，约1分钟】如果学员只说“Agent会自动处理”，说明还停在演示层。你要追问：自动到哪一步，哪个动作需要人审，调用什么工具，失败后如何降级，日志由谁看，业务指标如何复盘。能回答这些问题，才进入部署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课堂追问，约1分钟】可以停下来问：如果数字员工做错了，是模型问题、流程问题、工具问题、权限问题，还是人审规则问题？请学员至少说出四种可能。这个追问能训练他们上线后的问题定位能力，而不是只会换模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【落地提醒，约1分钟】数字员工部署要避免一次性全自动。第一版要围绕低风险高频任务，保留人工确认和日志复盘，先证明流程闭环和价值，再逐步放权。FDE要训练的是渐进式上线能力。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【复盘动作，约1分钟】讲完这一页后，让学员用一句客户现场语言复述。例如：“我们不是先做一个全自动Agent，而是先把这条销售线索流程拆清楚，定义工具权限和人审节点，在试点团队里跑出可复盘结果。”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收束，约30秒】所以这一页最后要带走的不是“契约”这个标签，而是一个动作：下次客户说“我们要做AI员工”时，你要继续问它负责哪个岗位、走哪条流程、调用哪些工具、谁审批、如何回写、怎么验收。岗位边界清楚之后，我们开始把数字员工放进业务流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互动问题：请学员把一个AI助手改写成数字员工岗位说明，写出服务对象、任务和指标。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过渡语：岗位边界清楚之后，我们开始把数字员工放进业务流程。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本页目的：学员必须明确角色、任务、工具、边界、人工接管和验收指标。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师逐字稿：【开场，约40秒】各位看这一页，标题是“把一个AI助手改写成数字员工岗位”。这一页要训练的不是记住一个Agent术语，而是让FDE在企业现场能判断：一个数字员工要进入真实流程，必须具备哪些角色、工具、权限、审批、日志和复盘机制。请先记住本页核心句：学员必须明确角色、任务、工具、边界、人工接管和验收指标。接下来我会把它落到流程、工具、人机协作、安全和上线验收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概念展开，约1分30秒】屏幕上的关键词是：选第3章场景；写岗位说明；列核心任务；标工具权限；标接管条件。讲这些词时，不要像念清单一样念过去。FDE要把每个词翻译成部署动作：谁触发，AI先判断什么，调用哪个工具，哪些动作必须人审，结果写回哪里，失败怎么降级，日志如何追踪。只有这样，学员才会理解数字员工不是聊天框，而是受控工作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为什么这样讲，约2分钟】Agent心法是本章地基。很多学员会把Agent理解成“更聪明的聊天机器人”，但企业部署看的是能否进入流程、调用工具、承担任务、留下日志、接受监督。讲师要强调：数字员工不是越自主越好，而是在边界内稳定完成岗位任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怎么讲，约2分钟】这里要把“AI助手”拉回岗位语言。岗位不是功能集合，而是服务对象、工作范围、输入输出、协作关系和绩效指标。比如销售线索数字员工，不是“帮销售聊天”，而是服务销售团队，处理线索进入后的画像补全、优先级判断、跟进草稿、CRM回写和主管复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案例补强，约1分30秒】这里可以用一个通用案例：企业想做销售数字员工。普通做法是让AI帮销售写话术；FDE做法是设计完整流程：线索进入后先匹配客户ID，调用CRM查历史，补全画像，判断优先级，生成跟进草稿，销售确认后写回CRM，异常情况转主管，最后用转化率和响应时长复盘。这样一拆，数字员工才从演示变成部署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板书动作，约1分钟】请在白板写七个词：触发、理解、计划、工具、人审、回写、复盘。然后告诉学员：以后设计任何企业Agent，都先问这七个问题。什么时候启动？如何识别意图？怎样拆步骤？调用什么工具？谁来审核？结果写到哪里？上线后看什么指标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互动组织，约3分钟】这一页如果有练习，不要让学员泛泛讨论。先给30秒个人写，再给2分钟小组互相追问，最后请一组用60秒汇报。讲师点评时只追问三件事：第一，流程是否能闭环；第二，工具和权限是否清楚；第三，异常和人工接管是否可执行。这样课堂才是部署训练，不是概念聊天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概念加深，约1分钟】数字员工的核心不是“像人一样聊天”，而是像岗位一样工作。岗位有职责边界、输入输出、协作对象、考核指标和主管关系。用岗位语言设计Agent，客户才知道谁负责、怎么验收、如何运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【常见误区，约1分钟】不要把自主性当成高级程度。企业里越是高风险动作，越需要确定性流程、人审和审批。FDE要让学员理解：最好的第一版数字员工，往往不是最自由的，而是最可控、最可复盘的。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延伸背景，约1分钟】企业AI从个人工具走向数字员工时，最容易被低估的是行动责任。个人用AI写错一段文字，可以自己修改；数字员工如果写错CRM、发错客户消息、提交错误审批，就会影响真实业务。因此第4章必须把工具、权限、审批、日志和回滚讲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讲师内心判断，约1分钟】如果学员只说“Agent会自动处理”，说明还停在演示层。你要追问：自动到哪一步，哪个动作需要人审，调用什么工具，失败后如何降级，日志由谁看，业务指标如何复盘。能回答这些问题，才进入部署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课堂追问，约1分钟】可以停下来问：如果数字员工做错了，是模型问题、流程问题、工具问题、权限问题，还是人审规则问题？请学员至少说出四种可能。这个追问能训练他们上线后的问题定位能力，而不是只会换模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【落地提醒，约1分钟】数字员工部署要避免一次性全自动。第一版要围绕低风险高频任务，保留人工确认和日志复盘，先证明流程闭环和价值，再逐步放权。FDE要训练的是渐进式上线能力。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【复盘动作，约1分钟】讲完这一页后，让学员用一句客户现场语言复述。例如：“我们不是先做一个全自动Agent，而是先把这条销售线索流程拆清楚，定义工具权限和人审节点，在试点团队里跑出可复盘结果。”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收束，约30秒】所以这一页最后要带走的不是“练习”这个标签，而是一个动作：下次客户说“我们要做AI员工”时，你要继续问它负责哪个岗位、走哪条流程、调用哪些工具、谁审批、如何回写、怎么验收。岗位边界清楚之后，我们开始把数字员工放进业务流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互动问题：请学员把一个AI助手改写成数字员工岗位说明，写出服务对象、任务和指标。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过渡语：岗位边界清楚之后，我们开始把数字员工放进业务流程。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本页目的：把业务流程拆成Agent可执行、可审核、可复盘的任务链。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师逐字稿：【开场，约40秒】各位看这一页，标题是“流程蓝图与任务分解”。这一页要训练的不是记住一个Agent术语，而是让FDE在企业现场能判断：一个数字员工要进入真实流程，必须具备哪些角色、工具、权限、审批、日志和复盘机制。请先记住本页核心句：把业务流程拆成Agent可执行、可审核、可复盘的任务链。接下来我会把它落到流程、工具、人机协作、安全和上线验收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概念展开，约1分30秒】屏幕上的关键词是：触发；计划；执行。讲这些词时，不要像念清单一样念过去。FDE要把每个词翻译成部署动作：谁触发，AI先判断什么，调用哪个工具，哪些动作必须人审，结果写回哪里，失败怎么降级，日志如何追踪。只有这样，学员才会理解数字员工不是聊天框，而是受控工作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为什么这样讲，约2分钟】流程蓝图把“AI能做什么”转成“AI在哪一步做”。没有流程蓝图，工具会散、权限会乱、异常无人处理。FDE要把触发、意图、计划、执行、人审、回写、复盘串起来，形成客户、交付和技术都能理解的部署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怎么讲，约2分钟】流程蓝图要用真实工作流讲。客户说“自动跟进线索”，FDE要问：线索从哪里触发，如何识别客户意图，是否需要查CRM，AI先做计划还是直接行动，哪一步要销售确认，确认后写回哪里，主管如何看到结果。这样学员会明白Agent部署不是单点功能，而是流程闭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【概念加深，约1分钟】流程蓝图不是画一张好看的图，而是把每一步设计到可执行。每个节点都要说明输入、判断、工具、输出、异常和责任人。没有这些字段，图再漂亮也无法交给技术团队实现。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常见误区，约1分钟】学员很容易只画主路径，忽略异常路径。真实生产里最常发生事故的不是主路径，而是字段缺失、工具失败、权限不足、用户表达不清、客户投诉和高风险请求。异常路径是部署质量的关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延伸背景，约1分钟】企业AI从个人工具走向数字员工时，最容易被低估的是行动责任。个人用AI写错一段文字，可以自己修改；数字员工如果写错CRM、发错客户消息、提交错误审批，就会影响真实业务。因此第4章必须把工具、权限、审批、日志和回滚讲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讲师内心判断，约1分钟】如果学员只说“Agent会自动处理”，说明还停在演示层。你要追问：自动到哪一步，哪个动作需要人审，调用什么工具，失败后如何降级，日志由谁看，业务指标如何复盘。能回答这些问题，才进入部署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课堂追问，约1分钟】可以停下来问：如果数字员工做错了，是模型问题、流程问题、工具问题、权限问题，还是人审规则问题？请学员至少说出四种可能。这个追问能训练他们上线后的问题定位能力，而不是只会换模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【收束，约30秒】所以这一页最后要带走的不是“Part 2”这个标签，而是一个动作：下次客户说“我们要做AI员工”时，你要继续问它负责哪个岗位、走哪条流程、调用哪些工具、谁审批、如何回写、怎么验收。流程蓝图清楚后，我们继续设计工具、API和权限边界。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互动问题：请学员把一个MVP场景拆成触发、理解、计划、执行、人审、回写、复盘。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过渡语：流程蓝图清楚后，我们继续设计工具、API和权限边界。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本页目的：每个Agent流程都要拆成触发、理解、计划、执行、审核、回写。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师逐字稿：【开场，约40秒】各位看这一页，标题是“Agent流程六段法”。这一页要训练的不是记住一个Agent术语，而是让FDE在企业现场能判断：一个数字员工要进入真实流程，必须具备哪些角色、工具、权限、审批、日志和复盘机制。请先记住本页核心句：每个Agent流程都要拆成触发、理解、计划、执行、审核、回写。接下来我会把它落到流程、工具、人机协作、安全和上线验收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概念展开，约1分30秒】屏幕上的关键词是：触发：何时开始；理解：识别意图；计划：拆任务；执行：调用工具；审核：人机判断；回写：沉淀结果。讲这些词时，不要像念清单一样念过去。FDE要把每个词翻译成部署动作：谁触发，AI先判断什么，调用哪个工具，哪些动作必须人审，结果写回哪里，失败怎么降级，日志如何追踪。只有这样，学员才会理解数字员工不是聊天框，而是受控工作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为什么这样讲，约2分钟】流程蓝图把“AI能做什么”转成“AI在哪一步做”。没有流程蓝图，工具会散、权限会乱、异常无人处理。FDE要把触发、意图、计划、执行、人审、回写、复盘串起来，形成客户、交付和技术都能理解的部署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怎么讲，约2分钟】流程蓝图要用真实工作流讲。客户说“自动跟进线索”，FDE要问：线索从哪里触发，如何识别客户意图，是否需要查CRM，AI先做计划还是直接行动，哪一步要销售确认，确认后写回哪里，主管如何看到结果。这样学员会明白Agent部署不是单点功能，而是流程闭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案例补强，约1分30秒】这里可以用一个通用案例：企业想做销售数字员工。普通做法是让AI帮销售写话术；FDE做法是设计完整流程：线索进入后先匹配客户ID，调用CRM查历史，补全画像，判断优先级，生成跟进草稿，销售确认后写回CRM，异常情况转主管，最后用转化率和响应时长复盘。这样一拆，数字员工才从演示变成部署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板书动作，约1分钟】请在白板写七个词：触发、理解、计划、工具、人审、回写、复盘。然后告诉学员：以后设计任何企业Agent，都先问这七个问题。什么时候启动？如何识别意图？怎样拆步骤？调用什么工具？谁来审核？结果写到哪里？上线后看什么指标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【概念加深，约1分钟】流程蓝图不是画一张好看的图，而是把每一步设计到可执行。每个节点都要说明输入、判断、工具、输出、异常和责任人。没有这些字段，图再漂亮也无法交给技术团队实现。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常见误区，约1分钟】学员很容易只画主路径，忽略异常路径。真实生产里最常发生事故的不是主路径，而是字段缺失、工具失败、权限不足、用户表达不清、客户投诉和高风险请求。异常路径是部署质量的关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延伸背景，约1分钟】企业AI从个人工具走向数字员工时，最容易被低估的是行动责任。个人用AI写错一段文字，可以自己修改；数字员工如果写错CRM、发错客户消息、提交错误审批，就会影响真实业务。因此第4章必须把工具、权限、审批、日志和回滚讲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讲师内心判断，约1分钟】如果学员只说“Agent会自动处理”，说明还停在演示层。你要追问：自动到哪一步，哪个动作需要人审，调用什么工具，失败后如何降级，日志由谁看，业务指标如何复盘。能回答这些问题，才进入部署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课堂追问，约1分钟】可以停下来问：如果数字员工做错了，是模型问题、流程问题、工具问题、权限问题，还是人审规则问题？请学员至少说出四种可能。这个追问能训练他们上线后的问题定位能力，而不是只会换模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【落地提醒，约1分钟】数字员工部署要避免一次性全自动。第一版要围绕低风险高频任务，保留人工确认和日志复盘，先证明流程闭环和价值，再逐步放权。FDE要训练的是渐进式上线能力。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【复盘动作，约1分钟】讲完这一页后，让学员用一句客户现场语言复述。例如：“我们不是先做一个全自动Agent，而是先把这条销售线索流程拆清楚，定义工具权限和人审节点，在试点团队里跑出可复盘结果。”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收束，约30秒】所以这一页最后要带走的不是“六段”这个标签，而是一个动作：下次客户说“我们要做AI员工”时，你要继续问它负责哪个岗位、走哪条流程、调用哪些工具、谁审批、如何回写、怎么验收。流程蓝图清楚后，我们继续设计工具、API和权限边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互动问题：请学员把一个MVP场景拆成触发、理解、计划、执行、人审、回写、复盘。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过渡语：流程蓝图清楚后，我们继续设计工具、API和权限边界。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本页目的：触发可以来自用户、系统事件、时间、工单、审批或外部数据变化。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师逐字稿：【开场，约40秒】各位看这一页，标题是“触发条件决定自动化边界”。这一页要训练的不是记住一个Agent术语，而是让FDE在企业现场能判断：一个数字员工要进入真实流程，必须具备哪些角色、工具、权限、审批、日志和复盘机制。请先记住本页核心句：触发可以来自用户、系统事件、时间、工单、审批或外部数据变化。接下来我会把它落到流程、工具、人机协作、安全和上线验收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概念展开，约1分30秒】屏幕上的关键词是：用户发起；系统事件；定时任务；工单状态；异常预警。讲这些词时，不要像念清单一样念过去。FDE要把每个词翻译成部署动作：谁触发，AI先判断什么，调用哪个工具，哪些动作必须人审，结果写回哪里，失败怎么降级，日志如何追踪。只有这样，学员才会理解数字员工不是聊天框，而是受控工作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为什么这样讲，约2分钟】流程蓝图把“AI能做什么”转成“AI在哪一步做”。没有流程蓝图，工具会散、权限会乱、异常无人处理。FDE要把触发、意图、计划、执行、人审、回写、复盘串起来，形成客户、交付和技术都能理解的部署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怎么讲，约2分钟】流程蓝图要用真实工作流讲。客户说“自动跟进线索”，FDE要问：线索从哪里触发，如何识别客户意图，是否需要查CRM，AI先做计划还是直接行动，哪一步要销售确认，确认后写回哪里，主管如何看到结果。这样学员会明白Agent部署不是单点功能，而是流程闭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案例补强，约1分30秒】这里可以用一个通用案例：企业想做销售数字员工。普通做法是让AI帮销售写话术；FDE做法是设计完整流程：线索进入后先匹配客户ID，调用CRM查历史，补全画像，判断优先级，生成跟进草稿，销售确认后写回CRM，异常情况转主管，最后用转化率和响应时长复盘。这样一拆，数字员工才从演示变成部署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板书动作，约1分钟】请在白板写七个词：触发、理解、计划、工具、人审、回写、复盘。然后告诉学员：以后设计任何企业Agent，都先问这七个问题。什么时候启动？如何识别意图？怎样拆步骤？调用什么工具？谁来审核？结果写到哪里？上线后看什么指标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【概念加深，约1分钟】流程蓝图不是画一张好看的图，而是把每一步设计到可执行。每个节点都要说明输入、判断、工具、输出、异常和责任人。没有这些字段，图再漂亮也无法交给技术团队实现。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常见误区，约1分钟】学员很容易只画主路径，忽略异常路径。真实生产里最常发生事故的不是主路径，而是字段缺失、工具失败、权限不足、用户表达不清、客户投诉和高风险请求。异常路径是部署质量的关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延伸背景，约1分钟】企业AI从个人工具走向数字员工时，最容易被低估的是行动责任。个人用AI写错一段文字，可以自己修改；数字员工如果写错CRM、发错客户消息、提交错误审批，就会影响真实业务。因此第4章必须把工具、权限、审批、日志和回滚讲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讲师内心判断，约1分钟】如果学员只说“Agent会自动处理”，说明还停在演示层。你要追问：自动到哪一步，哪个动作需要人审，调用什么工具，失败后如何降级，日志由谁看，业务指标如何复盘。能回答这些问题，才进入部署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课堂追问，约1分钟】可以停下来问：如果数字员工做错了，是模型问题、流程问题、工具问题、权限问题，还是人审规则问题？请学员至少说出四种可能。这个追问能训练他们上线后的问题定位能力，而不是只会换模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【落地提醒，约1分钟】数字员工部署要避免一次性全自动。第一版要围绕低风险高频任务，保留人工确认和日志复盘，先证明流程闭环和价值，再逐步放权。FDE要训练的是渐进式上线能力。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【复盘动作，约1分钟】讲完这一页后，让学员用一句客户现场语言复述。例如：“我们不是先做一个全自动Agent，而是先把这条销售线索流程拆清楚，定义工具权限和人审节点，在试点团队里跑出可复盘结果。”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收束，约30秒】所以这一页最后要带走的不是“触发”这个标签，而是一个动作：下次客户说“我们要做AI员工”时，你要继续问它负责哪个岗位、走哪条流程、调用哪些工具、谁审批、如何回写、怎么验收。流程蓝图清楚后，我们继续设计工具、API和权限边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互动问题：请学员把一个MVP场景拆成触发、理解、计划、执行、人审、回写、复盘。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过渡语：流程蓝图清楚后，我们继续设计工具、API和权限边界。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本页目的：意图不是闲聊分类，而是决定进入哪条流程和哪些工具。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师逐字稿：【开场，约40秒】各位看这一页，标题是“意图识别要连接业务分类”。这一页要训练的不是记住一个Agent术语，而是让FDE在企业现场能判断：一个数字员工要进入真实流程，必须具备哪些角色、工具、权限、审批、日志和复盘机制。请先记住本页核心句：意图不是闲聊分类，而是决定进入哪条流程和哪些工具。接下来我会把它落到流程、工具、人机协作、安全和上线验收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概念展开，约1分30秒】屏幕上的关键词是：咨询；查询；生成；修改；审批；升级。讲这些词时，不要像念清单一样念过去。FDE要把每个词翻译成部署动作：谁触发，AI先判断什么，调用哪个工具，哪些动作必须人审，结果写回哪里，失败怎么降级，日志如何追踪。只有这样，学员才会理解数字员工不是聊天框，而是受控工作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为什么这样讲，约2分钟】流程蓝图把“AI能做什么”转成“AI在哪一步做”。没有流程蓝图，工具会散、权限会乱、异常无人处理。FDE要把触发、意图、计划、执行、人审、回写、复盘串起来，形成客户、交付和技术都能理解的部署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怎么讲，约2分钟】流程蓝图要用真实工作流讲。客户说“自动跟进线索”，FDE要问：线索从哪里触发，如何识别客户意图，是否需要查CRM，AI先做计划还是直接行动，哪一步要销售确认，确认后写回哪里，主管如何看到结果。这样学员会明白Agent部署不是单点功能，而是流程闭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案例补强，约1分30秒】这里可以用一个通用案例：企业想做销售数字员工。普通做法是让AI帮销售写话术；FDE做法是设计完整流程：线索进入后先匹配客户ID，调用CRM查历史，补全画像，判断优先级，生成跟进草稿，销售确认后写回CRM，异常情况转主管，最后用转化率和响应时长复盘。这样一拆，数字员工才从演示变成部署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板书动作，约1分钟】请在白板写七个词：触发、理解、计划、工具、人审、回写、复盘。然后告诉学员：以后设计任何企业Agent，都先问这七个问题。什么时候启动？如何识别意图？怎样拆步骤？调用什么工具？谁来审核？结果写到哪里？上线后看什么指标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【概念加深，约1分钟】流程蓝图不是画一张好看的图，而是把每一步设计到可执行。每个节点都要说明输入、判断、工具、输出、异常和责任人。没有这些字段，图再漂亮也无法交给技术团队实现。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常见误区，约1分钟】学员很容易只画主路径，忽略异常路径。真实生产里最常发生事故的不是主路径，而是字段缺失、工具失败、权限不足、用户表达不清、客户投诉和高风险请求。异常路径是部署质量的关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延伸背景，约1分钟】企业AI从个人工具走向数字员工时，最容易被低估的是行动责任。个人用AI写错一段文字，可以自己修改；数字员工如果写错CRM、发错客户消息、提交错误审批，就会影响真实业务。因此第4章必须把工具、权限、审批、日志和回滚讲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讲师内心判断，约1分钟】如果学员只说“Agent会自动处理”，说明还停在演示层。你要追问：自动到哪一步，哪个动作需要人审，调用什么工具，失败后如何降级，日志由谁看，业务指标如何复盘。能回答这些问题，才进入部署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课堂追问，约1分钟】可以停下来问：如果数字员工做错了，是模型问题、流程问题、工具问题、权限问题，还是人审规则问题？请学员至少说出四种可能。这个追问能训练他们上线后的问题定位能力，而不是只会换模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【落地提醒，约1分钟】数字员工部署要避免一次性全自动。第一版要围绕低风险高频任务，保留人工确认和日志复盘，先证明流程闭环和价值，再逐步放权。FDE要训练的是渐进式上线能力。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【复盘动作，约1分钟】讲完这一页后，让学员用一句客户现场语言复述。例如：“我们不是先做一个全自动Agent，而是先把这条销售线索流程拆清楚，定义工具权限和人审节点，在试点团队里跑出可复盘结果。”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收束，约30秒】所以这一页最后要带走的不是“意图”这个标签，而是一个动作：下次客户说“我们要做AI员工”时，你要继续问它负责哪个岗位、走哪条流程、调用哪些工具、谁审批、如何回写、怎么验收。流程蓝图清楚后，我们继续设计工具、API和权限边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互动问题：请学员把一个MVP场景拆成触发、理解、计划、执行、人审、回写、复盘。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过渡语：流程蓝图清楚后，我们继续设计工具、API和权限边界。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本页目的：Agent要能把目标拆成可执行步骤，但每一步都要有边界。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师逐字稿：【开场，约40秒】各位看这一页，标题是“从目标到任务计划”。这一页要训练的不是记住一个Agent术语，而是让FDE在企业现场能判断：一个数字员工要进入真实流程，必须具备哪些角色、工具、权限、审批、日志和复盘机制。请先记住本页核心句：Agent要能把目标拆成可执行步骤，但每一步都要有边界。接下来我会把它落到流程、工具、人机协作、安全和上线验收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概念展开，约1分30秒】屏幕上的关键词是：理解目标；检查上下文；选择工具；生成计划；执行动作；复盘结果。讲这些词时，不要像念清单一样念过去。FDE要把每个词翻译成部署动作：谁触发，AI先判断什么，调用哪个工具，哪些动作必须人审，结果写回哪里，失败怎么降级，日志如何追踪。只有这样，学员才会理解数字员工不是聊天框，而是受控工作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为什么这样讲，约2分钟】流程蓝图把“AI能做什么”转成“AI在哪一步做”。没有流程蓝图，工具会散、权限会乱、异常无人处理。FDE要把触发、意图、计划、执行、人审、回写、复盘串起来，形成客户、交付和技术都能理解的部署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怎么讲，约2分钟】流程蓝图要用真实工作流讲。客户说“自动跟进线索”，FDE要问：线索从哪里触发，如何识别客户意图，是否需要查CRM，AI先做计划还是直接行动，哪一步要销售确认，确认后写回哪里，主管如何看到结果。这样学员会明白Agent部署不是单点功能，而是流程闭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案例补强，约1分30秒】这里可以用一个通用案例：企业想做销售数字员工。普通做法是让AI帮销售写话术；FDE做法是设计完整流程：线索进入后先匹配客户ID，调用CRM查历史，补全画像，判断优先级，生成跟进草稿，销售确认后写回CRM，异常情况转主管，最后用转化率和响应时长复盘。这样一拆，数字员工才从演示变成部署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板书动作，约1分钟】请在白板写七个词：触发、理解、计划、工具、人审、回写、复盘。然后告诉学员：以后设计任何企业Agent，都先问这七个问题。什么时候启动？如何识别意图？怎样拆步骤？调用什么工具？谁来审核？结果写到哪里？上线后看什么指标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【概念加深，约1分钟】流程蓝图不是画一张好看的图，而是把每一步设计到可执行。每个节点都要说明输入、判断、工具、输出、异常和责任人。没有这些字段，图再漂亮也无法交给技术团队实现。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常见误区，约1分钟】学员很容易只画主路径，忽略异常路径。真实生产里最常发生事故的不是主路径，而是字段缺失、工具失败、权限不足、用户表达不清、客户投诉和高风险请求。异常路径是部署质量的关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延伸背景，约1分钟】企业AI从个人工具走向数字员工时，最容易被低估的是行动责任。个人用AI写错一段文字，可以自己修改；数字员工如果写错CRM、发错客户消息、提交错误审批，就会影响真实业务。因此第4章必须把工具、权限、审批、日志和回滚讲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讲师内心判断，约1分钟】如果学员只说“Agent会自动处理”，说明还停在演示层。你要追问：自动到哪一步，哪个动作需要人审，调用什么工具，失败后如何降级，日志由谁看，业务指标如何复盘。能回答这些问题，才进入部署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课堂追问，约1分钟】可以停下来问：如果数字员工做错了，是模型问题、流程问题、工具问题、权限问题，还是人审规则问题？请学员至少说出四种可能。这个追问能训练他们上线后的问题定位能力，而不是只会换模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【落地提醒，约1分钟】数字员工部署要避免一次性全自动。第一版要围绕低风险高频任务，保留人工确认和日志复盘，先证明流程闭环和价值，再逐步放权。FDE要训练的是渐进式上线能力。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【复盘动作，约1分钟】讲完这一页后，让学员用一句客户现场语言复述。例如：“我们不是先做一个全自动Agent，而是先把这条销售线索流程拆清楚，定义工具权限和人审节点，在试点团队里跑出可复盘结果。”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收束，约30秒】所以这一页最后要带走的不是“计划”这个标签，而是一个动作：下次客户说“我们要做AI员工”时，你要继续问它负责哪个岗位、走哪条流程、调用哪些工具、谁审批、如何回写、怎么验收。流程蓝图清楚后，我们继续设计工具、API和权限边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互动问题：请学员把一个MVP场景拆成触发、理解、计划、执行、人审、回写、复盘。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过渡语：流程蓝图清楚后，我们继续设计工具、API和权限边界。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本页目的：从线索进入到CRM回写，演示一个完整数字员工流程。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师逐字稿：【开场，约40秒】各位看这一页，标题是“销售线索数字员工流程蓝图”。这一页要训练的不是记住一个Agent术语，而是让FDE在企业现场能判断：一个数字员工要进入真实流程，必须具备哪些角色、工具、权限、审批、日志和复盘机制。请先记住本页核心句：从线索进入到CRM回写，演示一个完整数字员工流程。接下来我会把它落到流程、工具、人机协作、安全和上线验收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概念展开，约1分30秒】屏幕上的关键词是：线索进入；画像补全；优先级判断；话术草稿；销售确认；CRM写回。讲这些词时，不要像念清单一样念过去。FDE要把每个词翻译成部署动作：谁触发，AI先判断什么，调用哪个工具，哪些动作必须人审，结果写回哪里，失败怎么降级，日志如何追踪。只有这样，学员才会理解数字员工不是聊天框，而是受控工作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为什么这样讲，约2分钟】流程蓝图把“AI能做什么”转成“AI在哪一步做”。没有流程蓝图，工具会散、权限会乱、异常无人处理。FDE要把触发、意图、计划、执行、人审、回写、复盘串起来，形成客户、交付和技术都能理解的部署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怎么讲，约2分钟】这里要把“AI助手”拉回岗位语言。岗位不是功能集合，而是服务对象、工作范围、输入输出、协作关系和绩效指标。比如销售线索数字员工，不是“帮销售聊天”，而是服务销售团队，处理线索进入后的画像补全、优先级判断、跟进草稿、CRM回写和主管复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案例补强，约1分30秒】这里可以用一个通用案例：企业想做销售数字员工。普通做法是让AI帮销售写话术；FDE做法是设计完整流程：线索进入后先匹配客户ID，调用CRM查历史，补全画像，判断优先级，生成跟进草稿，销售确认后写回CRM，异常情况转主管，最后用转化率和响应时长复盘。这样一拆，数字员工才从演示变成部署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板书动作，约1分钟】请在白板写七个词：触发、理解、计划、工具、人审、回写、复盘。然后告诉学员：以后设计任何企业Agent，都先问这七个问题。什么时候启动？如何识别意图？怎样拆步骤？调用什么工具？谁来审核？结果写到哪里？上线后看什么指标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【概念加深，约1分钟】流程蓝图不是画一张好看的图，而是把每一步设计到可执行。每个节点都要说明输入、判断、工具、输出、异常和责任人。没有这些字段，图再漂亮也无法交给技术团队实现。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常见误区，约1分钟】学员很容易只画主路径，忽略异常路径。真实生产里最常发生事故的不是主路径，而是字段缺失、工具失败、权限不足、用户表达不清、客户投诉和高风险请求。异常路径是部署质量的关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延伸背景，约1分钟】企业AI从个人工具走向数字员工时，最容易被低估的是行动责任。个人用AI写错一段文字，可以自己修改；数字员工如果写错CRM、发错客户消息、提交错误审批，就会影响真实业务。因此第4章必须把工具、权限、审批、日志和回滚讲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讲师内心判断，约1分钟】如果学员只说“Agent会自动处理”，说明还停在演示层。你要追问：自动到哪一步，哪个动作需要人审，调用什么工具，失败后如何降级，日志由谁看，业务指标如何复盘。能回答这些问题，才进入部署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课堂追问，约1分钟】可以停下来问：如果数字员工做错了，是模型问题、流程问题、工具问题、权限问题，还是人审规则问题？请学员至少说出四种可能。这个追问能训练他们上线后的问题定位能力，而不是只会换模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【落地提醒，约1分钟】数字员工部署要避免一次性全自动。第一版要围绕低风险高频任务，保留人工确认和日志复盘，先证明流程闭环和价值，再逐步放权。FDE要训练的是渐进式上线能力。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【复盘动作，约1分钟】讲完这一页后，让学员用一句客户现场语言复述。例如：“我们不是先做一个全自动Agent，而是先把这条销售线索流程拆清楚，定义工具权限和人审节点，在试点团队里跑出可复盘结果。”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收束，约30秒】所以这一页最后要带走的不是“销售案例”这个标签，而是一个动作：下次客户说“我们要做AI员工”时，你要继续问它负责哪个岗位、走哪条流程、调用哪些工具、谁审批、如何回写、怎么验收。流程蓝图清楚后，我们继续设计工具、API和权限边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互动问题：请学员把一个MVP场景拆成触发、理解、计划、执行、人审、回写、复盘。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过渡语：流程蓝图清楚后，我们继续设计工具、API和权限边界。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本页目的：生产级流程必须设计缺字段、低置信度、工具失败、越权和客户投诉。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师逐字稿：【开场，约40秒】各位看这一页，标题是“异常路径比主路径更重要”。这一页要训练的不是记住一个Agent术语，而是让FDE在企业现场能判断：一个数字员工要进入真实流程，必须具备哪些角色、工具、权限、审批、日志和复盘机制。请先记住本页核心句：生产级流程必须设计缺字段、低置信度、工具失败、越权和客户投诉。接下来我会把它落到流程、工具、人机协作、安全和上线验收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概念展开，约1分30秒】屏幕上的关键词是：字段缺失→请求补充；低置信度→转人工；工具失败→重试或降级；权限不足→停止执行；客户投诉→主管介入。讲这些词时，不要像念清单一样念过去。FDE要把每个词翻译成部署动作：谁触发，AI先判断什么，调用哪个工具，哪些动作必须人审，结果写回哪里，失败怎么降级，日志如何追踪。只有这样，学员才会理解数字员工不是聊天框，而是受控工作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为什么这样讲，约2分钟】流程蓝图把“AI能做什么”转成“AI在哪一步做”。没有流程蓝图，工具会散、权限会乱、异常无人处理。FDE要把触发、意图、计划、执行、人审、回写、复盘串起来，形成客户、交付和技术都能理解的部署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怎么讲，约2分钟】这一页要反复把概念落到FDE现场问法。每讲一个关键词，就补一句现场追问：谁触发，做哪一步，调用什么工具，谁审批，失败怎么办，日志在哪里，如何验收。这样学员会形成数字员工部署的肌肉记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案例补强，约1分30秒】这里可以用一个通用案例：企业想做销售数字员工。普通做法是让AI帮销售写话术；FDE做法是设计完整流程：线索进入后先匹配客户ID，调用CRM查历史，补全画像，判断优先级，生成跟进草稿，销售确认后写回CRM，异常情况转主管，最后用转化率和响应时长复盘。这样一拆，数字员工才从演示变成部署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板书动作，约1分钟】请在白板写七个词：触发、理解、计划、工具、人审、回写、复盘。然后告诉学员：以后设计任何企业Agent，都先问这七个问题。什么时候启动？如何识别意图？怎样拆步骤？调用什么工具？谁来审核？结果写到哪里？上线后看什么指标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【概念加深，约1分钟】流程蓝图不是画一张好看的图，而是把每一步设计到可执行。每个节点都要说明输入、判断、工具、输出、异常和责任人。没有这些字段，图再漂亮也无法交给技术团队实现。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常见误区，约1分钟】学员很容易只画主路径，忽略异常路径。真实生产里最常发生事故的不是主路径，而是字段缺失、工具失败、权限不足、用户表达不清、客户投诉和高风险请求。异常路径是部署质量的关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延伸背景，约1分钟】企业AI从个人工具走向数字员工时，最容易被低估的是行动责任。个人用AI写错一段文字，可以自己修改；数字员工如果写错CRM、发错客户消息、提交错误审批，就会影响真实业务。因此第4章必须把工具、权限、审批、日志和回滚讲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讲师内心判断，约1分钟】如果学员只说“Agent会自动处理”，说明还停在演示层。你要追问：自动到哪一步，哪个动作需要人审，调用什么工具，失败后如何降级，日志由谁看，业务指标如何复盘。能回答这些问题，才进入部署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课堂追问，约1分钟】可以停下来问：如果数字员工做错了，是模型问题、流程问题、工具问题、权限问题，还是人审规则问题？请学员至少说出四种可能。这个追问能训练他们上线后的问题定位能力，而不是只会换模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【落地提醒，约1分钟】数字员工部署要避免一次性全自动。第一版要围绕低风险高频任务，保留人工确认和日志复盘，先证明流程闭环和价值，再逐步放权。FDE要训练的是渐进式上线能力。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【复盘动作，约1分钟】讲完这一页后，让学员用一句客户现场语言复述。例如：“我们不是先做一个全自动Agent，而是先把这条销售线索流程拆清楚，定义工具权限和人审节点，在试点团队里跑出可复盘结果。”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收束，约30秒】所以这一页最后要带走的不是“异常”这个标签，而是一个动作：下次客户说“我们要做AI员工”时，你要继续问它负责哪个岗位、走哪条流程、调用哪些工具、谁审批、如何回写、怎么验收。流程蓝图清楚后，我们继续设计工具、API和权限边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互动问题：请学员把一个MVP场景拆成触发、理解、计划、执行、人审、回写、复盘。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过渡语：流程蓝图清楚后，我们继续设计工具、API和权限边界。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本页目的：每组把一个MVP场景拆成主路径、异常路径和回写路径。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师逐字稿：【开场，约40秒】各位看这一页，标题是“完成数字员工流程蓝图”。这一页要训练的不是记住一个Agent术语，而是让FDE在企业现场能判断：一个数字员工要进入真实流程，必须具备哪些角色、工具、权限、审批、日志和复盘机制。请先记住本页核心句：每组把一个MVP场景拆成主路径、异常路径和回写路径。接下来我会把它落到流程、工具、人机协作、安全和上线验收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概念展开，约1分30秒】屏幕上的关键词是：写触发；写意图；写工具；写人审；写回写；写复盘。讲这些词时，不要像念清单一样念过去。FDE要把每个词翻译成部署动作：谁触发，AI先判断什么，调用哪个工具，哪些动作必须人审，结果写回哪里，失败怎么降级，日志如何追踪。只有这样，学员才会理解数字员工不是聊天框，而是受控工作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为什么这样讲，约2分钟】流程蓝图把“AI能做什么”转成“AI在哪一步做”。没有流程蓝图，工具会散、权限会乱、异常无人处理。FDE要把触发、意图、计划、执行、人审、回写、复盘串起来，形成客户、交付和技术都能理解的部署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怎么讲，约2分钟】这里要把“AI助手”拉回岗位语言。岗位不是功能集合，而是服务对象、工作范围、输入输出、协作关系和绩效指标。比如销售线索数字员工，不是“帮销售聊天”，而是服务销售团队，处理线索进入后的画像补全、优先级判断、跟进草稿、CRM回写和主管复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案例补强，约1分30秒】这里可以用一个通用案例：企业想做销售数字员工。普通做法是让AI帮销售写话术；FDE做法是设计完整流程：线索进入后先匹配客户ID，调用CRM查历史，补全画像，判断优先级，生成跟进草稿，销售确认后写回CRM，异常情况转主管，最后用转化率和响应时长复盘。这样一拆，数字员工才从演示变成部署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板书动作，约1分钟】请在白板写七个词：触发、理解、计划、工具、人审、回写、复盘。然后告诉学员：以后设计任何企业Agent，都先问这七个问题。什么时候启动？如何识别意图？怎样拆步骤？调用什么工具？谁来审核？结果写到哪里？上线后看什么指标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互动组织，约3分钟】这一页如果有练习，不要让学员泛泛讨论。先给30秒个人写，再给2分钟小组互相追问，最后请一组用60秒汇报。讲师点评时只追问三件事：第一，流程是否能闭环；第二，工具和权限是否清楚；第三，异常和人工接管是否可执行。这样课堂才是部署训练，不是概念聊天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【概念加深，约1分钟】流程蓝图不是画一张好看的图，而是把每一步设计到可执行。每个节点都要说明输入、判断、工具、输出、异常和责任人。没有这些字段，图再漂亮也无法交给技术团队实现。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常见误区，约1分钟】学员很容易只画主路径，忽略异常路径。真实生产里最常发生事故的不是主路径，而是字段缺失、工具失败、权限不足、用户表达不清、客户投诉和高风险请求。异常路径是部署质量的关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延伸背景，约1分钟】企业AI从个人工具走向数字员工时，最容易被低估的是行动责任。个人用AI写错一段文字，可以自己修改；数字员工如果写错CRM、发错客户消息、提交错误审批，就会影响真实业务。因此第4章必须把工具、权限、审批、日志和回滚讲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讲师内心判断，约1分钟】如果学员只说“Agent会自动处理”，说明还停在演示层。你要追问：自动到哪一步，哪个动作需要人审，调用什么工具，失败后如何降级，日志由谁看，业务指标如何复盘。能回答这些问题，才进入部署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课堂追问，约1分钟】可以停下来问：如果数字员工做错了，是模型问题、流程问题、工具问题、权限问题，还是人审规则问题？请学员至少说出四种可能。这个追问能训练他们上线后的问题定位能力，而不是只会换模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【落地提醒，约1分钟】数字员工部署要避免一次性全自动。第一版要围绕低风险高频任务，保留人工确认和日志复盘，先证明流程闭环和价值，再逐步放权。FDE要训练的是渐进式上线能力。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【复盘动作，约1分钟】讲完这一页后，让学员用一句客户现场语言复述。例如：“我们不是先做一个全自动Agent，而是先把这条销售线索流程拆清楚，定义工具权限和人审节点，在试点团队里跑出可复盘结果。”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收束，约30秒】所以这一页最后要带走的不是“练习”这个标签，而是一个动作：下次客户说“我们要做AI员工”时，你要继续问它负责哪个岗位、走哪条流程、调用哪些工具、谁审批、如何回写、怎么验收。流程蓝图清楚后，我们继续设计工具、API和权限边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互动问题：请学员把一个MVP场景拆成触发、理解、计划、执行、人审、回写、复盘。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过渡语：流程蓝图清楚后，我们继续设计工具、API和权限边界。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本页目的：工具让Agent从建议走向执行，也把风险带进生产流程。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师逐字稿：【开场，约40秒】各位看这一页，标题是“工具/API与权限设计”。这一页要训练的不是记住一个Agent术语，而是让FDE在企业现场能判断：一个数字员工要进入真实流程，必须具备哪些角色、工具、权限、审批、日志和复盘机制。请先记住本页核心句：工具让Agent从建议走向执行，也把风险带进生产流程。接下来我会把它落到流程、工具、人机协作、安全和上线验收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概念展开，约1分30秒】屏幕上的关键词是：工具；权限；日志。讲这些词时，不要像念清单一样念过去。FDE要把每个词翻译成部署动作：谁触发，AI先判断什么，调用哪个工具，哪些动作必须人审，结果写回哪里，失败怎么降级，日志如何追踪。只有这样，学员才会理解数字员工不是聊天框，而是受控工作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【为什么这样讲，约2分钟】工具/API是Agent进入生产的门。工具能读写系统，也能制造事故。FDE必须让学员理解：工具说明书不仅写功能，还要写参数、权限、失败、重试、幂等、回滚、日志和审批。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怎么讲，约2分钟】工具设计要讲得很工程化。一个查询客户信息工具，至少要写清客户ID从哪里来、无匹配怎么办、谁有权限查、返回哪些字段、字段能否进入Prompt、失败是否重试、调用日志保存多久。讲师要让学员看到，工具不是“接个API”，而是生产责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【概念加深，约1分钟】工具设计的本质是把AI行动限制在可控接口里。一个好工具要窄、准、可审计：参数明确、返回稳定、权限最小化、失败可处理、重复调用不会造成事故。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【常见误区，约1分钟】不要把API接通当作部署完成。API能调通只是第一步，还要看参数校验、权限、错误码、超时、重试、幂等、回滚和日志。FDE要站在生产责任角度看工具。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延伸背景，约1分钟】企业AI从个人工具走向数字员工时，最容易被低估的是行动责任。个人用AI写错一段文字，可以自己修改；数字员工如果写错CRM、发错客户消息、提交错误审批，就会影响真实业务。因此第4章必须把工具、权限、审批、日志和回滚讲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讲师内心判断，约1分钟】如果学员只说“Agent会自动处理”，说明还停在演示层。你要追问：自动到哪一步，哪个动作需要人审，调用什么工具，失败后如何降级，日志由谁看，业务指标如何复盘。能回答这些问题，才进入部署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课堂追问，约1分钟】可以停下来问：如果数字员工做错了，是模型问题、流程问题、工具问题、权限问题，还是人审规则问题？请学员至少说出四种可能。这个追问能训练他们上线后的问题定位能力，而不是只会换模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【收束，约30秒】所以这一页最后要带走的不是“Part 3”这个标签，而是一个动作：下次客户说“我们要做AI员工”时，你要继续问它负责哪个岗位、走哪条流程、调用哪些工具、谁审批、如何回写、怎么验收。工具能行动之后，必须设计人机协作和安全护栏。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互动问题：请学员为一个工具调用写参数、权限、失败处理和日志字段。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过渡语：工具能行动之后，必须设计人机协作和安全护栏。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本页目的：每个工具都要说明用途、输入、输出、权限、失败处理和日志。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师逐字稿：【开场，约40秒】各位看这一页，标题是“工具不是越多越好”。这一页要训练的不是记住一个Agent术语，而是让FDE在企业现场能判断：一个数字员工要进入真实流程，必须具备哪些角色、工具、权限、审批、日志和复盘机制。请先记住本页核心句：每个工具都要说明用途、输入、输出、权限、失败处理和日志。接下来我会把它落到流程、工具、人机协作、安全和上线验收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概念展开，约1分30秒】屏幕上的关键词是：查询工具；写回工具；通知工具；审批工具；分析工具。讲这些词时，不要像念清单一样念过去。FDE要把每个词翻译成部署动作：谁触发，AI先判断什么，调用哪个工具，哪些动作必须人审，结果写回哪里，失败怎么降级，日志如何追踪。只有这样，学员才会理解数字员工不是聊天框，而是受控工作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【为什么这样讲，约2分钟】工具/API是Agent进入生产的门。工具能读写系统，也能制造事故。FDE必须让学员理解：工具说明书不仅写功能，还要写参数、权限、失败、重试、幂等、回滚、日志和审批。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怎么讲，约2分钟】工具设计要讲得很工程化。一个查询客户信息工具，至少要写清客户ID从哪里来、无匹配怎么办、谁有权限查、返回哪些字段、字段能否进入Prompt、失败是否重试、调用日志保存多久。讲师要让学员看到，工具不是“接个API”，而是生产责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案例补强，约1分30秒】这里可以用一个通用案例：企业想做销售数字员工。普通做法是让AI帮销售写话术；FDE做法是设计完整流程：线索进入后先匹配客户ID，调用CRM查历史，补全画像，判断优先级，生成跟进草稿，销售确认后写回CRM，异常情况转主管，最后用转化率和响应时长复盘。这样一拆，数字员工才从演示变成部署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板书动作，约1分钟】请在白板写七个词：触发、理解、计划、工具、人审、回写、复盘。然后告诉学员：以后设计任何企业Agent，都先问这七个问题。什么时候启动？如何识别意图？怎样拆步骤？调用什么工具？谁来审核？结果写到哪里？上线后看什么指标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【概念加深，约1分钟】工具设计的本质是把AI行动限制在可控接口里。一个好工具要窄、准、可审计：参数明确、返回稳定、权限最小化、失败可处理、重复调用不会造成事故。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【常见误区，约1分钟】不要把API接通当作部署完成。API能调通只是第一步，还要看参数校验、权限、错误码、超时、重试、幂等、回滚和日志。FDE要站在生产责任角度看工具。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延伸背景，约1分钟】企业AI从个人工具走向数字员工时，最容易被低估的是行动责任。个人用AI写错一段文字，可以自己修改；数字员工如果写错CRM、发错客户消息、提交错误审批，就会影响真实业务。因此第4章必须把工具、权限、审批、日志和回滚讲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讲师内心判断，约1分钟】如果学员只说“Agent会自动处理”，说明还停在演示层。你要追问：自动到哪一步，哪个动作需要人审，调用什么工具，失败后如何降级，日志由谁看，业务指标如何复盘。能回答这些问题，才进入部署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课堂追问，约1分钟】可以停下来问：如果数字员工做错了，是模型问题、流程问题、工具问题、权限问题，还是人审规则问题？请学员至少说出四种可能。这个追问能训练他们上线后的问题定位能力，而不是只会换模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【落地提醒，约1分钟】数字员工部署要避免一次性全自动。第一版要围绕低风险高频任务，保留人工确认和日志复盘，先证明流程闭环和价值，再逐步放权。FDE要训练的是渐进式上线能力。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【复盘动作，约1分钟】讲完这一页后，让学员用一句客户现场语言复述。例如：“我们不是先做一个全自动Agent，而是先把这条销售线索流程拆清楚，定义工具权限和人审节点，在试点团队里跑出可复盘结果。”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收束，约30秒】所以这一页最后要带走的不是“工具清单”这个标签，而是一个动作：下次客户说“我们要做AI员工”时，你要继续问它负责哪个岗位、走哪条流程、调用哪些工具、谁审批、如何回写、怎么验收。工具能行动之后，必须设计人机协作和安全护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互动问题：请学员为一个工具调用写参数、权限、失败处理和日志字段。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过渡语：工具能行动之后，必须设计人机协作和安全护栏。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本页目的：参数、枚举、必填字段、校验规则决定Agent能否稳定调用工具。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师逐字稿：【开场，约40秒】各位看这一页，标题是“工具Schema是行动契约”。这一页要训练的不是记住一个Agent术语，而是让FDE在企业现场能判断：一个数字员工要进入真实流程，必须具备哪些角色、工具、权限、审批、日志和复盘机制。请先记住本页核心句：参数、枚举、必填字段、校验规则决定Agent能否稳定调用工具。接下来我会把它落到流程、工具、人机协作、安全和上线验收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概念展开，约1分30秒】屏幕上的关键词是：工具名称；触发条件；必填参数；可选参数；返回结果；错误码；日志字段。讲这些词时，不要像念清单一样念过去。FDE要把每个词翻译成部署动作：谁触发，AI先判断什么，调用哪个工具，哪些动作必须人审，结果写回哪里，失败怎么降级，日志如何追踪。只有这样，学员才会理解数字员工不是聊天框，而是受控工作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【为什么这样讲，约2分钟】工具/API是Agent进入生产的门。工具能读写系统，也能制造事故。FDE必须让学员理解：工具说明书不仅写功能，还要写参数、权限、失败、重试、幂等、回滚、日志和审批。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怎么讲，约2分钟】工具设计要讲得很工程化。一个查询客户信息工具，至少要写清客户ID从哪里来、无匹配怎么办、谁有权限查、返回哪些字段、字段能否进入Prompt、失败是否重试、调用日志保存多久。讲师要让学员看到，工具不是“接个API”，而是生产责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案例补强，约1分30秒】这里可以用一个通用案例：企业想做销售数字员工。普通做法是让AI帮销售写话术；FDE做法是设计完整流程：线索进入后先匹配客户ID，调用CRM查历史，补全画像，判断优先级，生成跟进草稿，销售确认后写回CRM，异常情况转主管，最后用转化率和响应时长复盘。这样一拆，数字员工才从演示变成部署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板书动作，约1分钟】请在白板写七个词：触发、理解、计划、工具、人审、回写、复盘。然后告诉学员：以后设计任何企业Agent，都先问这七个问题。什么时候启动？如何识别意图？怎样拆步骤？调用什么工具？谁来审核？结果写到哪里？上线后看什么指标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【概念加深，约1分钟】工具设计的本质是把AI行动限制在可控接口里。一个好工具要窄、准、可审计：参数明确、返回稳定、权限最小化、失败可处理、重复调用不会造成事故。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【常见误区，约1分钟】不要把API接通当作部署完成。API能调通只是第一步，还要看参数校验、权限、错误码、超时、重试、幂等、回滚和日志。FDE要站在生产责任角度看工具。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延伸背景，约1分钟】企业AI从个人工具走向数字员工时，最容易被低估的是行动责任。个人用AI写错一段文字，可以自己修改；数字员工如果写错CRM、发错客户消息、提交错误审批，就会影响真实业务。因此第4章必须把工具、权限、审批、日志和回滚讲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讲师内心判断，约1分钟】如果学员只说“Agent会自动处理”，说明还停在演示层。你要追问：自动到哪一步，哪个动作需要人审，调用什么工具，失败后如何降级，日志由谁看，业务指标如何复盘。能回答这些问题，才进入部署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课堂追问，约1分钟】可以停下来问：如果数字员工做错了，是模型问题、流程问题、工具问题、权限问题，还是人审规则问题？请学员至少说出四种可能。这个追问能训练他们上线后的问题定位能力，而不是只会换模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【落地提醒，约1分钟】数字员工部署要避免一次性全自动。第一版要围绕低风险高频任务，保留人工确认和日志复盘，先证明流程闭环和价值，再逐步放权。FDE要训练的是渐进式上线能力。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【复盘动作，约1分钟】讲完这一页后，让学员用一句客户现场语言复述。例如：“我们不是先做一个全自动Agent，而是先把这条销售线索流程拆清楚，定义工具权限和人审节点，在试点团队里跑出可复盘结果。”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收束，约30秒】所以这一页最后要带走的不是“Schema”这个标签，而是一个动作：下次客户说“我们要做AI员工”时，你要继续问它负责哪个岗位、走哪条流程、调用哪些工具、谁审批、如何回写、怎么验收。工具能行动之后，必须设计人机协作和安全护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互动问题：请学员为一个工具调用写参数、权限、失败处理和日志字段。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过渡语：工具能行动之后，必须设计人机协作和安全护栏。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本页目的：读、写、发、删、改、审，每一类动作都要单独授权。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师逐字稿：【开场，约40秒】各位看这一页，标题是“权限按角色、场景和动作分层”。这一页要训练的不是记住一个Agent术语，而是让FDE在企业现场能判断：一个数字员工要进入真实流程，必须具备哪些角色、工具、权限、审批、日志和复盘机制。请先记住本页核心句：读、写、发、删、改、审，每一类动作都要单独授权。接下来我会把它落到流程、工具、人机协作、安全和上线验收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概念展开，约1分30秒】屏幕上的关键词是：只读；草稿；提交；审批；自动执行。讲这些词时，不要像念清单一样念过去。FDE要把每个词翻译成部署动作：谁触发，AI先判断什么，调用哪个工具，哪些动作必须人审，结果写回哪里，失败怎么降级，日志如何追踪。只有这样，学员才会理解数字员工不是聊天框，而是受控工作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【为什么这样讲，约2分钟】工具/API是Agent进入生产的门。工具能读写系统，也能制造事故。FDE必须让学员理解：工具说明书不仅写功能，还要写参数、权限、失败、重试、幂等、回滚、日志和审批。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怎么讲，约2分钟】工具设计要讲得很工程化。一个查询客户信息工具，至少要写清客户ID从哪里来、无匹配怎么办、谁有权限查、返回哪些字段、字段能否进入Prompt、失败是否重试、调用日志保存多久。讲师要让学员看到，工具不是“接个API”，而是生产责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案例补强，约1分30秒】这里可以用一个通用案例：企业想做销售数字员工。普通做法是让AI帮销售写话术；FDE做法是设计完整流程：线索进入后先匹配客户ID，调用CRM查历史，补全画像，判断优先级，生成跟进草稿，销售确认后写回CRM，异常情况转主管，最后用转化率和响应时长复盘。这样一拆，数字员工才从演示变成部署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板书动作，约1分钟】请在白板写七个词：触发、理解、计划、工具、人审、回写、复盘。然后告诉学员：以后设计任何企业Agent，都先问这七个问题。什么时候启动？如何识别意图？怎样拆步骤？调用什么工具？谁来审核？结果写到哪里？上线后看什么指标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【概念加深，约1分钟】工具设计的本质是把AI行动限制在可控接口里。一个好工具要窄、准、可审计：参数明确、返回稳定、权限最小化、失败可处理、重复调用不会造成事故。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【常见误区，约1分钟】不要把API接通当作部署完成。API能调通只是第一步，还要看参数校验、权限、错误码、超时、重试、幂等、回滚和日志。FDE要站在生产责任角度看工具。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延伸背景，约1分钟】企业AI从个人工具走向数字员工时，最容易被低估的是行动责任。个人用AI写错一段文字，可以自己修改；数字员工如果写错CRM、发错客户消息、提交错误审批，就会影响真实业务。因此第4章必须把工具、权限、审批、日志和回滚讲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讲师内心判断，约1分钟】如果学员只说“Agent会自动处理”，说明还停在演示层。你要追问：自动到哪一步，哪个动作需要人审，调用什么工具，失败后如何降级，日志由谁看，业务指标如何复盘。能回答这些问题，才进入部署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课堂追问，约1分钟】可以停下来问：如果数字员工做错了，是模型问题、流程问题、工具问题、权限问题，还是人审规则问题？请学员至少说出四种可能。这个追问能训练他们上线后的问题定位能力，而不是只会换模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【落地提醒，约1分钟】数字员工部署要避免一次性全自动。第一版要围绕低风险高频任务，保留人工确认和日志复盘，先证明流程闭环和价值，再逐步放权。FDE要训练的是渐进式上线能力。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【复盘动作，约1分钟】讲完这一页后，让学员用一句客户现场语言复述。例如：“我们不是先做一个全自动Agent，而是先把这条销售线索流程拆清楚，定义工具权限和人审节点，在试点团队里跑出可复盘结果。”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收束，约30秒】所以这一页最后要带走的不是“权限”这个标签，而是一个动作：下次客户说“我们要做AI员工”时，你要继续问它负责哪个岗位、走哪条流程、调用哪些工具、谁审批、如何回写、怎么验收。工具能行动之后，必须设计人机协作和安全护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互动问题：请学员为一个工具调用写参数、权限、失败处理和日志字段。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过渡语：工具能行动之后，必须设计人机协作和安全护栏。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本页目的：工具失败不是小概率，FDE要设计重复调用不出事故的机制。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师逐字稿：【开场，约40秒】各位看这一页，标题是“幂等、重试与回滚”。这一页要训练的不是记住一个Agent术语，而是让FDE在企业现场能判断：一个数字员工要进入真实流程，必须具备哪些角色、工具、权限、审批、日志和复盘机制。请先记住本页核心句：工具失败不是小概率，FDE要设计重复调用不出事故的机制。接下来我会把它落到流程、工具、人机协作、安全和上线验收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概念展开，约1分30秒】屏幕上的关键词是：幂等Key；重试次数；超时处理；回滚动作；人工兜底；告警通知。讲这些词时，不要像念清单一样念过去。FDE要把每个词翻译成部署动作：谁触发，AI先判断什么，调用哪个工具，哪些动作必须人审，结果写回哪里，失败怎么降级，日志如何追踪。只有这样，学员才会理解数字员工不是聊天框，而是受控工作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【为什么这样讲，约2分钟】工具/API是Agent进入生产的门。工具能读写系统，也能制造事故。FDE必须让学员理解：工具说明书不仅写功能，还要写参数、权限、失败、重试、幂等、回滚、日志和审批。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怎么讲，约2分钟】这一页要反复把概念落到FDE现场问法。每讲一个关键词，就补一句现场追问：谁触发，做哪一步，调用什么工具，谁审批，失败怎么办，日志在哪里，如何验收。这样学员会形成数字员工部署的肌肉记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案例补强，约1分30秒】这里可以用一个通用案例：企业想做销售数字员工。普通做法是让AI帮销售写话术；FDE做法是设计完整流程：线索进入后先匹配客户ID，调用CRM查历史，补全画像，判断优先级，生成跟进草稿，销售确认后写回CRM，异常情况转主管，最后用转化率和响应时长复盘。这样一拆，数字员工才从演示变成部署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板书动作，约1分钟】请在白板写七个词：触发、理解、计划、工具、人审、回写、复盘。然后告诉学员：以后设计任何企业Agent，都先问这七个问题。什么时候启动？如何识别意图？怎样拆步骤？调用什么工具？谁来审核？结果写到哪里？上线后看什么指标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【概念加深，约1分钟】工具设计的本质是把AI行动限制在可控接口里。一个好工具要窄、准、可审计：参数明确、返回稳定、权限最小化、失败可处理、重复调用不会造成事故。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【常见误区，约1分钟】不要把API接通当作部署完成。API能调通只是第一步，还要看参数校验、权限、错误码、超时、重试、幂等、回滚和日志。FDE要站在生产责任角度看工具。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延伸背景，约1分钟】企业AI从个人工具走向数字员工时，最容易被低估的是行动责任。个人用AI写错一段文字，可以自己修改；数字员工如果写错CRM、发错客户消息、提交错误审批，就会影响真实业务。因此第4章必须把工具、权限、审批、日志和回滚讲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讲师内心判断，约1分钟】如果学员只说“Agent会自动处理”，说明还停在演示层。你要追问：自动到哪一步，哪个动作需要人审，调用什么工具，失败后如何降级，日志由谁看，业务指标如何复盘。能回答这些问题，才进入部署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课堂追问，约1分钟】可以停下来问：如果数字员工做错了，是模型问题、流程问题、工具问题、权限问题，还是人审规则问题？请学员至少说出四种可能。这个追问能训练他们上线后的问题定位能力，而不是只会换模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【落地提醒，约1分钟】数字员工部署要避免一次性全自动。第一版要围绕低风险高频任务，保留人工确认和日志复盘，先证明流程闭环和价值，再逐步放权。FDE要训练的是渐进式上线能力。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【复盘动作，约1分钟】讲完这一页后，让学员用一句客户现场语言复述。例如：“我们不是先做一个全自动Agent，而是先把这条销售线索流程拆清楚，定义工具权限和人审节点，在试点团队里跑出可复盘结果。”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收束，约30秒】所以这一页最后要带走的不是“幂等”这个标签，而是一个动作：下次客户说“我们要做AI员工”时，你要继续问它负责哪个岗位、走哪条流程、调用哪些工具、谁审批、如何回写、怎么验收。工具能行动之后，必须设计人机协作和安全护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互动问题：请学员为一个工具调用写参数、权限、失败处理和日志字段。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过渡语：工具能行动之后，必须设计人机协作和安全护栏。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本页目的：日志要记录谁触发、看了什么、调用什么、结果如何、谁审批。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师逐字稿：【开场，约40秒】各位看这一页，标题是“日志是数字员工的黑匣子”。这一页要训练的不是记住一个Agent术语，而是让FDE在企业现场能判断：一个数字员工要进入真实流程，必须具备哪些角色、工具、权限、审批、日志和复盘机制。请先记住本页核心句：日志要记录谁触发、看了什么、调用什么、结果如何、谁审批。接下来我会把它落到流程、工具、人机协作、安全和上线验收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概念展开，约1分30秒】屏幕上的关键词是：触发人→身份与权限；上下文→引用和数据；工具调用→参数与结果；审批人→决策理由；输出→写回位置。讲这些词时，不要像念清单一样念过去。FDE要把每个词翻译成部署动作：谁触发，AI先判断什么，调用哪个工具，哪些动作必须人审，结果写回哪里，失败怎么降级，日志如何追踪。只有这样，学员才会理解数字员工不是聊天框，而是受控工作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【为什么这样讲，约2分钟】工具/API是Agent进入生产的门。工具能读写系统，也能制造事故。FDE必须让学员理解：工具说明书不仅写功能，还要写参数、权限、失败、重试、幂等、回滚、日志和审批。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怎么讲，约2分钟】这里要把“AI助手”拉回岗位语言。岗位不是功能集合，而是服务对象、工作范围、输入输出、协作关系和绩效指标。比如销售线索数字员工，不是“帮销售聊天”，而是服务销售团队，处理线索进入后的画像补全、优先级判断、跟进草稿、CRM回写和主管复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案例补强，约1分30秒】这里可以用一个通用案例：企业想做销售数字员工。普通做法是让AI帮销售写话术；FDE做法是设计完整流程：线索进入后先匹配客户ID，调用CRM查历史，补全画像，判断优先级，生成跟进草稿，销售确认后写回CRM，异常情况转主管，最后用转化率和响应时长复盘。这样一拆，数字员工才从演示变成部署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板书动作，约1分钟】请在白板写七个词：触发、理解、计划、工具、人审、回写、复盘。然后告诉学员：以后设计任何企业Agent，都先问这七个问题。什么时候启动？如何识别意图？怎样拆步骤？调用什么工具？谁来审核？结果写到哪里？上线后看什么指标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【概念加深，约1分钟】工具设计的本质是把AI行动限制在可控接口里。一个好工具要窄、准、可审计：参数明确、返回稳定、权限最小化、失败可处理、重复调用不会造成事故。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【常见误区，约1分钟】不要把API接通当作部署完成。API能调通只是第一步，还要看参数校验、权限、错误码、超时、重试、幂等、回滚和日志。FDE要站在生产责任角度看工具。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延伸背景，约1分钟】企业AI从个人工具走向数字员工时，最容易被低估的是行动责任。个人用AI写错一段文字，可以自己修改；数字员工如果写错CRM、发错客户消息、提交错误审批，就会影响真实业务。因此第4章必须把工具、权限、审批、日志和回滚讲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讲师内心判断，约1分钟】如果学员只说“Agent会自动处理”，说明还停在演示层。你要追问：自动到哪一步，哪个动作需要人审，调用什么工具，失败后如何降级，日志由谁看，业务指标如何复盘。能回答这些问题，才进入部署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课堂追问，约1分钟】可以停下来问：如果数字员工做错了，是模型问题、流程问题、工具问题、权限问题，还是人审规则问题？请学员至少说出四种可能。这个追问能训练他们上线后的问题定位能力，而不是只会换模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【落地提醒，约1分钟】数字员工部署要避免一次性全自动。第一版要围绕低风险高频任务，保留人工确认和日志复盘，先证明流程闭环和价值，再逐步放权。FDE要训练的是渐进式上线能力。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【复盘动作，约1分钟】讲完这一页后，让学员用一句客户现场语言复述。例如：“我们不是先做一个全自动Agent，而是先把这条销售线索流程拆清楚，定义工具权限和人审节点，在试点团队里跑出可复盘结果。”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收束，约30秒】所以这一页最后要带走的不是“日志”这个标签，而是一个动作：下次客户说“我们要做AI员工”时，你要继续问它负责哪个岗位、走哪条流程、调用哪些工具、谁审批、如何回写、怎么验收。工具能行动之后，必须设计人机协作和安全护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互动问题：请学员为一个工具调用写参数、权限、失败处理和日志字段。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过渡语：工具能行动之后，必须设计人机协作和安全护栏。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本页目的：国内企业数字员工常从企微触发，在CRM或工单系统闭环。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讲师逐字稿：【开场，约40秒】各位看这一页，标题是“企业微信 + CRM工具接入案例”。这一页要训练的不是记住一个Agent术语，而是让FDE在企业现场能判断：一个数字员工要进入真实流程，必须具备哪些角色、工具、权限、审批、日志和复盘机制。请先记住本页核心句：国内企业数字员工常从企微触发，在CRM或工单系统闭环。接下来我会把它落到流程、工具、人机协作、安全和上线验收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概念展开，约1分30秒】屏幕上的关键词是：企微会话触发；客户ID匹配；CRM查询；生成跟进建议；销售确认；写回CRM。讲这些词时，不要像念清单一样念过去。FDE要把每个词翻译成部署动作：谁触发，AI先判断什么，调用哪个工具，哪些动作必须人审，结果写回哪里，失败怎么降级，日志如何追踪。只有这样，学员才会理解数字员工不是聊天框，而是受控工作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【为什么这样讲，约2分钟】工具/API是Agent进入生产的门。工具能读写系统，也能制造事故。FDE必须让学员理解：工具说明书不仅写功能，还要写参数、权限、失败、重试、幂等、回滚、日志和审批。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怎么讲，约2分钟】工具设计要讲得很工程化。一个查询客户信息工具，至少要写清客户ID从哪里来、无匹配怎么办、谁有权限查、返回哪些字段、字段能否进入Prompt、失败是否重试、调用日志保存多久。讲师要让学员看到，工具不是“接个API”，而是生产责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案例补强，约1分30秒】这里可以用一个通用案例：企业想做销售数字员工。普通做法是让AI帮销售写话术；FDE做法是设计完整流程：线索进入后先匹配客户ID，调用CRM查历史，补全画像，判断优先级，生成跟进草稿，销售确认后写回CRM，异常情况转主管，最后用转化率和响应时长复盘。这样一拆，数字员工才从演示变成部署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板书动作，约1分钟】请在白板写七个词：触发、理解、计划、工具、人审、回写、复盘。然后告诉学员：以后设计任何企业Agent，都先问这七个问题。什么时候启动？如何识别意图？怎样拆步骤？调用什么工具？谁来审核？结果写到哪里？上线后看什么指标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【概念加深，约1分钟】工具设计的本质是把AI行动限制在可控接口里。一个好工具要窄、准、可审计：参数明确、返回稳定、权限最小化、失败可处理、重复调用不会造成事故。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【常见误区，约1分钟】不要把API接通当作部署完成。API能调通只是第一步，还要看参数校验、权限、错误码、超时、重试、幂等、回滚和日志。FDE要站在生产责任角度看工具。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延伸背景，约1分钟】企业AI从个人工具走向数字员工时，最容易被低估的是行动责任。个人用AI写错一段文字，可以自己修改；数字员工如果写错CRM、发错客户消息、提交错误审批，就会影响真实业务。因此第4章必须把工具、权限、审批、日志和回滚讲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讲师内心判断，约1分钟】如果学员只说“Agent会自动处理”，说明还停在演示层。你要追问：自动到哪一步，哪个动作需要人审，调用什么工具，失败后如何降级，日志由谁看，业务指标如何复盘。能回答这些问题，才进入部署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课堂追问，约1分钟】可以停下来问：如果数字员工做错了，是模型问题、流程问题、工具问题、权限问题，还是人审规则问题？请学员至少说出四种可能。这个追问能训练他们上线后的问题定位能力，而不是只会换模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【落地提醒，约1分钟】数字员工部署要避免一次性全自动。第一版要围绕低风险高频任务，保留人工确认和日志复盘，先证明流程闭环和价值，再逐步放权。FDE要训练的是渐进式上线能力。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【复盘动作，约1分钟】讲完这一页后，让学员用一句客户现场语言复述。例如：“我们不是先做一个全自动Agent，而是先把这条销售线索流程拆清楚，定义工具权限和人审节点，在试点团队里跑出可复盘结果。”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收束，约30秒】所以这一页最后要带走的不是“企微/CRM”这个标签，而是一个动作：下次客户说“我们要做AI员工”时，你要继续问它负责哪个岗位、走哪条流程、调用哪些工具、谁审批、如何回写、怎么验收。工具能行动之后，必须设计人机协作和安全护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互动问题：请学员为一个工具调用写参数、权限、失败处理和日志字段。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过渡语：工具能行动之后，必须设计人机协作和安全护栏。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本页目的：学员要为一个工具写清参数、权限、失败和日志。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师逐字稿：【开场，约40秒】各位看这一页，标题是“设计一个工具调用说明书”。这一页要训练的不是记住一个Agent术语，而是让FDE在企业现场能判断：一个数字员工要进入真实流程，必须具备哪些角色、工具、权限、审批、日志和复盘机制。请先记住本页核心句：学员要为一个工具写清参数、权限、失败和日志。接下来我会把它落到流程、工具、人机协作、安全和上线验收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概念展开，约1分30秒】屏幕上的关键词是：选一个工具；写Schema；标权限；写失败处理；写日志字段。讲这些词时，不要像念清单一样念过去。FDE要把每个词翻译成部署动作：谁触发，AI先判断什么，调用哪个工具，哪些动作必须人审，结果写回哪里，失败怎么降级，日志如何追踪。只有这样，学员才会理解数字员工不是聊天框，而是受控工作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【为什么这样讲，约2分钟】工具/API是Agent进入生产的门。工具能读写系统，也能制造事故。FDE必须让学员理解：工具说明书不仅写功能，还要写参数、权限、失败、重试、幂等、回滚、日志和审批。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怎么讲，约2分钟】工具设计要讲得很工程化。一个查询客户信息工具，至少要写清客户ID从哪里来、无匹配怎么办、谁有权限查、返回哪些字段、字段能否进入Prompt、失败是否重试、调用日志保存多久。讲师要让学员看到，工具不是“接个API”，而是生产责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案例补强，约1分30秒】这里可以用一个通用案例：企业想做销售数字员工。普通做法是让AI帮销售写话术；FDE做法是设计完整流程：线索进入后先匹配客户ID，调用CRM查历史，补全画像，判断优先级，生成跟进草稿，销售确认后写回CRM，异常情况转主管，最后用转化率和响应时长复盘。这样一拆，数字员工才从演示变成部署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板书动作，约1分钟】请在白板写七个词：触发、理解、计划、工具、人审、回写、复盘。然后告诉学员：以后设计任何企业Agent，都先问这七个问题。什么时候启动？如何识别意图？怎样拆步骤？调用什么工具？谁来审核？结果写到哪里？上线后看什么指标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互动组织，约3分钟】这一页如果有练习，不要让学员泛泛讨论。先给30秒个人写，再给2分钟小组互相追问，最后请一组用60秒汇报。讲师点评时只追问三件事：第一，流程是否能闭环；第二，工具和权限是否清楚；第三，异常和人工接管是否可执行。这样课堂才是部署训练，不是概念聊天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【概念加深，约1分钟】工具设计的本质是把AI行动限制在可控接口里。一个好工具要窄、准、可审计：参数明确、返回稳定、权限最小化、失败可处理、重复调用不会造成事故。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【常见误区，约1分钟】不要把API接通当作部署完成。API能调通只是第一步，还要看参数校验、权限、错误码、超时、重试、幂等、回滚和日志。FDE要站在生产责任角度看工具。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延伸背景，约1分钟】企业AI从个人工具走向数字员工时，最容易被低估的是行动责任。个人用AI写错一段文字，可以自己修改；数字员工如果写错CRM、发错客户消息、提交错误审批，就会影响真实业务。因此第4章必须把工具、权限、审批、日志和回滚讲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讲师内心判断，约1分钟】如果学员只说“Agent会自动处理”，说明还停在演示层。你要追问：自动到哪一步，哪个动作需要人审，调用什么工具，失败后如何降级，日志由谁看，业务指标如何复盘。能回答这些问题，才进入部署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课堂追问，约1分钟】可以停下来问：如果数字员工做错了，是模型问题、流程问题、工具问题、权限问题，还是人审规则问题？请学员至少说出四种可能。这个追问能训练他们上线后的问题定位能力，而不是只会换模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【落地提醒，约1分钟】数字员工部署要避免一次性全自动。第一版要围绕低风险高频任务，保留人工确认和日志复盘，先证明流程闭环和价值，再逐步放权。FDE要训练的是渐进式上线能力。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【复盘动作，约1分钟】讲完这一页后，让学员用一句客户现场语言复述。例如：“我们不是先做一个全自动Agent，而是先把这条销售线索流程拆清楚，定义工具权限和人审节点，在试点团队里跑出可复盘结果。”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收束，约30秒】所以这一页最后要带走的不是“练习”这个标签，而是一个动作：下次客户说“我们要做AI员工”时，你要继续问它负责哪个岗位、走哪条流程、调用哪些工具、谁审批、如何回写、怎么验收。工具能行动之后，必须设计人机协作和安全护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互动问题：请学员为一个工具调用写参数、权限、失败处理和日志字段。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过渡语：工具能行动之后，必须设计人机协作和安全护栏。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本页目的：企业AI不是替代人，而是重新设计人机分工。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师逐字稿：【开场，约40秒】各位看这一页，标题是“人机协作与安全护栏”。这一页要训练的不是记住一个Agent术语，而是让FDE在企业现场能判断：一个数字员工要进入真实流程，必须具备哪些角色、工具、权限、审批、日志和复盘机制。请先记住本页核心句：企业AI不是替代人，而是重新设计人机分工。接下来我会把它落到流程、工具、人机协作、安全和上线验收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概念展开，约1分30秒】屏幕上的关键词是：人审；接管；合规。讲这些词时，不要像念清单一样念过去。FDE要把每个词翻译成部署动作：谁触发，AI先判断什么，调用哪个工具，哪些动作必须人审，结果写回哪里，失败怎么降级，日志如何追踪。只有这样，学员才会理解数字员工不是聊天框，而是受控工作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为什么这样讲，约2分钟】企业AI部署不是消灭人工，而是重新设计人机分工。低风险任务可以自动，高风险任务必须人审，越权和无依据任务必须拒绝或接管。讲师要把“人工接管”讲成生产安全能力，而不是AI失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怎么讲，约2分钟】人机协作要用风险语言讲。低风险的知识问答可以自动回复；客户承诺、报价、合同、合规、退款等动作最多生成草稿或提交审批；越权、无依据和超范围的问题要拒绝或接管。这样学员会理解：受控不是保守，而是让企业敢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【概念加深，约1分钟】人机协作不是临时加一个“人工确认”按钮，而是把责任分工设计进流程。AI负责准备材料、生成建议和执行低风险动作，人负责高风险判断、例外处理和业务承诺。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【常见误区，约1分钟】学员可能认为转人工会降低效率。讲师要说明：高风险环节转人工，反而能让客户更快接受试点，因为客户知道系统有刹车、有责任人、有回滚。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延伸背景，约1分钟】企业AI从个人工具走向数字员工时，最容易被低估的是行动责任。个人用AI写错一段文字，可以自己修改；数字员工如果写错CRM、发错客户消息、提交错误审批，就会影响真实业务。因此第4章必须把工具、权限、审批、日志和回滚讲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讲师内心判断，约1分钟】如果学员只说“Agent会自动处理”，说明还停在演示层。你要追问：自动到哪一步，哪个动作需要人审，调用什么工具，失败后如何降级，日志由谁看，业务指标如何复盘。能回答这些问题，才进入部署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课堂追问，约1分钟】可以停下来问：如果数字员工做错了，是模型问题、流程问题、工具问题、权限问题，还是人审规则问题？请学员至少说出四种可能。这个追问能训练他们上线后的问题定位能力，而不是只会换模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【收束，约30秒】所以这一页最后要带走的不是“Part 4”这个标签，而是一个动作：下次客户说“我们要做AI员工”时，你要继续问它负责哪个岗位、走哪条流程、调用哪些工具、谁审批、如何回写、怎么验收。护栏明确后，我们再选择合适的Agent编排模式。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互动问题：请学员给一个高风险动作设计人审、拒绝和人工接管条件。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过渡语：护栏明确后，我们再选择合适的Agent编排模式。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本页目的：按风险决定AI能回答、起草、提交审批还是自动执行。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师逐字稿：【开场，约40秒】各位看这一页，标题是“四级行动权限”。这一页要训练的不是记住一个Agent术语，而是让FDE在企业现场能判断：一个数字员工要进入真实流程，必须具备哪些角色、工具、权限、审批、日志和复盘机制。请先记住本页核心句：按风险决定AI能回答、起草、提交审批还是自动执行。接下来我会把它落到流程、工具、人机协作、安全和上线验收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概念展开，约1分30秒】屏幕上的关键词是：L0回答：低风险；L1草稿：人确认；L2审批：主管通过；L3执行：低风险自动；禁止：高敏动作；复盘：全程留痕。讲这些词时，不要像念清单一样念过去。FDE要把每个词翻译成部署动作：谁触发，AI先判断什么，调用哪个工具，哪些动作必须人审，结果写回哪里，失败怎么降级，日志如何追踪。只有这样，学员才会理解数字员工不是聊天框，而是受控工作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为什么这样讲，约2分钟】企业AI部署不是消灭人工，而是重新设计人机分工。低风险任务可以自动，高风险任务必须人审，越权和无依据任务必须拒绝或接管。讲师要把“人工接管”讲成生产安全能力，而不是AI失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怎么讲，约2分钟】工具设计要讲得很工程化。一个查询客户信息工具，至少要写清客户ID从哪里来、无匹配怎么办、谁有权限查、返回哪些字段、字段能否进入Prompt、失败是否重试、调用日志保存多久。讲师要让学员看到，工具不是“接个API”，而是生产责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案例补强，约1分30秒】这里可以用一个通用案例：企业想做销售数字员工。普通做法是让AI帮销售写话术；FDE做法是设计完整流程：线索进入后先匹配客户ID，调用CRM查历史，补全画像，判断优先级，生成跟进草稿，销售确认后写回CRM，异常情况转主管，最后用转化率和响应时长复盘。这样一拆，数字员工才从演示变成部署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板书动作，约1分钟】请在白板写七个词：触发、理解、计划、工具、人审、回写、复盘。然后告诉学员：以后设计任何企业Agent，都先问这七个问题。什么时候启动？如何识别意图？怎样拆步骤？调用什么工具？谁来审核？结果写到哪里？上线后看什么指标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【概念加深，约1分钟】人机协作不是临时加一个“人工确认”按钮，而是把责任分工设计进流程。AI负责准备材料、生成建议和执行低风险动作，人负责高风险判断、例外处理和业务承诺。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【常见误区，约1分钟】学员可能认为转人工会降低效率。讲师要说明：高风险环节转人工，反而能让客户更快接受试点，因为客户知道系统有刹车、有责任人、有回滚。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延伸背景，约1分钟】企业AI从个人工具走向数字员工时，最容易被低估的是行动责任。个人用AI写错一段文字，可以自己修改；数字员工如果写错CRM、发错客户消息、提交错误审批，就会影响真实业务。因此第4章必须把工具、权限、审批、日志和回滚讲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讲师内心判断，约1分钟】如果学员只说“Agent会自动处理”，说明还停在演示层。你要追问：自动到哪一步，哪个动作需要人审，调用什么工具，失败后如何降级，日志由谁看，业务指标如何复盘。能回答这些问题，才进入部署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课堂追问，约1分钟】可以停下来问：如果数字员工做错了，是模型问题、流程问题、工具问题、权限问题，还是人审规则问题？请学员至少说出四种可能。这个追问能训练他们上线后的问题定位能力，而不是只会换模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【落地提醒，约1分钟】数字员工部署要避免一次性全自动。第一版要围绕低风险高频任务，保留人工确认和日志复盘，先证明流程闭环和价值，再逐步放权。FDE要训练的是渐进式上线能力。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【复盘动作，约1分钟】讲完这一页后，让学员用一句客户现场语言复述。例如：“我们不是先做一个全自动Agent，而是先把这条销售线索流程拆清楚，定义工具权限和人审节点，在试点团队里跑出可复盘结果。”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收束，约30秒】所以这一页最后要带走的不是“风险分级”这个标签，而是一个动作：下次客户说“我们要做AI员工”时，你要继续问它负责哪个岗位、走哪条流程、调用哪些工具、谁审批、如何回写、怎么验收。护栏明确后，我们再选择合适的Agent编排模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互动问题：请学员给一个高风险动作设计人审、拒绝和人工接管条件。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过渡语：护栏明确后，我们再选择合适的Agent编排模式。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本页目的：人审要设计触发条件、审什么、给谁审、超时怎么办。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师逐字稿：【开场，约40秒】各位看这一页，标题是“人审不是慢，而是生产安全阀”。这一页要训练的不是记住一个Agent术语，而是让FDE在企业现场能判断：一个数字员工要进入真实流程，必须具备哪些角色、工具、权限、审批、日志和复盘机制。请先记住本页核心句：人审要设计触发条件、审什么、给谁审、超时怎么办。接下来我会把它落到流程、工具、人机协作、安全和上线验收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概念展开，约1分30秒】屏幕上的关键词是：低置信度；金额较高；客户承诺；合规敏感；异常投诉。讲这些词时，不要像念清单一样念过去。FDE要把每个词翻译成部署动作：谁触发，AI先判断什么，调用哪个工具，哪些动作必须人审，结果写回哪里，失败怎么降级，日志如何追踪。只有这样，学员才会理解数字员工不是聊天框，而是受控工作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为什么这样讲，约2分钟】企业AI部署不是消灭人工，而是重新设计人机分工。低风险任务可以自动，高风险任务必须人审，越权和无依据任务必须拒绝或接管。讲师要把“人工接管”讲成生产安全能力，而不是AI失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怎么讲，约2分钟】人机协作要用风险语言讲。低风险的知识问答可以自动回复；客户承诺、报价、合同、合规、退款等动作最多生成草稿或提交审批；越权、无依据和超范围的问题要拒绝或接管。这样学员会理解：受控不是保守，而是让企业敢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案例补强，约1分30秒】这里可以用一个通用案例：企业想做销售数字员工。普通做法是让AI帮销售写话术；FDE做法是设计完整流程：线索进入后先匹配客户ID，调用CRM查历史，补全画像，判断优先级，生成跟进草稿，销售确认后写回CRM，异常情况转主管，最后用转化率和响应时长复盘。这样一拆，数字员工才从演示变成部署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板书动作，约1分钟】请在白板写七个词：触发、理解、计划、工具、人审、回写、复盘。然后告诉学员：以后设计任何企业Agent，都先问这七个问题。什么时候启动？如何识别意图？怎样拆步骤？调用什么工具？谁来审核？结果写到哪里？上线后看什么指标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【概念加深，约1分钟】人机协作不是临时加一个“人工确认”按钮，而是把责任分工设计进流程。AI负责准备材料、生成建议和执行低风险动作，人负责高风险判断、例外处理和业务承诺。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【常见误区，约1分钟】学员可能认为转人工会降低效率。讲师要说明：高风险环节转人工，反而能让客户更快接受试点，因为客户知道系统有刹车、有责任人、有回滚。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延伸背景，约1分钟】企业AI从个人工具走向数字员工时，最容易被低估的是行动责任。个人用AI写错一段文字，可以自己修改；数字员工如果写错CRM、发错客户消息、提交错误审批，就会影响真实业务。因此第4章必须把工具、权限、审批、日志和回滚讲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讲师内心判断，约1分钟】如果学员只说“Agent会自动处理”，说明还停在演示层。你要追问：自动到哪一步，哪个动作需要人审，调用什么工具，失败后如何降级，日志由谁看，业务指标如何复盘。能回答这些问题，才进入部署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课堂追问，约1分钟】可以停下来问：如果数字员工做错了，是模型问题、流程问题、工具问题、权限问题，还是人审规则问题？请学员至少说出四种可能。这个追问能训练他们上线后的问题定位能力，而不是只会换模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【落地提醒，约1分钟】数字员工部署要避免一次性全自动。第一版要围绕低风险高频任务，保留人工确认和日志复盘，先证明流程闭环和价值，再逐步放权。FDE要训练的是渐进式上线能力。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【复盘动作，约1分钟】讲完这一页后，让学员用一句客户现场语言复述。例如：“我们不是先做一个全自动Agent，而是先把这条销售线索流程拆清楚，定义工具权限和人审节点，在试点团队里跑出可复盘结果。”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收束，约30秒】所以这一页最后要带走的不是“人审”这个标签，而是一个动作：下次客户说“我们要做AI员工”时，你要继续问它负责哪个岗位、走哪条流程、调用哪些工具、谁审批、如何回写、怎么验收。护栏明确后，我们再选择合适的Agent编排模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互动问题：请学员给一个高风险动作设计人审、拒绝和人工接管条件。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过渡语：护栏明确后，我们再选择合适的Agent编排模式。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本页目的：越权、无依据、高风险、超范围和冲突信息必须拒绝或转人工。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师逐字稿：【开场，约40秒】各位看这一页，标题是“会拒绝的Agent更可靠”。这一页要训练的不是记住一个Agent术语，而是让FDE在企业现场能判断：一个数字员工要进入真实流程，必须具备哪些角色、工具、权限、审批、日志和复盘机制。请先记住本页核心句：越权、无依据、高风险、超范围和冲突信息必须拒绝或转人工。接下来我会把它落到流程、工具、人机协作、安全和上线验收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概念展开，约1分30秒】屏幕上的关键词是：越权；无依据；高风险；超范围。讲这些词时，不要像念清单一样念过去。FDE要把每个词翻译成部署动作：谁触发，AI先判断什么，调用哪个工具，哪些动作必须人审，结果写回哪里，失败怎么降级，日志如何追踪。只有这样，学员才会理解数字员工不是聊天框，而是受控工作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为什么这样讲，约2分钟】企业AI部署不是消灭人工，而是重新设计人机分工。低风险任务可以自动，高风险任务必须人审，越权和无依据任务必须拒绝或接管。讲师要把“人工接管”讲成生产安全能力，而不是AI失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怎么讲，约2分钟】人机协作要用风险语言讲。低风险的知识问答可以自动回复；客户承诺、报价、合同、合规、退款等动作最多生成草稿或提交审批；越权、无依据和超范围的问题要拒绝或接管。这样学员会理解：受控不是保守，而是让企业敢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案例补强，约1分30秒】这里可以用一个通用案例：企业想做销售数字员工。普通做法是让AI帮销售写话术；FDE做法是设计完整流程：线索进入后先匹配客户ID，调用CRM查历史，补全画像，判断优先级，生成跟进草稿，销售确认后写回CRM，异常情况转主管，最后用转化率和响应时长复盘。这样一拆，数字员工才从演示变成部署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板书动作，约1分钟】请在白板写七个词：触发、理解、计划、工具、人审、回写、复盘。然后告诉学员：以后设计任何企业Agent，都先问这七个问题。什么时候启动？如何识别意图？怎样拆步骤？调用什么工具？谁来审核？结果写到哪里？上线后看什么指标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【概念加深，约1分钟】人机协作不是临时加一个“人工确认”按钮，而是把责任分工设计进流程。AI负责准备材料、生成建议和执行低风险动作，人负责高风险判断、例外处理和业务承诺。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【常见误区，约1分钟】学员可能认为转人工会降低效率。讲师要说明：高风险环节转人工，反而能让客户更快接受试点，因为客户知道系统有刹车、有责任人、有回滚。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延伸背景，约1分钟】企业AI从个人工具走向数字员工时，最容易被低估的是行动责任。个人用AI写错一段文字，可以自己修改；数字员工如果写错CRM、发错客户消息、提交错误审批，就会影响真实业务。因此第4章必须把工具、权限、审批、日志和回滚讲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讲师内心判断，约1分钟】如果学员只说“Agent会自动处理”，说明还停在演示层。你要追问：自动到哪一步，哪个动作需要人审，调用什么工具，失败后如何降级，日志由谁看，业务指标如何复盘。能回答这些问题，才进入部署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课堂追问，约1分钟】可以停下来问：如果数字员工做错了，是模型问题、流程问题、工具问题、权限问题，还是人审规则问题？请学员至少说出四种可能。这个追问能训练他们上线后的问题定位能力，而不是只会换模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【落地提醒，约1分钟】数字员工部署要避免一次性全自动。第一版要围绕低风险高频任务，保留人工确认和日志复盘，先证明流程闭环和价值，再逐步放权。FDE要训练的是渐进式上线能力。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【复盘动作，约1分钟】讲完这一页后，让学员用一句客户现场语言复述。例如：“我们不是先做一个全自动Agent，而是先把这条销售线索流程拆清楚，定义工具权限和人审节点，在试点团队里跑出可复盘结果。”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收束，约30秒】所以这一页最后要带走的不是“拒绝”这个标签，而是一个动作：下次客户说“我们要做AI员工”时，你要继续问它负责哪个岗位、走哪条流程、调用哪些工具、谁审批、如何回写、怎么验收。护栏明确后，我们再选择合适的Agent编排模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互动问题：请学员给一个高风险动作设计人审、拒绝和人工接管条件。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过渡语：护栏明确后，我们再选择合适的Agent编排模式。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本页目的：接管要带上下文，而不是把问题甩给人。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师逐字稿：【开场，约40秒】各位看这一页，标题是“人工接管SOP”。这一页要训练的不是记住一个Agent术语，而是让FDE在企业现场能判断：一个数字员工要进入真实流程，必须具备哪些角色、工具、权限、审批、日志和复盘机制。请先记住本页核心句：接管要带上下文，而不是把问题甩给人。接下来我会把它落到流程、工具、人机协作、安全和上线验收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概念展开，约1分30秒】屏幕上的关键词是：触发条件→为什么接管；接管对象→谁处理；携带上下文→材料和工具结果；处理结果→如何回写；复盘标签→如何改进。讲这些词时，不要像念清单一样念过去。FDE要把每个词翻译成部署动作：谁触发，AI先判断什么，调用哪个工具，哪些动作必须人审，结果写回哪里，失败怎么降级，日志如何追踪。只有这样，学员才会理解数字员工不是聊天框，而是受控工作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为什么这样讲，约2分钟】企业AI部署不是消灭人工，而是重新设计人机分工。低风险任务可以自动，高风险任务必须人审，越权和无依据任务必须拒绝或接管。讲师要把“人工接管”讲成生产安全能力，而不是AI失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怎么讲，约2分钟】人机协作要用风险语言讲。低风险的知识问答可以自动回复；客户承诺、报价、合同、合规、退款等动作最多生成草稿或提交审批；越权、无依据和超范围的问题要拒绝或接管。这样学员会理解：受控不是保守，而是让企业敢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案例补强，约1分30秒】这里可以用一个通用案例：企业想做销售数字员工。普通做法是让AI帮销售写话术；FDE做法是设计完整流程：线索进入后先匹配客户ID，调用CRM查历史，补全画像，判断优先级，生成跟进草稿，销售确认后写回CRM，异常情况转主管，最后用转化率和响应时长复盘。这样一拆，数字员工才从演示变成部署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板书动作，约1分钟】请在白板写七个词：触发、理解、计划、工具、人审、回写、复盘。然后告诉学员：以后设计任何企业Agent，都先问这七个问题。什么时候启动？如何识别意图？怎样拆步骤？调用什么工具？谁来审核？结果写到哪里？上线后看什么指标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【概念加深，约1分钟】人机协作不是临时加一个“人工确认”按钮，而是把责任分工设计进流程。AI负责准备材料、生成建议和执行低风险动作，人负责高风险判断、例外处理和业务承诺。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【常见误区，约1分钟】学员可能认为转人工会降低效率。讲师要说明：高风险环节转人工，反而能让客户更快接受试点，因为客户知道系统有刹车、有责任人、有回滚。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延伸背景，约1分钟】企业AI从个人工具走向数字员工时，最容易被低估的是行动责任。个人用AI写错一段文字，可以自己修改；数字员工如果写错CRM、发错客户消息、提交错误审批，就会影响真实业务。因此第4章必须把工具、权限、审批、日志和回滚讲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讲师内心判断，约1分钟】如果学员只说“Agent会自动处理”，说明还停在演示层。你要追问：自动到哪一步，哪个动作需要人审，调用什么工具，失败后如何降级，日志由谁看，业务指标如何复盘。能回答这些问题，才进入部署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课堂追问，约1分钟】可以停下来问：如果数字员工做错了，是模型问题、流程问题、工具问题、权限问题，还是人审规则问题？请学员至少说出四种可能。这个追问能训练他们上线后的问题定位能力，而不是只会换模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【落地提醒，约1分钟】数字员工部署要避免一次性全自动。第一版要围绕低风险高频任务，保留人工确认和日志复盘，先证明流程闭环和价值，再逐步放权。FDE要训练的是渐进式上线能力。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【复盘动作，约1分钟】讲完这一页后，让学员用一句客户现场语言复述。例如：“我们不是先做一个全自动Agent，而是先把这条销售线索流程拆清楚，定义工具权限和人审节点，在试点团队里跑出可复盘结果。”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收束，约30秒】所以这一页最后要带走的不是“接管”这个标签，而是一个动作：下次客户说“我们要做AI员工”时，你要继续问它负责哪个岗位、走哪条流程、调用哪些工具、谁审批、如何回写、怎么验收。护栏明确后，我们再选择合适的Agent编排模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互动问题：请学员给一个高风险动作设计人审、拒绝和人工接管条件。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过渡语：护栏明确后，我们再选择合适的Agent编排模式。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本页目的：安全不是一句禁止，而是输入、过程、工具、输出和运营多层防线。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师逐字稿：【开场，约40秒】各位看这一页，标题是“护栏设计的五类策略”。这一页要训练的不是记住一个Agent术语，而是让FDE在企业现场能判断：一个数字员工要进入真实流程，必须具备哪些角色、工具、权限、审批、日志和复盘机制。请先记住本页核心句：安全不是一句禁止，而是输入、过程、工具、输出和运营多层防线。接下来我会把它落到流程、工具、人机协作、安全和上线验收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概念展开，约1分30秒】屏幕上的关键词是：输入过滤；检索权限；工具约束；输出校验；人审接管；运营复盘。讲这些词时，不要像念清单一样念过去。FDE要把每个词翻译成部署动作：谁触发，AI先判断什么，调用哪个工具，哪些动作必须人审，结果写回哪里，失败怎么降级，日志如何追踪。只有这样，学员才会理解数字员工不是聊天框，而是受控工作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为什么这样讲，约2分钟】企业AI部署不是消灭人工，而是重新设计人机分工。低风险任务可以自动，高风险任务必须人审，越权和无依据任务必须拒绝或接管。讲师要把“人工接管”讲成生产安全能力，而不是AI失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怎么讲，约2分钟】人机协作要用风险语言讲。低风险的知识问答可以自动回复；客户承诺、报价、合同、合规、退款等动作最多生成草稿或提交审批；越权、无依据和超范围的问题要拒绝或接管。这样学员会理解：受控不是保守，而是让企业敢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案例补强，约1分30秒】这里可以用一个通用案例：企业想做销售数字员工。普通做法是让AI帮销售写话术；FDE做法是设计完整流程：线索进入后先匹配客户ID，调用CRM查历史，补全画像，判断优先级，生成跟进草稿，销售确认后写回CRM，异常情况转主管，最后用转化率和响应时长复盘。这样一拆，数字员工才从演示变成部署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板书动作，约1分钟】请在白板写七个词：触发、理解、计划、工具、人审、回写、复盘。然后告诉学员：以后设计任何企业Agent，都先问这七个问题。什么时候启动？如何识别意图？怎样拆步骤？调用什么工具？谁来审核？结果写到哪里？上线后看什么指标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【概念加深，约1分钟】人机协作不是临时加一个“人工确认”按钮，而是把责任分工设计进流程。AI负责准备材料、生成建议和执行低风险动作，人负责高风险判断、例外处理和业务承诺。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【常见误区，约1分钟】学员可能认为转人工会降低效率。讲师要说明：高风险环节转人工，反而能让客户更快接受试点，因为客户知道系统有刹车、有责任人、有回滚。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延伸背景，约1分钟】企业AI从个人工具走向数字员工时，最容易被低估的是行动责任。个人用AI写错一段文字，可以自己修改；数字员工如果写错CRM、发错客户消息、提交错误审批，就会影响真实业务。因此第4章必须把工具、权限、审批、日志和回滚讲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讲师内心判断，约1分钟】如果学员只说“Agent会自动处理”，说明还停在演示层。你要追问：自动到哪一步，哪个动作需要人审，调用什么工具，失败后如何降级，日志由谁看，业务指标如何复盘。能回答这些问题，才进入部署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课堂追问，约1分钟】可以停下来问：如果数字员工做错了，是模型问题、流程问题、工具问题、权限问题，还是人审规则问题？请学员至少说出四种可能。这个追问能训练他们上线后的问题定位能力，而不是只会换模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【落地提醒，约1分钟】数字员工部署要避免一次性全自动。第一版要围绕低风险高频任务，保留人工确认和日志复盘，先证明流程闭环和价值，再逐步放权。FDE要训练的是渐进式上线能力。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【复盘动作，约1分钟】讲完这一页后，让学员用一句客户现场语言复述。例如：“我们不是先做一个全自动Agent，而是先把这条销售线索流程拆清楚，定义工具权限和人审节点，在试点团队里跑出可复盘结果。”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收束，约30秒】所以这一页最后要带走的不是“安全”这个标签，而是一个动作：下次客户说“我们要做AI员工”时，你要继续问它负责哪个岗位、走哪条流程、调用哪些工具、谁审批、如何回写、怎么验收。护栏明确后，我们再选择合适的Agent编排模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互动问题：请学员给一个高风险动作设计人审、拒绝和人工接管条件。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过渡语：护栏明确后，我们再选择合适的Agent编排模式。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本页目的：每组为自己的数字员工写出拒绝、接管、审批和日志规则。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师逐字稿：【开场，约40秒】各位看这一页，标题是“为数字员工设计安全护栏”。这一页要训练的不是记住一个Agent术语，而是让FDE在企业现场能判断：一个数字员工要进入真实流程，必须具备哪些角色、工具、权限、审批、日志和复盘机制。请先记住本页核心句：每组为自己的数字员工写出拒绝、接管、审批和日志规则。接下来我会把它落到流程、工具、人机协作、安全和上线验收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概念展开，约1分30秒】屏幕上的关键词是：写禁止事项；写接管条件；写审批节点；写输出校验；写复盘字段。讲这些词时，不要像念清单一样念过去。FDE要把每个词翻译成部署动作：谁触发，AI先判断什么，调用哪个工具，哪些动作必须人审，结果写回哪里，失败怎么降级，日志如何追踪。只有这样，学员才会理解数字员工不是聊天框，而是受控工作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为什么这样讲，约2分钟】企业AI部署不是消灭人工，而是重新设计人机分工。低风险任务可以自动，高风险任务必须人审，越权和无依据任务必须拒绝或接管。讲师要把“人工接管”讲成生产安全能力，而不是AI失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怎么讲，约2分钟】这里要把“AI助手”拉回岗位语言。岗位不是功能集合，而是服务对象、工作范围、输入输出、协作关系和绩效指标。比如销售线索数字员工，不是“帮销售聊天”，而是服务销售团队，处理线索进入后的画像补全、优先级判断、跟进草稿、CRM回写和主管复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案例补强，约1分30秒】这里可以用一个通用案例：企业想做销售数字员工。普通做法是让AI帮销售写话术；FDE做法是设计完整流程：线索进入后先匹配客户ID，调用CRM查历史，补全画像，判断优先级，生成跟进草稿，销售确认后写回CRM，异常情况转主管，最后用转化率和响应时长复盘。这样一拆，数字员工才从演示变成部署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板书动作，约1分钟】请在白板写七个词：触发、理解、计划、工具、人审、回写、复盘。然后告诉学员：以后设计任何企业Agent，都先问这七个问题。什么时候启动？如何识别意图？怎样拆步骤？调用什么工具？谁来审核？结果写到哪里？上线后看什么指标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互动组织，约3分钟】这一页如果有练习，不要让学员泛泛讨论。先给30秒个人写，再给2分钟小组互相追问，最后请一组用60秒汇报。讲师点评时只追问三件事：第一，流程是否能闭环；第二，工具和权限是否清楚；第三，异常和人工接管是否可执行。这样课堂才是部署训练，不是概念聊天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【概念加深，约1分钟】人机协作不是临时加一个“人工确认”按钮，而是把责任分工设计进流程。AI负责准备材料、生成建议和执行低风险动作，人负责高风险判断、例外处理和业务承诺。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【常见误区，约1分钟】学员可能认为转人工会降低效率。讲师要说明：高风险环节转人工，反而能让客户更快接受试点，因为客户知道系统有刹车、有责任人、有回滚。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延伸背景，约1分钟】企业AI从个人工具走向数字员工时，最容易被低估的是行动责任。个人用AI写错一段文字，可以自己修改；数字员工如果写错CRM、发错客户消息、提交错误审批，就会影响真实业务。因此第4章必须把工具、权限、审批、日志和回滚讲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讲师内心判断，约1分钟】如果学员只说“Agent会自动处理”，说明还停在演示层。你要追问：自动到哪一步，哪个动作需要人审，调用什么工具，失败后如何降级，日志由谁看，业务指标如何复盘。能回答这些问题，才进入部署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课堂追问，约1分钟】可以停下来问：如果数字员工做错了，是模型问题、流程问题、工具问题、权限问题，还是人审规则问题？请学员至少说出四种可能。这个追问能训练他们上线后的问题定位能力，而不是只会换模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【落地提醒，约1分钟】数字员工部署要避免一次性全自动。第一版要围绕低风险高频任务，保留人工确认和日志复盘，先证明流程闭环和价值，再逐步放权。FDE要训练的是渐进式上线能力。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【复盘动作，约1分钟】讲完这一页后，让学员用一句客户现场语言复述。例如：“我们不是先做一个全自动Agent，而是先把这条销售线索流程拆清楚，定义工具权限和人审节点，在试点团队里跑出可复盘结果。”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收束，约30秒】所以这一页最后要带走的不是“练习”这个标签，而是一个动作：下次客户说“我们要做AI员工”时，你要继续问它负责哪个岗位、走哪条流程、调用哪些工具、谁审批、如何回写、怎么验收。护栏明确后，我们再选择合适的Agent编排模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互动问题：请学员给一个高风险动作设计人审、拒绝和人工接管条件。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过渡语：护栏明确后，我们再选择合适的Agent编排模式。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本页目的：不同复杂度的业务流程，需要不同编排模式。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师逐字稿：【开场，约40秒】各位看这一页，标题是“编排模式与多Agent协作”。这一页要训练的不是记住一个Agent术语，而是让FDE在企业现场能判断：一个数字员工要进入真实流程，必须具备哪些角色、工具、权限、审批、日志和复盘机制。请先记住本页核心句：不同复杂度的业务流程，需要不同编排模式。接下来我会把它落到流程、工具、人机协作、安全和上线验收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概念展开，约1分30秒】屏幕上的关键词是：工作流；计划执行；多Agent。讲这些词时，不要像念清单一样念过去。FDE要把每个词翻译成部署动作：谁触发，AI先判断什么，调用哪个工具，哪些动作必须人审，结果写回哪里，失败怎么降级，日志如何追踪。只有这样，学员才会理解数字员工不是聊天框，而是受控工作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为什么这样讲，约2分钟】编排模式决定系统复杂度。很多团队一上来就做多Agent，反而增加不可控风险。FDE要先判断任务是否高频稳定、是否需要计划、是否需要评估器、是否真的需要多Agent分工，再选择最小可控架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怎么讲，约2分钟】编排模式要避免炫技。高频稳定任务优先确定性工作流，复杂任务才考虑计划-执行，需要质量检查才加评估器，确实存在不同专业分工才用多Agent。FDE的专业判断是选最小可控架构，而不是选最复杂架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【概念加深，约1分钟】编排模式是复杂度管理。确定性工作流牺牲自由度换稳定，计划-执行模式提升灵活度但需要检查点，多Agent提升分工能力但增加协调成本。FDE要能解释每种选择的代价。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【常见误区，约1分钟】多Agent不是项目高级感的证明。如果一个流程用单Agent加固定工具就能稳定完成，就不要拆成多个Agent。多Agent只有在专业分工明确、责任边界清楚、主控机制存在时才值得使用。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延伸背景，约1分钟】企业AI从个人工具走向数字员工时，最容易被低估的是行动责任。个人用AI写错一段文字，可以自己修改；数字员工如果写错CRM、发错客户消息、提交错误审批，就会影响真实业务。因此第4章必须把工具、权限、审批、日志和回滚讲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讲师内心判断，约1分钟】如果学员只说“Agent会自动处理”，说明还停在演示层。你要追问：自动到哪一步，哪个动作需要人审，调用什么工具，失败后如何降级，日志由谁看，业务指标如何复盘。能回答这些问题，才进入部署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课堂追问，约1分钟】可以停下来问：如果数字员工做错了，是模型问题、流程问题、工具问题、权限问题，还是人审规则问题？请学员至少说出四种可能。这个追问能训练他们上线后的问题定位能力，而不是只会换模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【收束，约30秒】所以这一页最后要带走的不是“Part 5”这个标签，而是一个动作：下次客户说“我们要做AI员工”时，你要继续问它负责哪个岗位、走哪条流程、调用哪些工具、谁审批、如何回写、怎么验收。编排模式讲完之后，我们把部署蓝图映射到Claude、OpenAI、腾讯和WEI体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互动问题：请学员判断当前场景适合固定工作流、计划执行还是多Agent，并说明理由。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过渡语：编排模式讲完之后，我们把部署蓝图映射到Claude、OpenAI、腾讯和WEI体系。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本页目的：从固定流程到多Agent协作，复杂度越高，治理要求越高。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师逐字稿：【开场，约40秒】各位看这一页，标题是“五种常见Agent编排模式”。这一页要训练的不是记住一个Agent术语，而是让FDE在企业现场能判断：一个数字员工要进入真实流程，必须具备哪些角色、工具、权限、审批、日志和复盘机制。请先记住本页核心句：从固定流程到多Agent协作，复杂度越高，治理要求越高。接下来我会把它落到流程、工具、人机协作、安全和上线验收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概念展开，约1分30秒】屏幕上的关键词是：单轮工具调用；确定性工作流；计划-执行；评估-优化；多Agent协作。讲这些词时，不要像念清单一样念过去。FDE要把每个词翻译成部署动作：谁触发，AI先判断什么，调用哪个工具，哪些动作必须人审，结果写回哪里，失败怎么降级，日志如何追踪。只有这样，学员才会理解数字员工不是聊天框，而是受控工作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为什么这样讲，约2分钟】编排模式决定系统复杂度。很多团队一上来就做多Agent，反而增加不可控风险。FDE要先判断任务是否高频稳定、是否需要计划、是否需要评估器、是否真的需要多Agent分工，再选择最小可控架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怎么讲，约2分钟】编排模式要避免炫技。高频稳定任务优先确定性工作流，复杂任务才考虑计划-执行，需要质量检查才加评估器，确实存在不同专业分工才用多Agent。FDE的专业判断是选最小可控架构，而不是选最复杂架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案例补强，约1分30秒】这里可以用一个通用案例：企业想做销售数字员工。普通做法是让AI帮销售写话术；FDE做法是设计完整流程：线索进入后先匹配客户ID，调用CRM查历史，补全画像，判断优先级，生成跟进草稿，销售确认后写回CRM，异常情况转主管，最后用转化率和响应时长复盘。这样一拆，数字员工才从演示变成部署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板书动作，约1分钟】请在白板写七个词：触发、理解、计划、工具、人审、回写、复盘。然后告诉学员：以后设计任何企业Agent，都先问这七个问题。什么时候启动？如何识别意图？怎样拆步骤？调用什么工具？谁来审核？结果写到哪里？上线后看什么指标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【概念加深，约1分钟】编排模式是复杂度管理。确定性工作流牺牲自由度换稳定，计划-执行模式提升灵活度但需要检查点，多Agent提升分工能力但增加协调成本。FDE要能解释每种选择的代价。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【常见误区，约1分钟】多Agent不是项目高级感的证明。如果一个流程用单Agent加固定工具就能稳定完成，就不要拆成多个Agent。多Agent只有在专业分工明确、责任边界清楚、主控机制存在时才值得使用。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延伸背景，约1分钟】企业AI从个人工具走向数字员工时，最容易被低估的是行动责任。个人用AI写错一段文字，可以自己修改；数字员工如果写错CRM、发错客户消息、提交错误审批，就会影响真实业务。因此第4章必须把工具、权限、审批、日志和回滚讲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讲师内心判断，约1分钟】如果学员只说“Agent会自动处理”，说明还停在演示层。你要追问：自动到哪一步，哪个动作需要人审，调用什么工具，失败后如何降级，日志由谁看，业务指标如何复盘。能回答这些问题，才进入部署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课堂追问，约1分钟】可以停下来问：如果数字员工做错了，是模型问题、流程问题、工具问题、权限问题，还是人审规则问题？请学员至少说出四种可能。这个追问能训练他们上线后的问题定位能力，而不是只会换模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【落地提醒，约1分钟】数字员工部署要避免一次性全自动。第一版要围绕低风险高频任务，保留人工确认和日志复盘，先证明流程闭环和价值，再逐步放权。FDE要训练的是渐进式上线能力。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【复盘动作，约1分钟】讲完这一页后，让学员用一句客户现场语言复述。例如：“我们不是先做一个全自动Agent，而是先把这条销售线索流程拆清楚，定义工具权限和人审节点，在试点团队里跑出可复盘结果。”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收束，约30秒】所以这一页最后要带走的不是“模式”这个标签，而是一个动作：下次客户说“我们要做AI员工”时，你要继续问它负责哪个岗位、走哪条流程、调用哪些工具、谁审批、如何回写、怎么验收。编排模式讲完之后，我们把部署蓝图映射到Claude、OpenAI、腾讯和WEI体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互动问题：请学员判断当前场景适合固定工作流、计划执行还是多Agent，并说明理由。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过渡语：编排模式讲完之后，我们把部署蓝图映射到Claude、OpenAI、腾讯和WEI体系。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本页目的：客户服务、报销预审、线索跟进等任务，优先用稳定流程。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师逐字稿：【开场，约40秒】各位看这一页，标题是“确定性工作流适合高频稳定任务”。这一页要训练的不是记住一个Agent术语，而是让FDE在企业现场能判断：一个数字员工要进入真实流程，必须具备哪些角色、工具、权限、审批、日志和复盘机制。请先记住本页核心句：客户服务、报销预审、线索跟进等任务，优先用稳定流程。接下来我会把它落到流程、工具、人机协作、安全和上线验收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概念展开，约1分30秒】屏幕上的关键词是：触发；判断；检索；生成；人审；回写。讲这些词时，不要像念清单一样念过去。FDE要把每个词翻译成部署动作：谁触发，AI先判断什么，调用哪个工具，哪些动作必须人审，结果写回哪里，失败怎么降级，日志如何追踪。只有这样，学员才会理解数字员工不是聊天框，而是受控工作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为什么这样讲，约2分钟】编排模式决定系统复杂度。很多团队一上来就做多Agent，反而增加不可控风险。FDE要先判断任务是否高频稳定、是否需要计划、是否需要评估器、是否真的需要多Agent分工，再选择最小可控架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怎么讲，约2分钟】编排模式要避免炫技。高频稳定任务优先确定性工作流，复杂任务才考虑计划-执行，需要质量检查才加评估器，确实存在不同专业分工才用多Agent。FDE的专业判断是选最小可控架构，而不是选最复杂架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案例补强，约1分30秒】这里可以用一个通用案例：企业想做销售数字员工。普通做法是让AI帮销售写话术；FDE做法是设计完整流程：线索进入后先匹配客户ID，调用CRM查历史，补全画像，判断优先级，生成跟进草稿，销售确认后写回CRM，异常情况转主管，最后用转化率和响应时长复盘。这样一拆，数字员工才从演示变成部署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板书动作，约1分钟】请在白板写七个词：触发、理解、计划、工具、人审、回写、复盘。然后告诉学员：以后设计任何企业Agent，都先问这七个问题。什么时候启动？如何识别意图？怎样拆步骤？调用什么工具？谁来审核？结果写到哪里？上线后看什么指标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【概念加深，约1分钟】编排模式是复杂度管理。确定性工作流牺牲自由度换稳定，计划-执行模式提升灵活度但需要检查点，多Agent提升分工能力但增加协调成本。FDE要能解释每种选择的代价。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【常见误区，约1分钟】多Agent不是项目高级感的证明。如果一个流程用单Agent加固定工具就能稳定完成，就不要拆成多个Agent。多Agent只有在专业分工明确、责任边界清楚、主控机制存在时才值得使用。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延伸背景，约1分钟】企业AI从个人工具走向数字员工时，最容易被低估的是行动责任。个人用AI写错一段文字，可以自己修改；数字员工如果写错CRM、发错客户消息、提交错误审批，就会影响真实业务。因此第4章必须把工具、权限、审批、日志和回滚讲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讲师内心判断，约1分钟】如果学员只说“Agent会自动处理”，说明还停在演示层。你要追问：自动到哪一步，哪个动作需要人审，调用什么工具，失败后如何降级，日志由谁看，业务指标如何复盘。能回答这些问题，才进入部署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课堂追问，约1分钟】可以停下来问：如果数字员工做错了，是模型问题、流程问题、工具问题、权限问题，还是人审规则问题？请学员至少说出四种可能。这个追问能训练他们上线后的问题定位能力，而不是只会换模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【落地提醒，约1分钟】数字员工部署要避免一次性全自动。第一版要围绕低风险高频任务，保留人工确认和日志复盘，先证明流程闭环和价值，再逐步放权。FDE要训练的是渐进式上线能力。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【复盘动作，约1分钟】讲完这一页后，让学员用一句客户现场语言复述。例如：“我们不是先做一个全自动Agent，而是先把这条销售线索流程拆清楚，定义工具权限和人审节点，在试点团队里跑出可复盘结果。”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收束，约30秒】所以这一页最后要带走的不是“工作流”这个标签，而是一个动作：下次客户说“我们要做AI员工”时，你要继续问它负责哪个岗位、走哪条流程、调用哪些工具、谁审批、如何回写、怎么验收。编排模式讲完之后，我们把部署蓝图映射到Claude、OpenAI、腾讯和WEI体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互动问题：请学员判断当前场景适合固定工作流、计划执行还是多Agent，并说明理由。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过渡语：编排模式讲完之后，我们把部署蓝图映射到Claude、OpenAI、腾讯和WEI体系。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本页目的：当任务需要拆解、查询多系统、比较方案时，可以用计划执行模式。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师逐字稿：【开场，约40秒】各位看这一页，标题是“计划-执行适合复杂任务”。这一页要训练的不是记住一个Agent术语，而是让FDE在企业现场能判断：一个数字员工要进入真实流程，必须具备哪些角色、工具、权限、审批、日志和复盘机制。请先记住本页核心句：当任务需要拆解、查询多系统、比较方案时，可以用计划执行模式。接下来我会把它落到流程、工具、人机协作、安全和上线验收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概念展开，约1分30秒】屏幕上的关键词是：先出计划；确认范围；逐步执行；检查结果；失败回退；总结沉淀。讲这些词时，不要像念清单一样念过去。FDE要把每个词翻译成部署动作：谁触发，AI先判断什么，调用哪个工具，哪些动作必须人审，结果写回哪里，失败怎么降级，日志如何追踪。只有这样，学员才会理解数字员工不是聊天框，而是受控工作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为什么这样讲，约2分钟】编排模式决定系统复杂度。很多团队一上来就做多Agent，反而增加不可控风险。FDE要先判断任务是否高频稳定、是否需要计划、是否需要评估器、是否真的需要多Agent分工，再选择最小可控架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怎么讲，约2分钟】流程蓝图要用真实工作流讲。客户说“自动跟进线索”，FDE要问：线索从哪里触发，如何识别客户意图，是否需要查CRM，AI先做计划还是直接行动，哪一步要销售确认，确认后写回哪里，主管如何看到结果。这样学员会明白Agent部署不是单点功能，而是流程闭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案例补强，约1分30秒】这里可以用一个通用案例：企业想做销售数字员工。普通做法是让AI帮销售写话术；FDE做法是设计完整流程：线索进入后先匹配客户ID，调用CRM查历史，补全画像，判断优先级，生成跟进草稿，销售确认后写回CRM，异常情况转主管，最后用转化率和响应时长复盘。这样一拆，数字员工才从演示变成部署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板书动作，约1分钟】请在白板写七个词：触发、理解、计划、工具、人审、回写、复盘。然后告诉学员：以后设计任何企业Agent，都先问这七个问题。什么时候启动？如何识别意图？怎样拆步骤？调用什么工具？谁来审核？结果写到哪里？上线后看什么指标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【概念加深，约1分钟】编排模式是复杂度管理。确定性工作流牺牲自由度换稳定，计划-执行模式提升灵活度但需要检查点，多Agent提升分工能力但增加协调成本。FDE要能解释每种选择的代价。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【常见误区，约1分钟】多Agent不是项目高级感的证明。如果一个流程用单Agent加固定工具就能稳定完成，就不要拆成多个Agent。多Agent只有在专业分工明确、责任边界清楚、主控机制存在时才值得使用。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延伸背景，约1分钟】企业AI从个人工具走向数字员工时，最容易被低估的是行动责任。个人用AI写错一段文字，可以自己修改；数字员工如果写错CRM、发错客户消息、提交错误审批，就会影响真实业务。因此第4章必须把工具、权限、审批、日志和回滚讲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讲师内心判断，约1分钟】如果学员只说“Agent会自动处理”，说明还停在演示层。你要追问：自动到哪一步，哪个动作需要人审，调用什么工具，失败后如何降级，日志由谁看，业务指标如何复盘。能回答这些问题，才进入部署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课堂追问，约1分钟】可以停下来问：如果数字员工做错了，是模型问题、流程问题、工具问题、权限问题，还是人审规则问题？请学员至少说出四种可能。这个追问能训练他们上线后的问题定位能力，而不是只会换模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【落地提醒，约1分钟】数字员工部署要避免一次性全自动。第一版要围绕低风险高频任务，保留人工确认和日志复盘，先证明流程闭环和价值，再逐步放权。FDE要训练的是渐进式上线能力。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【复盘动作，约1分钟】讲完这一页后，让学员用一句客户现场语言复述。例如：“我们不是先做一个全自动Agent，而是先把这条销售线索流程拆清楚，定义工具权限和人审节点，在试点团队里跑出可复盘结果。”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收束，约30秒】所以这一页最后要带走的不是“计划执行”这个标签，而是一个动作：下次客户说“我们要做AI员工”时，你要继续问它负责哪个岗位、走哪条流程、调用哪些工具、谁审批、如何回写、怎么验收。编排模式讲完之后，我们把部署蓝图映射到Claude、OpenAI、腾讯和WEI体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互动问题：请学员判断当前场景适合固定工作流、计划执行还是多Agent，并说明理由。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过渡语：编排模式讲完之后，我们把部署蓝图映射到Claude、OpenAI、腾讯和WEI体系。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本页目的：评估器可以检查格式、引用、风险和完整性，但高风险仍需人审。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师逐字稿：【开场，约40秒】各位看这一页，标题是“评估器让Agent自检但不替代验收”。这一页要训练的不是记住一个Agent术语，而是让FDE在企业现场能判断：一个数字员工要进入真实流程，必须具备哪些角色、工具、权限、审批、日志和复盘机制。请先记住本页核心句：评估器可以检查格式、引用、风险和完整性，但高风险仍需人审。接下来我会把它落到流程、工具、人机协作、安全和上线验收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概念展开，约1分30秒】屏幕上的关键词是：格式检查；引用检查；风险检查；完整性检查；人工终审。讲这些词时，不要像念清单一样念过去。FDE要把每个词翻译成部署动作：谁触发，AI先判断什么，调用哪个工具，哪些动作必须人审，结果写回哪里，失败怎么降级，日志如何追踪。只有这样，学员才会理解数字员工不是聊天框，而是受控工作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为什么这样讲，约2分钟】编排模式决定系统复杂度。很多团队一上来就做多Agent，反而增加不可控风险。FDE要先判断任务是否高频稳定、是否需要计划、是否需要评估器、是否真的需要多Agent分工，再选择最小可控架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怎么讲，约2分钟】这一页要反复把概念落到FDE现场问法。每讲一个关键词，就补一句现场追问：谁触发，做哪一步，调用什么工具，谁审批，失败怎么办，日志在哪里，如何验收。这样学员会形成数字员工部署的肌肉记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案例补强，约1分30秒】这里可以用一个通用案例：企业想做销售数字员工。普通做法是让AI帮销售写话术；FDE做法是设计完整流程：线索进入后先匹配客户ID，调用CRM查历史，补全画像，判断优先级，生成跟进草稿，销售确认后写回CRM，异常情况转主管，最后用转化率和响应时长复盘。这样一拆，数字员工才从演示变成部署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板书动作，约1分钟】请在白板写七个词：触发、理解、计划、工具、人审、回写、复盘。然后告诉学员：以后设计任何企业Agent，都先问这七个问题。什么时候启动？如何识别意图？怎样拆步骤？调用什么工具？谁来审核？结果写到哪里？上线后看什么指标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【概念加深，约1分钟】编排模式是复杂度管理。确定性工作流牺牲自由度换稳定，计划-执行模式提升灵活度但需要检查点，多Agent提升分工能力但增加协调成本。FDE要能解释每种选择的代价。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【常见误区，约1分钟】多Agent不是项目高级感的证明。如果一个流程用单Agent加固定工具就能稳定完成，就不要拆成多个Agent。多Agent只有在专业分工明确、责任边界清楚、主控机制存在时才值得使用。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延伸背景，约1分钟】企业AI从个人工具走向数字员工时，最容易被低估的是行动责任。个人用AI写错一段文字，可以自己修改；数字员工如果写错CRM、发错客户消息、提交错误审批，就会影响真实业务。因此第4章必须把工具、权限、审批、日志和回滚讲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讲师内心判断，约1分钟】如果学员只说“Agent会自动处理”，说明还停在演示层。你要追问：自动到哪一步，哪个动作需要人审，调用什么工具，失败后如何降级，日志由谁看，业务指标如何复盘。能回答这些问题，才进入部署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课堂追问，约1分钟】可以停下来问：如果数字员工做错了，是模型问题、流程问题、工具问题、权限问题，还是人审规则问题？请学员至少说出四种可能。这个追问能训练他们上线后的问题定位能力，而不是只会换模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【落地提醒，约1分钟】数字员工部署要避免一次性全自动。第一版要围绕低风险高频任务，保留人工确认和日志复盘，先证明流程闭环和价值，再逐步放权。FDE要训练的是渐进式上线能力。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【复盘动作，约1分钟】讲完这一页后，让学员用一句客户现场语言复述。例如：“我们不是先做一个全自动Agent，而是先把这条销售线索流程拆清楚，定义工具权限和人审节点，在试点团队里跑出可复盘结果。”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收束，约30秒】所以这一页最后要带走的不是“评估优化”这个标签，而是一个动作：下次客户说“我们要做AI员工”时，你要继续问它负责哪个岗位、走哪条流程、调用哪些工具、谁审批、如何回写、怎么验收。编排模式讲完之后，我们把部署蓝图映射到Claude、OpenAI、腾讯和WEI体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互动问题：请学员判断当前场景适合固定工作流、计划执行还是多Agent，并说明理由。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过渡语：编排模式讲完之后，我们把部署蓝图映射到Claude、OpenAI、腾讯和WEI体系。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本页目的：研究、写作、审核、执行可以分工，但必须有主控和责任边界。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师逐字稿：【开场，约40秒】各位看这一页，标题是“多Agent不是炫技，而是分工”。这一页要训练的不是记住一个Agent术语，而是让FDE在企业现场能判断：一个数字员工要进入真实流程，必须具备哪些角色、工具、权限、审批、日志和复盘机制。请先记住本页核心句：研究、写作、审核、执行可以分工，但必须有主控和责任边界。接下来我会把它落到流程、工具、人机协作、安全和上线验收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概念展开，约1分30秒】屏幕上的关键词是：研究Agent；执行Agent；审核Agent；主控Agent；日志汇总；人工Owner。讲这些词时，不要像念清单一样念过去。FDE要把每个词翻译成部署动作：谁触发，AI先判断什么，调用哪个工具，哪些动作必须人审，结果写回哪里，失败怎么降级，日志如何追踪。只有这样，学员才会理解数字员工不是聊天框，而是受控工作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为什么这样讲，约2分钟】编排模式决定系统复杂度。很多团队一上来就做多Agent，反而增加不可控风险。FDE要先判断任务是否高频稳定、是否需要计划、是否需要评估器、是否真的需要多Agent分工，再选择最小可控架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怎么讲，约2分钟】编排模式要避免炫技。高频稳定任务优先确定性工作流，复杂任务才考虑计划-执行，需要质量检查才加评估器，确实存在不同专业分工才用多Agent。FDE的专业判断是选最小可控架构，而不是选最复杂架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案例补强，约1分30秒】这里可以用一个通用案例：企业想做销售数字员工。普通做法是让AI帮销售写话术；FDE做法是设计完整流程：线索进入后先匹配客户ID，调用CRM查历史，补全画像，判断优先级，生成跟进草稿，销售确认后写回CRM，异常情况转主管，最后用转化率和响应时长复盘。这样一拆，数字员工才从演示变成部署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板书动作，约1分钟】请在白板写七个词：触发、理解、计划、工具、人审、回写、复盘。然后告诉学员：以后设计任何企业Agent，都先问这七个问题。什么时候启动？如何识别意图？怎样拆步骤？调用什么工具？谁来审核？结果写到哪里？上线后看什么指标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【概念加深，约1分钟】编排模式是复杂度管理。确定性工作流牺牲自由度换稳定，计划-执行模式提升灵活度但需要检查点，多Agent提升分工能力但增加协调成本。FDE要能解释每种选择的代价。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【常见误区，约1分钟】多Agent不是项目高级感的证明。如果一个流程用单Agent加固定工具就能稳定完成，就不要拆成多个Agent。多Agent只有在专业分工明确、责任边界清楚、主控机制存在时才值得使用。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延伸背景，约1分钟】企业AI从个人工具走向数字员工时，最容易被低估的是行动责任。个人用AI写错一段文字，可以自己修改；数字员工如果写错CRM、发错客户消息、提交错误审批，就会影响真实业务。因此第4章必须把工具、权限、审批、日志和回滚讲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讲师内心判断，约1分钟】如果学员只说“Agent会自动处理”，说明还停在演示层。你要追问：自动到哪一步，哪个动作需要人审，调用什么工具，失败后如何降级，日志由谁看，业务指标如何复盘。能回答这些问题，才进入部署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课堂追问，约1分钟】可以停下来问：如果数字员工做错了，是模型问题、流程问题、工具问题、权限问题，还是人审规则问题？请学员至少说出四种可能。这个追问能训练他们上线后的问题定位能力，而不是只会换模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【落地提醒，约1分钟】数字员工部署要避免一次性全自动。第一版要围绕低风险高频任务，保留人工确认和日志复盘，先证明流程闭环和价值，再逐步放权。FDE要训练的是渐进式上线能力。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【复盘动作，约1分钟】讲完这一页后，让学员用一句客户现场语言复述。例如：“我们不是先做一个全自动Agent，而是先把这条销售线索流程拆清楚，定义工具权限和人审节点，在试点团队里跑出可复盘结果。”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收束，约30秒】所以这一页最后要带走的不是“多Agent”这个标签，而是一个动作：下次客户说“我们要做AI员工”时，你要继续问它负责哪个岗位、走哪条流程、调用哪些工具、谁审批、如何回写、怎么验收。编排模式讲完之后，我们把部署蓝图映射到Claude、OpenAI、腾讯和WEI体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互动问题：请学员判断当前场景适合固定工作流、计划执行还是多Agent，并说明理由。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过渡语：编排模式讲完之后，我们把部署蓝图映射到Claude、OpenAI、腾讯和WEI体系。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本页目的：学员要解释为什么用工作流、计划执行或多Agent，而不是只选最复杂方案。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师逐字稿：【开场，约40秒】各位看这一页，标题是“选择合适的Agent编排模式”。这一页要训练的不是记住一个Agent术语，而是让FDE在企业现场能判断：一个数字员工要进入真实流程，必须具备哪些角色、工具、权限、审批、日志和复盘机制。请先记住本页核心句：学员要解释为什么用工作流、计划执行或多Agent，而不是只选最复杂方案。接下来我会把它落到流程、工具、人机协作、安全和上线验收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概念展开，约1分30秒】屏幕上的关键词是：判断复杂度；判断风险；判断频次；选择模式；写理由。讲这些词时，不要像念清单一样念过去。FDE要把每个词翻译成部署动作：谁触发，AI先判断什么，调用哪个工具，哪些动作必须人审，结果写回哪里，失败怎么降级，日志如何追踪。只有这样，学员才会理解数字员工不是聊天框，而是受控工作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为什么这样讲，约2分钟】编排模式决定系统复杂度。很多团队一上来就做多Agent，反而增加不可控风险。FDE要先判断任务是否高频稳定、是否需要计划、是否需要评估器、是否真的需要多Agent分工，再选择最小可控架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怎么讲，约2分钟】编排模式要避免炫技。高频稳定任务优先确定性工作流，复杂任务才考虑计划-执行，需要质量检查才加评估器，确实存在不同专业分工才用多Agent。FDE的专业判断是选最小可控架构，而不是选最复杂架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案例补强，约1分30秒】这里可以用一个通用案例：企业想做销售数字员工。普通做法是让AI帮销售写话术；FDE做法是设计完整流程：线索进入后先匹配客户ID，调用CRM查历史，补全画像，判断优先级，生成跟进草稿，销售确认后写回CRM，异常情况转主管，最后用转化率和响应时长复盘。这样一拆，数字员工才从演示变成部署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板书动作，约1分钟】请在白板写七个词：触发、理解、计划、工具、人审、回写、复盘。然后告诉学员：以后设计任何企业Agent，都先问这七个问题。什么时候启动？如何识别意图？怎样拆步骤？调用什么工具？谁来审核？结果写到哪里？上线后看什么指标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互动组织，约3分钟】这一页如果有练习，不要让学员泛泛讨论。先给30秒个人写，再给2分钟小组互相追问，最后请一组用60秒汇报。讲师点评时只追问三件事：第一，流程是否能闭环；第二，工具和权限是否清楚；第三，异常和人工接管是否可执行。这样课堂才是部署训练，不是概念聊天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【概念加深，约1分钟】编排模式是复杂度管理。确定性工作流牺牲自由度换稳定，计划-执行模式提升灵活度但需要检查点，多Agent提升分工能力但增加协调成本。FDE要能解释每种选择的代价。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【常见误区，约1分钟】多Agent不是项目高级感的证明。如果一个流程用单Agent加固定工具就能稳定完成，就不要拆成多个Agent。多Agent只有在专业分工明确、责任边界清楚、主控机制存在时才值得使用。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延伸背景，约1分钟】企业AI从个人工具走向数字员工时，最容易被低估的是行动责任。个人用AI写错一段文字，可以自己修改；数字员工如果写错CRM、发错客户消息、提交错误审批，就会影响真实业务。因此第4章必须把工具、权限、审批、日志和回滚讲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讲师内心判断，约1分钟】如果学员只说“Agent会自动处理”，说明还停在演示层。你要追问：自动到哪一步，哪个动作需要人审，调用什么工具，失败后如何降级，日志由谁看，业务指标如何复盘。能回答这些问题，才进入部署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课堂追问，约1分钟】可以停下来问：如果数字员工做错了，是模型问题、流程问题、工具问题、权限问题，还是人审规则问题？请学员至少说出四种可能。这个追问能训练他们上线后的问题定位能力，而不是只会换模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【落地提醒，约1分钟】数字员工部署要避免一次性全自动。第一版要围绕低风险高频任务，保留人工确认和日志复盘，先证明流程闭环和价值，再逐步放权。FDE要训练的是渐进式上线能力。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【复盘动作，约1分钟】讲完这一页后，让学员用一句客户现场语言复述。例如：“我们不是先做一个全自动Agent，而是先把这条销售线索流程拆清楚，定义工具权限和人审节点，在试点团队里跑出可复盘结果。”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收束，约30秒】所以这一页最后要带走的不是“练习”这个标签，而是一个动作：下次客户说“我们要做AI员工”时，你要继续问它负责哪个岗位、走哪条流程、调用哪些工具、谁审批、如何回写、怎么验收。编排模式讲完之后，我们把部署蓝图映射到Claude、OpenAI、腾讯和WEI体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互动问题：请学员判断当前场景适合固定工作流、计划执行还是多Agent，并说明理由。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过渡语：编排模式讲完之后，我们把部署蓝图映射到Claude、OpenAI、腾讯和WEI体系。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本页目的：平台能力不同，但部署抽象保持一致。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讲师逐字稿：【开场，约40秒】各位看这一页，标题是“Claude / OpenAI / 腾讯 / WEI实践”。这一页要训练的不是记住一个Agent术语，而是让FDE在企业现场能判断：一个数字员工要进入真实流程，必须具备哪些角色、工具、权限、审批、日志和复盘机制。请先记住本页核心句：平台能力不同，但部署抽象保持一致。接下来我会把它落到流程、工具、人机协作、安全和上线验收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概念展开，约1分30秒】屏幕上的关键词是：Claude；OpenAI；腾讯；WEI。讲这些词时，不要像念清单一样念过去。FDE要把每个词翻译成部署动作：谁触发，AI先判断什么，调用哪个工具，哪些动作必须人审，结果写回哪里，失败怎么降级，日志如何追踪。只有这样，学员才会理解数字员工不是聊天框，而是受控工作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为什么这样讲，约1分30秒】平台实践不能变成按钮教学。Claude、OpenAI、腾讯和WEI生态能力都会更新，抽象不变：角色、上下文、工具、权限、护栏、日志、测试、运营。讲师要让学员能把一份部署蓝图迁移到不同平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【怎么讲，约2分钟】平台对照要避免站队。Claude适合长上下文、工具使用和MCP式连接思路，OpenAI生态适合Responses、Agents、工具和Tracing，腾讯生态贴近国内企业云、工作流和企微场景，WEI BOT可以承载数字员工代养。FDE要能把同一部署蓝图迁移到不同平台。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【概念加深，约1分钟】讲平台时，建议用同一张部署蓝图映射到不同产品：Claude对应长上下文和工具使用，OpenAI对应Responses、Agents、Tools和Tracing，腾讯对应ADP、CloudBase和企微集成，WEI BOT承载数字员工代养和运营。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【常见误区，约1分钟】不要让学员认为课程只服务某个平台。FDE要在国内外都可用，关键是掌握抽象：岗位、流程、工具、权限、护栏、测试、运营。平台选择是实施问题，不是方法本身。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延伸背景，约1分钟】企业AI从个人工具走向数字员工时，最容易被低估的是行动责任。个人用AI写错一段文字，可以自己修改；数字员工如果写错CRM、发错客户消息、提交错误审批，就会影响真实业务。因此第4章必须把工具、权限、审批、日志和回滚讲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讲师内心判断，约1分钟】如果学员只说“Agent会自动处理”，说明还停在演示层。你要追问：自动到哪一步，哪个动作需要人审，调用什么工具，失败后如何降级，日志由谁看，业务指标如何复盘。能回答这些问题，才进入部署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【收束，约30秒】所以这一页最后要带走的不是“Part 6”这个标签，而是一个动作：下次客户说“我们要做AI员工”时，你要继续问它负责哪个岗位、走哪条流程、调用哪些工具、谁审批、如何回写、怎么验收。平台只是承载，最后要用验收工作坊证明学员能交付数字员工部署包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互动问题：请学员说明同一个数字员工部署蓝图如何迁移到Claude、OpenAI、腾讯和WEI BOT。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过渡语：平台只是承载，最后要用验收工作坊证明学员能交付数字员工部署包。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本页目的：Claude适合把长上下文、工具调用和外部系统连接成受控工作流。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师逐字稿：【开场，约40秒】各位看这一页，标题是“Claude体系：工具使用、长上下文与MCP思路”。这一页要训练的不是记住一个Agent术语，而是让FDE在企业现场能判断：一个数字员工要进入真实流程，必须具备哪些角色、工具、权限、审批、日志和复盘机制。请先记住本页核心句：Claude适合把长上下文、工具调用和外部系统连接成受控工作流。接下来我会把它落到流程、工具、人机协作、安全和上线验收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【概念展开，约1分30秒】屏幕上的关键词是：Tool use；Long context；Prompt caching；MCP连接；人工确认。讲这些词时，不要像念清单一样念过去。FDE要把每个词翻译成部署动作：谁触发，AI先判断什么，调用哪个工具，哪些动作必须人审，结果写回哪里，失败怎么降级，日志如何追踪。只有这样，学员才会理解数字员工不是聊天框，而是受控工作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为什么这样讲，约1分30秒】平台实践不能变成按钮教学。Claude、OpenAI、腾讯和WEI生态能力都会更新，抽象不变：角色、上下文、工具、权限、护栏、日志、测试、运营。讲师要让学员能把一份部署蓝图迁移到不同平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怎么讲，约2分钟】工具设计要讲得很工程化。一个查询客户信息工具，至少要写清客户ID从哪里来、无匹配怎么办、谁有权限查、返回哪些字段、字段能否进入Prompt、失败是否重试、调用日志保存多久。讲师要让学员看到，工具不是“接个API”，而是生产责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【概念加深，约1分钟】讲平台时，建议用同一张部署蓝图映射到不同产品：Claude对应长上下文和工具使用，OpenAI对应Responses、Agents、Tools和Tracing，腾讯对应ADP、CloudBase和企微集成，WEI BOT承载数字员工代养和运营。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【常见误区，约1分钟】不要让学员认为课程只服务某个平台。FDE要在国内外都可用，关键是掌握抽象：岗位、流程、工具、权限、护栏、测试、运营。平台选择是实施问题，不是方法本身。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延伸背景，约1分钟】企业AI从个人工具走向数字员工时，最容易被低估的是行动责任。个人用AI写错一段文字，可以自己修改；数字员工如果写错CRM、发错客户消息、提交错误审批，就会影响真实业务。因此第4章必须把工具、权限、审批、日志和回滚讲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讲师内心判断，约1分钟】如果学员只说“Agent会自动处理”，说明还停在演示层。你要追问：自动到哪一步，哪个动作需要人审，调用什么工具，失败后如何降级，日志由谁看，业务指标如何复盘。能回答这些问题，才进入部署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课堂追问，约1分钟】可以停下来问：如果数字员工做错了，是模型问题、流程问题、工具问题、权限问题，还是人审规则问题？请学员至少说出四种可能。这个追问能训练他们上线后的问题定位能力，而不是只会换模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【落地提醒，约1分钟】数字员工部署要避免一次性全自动。第一版要围绕低风险高频任务，保留人工确认和日志复盘，先证明流程闭环和价值，再逐步放权。FDE要训练的是渐进式上线能力。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【复盘动作，约1分钟】讲完这一页后，让学员用一句客户现场语言复述。例如：“我们不是先做一个全自动Agent，而是先把这条销售线索流程拆清楚，定义工具权限和人审节点，在试点团队里跑出可复盘结果。”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收束，约30秒】所以这一页最后要带走的不是“Claude”这个标签，而是一个动作：下次客户说“我们要做AI员工”时，你要继续问它负责哪个岗位、走哪条流程、调用哪些工具、谁审批、如何回写、怎么验收。平台只是承载，最后要用验收工作坊证明学员能交付数字员工部署包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互动问题：请学员说明同一个数字员工部署蓝图如何迁移到Claude、OpenAI、腾讯和WEI BOT。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过渡语：平台只是承载，最后要用验收工作坊证明学员能交付数字员工部署包。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本页目的：OpenAI实践强调工具、状态、文件检索、运行追踪和评估。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师逐字稿：【开场，约40秒】各位看这一页，标题是“OpenAI体系：Responses、Agents、Tools、Tracing”。这一页要训练的不是记住一个Agent术语，而是让FDE在企业现场能判断：一个数字员工要进入真实流程，必须具备哪些角色、工具、权限、审批、日志和复盘机制。请先记住本页核心句：OpenAI实践强调工具、状态、文件检索、运行追踪和评估。接下来我会把它落到流程、工具、人机协作、安全和上线验收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【概念展开，约1分30秒】屏幕上的关键词是：Responses API；Agents SDK；Tools；Tracing；Evals。讲这些词时，不要像念清单一样念过去。FDE要把每个词翻译成部署动作：谁触发，AI先判断什么，调用哪个工具，哪些动作必须人审，结果写回哪里，失败怎么降级，日志如何追踪。只有这样，学员才会理解数字员工不是聊天框，而是受控工作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为什么这样讲，约1分30秒】平台实践不能变成按钮教学。Claude、OpenAI、腾讯和WEI生态能力都会更新，抽象不变：角色、上下文、工具、权限、护栏、日志、测试、运营。讲师要让学员能把一份部署蓝图迁移到不同平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【怎么讲，约2分钟】平台对照要避免站队。Claude适合长上下文、工具使用和MCP式连接思路，OpenAI生态适合Responses、Agents、工具和Tracing，腾讯生态贴近国内企业云、工作流和企微场景，WEI BOT可以承载数字员工代养。FDE要能把同一部署蓝图迁移到不同平台。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【概念加深，约1分钟】讲平台时，建议用同一张部署蓝图映射到不同产品：Claude对应长上下文和工具使用，OpenAI对应Responses、Agents、Tools和Tracing，腾讯对应ADP、CloudBase和企微集成，WEI BOT承载数字员工代养和运营。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【常见误区，约1分钟】不要让学员认为课程只服务某个平台。FDE要在国内外都可用，关键是掌握抽象：岗位、流程、工具、权限、护栏、测试、运营。平台选择是实施问题，不是方法本身。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延伸背景，约1分钟】企业AI从个人工具走向数字员工时，最容易被低估的是行动责任。个人用AI写错一段文字，可以自己修改；数字员工如果写错CRM、发错客户消息、提交错误审批，就会影响真实业务。因此第4章必须把工具、权限、审批、日志和回滚讲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讲师内心判断，约1分钟】如果学员只说“Agent会自动处理”，说明还停在演示层。你要追问：自动到哪一步，哪个动作需要人审，调用什么工具，失败后如何降级，日志由谁看，业务指标如何复盘。能回答这些问题，才进入部署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课堂追问，约1分钟】可以停下来问：如果数字员工做错了，是模型问题、流程问题、工具问题、权限问题，还是人审规则问题？请学员至少说出四种可能。这个追问能训练他们上线后的问题定位能力，而不是只会换模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【落地提醒，约1分钟】数字员工部署要避免一次性全自动。第一版要围绕低风险高频任务，保留人工确认和日志复盘，先证明流程闭环和价值，再逐步放权。FDE要训练的是渐进式上线能力。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【复盘动作，约1分钟】讲完这一页后，让学员用一句客户现场语言复述。例如：“我们不是先做一个全自动Agent，而是先把这条销售线索流程拆清楚，定义工具权限和人审节点，在试点团队里跑出可复盘结果。”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收束，约30秒】所以这一页最后要带走的不是“OpenAI”这个标签，而是一个动作：下次客户说“我们要做AI员工”时，你要继续问它负责哪个岗位、走哪条流程、调用哪些工具、谁审批、如何回写、怎么验收。平台只是承载，最后要用验收工作坊证明学员能交付数字员工部署包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互动问题：请学员说明同一个数字员工部署蓝图如何迁移到Claude、OpenAI、腾讯和WEI BOT。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过渡语：平台只是承载，最后要用验收工作坊证明学员能交付数字员工部署包。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本页目的：腾讯生态适合国内企业云、工作流、插件、知识库和企微场景。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师逐字稿：【开场，约40秒】各位看这一页，标题是“腾讯体系：ADP、CloudBase与企业应用集成”。这一页要训练的不是记住一个Agent术语，而是让FDE在企业现场能判断：一个数字员工要进入真实流程，必须具备哪些角色、工具、权限、审批、日志和复盘机制。请先记住本页核心句：腾讯生态适合国内企业云、工作流、插件、知识库和企微场景。接下来我会把它落到流程、工具、人机协作、安全和上线验收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概念展开，约1分30秒】屏幕上的关键词是：ADP；知识库；插件/工作流；CloudBase；企业微信。讲这些词时，不要像念清单一样念过去。FDE要把每个词翻译成部署动作：谁触发，AI先判断什么，调用哪个工具，哪些动作必须人审，结果写回哪里，失败怎么降级，日志如何追踪。只有这样，学员才会理解数字员工不是聊天框，而是受控工作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为什么这样讲，约1分30秒】平台实践不能变成按钮教学。Claude、OpenAI、腾讯和WEI生态能力都会更新，抽象不变：角色、上下文、工具、权限、护栏、日志、测试、运营。讲师要让学员能把一份部署蓝图迁移到不同平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【怎么讲，约2分钟】平台对照要避免站队。Claude适合长上下文、工具使用和MCP式连接思路，OpenAI生态适合Responses、Agents、工具和Tracing，腾讯生态贴近国内企业云、工作流和企微场景，WEI BOT可以承载数字员工代养。FDE要能把同一部署蓝图迁移到不同平台。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【概念加深，约1分钟】讲平台时，建议用同一张部署蓝图映射到不同产品：Claude对应长上下文和工具使用，OpenAI对应Responses、Agents、Tools和Tracing，腾讯对应ADP、CloudBase和企微集成，WEI BOT承载数字员工代养和运营。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【常见误区，约1分钟】不要让学员认为课程只服务某个平台。FDE要在国内外都可用，关键是掌握抽象：岗位、流程、工具、权限、护栏、测试、运营。平台选择是实施问题，不是方法本身。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延伸背景，约1分钟】企业AI从个人工具走向数字员工时，最容易被低估的是行动责任。个人用AI写错一段文字，可以自己修改；数字员工如果写错CRM、发错客户消息、提交错误审批，就会影响真实业务。因此第4章必须把工具、权限、审批、日志和回滚讲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讲师内心判断，约1分钟】如果学员只说“Agent会自动处理”，说明还停在演示层。你要追问：自动到哪一步，哪个动作需要人审，调用什么工具，失败后如何降级，日志由谁看，业务指标如何复盘。能回答这些问题，才进入部署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课堂追问，约1分钟】可以停下来问：如果数字员工做错了，是模型问题、流程问题、工具问题、权限问题，还是人审规则问题？请学员至少说出四种可能。这个追问能训练他们上线后的问题定位能力，而不是只会换模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【落地提醒，约1分钟】数字员工部署要避免一次性全自动。第一版要围绕低风险高频任务，保留人工确认和日志复盘，先证明流程闭环和价值，再逐步放权。FDE要训练的是渐进式上线能力。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【复盘动作，约1分钟】讲完这一页后，让学员用一句客户现场语言复述。例如：“我们不是先做一个全自动Agent，而是先把这条销售线索流程拆清楚，定义工具权限和人审节点，在试点团队里跑出可复盘结果。”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收束，约30秒】所以这一页最后要带走的不是“腾讯”这个标签，而是一个动作：下次客户说“我们要做AI员工”时，你要继续问它负责哪个岗位、走哪条流程、调用哪些工具、谁审批、如何回写、怎么验收。平台只是承载，最后要用验收工作坊证明学员能交付数字员工部署包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互动问题：请学员说明同一个数字员工部署蓝图如何迁移到Claude、OpenAI、腾讯和WEI BOT。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过渡语：平台只是承载，最后要用验收工作坊证明学员能交付数字员工部署包。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本页目的：WEI体系可把模型聚合、上下文包、工具接入和代养运营组合成交付产品。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讲师逐字稿：【开场，约40秒】各位看这一页，标题是“WEI BOT数字员工部署闭环”。这一页要训练的不是记住一个Agent术语，而是让FDE在企业现场能判断：一个数字员工要进入真实流程，必须具备哪些角色、工具、权限、审批、日志和复盘机制。请先记住本页核心句：WEI体系可把模型聚合、上下文包、工具接入和代养运营组合成交付产品。接下来我会把它落到流程、工具、人机协作、安全和上线验收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【概念展开，约1分30秒】屏幕上的关键词是：WEI API：模型与算力；WEI BOT：数字员工；WEI CONSULTING：诊断交付；WEI SPACE：训练孵化；WEI CAPITAL：项目加速；OPC复制。讲这些词时，不要像念清单一样念过去。FDE要把每个词翻译成部署动作：谁触发，AI先判断什么，调用哪个工具，哪些动作必须人审，结果写回哪里，失败怎么降级，日志如何追踪。只有这样，学员才会理解数字员工不是聊天框，而是受控工作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为什么这样讲，约1分30秒】平台实践不能变成按钮教学。Claude、OpenAI、腾讯和WEI生态能力都会更新，抽象不变：角色、上下文、工具、权限、护栏、日志、测试、运营。讲师要让学员能把一份部署蓝图迁移到不同平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怎么讲，约2分钟】这里要把“AI助手”拉回岗位语言。岗位不是功能集合，而是服务对象、工作范围、输入输出、协作关系和绩效指标。比如销售线索数字员工，不是“帮销售聊天”，而是服务销售团队，处理线索进入后的画像补全、优先级判断、跟进草稿、CRM回写和主管复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案例补强，约1分30秒】这里可以用一个通用案例：企业想做销售数字员工。普通做法是让AI帮销售写话术；FDE做法是设计完整流程：线索进入后先匹配客户ID，调用CRM查历史，补全画像，判断优先级，生成跟进草稿，销售确认后写回CRM，异常情况转主管，最后用转化率和响应时长复盘。这样一拆，数字员工才从演示变成部署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板书动作，约1分钟】请在白板写七个词：触发、理解、计划、工具、人审、回写、复盘。然后告诉学员：以后设计任何企业Agent，都先问这七个问题。什么时候启动？如何识别意图？怎样拆步骤？调用什么工具？谁来审核？结果写到哪里？上线后看什么指标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【概念加深，约1分钟】讲平台时，建议用同一张部署蓝图映射到不同产品：Claude对应长上下文和工具使用，OpenAI对应Responses、Agents、Tools和Tracing，腾讯对应ADP、CloudBase和企微集成，WEI BOT承载数字员工代养和运营。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【常见误区，约1分钟】不要让学员认为课程只服务某个平台。FDE要在国内外都可用，关键是掌握抽象：岗位、流程、工具、权限、护栏、测试、运营。平台选择是实施问题，不是方法本身。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延伸背景，约1分钟】企业AI从个人工具走向数字员工时，最容易被低估的是行动责任。个人用AI写错一段文字，可以自己修改；数字员工如果写错CRM、发错客户消息、提交错误审批，就会影响真实业务。因此第4章必须把工具、权限、审批、日志和回滚讲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讲师内心判断，约1分钟】如果学员只说“Agent会自动处理”，说明还停在演示层。你要追问：自动到哪一步，哪个动作需要人审，调用什么工具，失败后如何降级，日志由谁看，业务指标如何复盘。能回答这些问题，才进入部署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课堂追问，约1分钟】可以停下来问：如果数字员工做错了，是模型问题、流程问题、工具问题、权限问题，还是人审规则问题？请学员至少说出四种可能。这个追问能训练他们上线后的问题定位能力，而不是只会换模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【落地提醒，约1分钟】数字员工部署要避免一次性全自动。第一版要围绕低风险高频任务，保留人工确认和日志复盘，先证明流程闭环和价值，再逐步放权。FDE要训练的是渐进式上线能力。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【复盘动作，约1分钟】讲完这一页后，让学员用一句客户现场语言复述。例如：“我们不是先做一个全自动Agent，而是先把这条销售线索流程拆清楚，定义工具权限和人审节点，在试点团队里跑出可复盘结果。”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收束，约30秒】所以这一页最后要带走的不是“WEI”这个标签，而是一个动作：下次客户说“我们要做AI员工”时，你要继续问它负责哪个岗位、走哪条流程、调用哪些工具、谁审批、如何回写、怎么验收。平台只是承载，最后要用验收工作坊证明学员能交付数字员工部署包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互动问题：请学员说明同一个数字员工部署蓝图如何迁移到Claude、OpenAI、腾讯和WEI BOT。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过渡语：平台只是承载，最后要用验收工作坊证明学员能交付数字员工部署包。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本页目的：课程要教FDE抽象能力，让同一部署蓝图能迁移到不同技术栈。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师逐字稿：【开场，约40秒】各位看这一页，标题是“同一数字员工如何跨平台实现”。这一页要训练的不是记住一个Agent术语，而是让FDE在企业现场能判断：一个数字员工要进入真实流程，必须具备哪些角色、工具、权限、审批、日志和复盘机制。请先记住本页核心句：课程要教FDE抽象能力，让同一部署蓝图能迁移到不同技术栈。接下来我会把它落到流程、工具、人机协作、安全和上线验收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概念展开，约1分30秒】屏幕上的关键词是：角色说明不变；上下文包不变；工具Schema可迁移；护栏规则可迁移；测试集可迁移；平台接口替换。讲这些词时，不要像念清单一样念过去。FDE要把每个词翻译成部署动作：谁触发，AI先判断什么，调用哪个工具，哪些动作必须人审，结果写回哪里，失败怎么降级，日志如何追踪。只有这样，学员才会理解数字员工不是聊天框，而是受控工作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为什么这样讲，约1分30秒】平台实践不能变成按钮教学。Claude、OpenAI、腾讯和WEI生态能力都会更新，抽象不变：角色、上下文、工具、权限、护栏、日志、测试、运营。讲师要让学员能把一份部署蓝图迁移到不同平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怎么讲，约2分钟】这里要把“AI助手”拉回岗位语言。岗位不是功能集合，而是服务对象、工作范围、输入输出、协作关系和绩效指标。比如销售线索数字员工，不是“帮销售聊天”，而是服务销售团队，处理线索进入后的画像补全、优先级判断、跟进草稿、CRM回写和主管复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案例补强，约1分30秒】这里可以用一个通用案例：企业想做销售数字员工。普通做法是让AI帮销售写话术；FDE做法是设计完整流程：线索进入后先匹配客户ID，调用CRM查历史，补全画像，判断优先级，生成跟进草稿，销售确认后写回CRM，异常情况转主管，最后用转化率和响应时长复盘。这样一拆，数字员工才从演示变成部署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板书动作，约1分钟】请在白板写七个词：触发、理解、计划、工具、人审、回写、复盘。然后告诉学员：以后设计任何企业Agent，都先问这七个问题。什么时候启动？如何识别意图？怎样拆步骤？调用什么工具？谁来审核？结果写到哪里？上线后看什么指标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互动组织，约3分钟】这一页如果有练习，不要让学员泛泛讨论。先给30秒个人写，再给2分钟小组互相追问，最后请一组用60秒汇报。讲师点评时只追问三件事：第一，流程是否能闭环；第二，工具和权限是否清楚；第三，异常和人工接管是否可执行。这样课堂才是部署训练，不是概念聊天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【概念加深，约1分钟】讲平台时，建议用同一张部署蓝图映射到不同产品：Claude对应长上下文和工具使用，OpenAI对应Responses、Agents、Tools和Tracing，腾讯对应ADP、CloudBase和企微集成，WEI BOT承载数字员工代养和运营。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【常见误区，约1分钟】不要让学员认为课程只服务某个平台。FDE要在国内外都可用，关键是掌握抽象：岗位、流程、工具、权限、护栏、测试、运营。平台选择是实施问题，不是方法本身。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延伸背景，约1分钟】企业AI从个人工具走向数字员工时，最容易被低估的是行动责任。个人用AI写错一段文字，可以自己修改；数字员工如果写错CRM、发错客户消息、提交错误审批，就会影响真实业务。因此第4章必须把工具、权限、审批、日志和回滚讲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讲师内心判断，约1分钟】如果学员只说“Agent会自动处理”，说明还停在演示层。你要追问：自动到哪一步，哪个动作需要人审，调用什么工具，失败后如何降级，日志由谁看，业务指标如何复盘。能回答这些问题，才进入部署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课堂追问，约1分钟】可以停下来问：如果数字员工做错了，是模型问题、流程问题、工具问题、权限问题，还是人审规则问题？请学员至少说出四种可能。这个追问能训练他们上线后的问题定位能力，而不是只会换模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【落地提醒，约1分钟】数字员工部署要避免一次性全自动。第一版要围绕低风险高频任务，保留人工确认和日志复盘，先证明流程闭环和价值，再逐步放权。FDE要训练的是渐进式上线能力。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【复盘动作，约1分钟】讲完这一页后，让学员用一句客户现场语言复述。例如：“我们不是先做一个全自动Agent，而是先把这条销售线索流程拆清楚，定义工具权限和人审节点，在试点团队里跑出可复盘结果。”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收束，约30秒】所以这一页最后要带走的不是“迁移”这个标签，而是一个动作：下次客户说“我们要做AI员工”时，你要继续问它负责哪个岗位、走哪条流程、调用哪些工具、谁审批、如何回写、怎么验收。平台只是承载，最后要用验收工作坊证明学员能交付数字员工部署包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互动问题：请学员说明同一个数字员工部署蓝图如何迁移到Claude、OpenAI、腾讯和WEI BOT。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过渡语：平台只是承载，最后要用验收工作坊证明学员能交付数字员工部署包。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本页目的：数字员工必须经过沙盒、灰度、验收和运营复盘。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师逐字稿：【开场，约40秒】各位看这一页，标题是“试点上线与验收工作坊”。这一页要训练的不是记住一个Agent术语，而是让FDE在企业现场能判断：一个数字员工要进入真实流程，必须具备哪些角色、工具、权限、审批、日志和复盘机制。请先记住本页核心句：数字员工必须经过沙盒、灰度、验收和运营复盘。接下来我会把它落到流程、工具、人机协作、安全和上线验收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概念展开，约1分30秒】屏幕上的关键词是：沙盒；灰度；运营。讲这些词时，不要像念清单一样念过去。FDE要把每个词翻译成部署动作：谁触发，AI先判断什么，调用哪个工具，哪些动作必须人审，结果写回哪里，失败怎么降级，日志如何追踪。只有这样，学员才会理解数字员工不是聊天框，而是受控工作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为什么这样讲，约1分30秒】上线验收是本章真正的落点。学员必须把数字员工从Demo推进到Sandbox、Pilot、Production和Operate。只会演示不合格，能交出部署蓝图、测试集、灰度计划、运营看板和事故预案，才具备FDE交付能力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怎么讲，约2分钟】上线验收要讲硬标准。Demo能跑不代表能试点，试点能用不代表能生产。数字员工必须经过沙盒、灰度、测试集、日志、运营看板和事故预案。学员如果说“这个Agent已经做好了”，讲师要追问：谁在试用，任务范围是什么，错误怎么发现，如何回滚，指标看什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概念加深，约1分钟】验收测试集是数字员工上线的保险丝。没有测试集，工具升级或Prompt改动后不知道是否破坏旧能力；没有异常题，系统只在演示条件下看起来稳定；没有工具失败题，生产事故上线后才暴露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【常见误区，约1分钟】工作坊不是交漂亮图，而是交能进入试点的部署包。讲师要检查材料是否围绕一个数字员工岗位，是否包含工具说明、护栏规则、灰度计划和运营看板。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延伸背景，约1分钟】企业AI从个人工具走向数字员工时，最容易被低估的是行动责任。个人用AI写错一段文字，可以自己修改；数字员工如果写错CRM、发错客户消息、提交错误审批，就会影响真实业务。因此第4章必须把工具、权限、审批、日志和回滚讲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讲师内心判断，约1分钟】如果学员只说“Agent会自动处理”，说明还停在演示层。你要追问：自动到哪一步，哪个动作需要人审，调用什么工具，失败后如何降级，日志由谁看，业务指标如何复盘。能回答这些问题，才进入部署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课堂追问，约1分钟】可以停下来问：如果数字员工做错了，是模型问题、流程问题、工具问题、权限问题，还是人审规则问题？请学员至少说出四种可能。这个追问能训练他们上线后的问题定位能力，而不是只会换模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【收束，约30秒】所以这一页最后要带走的不是“Part 7”这个标签，而是一个动作：下次客户说“我们要做AI员工”时，你要继续问它负责哪个岗位、走哪条流程、调用哪些工具、谁审批、如何回写、怎么验收。下一章会把数字员工部署推进到企业系统集成、数据闭环和运营增长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互动问题：请每组展示一条正常题、一条异常题、一条越权题和一条工具失败题。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过渡语：下一章会把数字员工部署推进到企业系统集成、数据闭环和运营增长。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本页目的：不要让Demo直接进生产，要按环境逐步放权。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师逐字稿：【开场，约40秒】各位看这一页，标题是“从沙盒到生产的四个环境”。这一页要训练的不是记住一个Agent术语，而是让FDE在企业现场能判断：一个数字员工要进入真实流程，必须具备哪些角色、工具、权限、审批、日志和复盘机制。请先记住本页核心句：不要让Demo直接进生产，要按环境逐步放权。接下来我会把它落到流程、工具、人机协作、安全和上线验收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概念展开，约1分30秒】屏幕上的关键词是：Demo；Sandbox；Pilot；Production；Operate；Scale。讲这些词时，不要像念清单一样念过去。FDE要把每个词翻译成部署动作：谁触发，AI先判断什么，调用哪个工具，哪些动作必须人审，结果写回哪里，失败怎么降级，日志如何追踪。只有这样，学员才会理解数字员工不是聊天框，而是受控工作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为什么这样讲，约1分30秒】上线验收是本章真正的落点。学员必须把数字员工从Demo推进到Sandbox、Pilot、Production和Operate。只会演示不合格，能交出部署蓝图、测试集、灰度计划、运营看板和事故预案，才具备FDE交付能力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怎么讲，约2分钟】这一页要反复把概念落到FDE现场问法。每讲一个关键词，就补一句现场追问：谁触发，做哪一步，调用什么工具，谁审批，失败怎么办，日志在哪里，如何验收。这样学员会形成数字员工部署的肌肉记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案例补强，约1分30秒】这里可以用一个通用案例：企业想做销售数字员工。普通做法是让AI帮销售写话术；FDE做法是设计完整流程：线索进入后先匹配客户ID，调用CRM查历史，补全画像，判断优先级，生成跟进草稿，销售确认后写回CRM，异常情况转主管，最后用转化率和响应时长复盘。这样一拆，数字员工才从演示变成部署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板书动作，约1分钟】请在白板写七个词：触发、理解、计划、工具、人审、回写、复盘。然后告诉学员：以后设计任何企业Agent，都先问这七个问题。什么时候启动？如何识别意图？怎样拆步骤？调用什么工具？谁来审核？结果写到哪里？上线后看什么指标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概念加深，约1分钟】验收测试集是数字员工上线的保险丝。没有测试集，工具升级或Prompt改动后不知道是否破坏旧能力；没有异常题，系统只在演示条件下看起来稳定；没有工具失败题，生产事故上线后才暴露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【常见误区，约1分钟】工作坊不是交漂亮图，而是交能进入试点的部署包。讲师要检查材料是否围绕一个数字员工岗位，是否包含工具说明、护栏规则、灰度计划和运营看板。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延伸背景，约1分钟】企业AI从个人工具走向数字员工时，最容易被低估的是行动责任。个人用AI写错一段文字，可以自己修改；数字员工如果写错CRM、发错客户消息、提交错误审批，就会影响真实业务。因此第4章必须把工具、权限、审批、日志和回滚讲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讲师内心判断，约1分钟】如果学员只说“Agent会自动处理”，说明还停在演示层。你要追问：自动到哪一步，哪个动作需要人审，调用什么工具，失败后如何降级，日志由谁看，业务指标如何复盘。能回答这些问题，才进入部署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课堂追问，约1分钟】可以停下来问：如果数字员工做错了，是模型问题、流程问题、工具问题、权限问题，还是人审规则问题？请学员至少说出四种可能。这个追问能训练他们上线后的问题定位能力，而不是只会换模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【落地提醒，约1分钟】数字员工部署要避免一次性全自动。第一版要围绕低风险高频任务，保留人工确认和日志复盘，先证明流程闭环和价值，再逐步放权。FDE要训练的是渐进式上线能力。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【复盘动作，约1分钟】讲完这一页后，让学员用一句客户现场语言复述。例如：“我们不是先做一个全自动Agent，而是先把这条销售线索流程拆清楚，定义工具权限和人审节点，在试点团队里跑出可复盘结果。”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收束，约30秒】所以这一页最后要带走的不是“环境”这个标签，而是一个动作：下次客户说“我们要做AI员工”时，你要继续问它负责哪个岗位、走哪条流程、调用哪些工具、谁审批、如何回写、怎么验收。下一章会把数字员工部署推进到企业系统集成、数据闭环和运营增长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互动问题：请每组展示一条正常题、一条异常题、一条越权题和一条工具失败题。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过渡语：下一章会把数字员工部署推进到企业系统集成、数据闭环和运营增长。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本页目的：测试要覆盖正常、异常、工具失败、越权、人审和回写。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师逐字稿：【开场，约40秒】各位看这一页，标题是“数字员工测试集”。这一页要训练的不是记住一个Agent术语，而是让FDE在企业现场能判断：一个数字员工要进入真实流程，必须具备哪些角色、工具、权限、审批、日志和复盘机制。请先记住本页核心句：测试要覆盖正常、异常、工具失败、越权、人审和回写。接下来我会把它落到流程、工具、人机协作、安全和上线验收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概念展开，约1分30秒】屏幕上的关键词是：正常任务→完成闭环；异常输入→请求补充；工具失败→重试降级；越权任务→拒绝；高风险→转审批。讲这些词时，不要像念清单一样念过去。FDE要把每个词翻译成部署动作：谁触发，AI先判断什么，调用哪个工具，哪些动作必须人审，结果写回哪里，失败怎么降级，日志如何追踪。只有这样，学员才会理解数字员工不是聊天框，而是受控工作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为什么这样讲，约1分30秒】上线验收是本章真正的落点。学员必须把数字员工从Demo推进到Sandbox、Pilot、Production和Operate。只会演示不合格，能交出部署蓝图、测试集、灰度计划、运营看板和事故预案，才具备FDE交付能力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怎么讲，约2分钟】这里要把“AI助手”拉回岗位语言。岗位不是功能集合，而是服务对象、工作范围、输入输出、协作关系和绩效指标。比如销售线索数字员工，不是“帮销售聊天”，而是服务销售团队，处理线索进入后的画像补全、优先级判断、跟进草稿、CRM回写和主管复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案例补强，约1分30秒】这里可以用一个通用案例：企业想做销售数字员工。普通做法是让AI帮销售写话术；FDE做法是设计完整流程：线索进入后先匹配客户ID，调用CRM查历史，补全画像，判断优先级，生成跟进草稿，销售确认后写回CRM，异常情况转主管，最后用转化率和响应时长复盘。这样一拆，数字员工才从演示变成部署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板书动作，约1分钟】请在白板写七个词：触发、理解、计划、工具、人审、回写、复盘。然后告诉学员：以后设计任何企业Agent，都先问这七个问题。什么时候启动？如何识别意图？怎样拆步骤？调用什么工具？谁来审核？结果写到哪里？上线后看什么指标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概念加深，约1分钟】验收测试集是数字员工上线的保险丝。没有测试集，工具升级或Prompt改动后不知道是否破坏旧能力；没有异常题，系统只在演示条件下看起来稳定；没有工具失败题，生产事故上线后才暴露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【常见误区，约1分钟】工作坊不是交漂亮图，而是交能进入试点的部署包。讲师要检查材料是否围绕一个数字员工岗位，是否包含工具说明、护栏规则、灰度计划和运营看板。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延伸背景，约1分钟】企业AI从个人工具走向数字员工时，最容易被低估的是行动责任。个人用AI写错一段文字，可以自己修改；数字员工如果写错CRM、发错客户消息、提交错误审批，就会影响真实业务。因此第4章必须把工具、权限、审批、日志和回滚讲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讲师内心判断，约1分钟】如果学员只说“Agent会自动处理”，说明还停在演示层。你要追问：自动到哪一步，哪个动作需要人审，调用什么工具，失败后如何降级，日志由谁看，业务指标如何复盘。能回答这些问题，才进入部署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课堂追问，约1分钟】可以停下来问：如果数字员工做错了，是模型问题、流程问题、工具问题、权限问题，还是人审规则问题？请学员至少说出四种可能。这个追问能训练他们上线后的问题定位能力，而不是只会换模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【落地提醒，约1分钟】数字员工部署要避免一次性全自动。第一版要围绕低风险高频任务，保留人工确认和日志复盘，先证明流程闭环和价值，再逐步放权。FDE要训练的是渐进式上线能力。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【复盘动作，约1分钟】讲完这一页后，让学员用一句客户现场语言复述。例如：“我们不是先做一个全自动Agent，而是先把这条销售线索流程拆清楚，定义工具权限和人审节点，在试点团队里跑出可复盘结果。”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收束，约30秒】所以这一页最后要带走的不是“测试”这个标签，而是一个动作：下次客户说“我们要做AI员工”时，你要继续问它负责哪个岗位、走哪条流程、调用哪些工具、谁审批、如何回写、怎么验收。下一章会把数字员工部署推进到企业系统集成、数据闭环和运营增长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互动问题：请每组展示一条正常题、一条异常题、一条越权题和一条工具失败题。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过渡语：下一章会把数字员工部署推进到企业系统集成、数据闭环和运营增长。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本页目的：运营看板要同时看业务价值、质量、风险、成本和体验。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师逐字稿：【开场，约40秒】各位看这一页，标题是“上线运营看板”。这一页要训练的不是记住一个Agent术语，而是让FDE在企业现场能判断：一个数字员工要进入真实流程，必须具备哪些角色、工具、权限、审批、日志和复盘机制。请先记住本页核心句：运营看板要同时看业务价值、质量、风险、成本和体验。接下来我会把它落到流程、工具、人机协作、安全和上线验收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概念展开，约1分30秒】屏幕上的关键词是：任务完成率：闭环；人工接管率：边界；错误率：质量；处理时长：效率；调用成本：成本；业务指标：价值。讲这些词时，不要像念清单一样念过去。FDE要把每个词翻译成部署动作：谁触发，AI先判断什么，调用哪个工具，哪些动作必须人审，结果写回哪里，失败怎么降级，日志如何追踪。只有这样，学员才会理解数字员工不是聊天框，而是受控工作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为什么这样讲，约1分30秒】上线验收是本章真正的落点。学员必须把数字员工从Demo推进到Sandbox、Pilot、Production和Operate。只会演示不合格，能交出部署蓝图、测试集、灰度计划、运营看板和事故预案，才具备FDE交付能力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怎么讲，约2分钟】上线验收要讲硬标准。Demo能跑不代表能试点，试点能用不代表能生产。数字员工必须经过沙盒、灰度、测试集、日志、运营看板和事故预案。学员如果说“这个Agent已经做好了”，讲师要追问：谁在试用，任务范围是什么，错误怎么发现，如何回滚，指标看什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案例补强，约1分30秒】这里可以用一个通用案例：企业想做销售数字员工。普通做法是让AI帮销售写话术；FDE做法是设计完整流程：线索进入后先匹配客户ID，调用CRM查历史，补全画像，判断优先级，生成跟进草稿，销售确认后写回CRM，异常情况转主管，最后用转化率和响应时长复盘。这样一拆，数字员工才从演示变成部署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板书动作，约1分钟】请在白板写七个词：触发、理解、计划、工具、人审、回写、复盘。然后告诉学员：以后设计任何企业Agent，都先问这七个问题。什么时候启动？如何识别意图？怎样拆步骤？调用什么工具？谁来审核？结果写到哪里？上线后看什么指标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概念加深，约1分钟】验收测试集是数字员工上线的保险丝。没有测试集，工具升级或Prompt改动后不知道是否破坏旧能力；没有异常题，系统只在演示条件下看起来稳定；没有工具失败题，生产事故上线后才暴露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【常见误区，约1分钟】工作坊不是交漂亮图，而是交能进入试点的部署包。讲师要检查材料是否围绕一个数字员工岗位，是否包含工具说明、护栏规则、灰度计划和运营看板。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延伸背景，约1分钟】企业AI从个人工具走向数字员工时，最容易被低估的是行动责任。个人用AI写错一段文字，可以自己修改；数字员工如果写错CRM、发错客户消息、提交错误审批，就会影响真实业务。因此第4章必须把工具、权限、审批、日志和回滚讲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讲师内心判断，约1分钟】如果学员只说“Agent会自动处理”，说明还停在演示层。你要追问：自动到哪一步，哪个动作需要人审，调用什么工具，失败后如何降级，日志由谁看，业务指标如何复盘。能回答这些问题，才进入部署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课堂追问，约1分钟】可以停下来问：如果数字员工做错了，是模型问题、流程问题、工具问题、权限问题，还是人审规则问题？请学员至少说出四种可能。这个追问能训练他们上线后的问题定位能力，而不是只会换模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【落地提醒，约1分钟】数字员工部署要避免一次性全自动。第一版要围绕低风险高频任务，保留人工确认和日志复盘，先证明流程闭环和价值，再逐步放权。FDE要训练的是渐进式上线能力。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【复盘动作，约1分钟】讲完这一页后，让学员用一句客户现场语言复述。例如：“我们不是先做一个全自动Agent，而是先把这条销售线索流程拆清楚，定义工具权限和人审节点，在试点团队里跑出可复盘结果。”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收束，约30秒】所以这一页最后要带走的不是“指标”这个标签，而是一个动作：下次客户说“我们要做AI员工”时，你要继续问它负责哪个岗位、走哪条流程、调用哪些工具、谁审批、如何回写、怎么验收。下一章会把数字员工部署推进到企业系统集成、数据闭环和运营增长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互动问题：请每组展示一条正常题、一条异常题、一条越权题和一条工具失败题。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过渡语：下一章会把数字员工部署推进到企业系统集成、数据闭环和运营增长。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本页目的：先小范围、低风险、强人审，再逐步扩大自动化比例。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师逐字稿：【开场，约40秒】各位看这一页，标题是“灰度上线策略”。这一页要训练的不是记住一个Agent术语，而是让FDE在企业现场能判断：一个数字员工要进入真实流程，必须具备哪些角色、工具、权限、审批、日志和复盘机制。请先记住本页核心句：先小范围、低风险、强人审，再逐步扩大自动化比例。接下来我会把它落到流程、工具、人机协作、安全和上线验收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概念展开，约1分30秒】屏幕上的关键词是：选试点团队；限定任务范围；保留人工审批；每日复盘；逐步放权。讲这些词时，不要像念清单一样念过去。FDE要把每个词翻译成部署动作：谁触发，AI先判断什么，调用哪个工具，哪些动作必须人审，结果写回哪里，失败怎么降级，日志如何追踪。只有这样，学员才会理解数字员工不是聊天框，而是受控工作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为什么这样讲，约1分30秒】上线验收是本章真正的落点。学员必须把数字员工从Demo推进到Sandbox、Pilot、Production和Operate。只会演示不合格，能交出部署蓝图、测试集、灰度计划、运营看板和事故预案，才具备FDE交付能力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怎么讲，约2分钟】上线验收要讲硬标准。Demo能跑不代表能试点，试点能用不代表能生产。数字员工必须经过沙盒、灰度、测试集、日志、运营看板和事故预案。学员如果说“这个Agent已经做好了”，讲师要追问：谁在试用，任务范围是什么，错误怎么发现，如何回滚，指标看什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概念加深，约1分钟】验收测试集是数字员工上线的保险丝。没有测试集，工具升级或Prompt改动后不知道是否破坏旧能力；没有异常题，系统只在演示条件下看起来稳定；没有工具失败题，生产事故上线后才暴露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【常见误区，约1分钟】工作坊不是交漂亮图，而是交能进入试点的部署包。讲师要检查材料是否围绕一个数字员工岗位，是否包含工具说明、护栏规则、灰度计划和运营看板。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延伸背景，约1分钟】企业AI从个人工具走向数字员工时，最容易被低估的是行动责任。个人用AI写错一段文字，可以自己修改；数字员工如果写错CRM、发错客户消息、提交错误审批，就会影响真实业务。因此第4章必须把工具、权限、审批、日志和回滚讲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讲师内心判断，约1分钟】如果学员只说“Agent会自动处理”，说明还停在演示层。你要追问：自动到哪一步，哪个动作需要人审，调用什么工具，失败后如何降级，日志由谁看，业务指标如何复盘。能回答这些问题，才进入部署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课堂追问，约1分钟】可以停下来问：如果数字员工做错了，是模型问题、流程问题、工具问题、权限问题，还是人审规则问题？请学员至少说出四种可能。这个追问能训练他们上线后的问题定位能力，而不是只会换模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【落地提醒，约1分钟】数字员工部署要避免一次性全自动。第一版要围绕低风险高频任务，保留人工确认和日志复盘，先证明流程闭环和价值，再逐步放权。FDE要训练的是渐进式上线能力。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【复盘动作，约1分钟】讲完这一页后，让学员用一句客户现场语言复述。例如：“我们不是先做一个全自动Agent，而是先把这条销售线索流程拆清楚，定义工具权限和人审节点，在试点团队里跑出可复盘结果。”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收束，约30秒】所以这一页最后要带走的不是“灰度”这个标签，而是一个动作：下次客户说“我们要做AI员工”时，你要继续问它负责哪个岗位、走哪条流程、调用哪些工具、谁审批、如何回写、怎么验收。下一章会把数字员工部署推进到企业系统集成、数据闭环和运营增长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互动问题：请每组展示一条正常题、一条异常题、一条越权题和一条工具失败题。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过渡语：下一章会把数字员工部署推进到企业系统集成、数据闭环和运营增长。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本页目的：上线后要准备停用、回滚、通知、修复和复盘机制。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师逐字稿：【开场，约40秒】各位看这一页，标题是“数字员工事故复盘”。这一页要训练的不是记住一个Agent术语，而是让FDE在企业现场能判断：一个数字员工要进入真实流程，必须具备哪些角色、工具、权限、审批、日志和复盘机制。请先记住本页核心句：上线后要准备停用、回滚、通知、修复和复盘机制。接下来我会把它落到流程、工具、人机协作、安全和上线验收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概念展开，约1分30秒】屏幕上的关键词是：停用；回滚；通知；修复。讲这些词时，不要像念清单一样念过去。FDE要把每个词翻译成部署动作：谁触发，AI先判断什么，调用哪个工具，哪些动作必须人审，结果写回哪里，失败怎么降级，日志如何追踪。只有这样，学员才会理解数字员工不是聊天框，而是受控工作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为什么这样讲，约1分30秒】上线验收是本章真正的落点。学员必须把数字员工从Demo推进到Sandbox、Pilot、Production和Operate。只会演示不合格，能交出部署蓝图、测试集、灰度计划、运营看板和事故预案，才具备FDE交付能力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怎么讲，约2分钟】这里要把“AI助手”拉回岗位语言。岗位不是功能集合，而是服务对象、工作范围、输入输出、协作关系和绩效指标。比如销售线索数字员工，不是“帮销售聊天”，而是服务销售团队，处理线索进入后的画像补全、优先级判断、跟进草稿、CRM回写和主管复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概念加深，约1分钟】验收测试集是数字员工上线的保险丝。没有测试集，工具升级或Prompt改动后不知道是否破坏旧能力；没有异常题，系统只在演示条件下看起来稳定；没有工具失败题，生产事故上线后才暴露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【常见误区，约1分钟】工作坊不是交漂亮图，而是交能进入试点的部署包。讲师要检查材料是否围绕一个数字员工岗位，是否包含工具说明、护栏规则、灰度计划和运营看板。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延伸背景，约1分钟】企业AI从个人工具走向数字员工时，最容易被低估的是行动责任。个人用AI写错一段文字，可以自己修改；数字员工如果写错CRM、发错客户消息、提交错误审批，就会影响真实业务。因此第4章必须把工具、权限、审批、日志和回滚讲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讲师内心判断，约1分钟】如果学员只说“Agent会自动处理”，说明还停在演示层。你要追问：自动到哪一步，哪个动作需要人审，调用什么工具，失败后如何降级，日志由谁看，业务指标如何复盘。能回答这些问题，才进入部署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课堂追问，约1分钟】可以停下来问：如果数字员工做错了，是模型问题、流程问题、工具问题、权限问题，还是人审规则问题？请学员至少说出四种可能。这个追问能训练他们上线后的问题定位能力，而不是只会换模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【落地提醒，约1分钟】数字员工部署要避免一次性全自动。第一版要围绕低风险高频任务，保留人工确认和日志复盘，先证明流程闭环和价值，再逐步放权。FDE要训练的是渐进式上线能力。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【复盘动作，约1分钟】讲完这一页后，让学员用一句客户现场语言复述。例如：“我们不是先做一个全自动Agent，而是先把这条销售线索流程拆清楚，定义工具权限和人审节点，在试点团队里跑出可复盘结果。”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收束，约30秒】所以这一页最后要带走的不是“事故”这个标签，而是一个动作：下次客户说“我们要做AI员工”时，你要继续问它负责哪个岗位、走哪条流程、调用哪些工具、谁审批、如何回写、怎么验收。下一章会把数字员工部署推进到企业系统集成、数据闭环和运营增长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互动问题：请每组展示一条正常题、一条异常题、一条越权题和一条工具失败题。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过渡语：下一章会把数字员工部署推进到企业系统集成、数据闭环和运营增长。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本页目的：交付物必须让客户、交付、技术和运营团队都能接手。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师逐字稿：【开场，约40秒】各位看这一页，标题是“FDE部署交付包”。这一页要训练的不是记住一个Agent术语，而是让FDE在企业现场能判断：一个数字员工要进入真实流程，必须具备哪些角色、工具、权限、审批、日志和复盘机制。请先记住本页核心句：交付物必须让客户、交付、技术和运营团队都能接手。接下来我会把它落到流程、工具、人机协作、安全和上线验收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概念展开，约1分30秒】屏幕上的关键词是：岗位说明；流程蓝图；工具说明；护栏规则；测试集；灰度方案；运营看板。讲这些词时，不要像念清单一样念过去。FDE要把每个词翻译成部署动作：谁触发，AI先判断什么，调用哪个工具，哪些动作必须人审，结果写回哪里，失败怎么降级，日志如何追踪。只有这样，学员才会理解数字员工不是聊天框，而是受控工作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为什么这样讲，约1分30秒】上线验收是本章真正的落点。学员必须把数字员工从Demo推进到Sandbox、Pilot、Production和Operate。只会演示不合格，能交出部署蓝图、测试集、灰度计划、运营看板和事故预案，才具备FDE交付能力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怎么讲，约2分钟】这一页要反复把概念落到FDE现场问法。每讲一个关键词，就补一句现场追问：谁触发，做哪一步，调用什么工具，谁审批，失败怎么办，日志在哪里，如何验收。这样学员会形成数字员工部署的肌肉记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概念加深，约1分钟】验收测试集是数字员工上线的保险丝。没有测试集，工具升级或Prompt改动后不知道是否破坏旧能力；没有异常题，系统只在演示条件下看起来稳定；没有工具失败题，生产事故上线后才暴露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【常见误区，约1分钟】工作坊不是交漂亮图，而是交能进入试点的部署包。讲师要检查材料是否围绕一个数字员工岗位，是否包含工具说明、护栏规则、灰度计划和运营看板。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延伸背景，约1分钟】企业AI从个人工具走向数字员工时，最容易被低估的是行动责任。个人用AI写错一段文字，可以自己修改；数字员工如果写错CRM、发错客户消息、提交错误审批，就会影响真实业务。因此第4章必须把工具、权限、审批、日志和回滚讲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讲师内心判断，约1分钟】如果学员只说“Agent会自动处理”，说明还停在演示层。你要追问：自动到哪一步，哪个动作需要人审，调用什么工具，失败后如何降级，日志由谁看，业务指标如何复盘。能回答这些问题，才进入部署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课堂追问，约1分钟】可以停下来问：如果数字员工做错了，是模型问题、流程问题、工具问题、权限问题，还是人审规则问题？请学员至少说出四种可能。这个追问能训练他们上线后的问题定位能力，而不是只会换模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【落地提醒，约1分钟】数字员工部署要避免一次性全自动。第一版要围绕低风险高频任务，保留人工确认和日志复盘，先证明流程闭环和价值，再逐步放权。FDE要训练的是渐进式上线能力。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【复盘动作，约1分钟】讲完这一页后，让学员用一句客户现场语言复述。例如：“我们不是先做一个全自动Agent，而是先把这条销售线索流程拆清楚，定义工具权限和人审节点，在试点团队里跑出可复盘结果。”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收束，约30秒】所以这一页最后要带走的不是“交付”这个标签，而是一个动作：下次客户说“我们要做AI员工”时，你要继续问它负责哪个岗位、走哪条流程、调用哪些工具、谁审批、如何回写、怎么验收。下一章会把数字员工部署推进到企业系统集成、数据闭环和运营增长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互动问题：请每组展示一条正常题、一条异常题、一条越权题和一条工具失败题。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过渡语：下一章会把数字员工部署推进到企业系统集成、数据闭环和运营增长。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本页目的：每组把第3章上下文包升级为可上线的数字员工部署包。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师逐字稿：【开场，约40秒】各位看这一页，标题是“产出一个数字员工部署蓝图”。这一页要训练的不是记住一个Agent术语，而是让FDE在企业现场能判断：一个数字员工要进入真实流程，必须具备哪些角色、工具、权限、审批、日志和复盘机制。请先记住本页核心句：每组把第3章上下文包升级为可上线的数字员工部署包。接下来我会把它落到流程、工具、人机协作、安全和上线验收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概念展开，约1分30秒】屏幕上的关键词是：岗位说明；流程主线；工具Schema；人机护栏；测试集；上线计划。讲这些词时，不要像念清单一样念过去。FDE要把每个词翻译成部署动作：谁触发，AI先判断什么，调用哪个工具，哪些动作必须人审，结果写回哪里，失败怎么降级，日志如何追踪。只有这样，学员才会理解数字员工不是聊天框，而是受控工作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为什么这样讲，约1分30秒】上线验收是本章真正的落点。学员必须把数字员工从Demo推进到Sandbox、Pilot、Production和Operate。只会演示不合格，能交出部署蓝图、测试集、灰度计划、运营看板和事故预案，才具备FDE交付能力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怎么讲，约2分钟】这里要把“AI助手”拉回岗位语言。岗位不是功能集合，而是服务对象、工作范围、输入输出、协作关系和绩效指标。比如销售线索数字员工，不是“帮销售聊天”，而是服务销售团队，处理线索进入后的画像补全、优先级判断、跟进草稿、CRM回写和主管复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概念加深，约1分钟】验收测试集是数字员工上线的保险丝。没有测试集，工具升级或Prompt改动后不知道是否破坏旧能力；没有异常题，系统只在演示条件下看起来稳定；没有工具失败题，生产事故上线后才暴露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【常见误区，约1分钟】工作坊不是交漂亮图，而是交能进入试点的部署包。讲师要检查材料是否围绕一个数字员工岗位，是否包含工具说明、护栏规则、灰度计划和运营看板。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延伸背景，约1分钟】企业AI从个人工具走向数字员工时，最容易被低估的是行动责任。个人用AI写错一段文字，可以自己修改；数字员工如果写错CRM、发错客户消息、提交错误审批，就会影响真实业务。因此第4章必须把工具、权限、审批、日志和回滚讲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讲师内心判断，约1分钟】如果学员只说“Agent会自动处理”，说明还停在演示层。你要追问：自动到哪一步，哪个动作需要人审，调用什么工具，失败后如何降级，日志由谁看，业务指标如何复盘。能回答这些问题，才进入部署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课堂追问，约1分钟】可以停下来问：如果数字员工做错了，是模型问题、流程问题、工具问题、权限问题，还是人审规则问题？请学员至少说出四种可能。这个追问能训练他们上线后的问题定位能力，而不是只会换模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【落地提醒，约1分钟】数字员工部署要避免一次性全自动。第一版要围绕低风险高频任务，保留人工确认和日志复盘，先证明流程闭环和价值，再逐步放权。FDE要训练的是渐进式上线能力。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【复盘动作，约1分钟】讲完这一页后，让学员用一句客户现场语言复述。例如：“我们不是先做一个全自动Agent，而是先把这条销售线索流程拆清楚，定义工具权限和人审节点，在试点团队里跑出可复盘结果。”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收束，约30秒】所以这一页最后要带走的不是“工作坊”这个标签，而是一个动作：下次客户说“我们要做AI员工”时，你要继续问它负责哪个岗位、走哪条流程、调用哪些工具、谁审批、如何回写、怎么验收。下一章会把数字员工部署推进到企业系统集成、数据闭环和运营增长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互动问题：请每组展示一条正常题、一条异常题、一条越权题和一条工具失败题。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过渡语：下一章会把数字员工部署推进到企业系统集成、数据闭环和运营增长。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本页目的：FDE真正的价值，是让企业AI在真实流程里安全、可控、可复盘地工作。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师逐字稿：【开场，约40秒】各位看这一页，标题是“从上下文工程到数字员工交付”。这一页要训练的不是记住一个Agent术语，而是让FDE在企业现场能判断：一个数字员工要进入真实流程，必须具备哪些角色、工具、权限、审批、日志和复盘机制。请先记住本页核心句：FDE真正的价值，是让企业AI在真实流程里安全、可控、可复盘地工作。接下来我会把它落到流程、工具、人机协作、安全和上线验收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概念展开，约1分30秒】屏幕上的关键词是：可执行；可控；可验收；可运营。讲这些词时，不要像念清单一样念过去。FDE要把每个词翻译成部署动作：谁触发，AI先判断什么，调用哪个工具，哪些动作必须人审，结果写回哪里，失败怎么降级，日志如何追踪。只有这样，学员才会理解数字员工不是聊天框，而是受控工作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为什么这样讲，约1分30秒】上线验收是本章真正的落点。学员必须把数字员工从Demo推进到Sandbox、Pilot、Production和Operate。只会演示不合格，能交出部署蓝图、测试集、灰度计划、运营看板和事故预案，才具备FDE交付能力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怎么讲，约2分钟】这里要把“AI助手”拉回岗位语言。岗位不是功能集合，而是服务对象、工作范围、输入输出、协作关系和绩效指标。比如销售线索数字员工，不是“帮销售聊天”，而是服务销售团队，处理线索进入后的画像补全、优先级判断、跟进草稿、CRM回写和主管复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概念加深，约1分钟】验收测试集是数字员工上线的保险丝。没有测试集，工具升级或Prompt改动后不知道是否破坏旧能力；没有异常题，系统只在演示条件下看起来稳定；没有工具失败题，生产事故上线后才暴露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【常见误区，约1分钟】工作坊不是交漂亮图，而是交能进入试点的部署包。讲师要检查材料是否围绕一个数字员工岗位，是否包含工具说明、护栏规则、灰度计划和运营看板。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延伸背景，约1分钟】企业AI从个人工具走向数字员工时，最容易被低估的是行动责任。个人用AI写错一段文字，可以自己修改；数字员工如果写错CRM、发错客户消息、提交错误审批，就会影响真实业务。因此第4章必须把工具、权限、审批、日志和回滚讲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讲师内心判断，约1分钟】如果学员只说“Agent会自动处理”，说明还停在演示层。你要追问：自动到哪一步，哪个动作需要人审，调用什么工具，失败后如何降级，日志由谁看，业务指标如何复盘。能回答这些问题，才进入部署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课堂追问，约1分钟】可以停下来问：如果数字员工做错了，是模型问题、流程问题、工具问题、权限问题，还是人审规则问题？请学员至少说出四种可能。这个追问能训练他们上线后的问题定位能力，而不是只会换模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收束，约30秒】所以这一页最后要带走的不是“本章收束”这个标签，而是一个动作：下次客户说“我们要做AI员工”时，你要继续问它负责哪个岗位、走哪条流程、调用哪些工具、谁审批、如何回写、怎么验收。下一章会把数字员工部署推进到企业系统集成、数据闭环和运营增长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互动问题：请每组展示一条正常题、一条异常题、一条越权题和一条工具失败题。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过渡语：下一章会把数字员工部署推进到企业系统集成、数据闭环和运营增长。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60919a2e4a546c8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5bde2f3fdf114a67" /><Relationship Type="http://schemas.openxmlformats.org/officeDocument/2006/relationships/slideLayout" Target="/ppt/slideLayouts/slideLayout2.xml" Id="Ra36fda5ad8264fd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36fda5ad8264fd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c73a436d0da40ab" /><Relationship Type="http://schemas.openxmlformats.org/officeDocument/2006/relationships/notesSlide" Target="/ppt/notesSlides/notesSlide1.xml" Id="R446d597eeb85458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5432d2522274e7c" /><Relationship Type="http://schemas.openxmlformats.org/officeDocument/2006/relationships/notesSlide" Target="/ppt/notesSlides/notesSlide2.xml" Id="R2b95abbe0ca6446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5a487b920c64520" /><Relationship Type="http://schemas.openxmlformats.org/officeDocument/2006/relationships/notesSlide" Target="/ppt/notesSlides/notesSlide3.xml" Id="Re71052ebca964ca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ed3f1a3b63b4a30" /><Relationship Type="http://schemas.openxmlformats.org/officeDocument/2006/relationships/notesSlide" Target="/ppt/notesSlides/notesSlide4.xml" Id="Rbca00c156c854e8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819b1517e19402b" /><Relationship Type="http://schemas.openxmlformats.org/officeDocument/2006/relationships/notesSlide" Target="/ppt/notesSlides/notesSlide5.xml" Id="R1052bb96585f45c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929738ba64b420c" /><Relationship Type="http://schemas.openxmlformats.org/officeDocument/2006/relationships/notesSlide" Target="/ppt/notesSlides/notesSlide6.xml" Id="R87a31692be874b0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7686a8262ed4e41" /><Relationship Type="http://schemas.openxmlformats.org/officeDocument/2006/relationships/notesSlide" Target="/ppt/notesSlides/notesSlide7.xml" Id="R7dbddd6098cf403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921b7021333401f" /><Relationship Type="http://schemas.openxmlformats.org/officeDocument/2006/relationships/notesSlide" Target="/ppt/notesSlides/notesSlide8.xml" Id="Rdd7dd7770da94b0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ebeae4dd1df425a" /><Relationship Type="http://schemas.openxmlformats.org/officeDocument/2006/relationships/notesSlide" Target="/ppt/notesSlides/notesSlide9.xml" Id="Redbcf023d16c4e7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233d6b780e04161" /><Relationship Type="http://schemas.openxmlformats.org/officeDocument/2006/relationships/notesSlide" Target="/ppt/notesSlides/notesSlide10.xml" Id="R978706cdeb10433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2a3c7bf6c8d49b6" /><Relationship Type="http://schemas.openxmlformats.org/officeDocument/2006/relationships/notesSlide" Target="/ppt/notesSlides/notesSlide11.xml" Id="Re9f36d5ffc864b7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5677d1d261743ac" /><Relationship Type="http://schemas.openxmlformats.org/officeDocument/2006/relationships/notesSlide" Target="/ppt/notesSlides/notesSlide12.xml" Id="R72bf90677feb4bed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737c15ae0ea454b" /><Relationship Type="http://schemas.openxmlformats.org/officeDocument/2006/relationships/notesSlide" Target="/ppt/notesSlides/notesSlide13.xml" Id="R733affa19b9c48fe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dd954b3c4814ad5" /><Relationship Type="http://schemas.openxmlformats.org/officeDocument/2006/relationships/notesSlide" Target="/ppt/notesSlides/notesSlide14.xml" Id="Rccfb6c7621e840f7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74f14b89a2b4dc6" /><Relationship Type="http://schemas.openxmlformats.org/officeDocument/2006/relationships/notesSlide" Target="/ppt/notesSlides/notesSlide15.xml" Id="Ra77d94cae2ff498c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4358d9c94004fa0" /><Relationship Type="http://schemas.openxmlformats.org/officeDocument/2006/relationships/notesSlide" Target="/ppt/notesSlides/notesSlide16.xml" Id="R574afdaee3894ec5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2d220cee3db4a6e" /><Relationship Type="http://schemas.openxmlformats.org/officeDocument/2006/relationships/notesSlide" Target="/ppt/notesSlides/notesSlide17.xml" Id="R77b7aa220ae5462f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6ea99a2b2424d16" /><Relationship Type="http://schemas.openxmlformats.org/officeDocument/2006/relationships/notesSlide" Target="/ppt/notesSlides/notesSlide18.xml" Id="R18afade65dc340d9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0c3a8036e4e44d0" /><Relationship Type="http://schemas.openxmlformats.org/officeDocument/2006/relationships/notesSlide" Target="/ppt/notesSlides/notesSlide19.xml" Id="Rfab0059b552b4beb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9b0a5e2d1a74fc1" /><Relationship Type="http://schemas.openxmlformats.org/officeDocument/2006/relationships/notesSlide" Target="/ppt/notesSlides/notesSlide20.xml" Id="Rbe9b7bdfe4cb4bf2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55f6ade204d41cb" /><Relationship Type="http://schemas.openxmlformats.org/officeDocument/2006/relationships/notesSlide" Target="/ppt/notesSlides/notesSlide21.xml" Id="R0efed0e968744529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8ab9227c2604534" /><Relationship Type="http://schemas.openxmlformats.org/officeDocument/2006/relationships/notesSlide" Target="/ppt/notesSlides/notesSlide22.xml" Id="Ra3c57bb7d896483c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cb1b3b1c2e64b6f" /><Relationship Type="http://schemas.openxmlformats.org/officeDocument/2006/relationships/notesSlide" Target="/ppt/notesSlides/notesSlide23.xml" Id="Rf429ecc7355c4a71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97ccd6fae29451b" /><Relationship Type="http://schemas.openxmlformats.org/officeDocument/2006/relationships/notesSlide" Target="/ppt/notesSlides/notesSlide24.xml" Id="Rf1dcff1a00a54501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b46fb43c42d4461" /><Relationship Type="http://schemas.openxmlformats.org/officeDocument/2006/relationships/notesSlide" Target="/ppt/notesSlides/notesSlide25.xml" Id="R077f03f19cf94e91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57108ba06ee4f37" /><Relationship Type="http://schemas.openxmlformats.org/officeDocument/2006/relationships/notesSlide" Target="/ppt/notesSlides/notesSlide26.xml" Id="R605e1ca6244f41a3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acad067c18a4d44" /><Relationship Type="http://schemas.openxmlformats.org/officeDocument/2006/relationships/notesSlide" Target="/ppt/notesSlides/notesSlide27.xml" Id="R73f875fb564d4369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e2f012c79e4442e" /><Relationship Type="http://schemas.openxmlformats.org/officeDocument/2006/relationships/notesSlide" Target="/ppt/notesSlides/notesSlide28.xml" Id="Rbd8121e84d754242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ecbeb3d19a54e35" /><Relationship Type="http://schemas.openxmlformats.org/officeDocument/2006/relationships/notesSlide" Target="/ppt/notesSlides/notesSlide29.xml" Id="Rb7e6e72edc6e42a5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c810813c90c4c27" /><Relationship Type="http://schemas.openxmlformats.org/officeDocument/2006/relationships/notesSlide" Target="/ppt/notesSlides/notesSlide30.xml" Id="Rd7ca302005bb43ed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9ff5437b8894ad2" /><Relationship Type="http://schemas.openxmlformats.org/officeDocument/2006/relationships/notesSlide" Target="/ppt/notesSlides/notesSlide31.xml" Id="Rbcb5e7fc2b8c4659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cbafb1f8ed2481b" /><Relationship Type="http://schemas.openxmlformats.org/officeDocument/2006/relationships/notesSlide" Target="/ppt/notesSlides/notesSlide32.xml" Id="R63447d1e8824414b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37854421e544600" /><Relationship Type="http://schemas.openxmlformats.org/officeDocument/2006/relationships/notesSlide" Target="/ppt/notesSlides/notesSlide33.xml" Id="Reffb1b44d7764bb3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71b0f9ba8694a50" /><Relationship Type="http://schemas.openxmlformats.org/officeDocument/2006/relationships/notesSlide" Target="/ppt/notesSlides/notesSlide34.xml" Id="R5a284688b0414cb8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139d4b84ae94454" /><Relationship Type="http://schemas.openxmlformats.org/officeDocument/2006/relationships/notesSlide" Target="/ppt/notesSlides/notesSlide35.xml" Id="Rb02f1831588c449e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3d621414fe84d67" /><Relationship Type="http://schemas.openxmlformats.org/officeDocument/2006/relationships/notesSlide" Target="/ppt/notesSlides/notesSlide36.xml" Id="R44c95ed3031341f3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0945b096e3b4e5d" /><Relationship Type="http://schemas.openxmlformats.org/officeDocument/2006/relationships/notesSlide" Target="/ppt/notesSlides/notesSlide37.xml" Id="Rb6988f943e944e84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990039c2e1e4d67" /><Relationship Type="http://schemas.openxmlformats.org/officeDocument/2006/relationships/notesSlide" Target="/ppt/notesSlides/notesSlide38.xml" Id="Rfba7dcd3a2df4b3d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90d9f26e5884fe5" /><Relationship Type="http://schemas.openxmlformats.org/officeDocument/2006/relationships/notesSlide" Target="/ppt/notesSlides/notesSlide39.xml" Id="R69e7b20c20b24c52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b36c855486446dc" /><Relationship Type="http://schemas.openxmlformats.org/officeDocument/2006/relationships/notesSlide" Target="/ppt/notesSlides/notesSlide40.xml" Id="Rbcd71815f554482e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a92977479e04372" /><Relationship Type="http://schemas.openxmlformats.org/officeDocument/2006/relationships/notesSlide" Target="/ppt/notesSlides/notesSlide41.xml" Id="R18836f106c474f55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fa5f9cc24604f1e" /><Relationship Type="http://schemas.openxmlformats.org/officeDocument/2006/relationships/notesSlide" Target="/ppt/notesSlides/notesSlide42.xml" Id="R088974cc090e4256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4843bca0a484899" /><Relationship Type="http://schemas.openxmlformats.org/officeDocument/2006/relationships/notesSlide" Target="/ppt/notesSlides/notesSlide43.xml" Id="R8e8da4895a444674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367a3696dbb455f" /><Relationship Type="http://schemas.openxmlformats.org/officeDocument/2006/relationships/notesSlide" Target="/ppt/notesSlides/notesSlide44.xml" Id="R046afd2fc792493e" /></Relationships>
</file>

<file path=ppt/slides/_rels/slide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9094f96a62e448a" /><Relationship Type="http://schemas.openxmlformats.org/officeDocument/2006/relationships/notesSlide" Target="/ppt/notesSlides/notesSlide45.xml" Id="Rd4cc6808c812486e" /></Relationships>
</file>

<file path=ppt/slides/_rels/slide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06551e5165241a3" /><Relationship Type="http://schemas.openxmlformats.org/officeDocument/2006/relationships/notesSlide" Target="/ppt/notesSlides/notesSlide46.xml" Id="R033f38072d934706" /></Relationships>
</file>

<file path=ppt/slides/_rels/slide4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f0bb6c28d7e4eae" /><Relationship Type="http://schemas.openxmlformats.org/officeDocument/2006/relationships/notesSlide" Target="/ppt/notesSlides/notesSlide47.xml" Id="R681f866d088a42fa" /></Relationships>
</file>

<file path=ppt/slides/_rels/slide4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f6c354ac567405a" /><Relationship Type="http://schemas.openxmlformats.org/officeDocument/2006/relationships/notesSlide" Target="/ppt/notesSlides/notesSlide48.xml" Id="Rc4159c61465a4871" /></Relationships>
</file>

<file path=ppt/slides/_rels/slide4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e7e68216bfc4535" /><Relationship Type="http://schemas.openxmlformats.org/officeDocument/2006/relationships/notesSlide" Target="/ppt/notesSlides/notesSlide49.xml" Id="R23ebe7a4d8fc478d" /></Relationships>
</file>

<file path=ppt/slides/_rels/slide5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84f97ceb8e8415b" /><Relationship Type="http://schemas.openxmlformats.org/officeDocument/2006/relationships/notesSlide" Target="/ppt/notesSlides/notesSlide50.xml" Id="Rcfc857bd852b43b2" /></Relationships>
</file>

<file path=ppt/slides/_rels/slide5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75fe26d444149b6" /><Relationship Type="http://schemas.openxmlformats.org/officeDocument/2006/relationships/notesSlide" Target="/ppt/notesSlides/notesSlide51.xml" Id="Redc3acbeb7b14aeb" /></Relationships>
</file>

<file path=ppt/slides/_rels/slide5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1933928a35c4211" /><Relationship Type="http://schemas.openxmlformats.org/officeDocument/2006/relationships/notesSlide" Target="/ppt/notesSlides/notesSlide52.xml" Id="R1f30106fcb22468f" /></Relationships>
</file>

<file path=ppt/slides/_rels/slide5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1e86c0956e24fad" /><Relationship Type="http://schemas.openxmlformats.org/officeDocument/2006/relationships/notesSlide" Target="/ppt/notesSlides/notesSlide53.xml" Id="R78f25bb31bab47c0" /></Relationships>
</file>

<file path=ppt/slides/_rels/slide5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ad64dc3f8d64dd4" /><Relationship Type="http://schemas.openxmlformats.org/officeDocument/2006/relationships/notesSlide" Target="/ppt/notesSlides/notesSlide54.xml" Id="R02a2d12e27ae4fef" /></Relationships>
</file>

<file path=ppt/slides/_rels/slide5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fc8d48d11bd47b7" /><Relationship Type="http://schemas.openxmlformats.org/officeDocument/2006/relationships/notesSlide" Target="/ppt/notesSlides/notesSlide55.xml" Id="R86f2765fce1d44d4" /></Relationships>
</file>

<file path=ppt/slides/_rels/slide5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7c5884769304581" /><Relationship Type="http://schemas.openxmlformats.org/officeDocument/2006/relationships/notesSlide" Target="/ppt/notesSlides/notesSlide56.xml" Id="R861891eb64e0437f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4A9D726-A143-47DB-9BBA-CA925EEF2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0">
            <a:solidFill>
              <a:srgbClr val="0B1220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84760D-82CB-4AF9-B505-34E6D864B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184DFB-C849-46CD-A977-21032FD5A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23900"/>
            <a:ext cx="914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115B7D-BE02-4A44-B23A-B635607AB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7750"/>
            <a:ext cx="2286000" cy="285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88235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Chapter 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9CFE53-5EA4-412B-B8AA-1D210549E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7239000" cy="12573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Agent流程设计与数字员工部署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34170D-28A4-4F44-9F7B-E320C5B3F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19450"/>
            <a:ext cx="6762750" cy="6858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DCE4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DCE4EE"/>
                </a:solidFill>
                <a:latin typeface="Microsoft YaHei"/>
                <a:ea typeface="Microsoft YaHei"/>
                <a:cs typeface="Microsoft YaHei"/>
              </a:rPr>
              <a:t>承接上下文工程，把知识包、工具、审批和日志接成企业可试点的数字员工。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74FEEE-F386-439F-A345-7EB6F5504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143000"/>
            <a:ext cx="2381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8000"/>
            </a:srgbClr>
          </a:solidFill>
          <a:ln xmlns:a="http://schemas.openxmlformats.org/drawingml/2006/main" w="9525">
            <a:solidFill>
              <a:srgbClr val="3B4658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623F67-BDA2-40D9-8ADE-7EE10D733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1276350"/>
            <a:ext cx="2038350" cy="2476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58333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角色契约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9586D6-53E8-46E9-B959-C97009A52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924050"/>
            <a:ext cx="2381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8000"/>
            </a:srgbClr>
          </a:solidFill>
          <a:ln xmlns:a="http://schemas.openxmlformats.org/drawingml/2006/main" w="9525">
            <a:solidFill>
              <a:srgbClr val="3B4658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774F7F7-8963-498F-B312-7AFDD1A99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057400"/>
            <a:ext cx="2038350" cy="2476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58333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流程蓝图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950803E-5249-4602-9969-EDB07F100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705100"/>
            <a:ext cx="2381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8000"/>
            </a:srgbClr>
          </a:solidFill>
          <a:ln xmlns:a="http://schemas.openxmlformats.org/drawingml/2006/main" w="9525">
            <a:solidFill>
              <a:srgbClr val="3B4658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DED1D66-51E1-4466-8191-56C278EAA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838450"/>
            <a:ext cx="2038350" cy="2476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58333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工具权限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ECFB169-7CC6-49EB-B884-E68CD88D2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486150"/>
            <a:ext cx="2381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8000"/>
            </a:srgbClr>
          </a:solidFill>
          <a:ln xmlns:a="http://schemas.openxmlformats.org/drawingml/2006/main" w="9525">
            <a:solidFill>
              <a:srgbClr val="3B4658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8F247A2-3634-4A9F-9667-3310FC7AA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619500"/>
            <a:ext cx="2038350" cy="2476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58333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人机协作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7DB6201-B6ED-4765-9679-55F2C3F1C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267200"/>
            <a:ext cx="2381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8000"/>
            </a:srgbClr>
          </a:solidFill>
          <a:ln xmlns:a="http://schemas.openxmlformats.org/drawingml/2006/main" w="9525">
            <a:solidFill>
              <a:srgbClr val="3B4658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8439D1A-C61D-4A9F-9438-CC370DEA4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400550"/>
            <a:ext cx="2038350" cy="2476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58333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编排模式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CB8B978-4784-45D8-801E-E2033F0F6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5048250"/>
            <a:ext cx="2381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8000"/>
            </a:srgbClr>
          </a:solidFill>
          <a:ln xmlns:a="http://schemas.openxmlformats.org/drawingml/2006/main" w="9525">
            <a:solidFill>
              <a:srgbClr val="3B4658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67C2384-F39A-4ACC-BCB3-7003DCD90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5181600"/>
            <a:ext cx="2038350" cy="2476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58333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灰度上线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AA64419-6398-4942-8F59-599F92299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81700"/>
            <a:ext cx="49530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7407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课程课本 + 逐页讲师稿 + 商务大字号PPT</a:t>
            </a:r>
          </a:p>
        </p:txBody>
      </p:sp>
    </p:spTree>
    <p:extLst>
      <p:ext uri="{BB962C8B-B14F-4D97-AF65-F5344CB8AC3E}">
        <p14:creationId xmlns:p14="http://schemas.microsoft.com/office/powerpoint/2010/main" val="1365153717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C3075F3-F94F-4297-9181-0106C9274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solidFill>
              <a:srgbClr val="FAFBFC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B28DE2-21D7-4A28-8E7E-6F4655F95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4AB7BE-8443-4DBE-BB25-70AEF1E38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F53EFB-2E68-41CA-AB69-B1C8E8362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20955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本章地图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FFFFB7-DE2A-485A-B522-F5079DC49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8572500" cy="7620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8课时学习路径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676CDA-6AEB-44E5-A349-C50351AD3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62100"/>
            <a:ext cx="8763000" cy="4572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本章训练FDE把AI从“会回答”推进到“能受控执行”。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2C3ED7-1C98-4E5A-AF85-E97517700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514350"/>
            <a:ext cx="81915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B4CAB1-D145-4C75-891D-16AB1F892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30480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WEI SPACE FDE TRAINING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C80CECD-26B5-47C1-BEA9-91499E282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6534150"/>
            <a:ext cx="18288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开场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2111327-C546-4214-A2BB-96B0D005C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47900"/>
            <a:ext cx="381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2B19CDB-A26B-4D6C-8CA5-57D74140E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14575"/>
            <a:ext cx="38100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38461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E1D5CFE-A21B-431E-B7A4-286E7A6C7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247900"/>
            <a:ext cx="9334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0">
            <a:solidFill>
              <a:srgbClr val="F4F7FA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F4B01C6-A17B-44F9-9823-723976FE3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305050"/>
            <a:ext cx="897255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39216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部署契约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188121B-80F5-48E6-B1B2-9F3B1253D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05100"/>
            <a:ext cx="381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solidFill>
              <a:srgbClr val="1D4ED8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C80FA93-7678-4571-BF0E-5007A19D8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71775"/>
            <a:ext cx="38100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38461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1AB7DEC-A2F5-4262-AA2B-BB8EDBF2E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705100"/>
            <a:ext cx="9334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4F7FA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C57464A-89BF-4AA6-B7A9-4BD8EA3C1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762250"/>
            <a:ext cx="897255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39216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Agent心法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EA34889-D19B-4D82-B58E-EC45A12DF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62300"/>
            <a:ext cx="381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solidFill>
              <a:srgbClr val="B45309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5FA1E68-7414-46E7-951D-7F09FDC6C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28975"/>
            <a:ext cx="38100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38461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7A2C5B9-7AE8-4C81-AEB0-59A6FEB3C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162300"/>
            <a:ext cx="9334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0">
            <a:solidFill>
              <a:srgbClr val="F4F7FA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5358F9D-F158-49BB-9717-0C8691BBD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219450"/>
            <a:ext cx="897255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39216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流程蓝图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5E08A20-3FAE-4605-B7FA-DC6292D3E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19500"/>
            <a:ext cx="381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6534"/>
          </a:solidFill>
          <a:ln xmlns:a="http://schemas.openxmlformats.org/drawingml/2006/main" w="0">
            <a:solidFill>
              <a:srgbClr val="166534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51108CB-E98B-433A-B2EF-F1C6DCB24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86175"/>
            <a:ext cx="38100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38461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5890E40-33CC-4DA1-9219-4B68CAABF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619500"/>
            <a:ext cx="9334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4F7FA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B87B538-E8AE-469F-B713-652886D17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676650"/>
            <a:ext cx="897255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39216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工具权限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4DD0F74-437B-4F74-8E24-8EC1B3BF5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76700"/>
            <a:ext cx="381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1C1C"/>
          </a:solidFill>
          <a:ln xmlns:a="http://schemas.openxmlformats.org/drawingml/2006/main" w="0">
            <a:solidFill>
              <a:srgbClr val="B91C1C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3C45D90-70E8-400D-BFA9-E721330FC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43375"/>
            <a:ext cx="38100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38461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84E86AC-21D7-472D-A53A-9305646B4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076700"/>
            <a:ext cx="9334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0">
            <a:solidFill>
              <a:srgbClr val="F4F7FA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AFDBF94-82A8-4492-B97E-F29EBF27D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133850"/>
            <a:ext cx="897255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39216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人机护栏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F5F3D6A-0051-4B83-A6A4-DF120C6F4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33900"/>
            <a:ext cx="381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28D9"/>
          </a:solidFill>
          <a:ln xmlns:a="http://schemas.openxmlformats.org/drawingml/2006/main" w="0">
            <a:solidFill>
              <a:srgbClr val="6D28D9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4277EF0-8C39-4F17-B4CE-37442E5FE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00575"/>
            <a:ext cx="38100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38461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AA37432-463E-44C4-8C0E-6C8C3D300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533900"/>
            <a:ext cx="9334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4F7FA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20A8CD8-9B80-4269-8DDD-6AF4F292D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591050"/>
            <a:ext cx="897255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39216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编排协作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7AEA7FB-64B5-4690-89A7-0872140B7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91100"/>
            <a:ext cx="381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D1361F1-C550-417A-9E76-5C8C403F9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057775"/>
            <a:ext cx="38100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38461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7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719A929-AA1A-458D-873C-EAF0DD29B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991100"/>
            <a:ext cx="9334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0">
            <a:solidFill>
              <a:srgbClr val="F4F7FA"/>
            </a:solidFill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056FA06-95A9-4291-AEED-51B53076E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5048250"/>
            <a:ext cx="897255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39216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平台实践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12888A1-20BC-4C47-AF5C-D1DFF3BF5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448300"/>
            <a:ext cx="381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solidFill>
              <a:srgbClr val="1D4ED8"/>
            </a:solidFill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734FAB0-B57B-4486-917A-561C8ABC8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14975"/>
            <a:ext cx="38100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38461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8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E0712AC-6AC8-4331-955B-508E9FF8D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448300"/>
            <a:ext cx="9334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4F7FA"/>
            </a:solidFill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B0431F1-4D29-493D-BE8B-E3F4B31B3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5505450"/>
            <a:ext cx="897255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39216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上线验收</a:t>
            </a:r>
          </a:p>
        </p:txBody>
      </p:sp>
    </p:spTree>
    <p:extLst>
      <p:ext uri="{BB962C8B-B14F-4D97-AF65-F5344CB8AC3E}">
        <p14:creationId xmlns:p14="http://schemas.microsoft.com/office/powerpoint/2010/main" val="1347716664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13F80D9-FA4C-45E6-8D49-DD8F27676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solidFill>
              <a:srgbClr val="FAFBFC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840299-E9DE-4B40-B32A-8882F0D3D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B61A9E-0FE6-4AEB-A2FC-0445A5CBC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1AAE58-23CE-481E-B840-3A30635D3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20955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承接第3章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1419BA-807E-4D23-B24A-3F1333276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8572500" cy="7620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从上下文包到数字员工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33DDED-13FC-4F21-BC69-2B58F87C7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62100"/>
            <a:ext cx="8763000" cy="4572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第3章解决AI知道什么，第4章解决AI在流程里怎么行动。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93F933-4898-4ACA-B944-7C54C5FBB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514350"/>
            <a:ext cx="81915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C53796D-6EE1-4425-A111-6FF13E10A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30480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WEI SPACE FDE TRAINING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66E8278-404C-4D3A-BE5F-6E06748E0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6534150"/>
            <a:ext cx="18288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开场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1800184-C361-4B60-A6C3-74607CD4F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43250"/>
            <a:ext cx="1587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4F1"/>
          </a:solidFill>
          <a:ln xmlns:a="http://schemas.openxmlformats.org/drawingml/2006/main" w="10478">
            <a:solidFill>
              <a:srgbClr val="0F766E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447310A-2721-4FC1-9F85-450C029D7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381375"/>
            <a:ext cx="135890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上下文包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BE1C4A5-0E04-4777-B178-FBB7C79D0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5700" y="3409950"/>
            <a:ext cx="171450" cy="285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3CC28E9-FC3A-4AC8-B875-E8995EE89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6200" y="3143250"/>
            <a:ext cx="1587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F"/>
          </a:solidFill>
          <a:ln xmlns:a="http://schemas.openxmlformats.org/drawingml/2006/main" w="10478">
            <a:solidFill>
              <a:srgbClr val="1D4ED8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C2243C0-5905-41E4-B0D4-E75CBBA6D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0500" y="3381375"/>
            <a:ext cx="135890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任务目标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8005369-2E3A-4181-AC42-3CA516DC5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2750" y="3409950"/>
            <a:ext cx="171450" cy="285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6A47EFC-7481-4202-99AA-97A300A42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3143250"/>
            <a:ext cx="1587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E5"/>
          </a:solidFill>
          <a:ln xmlns:a="http://schemas.openxmlformats.org/drawingml/2006/main" w="10478">
            <a:solidFill>
              <a:srgbClr val="B45309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EB491A4-C23C-4BD5-8702-85F65752A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7550" y="3381375"/>
            <a:ext cx="135890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工具清单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3ED4280-AA71-4061-ABFA-8B55C3DD9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409950"/>
            <a:ext cx="171450" cy="285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1E74AF5-81C3-43FE-BA83-E68D96B29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143250"/>
            <a:ext cx="1587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7ED"/>
          </a:solidFill>
          <a:ln xmlns:a="http://schemas.openxmlformats.org/drawingml/2006/main" w="10478">
            <a:solidFill>
              <a:srgbClr val="166534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BE00591-8A4F-4F89-8080-329D1D680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381375"/>
            <a:ext cx="135890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审批边界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9EC2024-C033-4828-9816-EDB6A0E50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6850" y="3409950"/>
            <a:ext cx="171450" cy="285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335CB99-CBC3-4B90-9705-6FE70941B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7350" y="3143250"/>
            <a:ext cx="1587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CEC"/>
          </a:solidFill>
          <a:ln xmlns:a="http://schemas.openxmlformats.org/drawingml/2006/main" w="10478">
            <a:solidFill>
              <a:srgbClr val="B91C1C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41C139C-B433-4E2F-8473-158EBBF79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1650" y="3381375"/>
            <a:ext cx="135890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执行日志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0CE5941-740E-4F3D-B494-EDA86885F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3900" y="3409950"/>
            <a:ext cx="171450" cy="285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732FD7D-01DE-4C27-86B9-8D889DB5F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4400" y="3143250"/>
            <a:ext cx="1587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DFF"/>
          </a:solidFill>
          <a:ln xmlns:a="http://schemas.openxmlformats.org/drawingml/2006/main" w="10478">
            <a:solidFill>
              <a:srgbClr val="6D28D9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0331656-89AC-4A91-A553-0307F6FAB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8700" y="3381375"/>
            <a:ext cx="135890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运营指标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80D8431-45B4-4916-B9EF-E7C86B55B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953000"/>
            <a:ext cx="86868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0">
            <a:solidFill>
              <a:srgbClr val="F4F7FA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2134B31-F17B-433B-81A8-CD93D4C7F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5086350"/>
            <a:ext cx="842010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5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FDE判断：是否有清晰输入、上下文、工具、输出和复盘指标。</a:t>
            </a:r>
          </a:p>
        </p:txBody>
      </p:sp>
    </p:spTree>
    <p:extLst>
      <p:ext uri="{BB962C8B-B14F-4D97-AF65-F5344CB8AC3E}">
        <p14:creationId xmlns:p14="http://schemas.microsoft.com/office/powerpoint/2010/main" val="1164288648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3DCC32E-EE34-4916-9F89-4A41A4D0F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solidFill>
              <a:srgbClr val="FAFBFC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C39F6D-8AC9-4688-9CB8-7E1A527FA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EFED04-18DA-449B-86A8-C820B616B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A4FC16-5F57-4F2B-A0EA-EF4FA24A5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20955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失败案例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F8CDF6-453A-44F6-B0F3-CDD166786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8572500" cy="7620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为什么很多Agent试点停在Demo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8103D0-DC27-4893-A31C-6B9423CA2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62100"/>
            <a:ext cx="8763000" cy="4572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Agent失败通常不是模型不会，而是流程、工具、权限、异常和责任没有设计清楚。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29F0D4-39F6-4D20-A57F-376E48F34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514350"/>
            <a:ext cx="81915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1354F81-7B7F-4193-BD1C-276DB4BC7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30480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WEI SPACE FDE TRAINING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6636D5-635E-40DB-A65B-56180ECE1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6534150"/>
            <a:ext cx="18288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开场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86B20D-7B84-41B9-89E0-B38A58B9E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05050"/>
            <a:ext cx="3048000" cy="285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25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现场事实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3E64ABF-8F70-41A0-BFFF-2FE101229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305050"/>
            <a:ext cx="3048000" cy="285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25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诊断含义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92FD763-CCA3-44D6-8A58-F4F89B0DA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19400"/>
            <a:ext cx="48768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4F1"/>
          </a:solidFill>
          <a:ln xmlns:a="http://schemas.openxmlformats.org/drawingml/2006/main" w="9525">
            <a:solidFill>
              <a:srgbClr val="D7DEE8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73F476E-3E82-4CF2-B817-67D7EA8B8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971800"/>
            <a:ext cx="4457700" cy="2476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1403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只会对话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469CE8D-A4A5-4FE9-8A41-B85CAB06E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00450"/>
            <a:ext cx="48768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solidFill>
              <a:srgbClr val="D7DEE8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ABA019C-7407-4079-B2BD-9812F7F43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752850"/>
            <a:ext cx="4457700" cy="2476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1403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不能写回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0841A89-4C63-4C40-88DD-879ABFC05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81500"/>
            <a:ext cx="48768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E5"/>
          </a:solidFill>
          <a:ln xmlns:a="http://schemas.openxmlformats.org/drawingml/2006/main" w="9525">
            <a:solidFill>
              <a:srgbClr val="D7DEE8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AAE84B7-D243-40E4-A152-24FA89DB3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533900"/>
            <a:ext cx="4457700" cy="2476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1403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权限越界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95C12F9-B3D7-4EB8-8C8C-75A6B6B92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819400"/>
            <a:ext cx="48196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078A687-31CA-43EE-9EFB-AD04B1919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971800"/>
            <a:ext cx="4400550" cy="2476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1403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异常无人接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1A61522-CBE5-47F4-9510-D61A2A27F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600450"/>
            <a:ext cx="48196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D0D4932-697C-4516-950A-19DCF98FD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752850"/>
            <a:ext cx="4400550" cy="2476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1403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日志缺失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85DFF8C-B708-4413-929D-28B06E3A6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381500"/>
            <a:ext cx="48196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16BACE8-8805-4472-93D8-00F1C3412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533900"/>
            <a:ext cx="4400550" cy="2476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1403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业务不敢用</a:t>
            </a:r>
          </a:p>
        </p:txBody>
      </p:sp>
    </p:spTree>
    <p:extLst>
      <p:ext uri="{BB962C8B-B14F-4D97-AF65-F5344CB8AC3E}">
        <p14:creationId xmlns:p14="http://schemas.microsoft.com/office/powerpoint/2010/main" val="894532928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5D9B203-1C9C-4985-BB84-3C8C5F8D4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solidFill>
              <a:srgbClr val="FAFBFC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194248-364E-483D-94D6-3FFEA641F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B9C126-5EE2-4AE3-8A5A-2DED185D1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07F276-F5DE-4224-B56A-0935A6F08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20955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本章核心句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B6360D-8A5B-4AB0-92CF-18902B9D4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8572500" cy="7620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数字员工不是聊天框，而是受控工作流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AEB46F-1B5D-466B-8BFB-B9AAC41EC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62100"/>
            <a:ext cx="8763000" cy="4572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能行动的AI必须有角色、上下文、工具、边界、接管、日志和复盘。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797D42-E322-4786-8C76-309BD0CA0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514350"/>
            <a:ext cx="81915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C4EEAD-616C-4752-B910-B9830B270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30480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WEI SPACE FDE TRAINING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BF45E4-34FA-4650-B7AD-E1F05B86C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6534150"/>
            <a:ext cx="18288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开场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B99C3B7-A0A7-4E69-9BBE-8DCC0737F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495550"/>
            <a:ext cx="9829800" cy="2076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0">
            <a:solidFill>
              <a:srgbClr val="F4F7FA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615FACB-A017-4D77-BB04-3BF4CF8AB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552700"/>
            <a:ext cx="781050" cy="7429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72368"/>
          </a:bodyPr>
          <a:lstStyle xmlns:a="http://schemas.openxmlformats.org/drawingml/2006/main"/>
          <a:p xmlns:a="http://schemas.openxmlformats.org/drawingml/2006/main">
            <a:pPr algn="ctr">
              <a:defRPr sz="57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7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DA08A65-A788-42E7-A6ED-BFE21A453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857500"/>
            <a:ext cx="7810500" cy="6858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6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数字员工不是聊天框，而是受控工作流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1013280-2415-4E55-A28B-DA5C773F0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752850"/>
            <a:ext cx="7239000" cy="4191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能行动的AI必须有角色、上下文、工具、边界、接管、日志和复盘。</a:t>
            </a:r>
          </a:p>
        </p:txBody>
      </p:sp>
    </p:spTree>
    <p:extLst>
      <p:ext uri="{BB962C8B-B14F-4D97-AF65-F5344CB8AC3E}">
        <p14:creationId xmlns:p14="http://schemas.microsoft.com/office/powerpoint/2010/main" val="1535156054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88BE87E-43A9-4CDA-B242-596F82745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0">
            <a:solidFill>
              <a:srgbClr val="0B1220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B4E9D2-089B-4391-BAD3-9CFE443DC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15D004-0FE4-4A0B-BBE8-D4CE9992B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895350"/>
            <a:ext cx="2095500" cy="285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83333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Part 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4C6D1C-4AA9-4475-B524-5DF346E81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57350"/>
            <a:ext cx="8096250" cy="10668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Agent与数字员工心法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FFBADA-603A-433C-9DFD-C92B0AC57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48000"/>
            <a:ext cx="7334250" cy="6286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D7DEE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D7DEE9"/>
                </a:solidFill>
                <a:latin typeface="Microsoft YaHei"/>
                <a:ea typeface="Microsoft YaHei"/>
                <a:cs typeface="Microsoft YaHei"/>
              </a:rPr>
              <a:t>先把概念边界讲清，再进入流程和工具设计。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89ACF2-60FA-4C27-9138-FDADA9FCE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38700"/>
            <a:ext cx="12763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8000"/>
            </a:srgbClr>
          </a:solidFill>
          <a:ln xmlns:a="http://schemas.openxmlformats.org/drawingml/2006/main" w="9525">
            <a:solidFill>
              <a:srgbClr val="3B4658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72A5ED-CB3F-42E4-97EE-BD68BBCA6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010150"/>
            <a:ext cx="112395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58823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角色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842C7D-3749-4CDA-A930-78E1BE906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4838700"/>
            <a:ext cx="12763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8000"/>
            </a:srgbClr>
          </a:solidFill>
          <a:ln xmlns:a="http://schemas.openxmlformats.org/drawingml/2006/main" w="9525">
            <a:solidFill>
              <a:srgbClr val="3B4658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3753A10-531B-48CF-B288-B9E76175A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5010150"/>
            <a:ext cx="112395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58823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行动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2549232-A125-4B78-A202-6E967A787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838700"/>
            <a:ext cx="12763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8000"/>
            </a:srgbClr>
          </a:solidFill>
          <a:ln xmlns:a="http://schemas.openxmlformats.org/drawingml/2006/main" w="9525">
            <a:solidFill>
              <a:srgbClr val="3B4658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4FBB108-51D8-4889-9938-70EA08832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5010150"/>
            <a:ext cx="112395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58823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责任</a:t>
            </a:r>
          </a:p>
        </p:txBody>
      </p:sp>
    </p:spTree>
    <p:extLst>
      <p:ext uri="{BB962C8B-B14F-4D97-AF65-F5344CB8AC3E}">
        <p14:creationId xmlns:p14="http://schemas.microsoft.com/office/powerpoint/2010/main" val="1666979610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62C258C-9FEE-4F90-8CD0-ACC0294F1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solidFill>
              <a:srgbClr val="FAFBFC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F9E693-5FAF-43CA-B2CE-FBE67099A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6BDCB3-48CB-4597-BA1D-FAD7E4D6B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6333C8-BD8C-4500-8516-7C3F5F837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20955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定义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12ED23-1D95-48A1-A0D2-D6F270256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8572500" cy="7620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聊天机器人、工作流、Agent、数字员工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3C4B3E-B8BB-405C-81E1-484B068A6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62100"/>
            <a:ext cx="8763000" cy="4572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四者不是同义词，差别在行动能力、上下文深度、工具权限和责任边界。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993852-3A3D-4C49-BEAC-425AC60CB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514350"/>
            <a:ext cx="81915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3A78C7-A0A1-4C3F-BB49-D08ABDC33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30480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WEI SPACE FDE TRAINING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BFE543-B28B-4BE5-93DE-0547DBC00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6534150"/>
            <a:ext cx="18288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Agent心法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A6E560-688E-416D-8162-E6EB1A742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81250"/>
            <a:ext cx="34036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7DEE8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A2E4036-9CF1-4112-BBAC-DABF07D8A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81250"/>
            <a:ext cx="76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6D7D4E5-DD12-4328-8F4D-54ACBFC2A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571750"/>
            <a:ext cx="43815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63B037B-F11A-4622-B713-438965E49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552700"/>
            <a:ext cx="2470150" cy="933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聊天机器人：回答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9C0F855-9545-4259-8D08-F257FCF9F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4200" y="2381250"/>
            <a:ext cx="34036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7DEE8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A429420-59EA-4186-A866-F5FAA1A07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4200" y="2381250"/>
            <a:ext cx="76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solidFill>
              <a:srgbClr val="1D4ED8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6C1C68B-7A78-4AEF-86CA-12A2EE312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2800" y="2571750"/>
            <a:ext cx="43815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61323E6-944E-4BA9-9078-5655FCEFA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7150" y="2552700"/>
            <a:ext cx="2470150" cy="933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工作流：固定步骤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0517E7C-788B-4BCB-8DFD-60824B4CC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7350" y="2381250"/>
            <a:ext cx="34036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7DEE8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37C66C8-BAEB-4853-8C70-CB8F5A950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7350" y="2381250"/>
            <a:ext cx="76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solidFill>
              <a:srgbClr val="B45309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DE6557C-0E01-4CA5-A02F-391BCAF6F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5950" y="2571750"/>
            <a:ext cx="43815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445CDA5-2887-41C7-8228-799D60427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0300" y="2552700"/>
            <a:ext cx="2470150" cy="933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Agent：感知与行动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9AD6001-8939-4644-8750-0C2E6CAB1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48100"/>
            <a:ext cx="34036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7DEE8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60C341B-9F87-4DF8-BFBD-336129990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48100"/>
            <a:ext cx="76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6534"/>
          </a:solidFill>
          <a:ln xmlns:a="http://schemas.openxmlformats.org/drawingml/2006/main" w="0">
            <a:solidFill>
              <a:srgbClr val="166534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A4889F9-8CE9-40A6-9158-1A4541C90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038600"/>
            <a:ext cx="43815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665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66534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FFAC157-6437-468D-BAD6-41F9D6838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019550"/>
            <a:ext cx="2470150" cy="933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数字员工：岗位化交付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E913244-878C-46E7-B8CC-5C8EA7874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4200" y="3848100"/>
            <a:ext cx="34036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7DEE8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582A03C-897A-4E1D-BCB1-E0BF22640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4200" y="3848100"/>
            <a:ext cx="76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1C1C"/>
          </a:solidFill>
          <a:ln xmlns:a="http://schemas.openxmlformats.org/drawingml/2006/main" w="0">
            <a:solidFill>
              <a:srgbClr val="B91C1C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2BEFEEB-EAC1-4F6E-8C97-FB3A36B44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2800" y="4038600"/>
            <a:ext cx="43815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91C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B91C1C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993A6ED-01CC-4232-90A0-CFA2129BA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7150" y="4019550"/>
            <a:ext cx="2470150" cy="933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FDE：部署与运营</a:t>
            </a:r>
          </a:p>
        </p:txBody>
      </p:sp>
    </p:spTree>
    <p:extLst>
      <p:ext uri="{BB962C8B-B14F-4D97-AF65-F5344CB8AC3E}">
        <p14:creationId xmlns:p14="http://schemas.microsoft.com/office/powerpoint/2010/main" val="1956856472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B81C253-A88E-4E46-9FCF-BC2A9F13A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solidFill>
              <a:srgbClr val="FAFBFC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D9A6FB-665B-4C19-8AAA-349736DD2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4FC765-559B-49A3-8D31-13B9CE5E7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A34A4A-4422-41D9-8AE1-97F56F061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20955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误区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0255D0-75B1-423D-9723-0ECA352BF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8572500" cy="7620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Agent不是越自主越高级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0B4CF1-12D3-408B-8DDB-620C6B30B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62100"/>
            <a:ext cx="8763000" cy="4572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企业场景里，自主性必须被风险、权限、日志和人工接管约束。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E1ED3E-8BAC-45C4-810D-07D9784FE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514350"/>
            <a:ext cx="81915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58CDE9-A48D-4939-9F66-11F685EA5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30480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WEI SPACE FDE TRAINING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E58E01D-0038-43EB-A3E4-3A7EC957C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6534150"/>
            <a:ext cx="18288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Agent心法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76BC192-7682-4EF7-A978-A7E5E3AD8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952750"/>
            <a:ext cx="19812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4F1"/>
          </a:solidFill>
          <a:ln xmlns:a="http://schemas.openxmlformats.org/drawingml/2006/main" w="11430">
            <a:solidFill>
              <a:srgbClr val="0F766E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A6E10F8-E704-41F4-9BCE-78B63866D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238500"/>
            <a:ext cx="1600200" cy="285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失控执行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3FA2B55-AD92-4725-AD24-E94CCEE62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705100"/>
            <a:ext cx="198120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F"/>
          </a:solidFill>
          <a:ln xmlns:a="http://schemas.openxmlformats.org/drawingml/2006/main" w="11430">
            <a:solidFill>
              <a:srgbClr val="1D4ED8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F76F093-58FB-49D2-99F9-3F8B5847F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3086100"/>
            <a:ext cx="1600200" cy="285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误写系统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06042C3-DD2B-417D-998C-72018F933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457450"/>
            <a:ext cx="19812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E5"/>
          </a:solidFill>
          <a:ln xmlns:a="http://schemas.openxmlformats.org/drawingml/2006/main" w="11430">
            <a:solidFill>
              <a:srgbClr val="B45309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517EC69-C2C1-43C1-94E1-4C9C69BB6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933700"/>
            <a:ext cx="1600200" cy="285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越权访问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1F25C26-1B42-4EED-9037-4591D25EC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209800"/>
            <a:ext cx="198120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7ED"/>
          </a:solidFill>
          <a:ln xmlns:a="http://schemas.openxmlformats.org/drawingml/2006/main" w="11430">
            <a:solidFill>
              <a:srgbClr val="166534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30987BA-32FF-423A-9149-E00BA7C01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781300"/>
            <a:ext cx="1600200" cy="285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责任不清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4DEA8D4-CD7D-4409-ADBB-509EEEEAC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5334000"/>
            <a:ext cx="8153400" cy="285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8182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B91C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B91C1C"/>
                </a:solidFill>
                <a:latin typeface="Microsoft YaHei"/>
                <a:ea typeface="Microsoft YaHei"/>
                <a:cs typeface="Microsoft YaHei"/>
              </a:rPr>
              <a:t>越往右，越需要明确规则、日志、审批和回滚。</a:t>
            </a:r>
          </a:p>
        </p:txBody>
      </p:sp>
    </p:spTree>
    <p:extLst>
      <p:ext uri="{BB962C8B-B14F-4D97-AF65-F5344CB8AC3E}">
        <p14:creationId xmlns:p14="http://schemas.microsoft.com/office/powerpoint/2010/main" val="1256995513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DE4CB8A-A4D1-4971-95D4-4C0C076D2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solidFill>
              <a:srgbClr val="FAFBFC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342FB4-D4A2-43FF-9B29-6261F57BC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6B9D52-BCE4-4102-9CD6-FCA206C30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8A27C4-A634-41AB-BF25-6C9C2C051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20955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框架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5EB1FF-7681-4AA6-AFFD-1E87AF3FC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8572500" cy="7620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数字员工七件套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E94019-5C6D-4D5D-B103-71EE18E9D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62100"/>
            <a:ext cx="8763000" cy="4572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每个数字员工都要有岗位、任务、上下文、工具、边界、指标和Owner。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4520E3-78A8-450D-AE26-68835BDB3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514350"/>
            <a:ext cx="81915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769467-16AE-4983-95E9-78DAF8C56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30480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WEI SPACE FDE TRAINING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959834-D0B9-4763-9C18-3685024B1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6534150"/>
            <a:ext cx="18288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Agent心法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ABA300-487A-4876-8E81-0A221DA07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62200"/>
            <a:ext cx="3416300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4F1"/>
          </a:solidFill>
          <a:ln xmlns:a="http://schemas.openxmlformats.org/drawingml/2006/main" w="9525">
            <a:solidFill>
              <a:srgbClr val="0F766E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9BF7A2D-5043-40F3-AF77-EF7CBC527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590800"/>
            <a:ext cx="2997200" cy="111442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岗位：服务谁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475E451-5585-41D0-8C56-B8AA27EED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7850" y="2362200"/>
            <a:ext cx="3416300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solidFill>
              <a:srgbClr val="1D4ED8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FE04653-CB44-4452-A1F8-47D2696C6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7400" y="2590800"/>
            <a:ext cx="2997200" cy="111442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任务：做什么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935F61F-18F1-430C-A19F-035B587FE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4650" y="2362200"/>
            <a:ext cx="3416300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E5"/>
          </a:solidFill>
          <a:ln xmlns:a="http://schemas.openxmlformats.org/drawingml/2006/main" w="9525">
            <a:solidFill>
              <a:srgbClr val="B45309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580C9AA-1554-4664-9840-669A7F54B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4200" y="2590800"/>
            <a:ext cx="2997200" cy="111442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上下文：知道什么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0924BD8-190F-4A3C-9C28-5F4676D36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24325"/>
            <a:ext cx="3416300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7ED"/>
          </a:solidFill>
          <a:ln xmlns:a="http://schemas.openxmlformats.org/drawingml/2006/main" w="9525">
            <a:solidFill>
              <a:srgbClr val="166534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42707BA-361B-47BC-9A9E-707DDFF27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352925"/>
            <a:ext cx="2997200" cy="111442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工具：能做什么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F7D58CE-CE91-4DE9-88C2-DA30CE089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7850" y="4124325"/>
            <a:ext cx="3416300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CEC"/>
          </a:solidFill>
          <a:ln xmlns:a="http://schemas.openxmlformats.org/drawingml/2006/main" w="9525">
            <a:solidFill>
              <a:srgbClr val="B91C1C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C276210-D4E7-4A72-A4B9-11105EB0D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7400" y="4352925"/>
            <a:ext cx="2997200" cy="111442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边界：不能做什么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C9F7746-711F-4C6D-9FCE-1FAC798A5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4650" y="4124325"/>
            <a:ext cx="3416300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DFF"/>
          </a:solidFill>
          <a:ln xmlns:a="http://schemas.openxmlformats.org/drawingml/2006/main" w="9525">
            <a:solidFill>
              <a:srgbClr val="6D28D9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8B33245-10D5-4DAF-BF1A-714932166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4200" y="4352925"/>
            <a:ext cx="2997200" cy="111442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指标：如何验收</a:t>
            </a:r>
          </a:p>
        </p:txBody>
      </p:sp>
    </p:spTree>
    <p:extLst>
      <p:ext uri="{BB962C8B-B14F-4D97-AF65-F5344CB8AC3E}">
        <p14:creationId xmlns:p14="http://schemas.microsoft.com/office/powerpoint/2010/main" val="1486075853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9870CE3-F707-4D27-83BF-692E1C668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solidFill>
              <a:srgbClr val="FAFBFC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2FE544-9C69-42DB-9324-C38DF1B04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4CB122-0F58-4BD4-9743-AB8D9BF7A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01974B-B965-4F9E-9FFA-2974BDF29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20955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契约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856418-665F-4F89-B60A-9957D5756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8572500" cy="7620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数字员工岗位说明书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5D7043-A41D-49AF-9B51-9D04FB092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62100"/>
            <a:ext cx="8763000" cy="4572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FDE要把“AI助手”写成岗位说明书，而不是功能列表。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D4FCE2-759D-4B8C-B77A-EFFDBCFBB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514350"/>
            <a:ext cx="81915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B1533B-D3AF-4434-8265-3E6449A5E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30480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WEI SPACE FDE TRAINING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77E175-4E69-4BB8-BB08-098636774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6534150"/>
            <a:ext cx="18288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Agent心法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3965AD-EDB4-4865-ACF7-58AC6A3C1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66950"/>
            <a:ext cx="10363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F1DD9EE-AC4C-49BF-A701-61E32052A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381250"/>
            <a:ext cx="171450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33333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字段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5C41563-BA32-4EA7-871A-33A21EFE5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381250"/>
            <a:ext cx="571500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33333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讲师追问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148073C-1D18-4275-A779-6CE0ECC7C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67000"/>
            <a:ext cx="103632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7DEE8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7228CA0-E3FE-4270-B1E1-887BEFE8F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790825"/>
            <a:ext cx="1809750" cy="2095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46296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岗位名称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050D40E-54FF-4D75-835E-2BA9B3410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781300"/>
            <a:ext cx="723900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58823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谁负责结果？谁真正操作？谁会抵触？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31204E9-72BA-45E7-A83A-FD9A588D1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62300"/>
            <a:ext cx="103632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687412C-1E5B-4404-A3BD-8D8FB7447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286125"/>
            <a:ext cx="1809750" cy="2095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46296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服务对象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252E996-7A99-47A8-9B8D-32CBEB95C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276600"/>
            <a:ext cx="723900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58823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写具体证据，不写抽象愿望。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8136374-F575-428A-9A1F-F52E918DA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57600"/>
            <a:ext cx="103632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7DEE8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7BFB76F-8C88-4A07-957A-95EAD5262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781425"/>
            <a:ext cx="1809750" cy="2095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46296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核心任务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395A4B8-F79E-4D82-8DAD-F35BF4166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771900"/>
            <a:ext cx="723900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58823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写具体证据，不写抽象愿望。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BF24FE9-C4DD-4232-B76F-7FAA52E56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152900"/>
            <a:ext cx="103632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A907F0F-94FF-452F-933E-4895188D9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276725"/>
            <a:ext cx="1809750" cy="2095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46296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输入输出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1AD4BA9-940E-49E8-9A4C-4E4249010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4267200"/>
            <a:ext cx="723900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58823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写具体证据，不写抽象愿望。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6E6BFFF-74E9-4CB2-811B-4697EA48A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648200"/>
            <a:ext cx="103632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7DEE8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285283D-29E0-4230-B0D6-B9291FAAD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772025"/>
            <a:ext cx="1809750" cy="2095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46296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可用工具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AB055BE-3094-4BAD-B8A4-7F0CD9C15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4762500"/>
            <a:ext cx="723900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58823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需要读写哪些系统？权限由谁批准？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EC8E018-ED04-44E9-8E1A-9E1ECEDA3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143500"/>
            <a:ext cx="103632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FC25658-AD92-4C9C-9AFC-6699C8D4E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267325"/>
            <a:ext cx="1809750" cy="2095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46296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升级路径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945E22A-EA09-4D34-B952-5C50052AA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5257800"/>
            <a:ext cx="723900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58823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写具体证据，不写抽象愿望。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389335E-6E83-454E-A8BE-5C9A0E40A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638800"/>
            <a:ext cx="103632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7DEE8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F84844A-7F2C-4EB4-A143-09A968A9E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762625"/>
            <a:ext cx="1809750" cy="2095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46296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成功指标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E716189-4385-4766-8881-A60E6B8C8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5753100"/>
            <a:ext cx="723900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58823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成功后看什么数，当前基线是多少？</a:t>
            </a:r>
          </a:p>
        </p:txBody>
      </p:sp>
    </p:spTree>
    <p:extLst>
      <p:ext uri="{BB962C8B-B14F-4D97-AF65-F5344CB8AC3E}">
        <p14:creationId xmlns:p14="http://schemas.microsoft.com/office/powerpoint/2010/main" val="238760248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9F06153-BDCB-44A7-8C54-52691163C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solidFill>
              <a:srgbClr val="FAFBFC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4A3923-134E-42B1-A8F5-FC288DBE9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862668-C3EE-4686-80EC-D4BA9611A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EA74ED-BCE7-406A-807E-38744A1FB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20955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练习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75E2E1-C373-4404-8E2C-398C155C9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8572500" cy="7620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把一个AI助手改写成数字员工岗位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3709BD-FE29-4366-B471-3C69EF502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62100"/>
            <a:ext cx="8763000" cy="4572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学员必须明确角色、任务、工具、边界、人工接管和验收指标。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D7CB6F-81B2-4C7D-9A8C-6F860B755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514350"/>
            <a:ext cx="81915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054043-E638-48D9-9D8B-677C73AB4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30480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WEI SPACE FDE TRAINING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800C1C-9F54-4D65-8B65-BDCFA8F25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6534150"/>
            <a:ext cx="18288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Agent心法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5EF4290-77EF-46C8-B50E-A17085299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43150"/>
            <a:ext cx="37338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7DEE8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EE70AEF-AAB6-458D-975A-550ADCC0C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67000"/>
            <a:ext cx="15240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55555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课堂动作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16A2A71-D95E-4E1D-9A3B-E2FCCE3F1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124200"/>
            <a:ext cx="1714500" cy="3619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10分钟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5FF6C92-4D20-4830-BFE5-14AF52D8E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771900"/>
            <a:ext cx="2857500" cy="666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讲师示范后，学员用自己的真实流程产出材料。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1082B2A-BCBB-4775-ADAD-7BF456183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4193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F4F1"/>
          </a:solidFill>
          <a:ln xmlns:a="http://schemas.openxmlformats.org/drawingml/2006/main" w="9525">
            <a:solidFill>
              <a:srgbClr val="0F766E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61FDDBD-88B2-4AA7-B8F3-E311711DA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505075"/>
            <a:ext cx="323850" cy="1524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27778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EC2D63E-DB12-43F0-A5A2-884F37BFC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2381250"/>
            <a:ext cx="5048250" cy="4191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选第3章场景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254BF86-3665-4D4D-B18B-AAA2C793F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0670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solidFill>
              <a:srgbClr val="1D4ED8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D8DED62-6F4F-441E-9681-AA796514E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152775"/>
            <a:ext cx="323850" cy="1524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27778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A06677B-2C0A-4580-B52B-C1739E0E3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3028950"/>
            <a:ext cx="5048250" cy="4191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写岗位说明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2054AD9-C4E1-4796-86F6-AF6626C1B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7147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4E5"/>
          </a:solidFill>
          <a:ln xmlns:a="http://schemas.openxmlformats.org/drawingml/2006/main" w="9525">
            <a:solidFill>
              <a:srgbClr val="B45309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10F5284-DF7F-49D9-898C-BBD395619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800475"/>
            <a:ext cx="323850" cy="1524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27778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F4E82AD-1CC2-4A24-8BFE-0139B9AF2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3676650"/>
            <a:ext cx="5048250" cy="4191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列核心任务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084B1D9-A512-43D2-9785-5B775443D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3624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7ED"/>
          </a:solidFill>
          <a:ln xmlns:a="http://schemas.openxmlformats.org/drawingml/2006/main" w="9525">
            <a:solidFill>
              <a:srgbClr val="166534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B330FF6-7CBE-42F1-ABDC-F22F9C332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448175"/>
            <a:ext cx="323850" cy="1524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27778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665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166534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3045F4B-C446-4CE5-AAFF-1793FBCCC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4324350"/>
            <a:ext cx="5048250" cy="4191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标工具权限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1961A18-0C44-4D96-BCB0-065F25D1F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50101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EECEC"/>
          </a:solidFill>
          <a:ln xmlns:a="http://schemas.openxmlformats.org/drawingml/2006/main" w="9525">
            <a:solidFill>
              <a:srgbClr val="B91C1C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2AB4BA9-A419-4C28-8F1E-D0F9192BE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5095875"/>
            <a:ext cx="323850" cy="1524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27778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B91C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B91C1C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9575CD6-5A4C-4D7A-AAFC-5D64A8F5D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4972050"/>
            <a:ext cx="5048250" cy="4191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标接管条件</a:t>
            </a:r>
          </a:p>
        </p:txBody>
      </p:sp>
    </p:spTree>
    <p:extLst>
      <p:ext uri="{BB962C8B-B14F-4D97-AF65-F5344CB8AC3E}">
        <p14:creationId xmlns:p14="http://schemas.microsoft.com/office/powerpoint/2010/main" val="386057859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0CE5392-F39A-419F-BA5B-CEC70D387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0">
            <a:solidFill>
              <a:srgbClr val="0B1220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735527-FB2C-43B8-842F-DAB3A302C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1706D1-D386-4E1F-84F7-F1D000043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895350"/>
            <a:ext cx="2095500" cy="285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83333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Part 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13643E-8DF0-4945-83E1-AFEFEDD50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57350"/>
            <a:ext cx="8096250" cy="10668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流程蓝图与任务分解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48345C-D786-4395-B6D1-99A938B28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48000"/>
            <a:ext cx="7334250" cy="6286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D7DEE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D7DEE9"/>
                </a:solidFill>
                <a:latin typeface="Microsoft YaHei"/>
                <a:ea typeface="Microsoft YaHei"/>
                <a:cs typeface="Microsoft YaHei"/>
              </a:rPr>
              <a:t>把业务流程拆成Agent可执行、可审核、可复盘的任务链。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EFD813-FC41-4158-9F0A-A24A42441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38700"/>
            <a:ext cx="12763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8000"/>
            </a:srgbClr>
          </a:solidFill>
          <a:ln xmlns:a="http://schemas.openxmlformats.org/drawingml/2006/main" w="9525">
            <a:solidFill>
              <a:srgbClr val="3B4658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D4A10F-5CEB-4492-8638-7665048B8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010150"/>
            <a:ext cx="112395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58823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触发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46906D3-8E5D-4204-BD56-101ADD7AA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4838700"/>
            <a:ext cx="12763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8000"/>
            </a:srgbClr>
          </a:solidFill>
          <a:ln xmlns:a="http://schemas.openxmlformats.org/drawingml/2006/main" w="9525">
            <a:solidFill>
              <a:srgbClr val="3B4658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ED3F4A-DAEA-4E7A-8E91-7E944D15E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5010150"/>
            <a:ext cx="112395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58823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计划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E89BABC-5325-4644-BC46-57B9D00D4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838700"/>
            <a:ext cx="12763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8000"/>
            </a:srgbClr>
          </a:solidFill>
          <a:ln xmlns:a="http://schemas.openxmlformats.org/drawingml/2006/main" w="9525">
            <a:solidFill>
              <a:srgbClr val="3B4658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1848D33-CBAE-4E56-86C8-A3CE21138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5010150"/>
            <a:ext cx="112395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58823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执行</a:t>
            </a:r>
          </a:p>
        </p:txBody>
      </p:sp>
    </p:spTree>
    <p:extLst>
      <p:ext uri="{BB962C8B-B14F-4D97-AF65-F5344CB8AC3E}">
        <p14:creationId xmlns:p14="http://schemas.microsoft.com/office/powerpoint/2010/main" val="533271821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C7FFFAE-93D0-4B2C-9381-E7D9370DB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solidFill>
              <a:srgbClr val="FAFBFC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B69594-0EAC-4972-A0D2-6E0C833E1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470E71-07A3-4D64-B07A-AE39A1D5F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FF81BD-C1CB-49D6-8BA5-63034D51A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20955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六段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CE9B52-1909-424E-BC5F-BF7D7BCF6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8572500" cy="7620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Agent流程六段法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27FAC0-2817-4F0E-B99C-A2529ADF6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62100"/>
            <a:ext cx="8763000" cy="4572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每个Agent流程都要拆成触发、理解、计划、执行、审核、回写。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21A221-21C2-46FB-A195-31B85B9B3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514350"/>
            <a:ext cx="81915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BD912A-F317-4FFF-AA2D-06D458C09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30480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WEI SPACE FDE TRAINING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A8A4F4-F1B9-44B7-8F43-19C2B3C24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6534150"/>
            <a:ext cx="18288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流程蓝图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DC511C-9C01-4EEE-9267-73725A88B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05050"/>
            <a:ext cx="33909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7DEE8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9693D60-FE3C-418F-9024-E6C756371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05050"/>
            <a:ext cx="33909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28FC40C-2F0A-4485-BDE6-B820230B9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552700"/>
            <a:ext cx="1009650" cy="285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25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触发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5DA0462-7C1B-40C8-9B74-162E39F11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2533650"/>
            <a:ext cx="1828800" cy="552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何时开始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35D839B-C228-472C-B568-F47D4D1EB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305050"/>
            <a:ext cx="33909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7DEE8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37AC841-A8DE-4D50-BA52-36BBB4A3F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305050"/>
            <a:ext cx="33909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solidFill>
              <a:srgbClr val="1D4ED8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13A2960-6523-4664-9AC4-997CFE7F5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552700"/>
            <a:ext cx="1009650" cy="285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25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理解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878D907-A2FA-4E3E-927E-FBC0AFD2B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2533650"/>
            <a:ext cx="1828800" cy="552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识别意图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69ADF8C-FDA9-48ED-AE5E-436B894A9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305050"/>
            <a:ext cx="33909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7DEE8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2269234-8E3D-4C93-AF1F-536873652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305050"/>
            <a:ext cx="33909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solidFill>
              <a:srgbClr val="B45309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D458210-1E2D-480D-80FA-EB0318C99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552700"/>
            <a:ext cx="1009650" cy="285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25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计划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0B7E5A7-B8AB-4B50-B902-A4AEAAF57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533650"/>
            <a:ext cx="1828800" cy="552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拆任务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C613A76-587A-4992-8E71-4F4EFC312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24250"/>
            <a:ext cx="33909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7DEE8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583AC91-2D2E-4C7C-A083-BAEBED9C0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24250"/>
            <a:ext cx="33909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6534"/>
          </a:solidFill>
          <a:ln xmlns:a="http://schemas.openxmlformats.org/drawingml/2006/main" w="0">
            <a:solidFill>
              <a:srgbClr val="166534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A3C5AEC-78E8-4578-B53F-8AE497E3C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771900"/>
            <a:ext cx="1009650" cy="285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25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665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66534"/>
                </a:solidFill>
                <a:latin typeface="Microsoft YaHei"/>
                <a:ea typeface="Microsoft YaHei"/>
                <a:cs typeface="Microsoft YaHei"/>
              </a:rPr>
              <a:t>执行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22B82C2-68B7-4B1D-912E-6CAC1DE61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3752850"/>
            <a:ext cx="1828800" cy="552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调用工具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E05F0F4-3952-4AFD-B334-EABFE9F38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524250"/>
            <a:ext cx="33909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7DEE8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7DB8566-D7D6-44F4-97DC-9F1D90054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524250"/>
            <a:ext cx="33909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1C1C"/>
          </a:solidFill>
          <a:ln xmlns:a="http://schemas.openxmlformats.org/drawingml/2006/main" w="0">
            <a:solidFill>
              <a:srgbClr val="B91C1C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856ABF9-243B-4917-8BD2-ED2B4924D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771900"/>
            <a:ext cx="1009650" cy="285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25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B91C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B91C1C"/>
                </a:solidFill>
                <a:latin typeface="Microsoft YaHei"/>
                <a:ea typeface="Microsoft YaHei"/>
                <a:cs typeface="Microsoft YaHei"/>
              </a:rPr>
              <a:t>审核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FAD4378-3080-4ADE-B7B0-2A1F61649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3752850"/>
            <a:ext cx="1828800" cy="552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人机判断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E748B1E-5A30-4DCB-8059-0CB928761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524250"/>
            <a:ext cx="33909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7DEE8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28400DF-5DE5-429F-AF8A-1F6E87CAD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524250"/>
            <a:ext cx="33909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28D9"/>
          </a:solidFill>
          <a:ln xmlns:a="http://schemas.openxmlformats.org/drawingml/2006/main" w="0">
            <a:solidFill>
              <a:srgbClr val="6D28D9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E18C519-EA67-4B1B-9EB5-3067DE837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771900"/>
            <a:ext cx="1009650" cy="285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25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6D28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6D28D9"/>
                </a:solidFill>
                <a:latin typeface="Microsoft YaHei"/>
                <a:ea typeface="Microsoft YaHei"/>
                <a:cs typeface="Microsoft YaHei"/>
              </a:rPr>
              <a:t>回写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DB61872-BC6E-45E0-AF3B-254891F63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752850"/>
            <a:ext cx="1828800" cy="552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沉淀结果</a:t>
            </a:r>
          </a:p>
        </p:txBody>
      </p:sp>
    </p:spTree>
    <p:extLst>
      <p:ext uri="{BB962C8B-B14F-4D97-AF65-F5344CB8AC3E}">
        <p14:creationId xmlns:p14="http://schemas.microsoft.com/office/powerpoint/2010/main" val="1015679848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D83FC86-98B5-4031-81BE-047F0C4B2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solidFill>
              <a:srgbClr val="FAFBFC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7470BB-32F1-4FD1-97E5-35FB15A01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B40D66-DFAE-4898-9642-0AD0D943F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055B9A-750D-4BDA-ABE7-0379152B3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20955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触发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9FA520-104C-471B-907C-540348448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8572500" cy="7620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触发条件决定自动化边界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D92446-7002-4E05-81E8-545E59FB6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62100"/>
            <a:ext cx="8763000" cy="4572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触发可以来自用户、系统事件、时间、工单、审批或外部数据变化。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746593-C69F-4349-B46F-371418E30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514350"/>
            <a:ext cx="81915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205C8F6-CB5C-44D2-BC5F-0864DF384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30480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WEI SPACE FDE TRAINING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C84DE1-16B5-4609-B7B0-D833F5C54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6534150"/>
            <a:ext cx="18288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流程蓝图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DA2A5C6-E085-4FD8-9678-DD1D66C3F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81250"/>
            <a:ext cx="34036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7DEE8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FCA7C51-D610-4E02-818E-78B6547ED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81250"/>
            <a:ext cx="76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A28C25B-653F-4E50-8CA8-E19D20401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571750"/>
            <a:ext cx="43815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F5E9E68-B12F-4067-9F10-01D17053C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552700"/>
            <a:ext cx="2470150" cy="933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用户发起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D3E80E3-DF5A-4472-890B-46E37DA33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4200" y="2381250"/>
            <a:ext cx="34036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7DEE8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AA9A769-0D73-4001-A1FC-0521EC184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4200" y="2381250"/>
            <a:ext cx="76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solidFill>
              <a:srgbClr val="1D4ED8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D7FD805-44F5-4B18-86EA-34C2C951F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2800" y="2571750"/>
            <a:ext cx="43815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9F91947-41C0-4630-A305-C71FCEF07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7150" y="2552700"/>
            <a:ext cx="2470150" cy="933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系统事件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C7DBE8F-0746-40C8-96DE-E85C09CD8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7350" y="2381250"/>
            <a:ext cx="34036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7DEE8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6CB6D80-EC82-47F7-8358-CF093DA42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7350" y="2381250"/>
            <a:ext cx="76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solidFill>
              <a:srgbClr val="B45309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8D037E5-6DAD-4A2E-9CD2-2EC9D931E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5950" y="2571750"/>
            <a:ext cx="43815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637D052-2CB4-4116-A39E-C135E4C07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0300" y="2552700"/>
            <a:ext cx="2470150" cy="933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定时任务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E7784F1-A70A-45D4-8751-CD47DE9C1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48100"/>
            <a:ext cx="34036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7DEE8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BCCF624-6FAA-4E20-A949-7FDBB2208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48100"/>
            <a:ext cx="76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6534"/>
          </a:solidFill>
          <a:ln xmlns:a="http://schemas.openxmlformats.org/drawingml/2006/main" w="0">
            <a:solidFill>
              <a:srgbClr val="166534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95888DE-C0D5-4C28-89DF-2012F9A94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038600"/>
            <a:ext cx="43815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665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66534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921A85C-CC91-41E3-BAF5-3C221FB96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019550"/>
            <a:ext cx="2470150" cy="933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工单状态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44C1044-8375-48F5-B17A-6A102EB16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4200" y="3848100"/>
            <a:ext cx="34036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7DEE8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E7CC577-C739-426C-8CC3-E4209ECE4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4200" y="3848100"/>
            <a:ext cx="76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1C1C"/>
          </a:solidFill>
          <a:ln xmlns:a="http://schemas.openxmlformats.org/drawingml/2006/main" w="0">
            <a:solidFill>
              <a:srgbClr val="B91C1C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C9B1FCD-7713-4A55-A90A-F7C96F434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2800" y="4038600"/>
            <a:ext cx="43815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91C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B91C1C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5EA5B36-9E22-4D70-9CE9-34FFD1A90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7150" y="4019550"/>
            <a:ext cx="2470150" cy="933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异常预警</a:t>
            </a:r>
          </a:p>
        </p:txBody>
      </p:sp>
    </p:spTree>
    <p:extLst>
      <p:ext uri="{BB962C8B-B14F-4D97-AF65-F5344CB8AC3E}">
        <p14:creationId xmlns:p14="http://schemas.microsoft.com/office/powerpoint/2010/main" val="1566559995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7443C79-2683-4A0F-B509-52124E121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solidFill>
              <a:srgbClr val="FAFBFC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5ADB90-1F91-47A5-9DAD-204C5A649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492BE1-085B-4C00-A07E-B6B8418B2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2C5224-B863-44E3-875E-7EA0F0C7C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20955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意图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4990A4-147B-4D0D-901B-5E9E1ECFD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8572500" cy="7620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意图识别要连接业务分类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441F31-7CD9-46E3-8926-CF45CBD4F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62100"/>
            <a:ext cx="8763000" cy="4572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意图不是闲聊分类，而是决定进入哪条流程和哪些工具。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FACEF4-82AA-4A21-8F03-629BB50EE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514350"/>
            <a:ext cx="81915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15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47C12D-BEA3-4C73-B111-50F44196D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30480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WEI SPACE FDE TRAINING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5BC734E-B4B6-429E-A110-4E6329FB3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6534150"/>
            <a:ext cx="18288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流程蓝图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0B0AE12-9A5C-4C9E-A49F-86C77F69B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81250"/>
            <a:ext cx="34036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7DEE8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42A2ED2-80C8-4185-B58F-229C0ADCC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81250"/>
            <a:ext cx="76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7DF02D3-B6E7-4C2D-8394-07DFA8889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571750"/>
            <a:ext cx="43815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1BEEC3B-1772-42A6-9941-C2864DE49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552700"/>
            <a:ext cx="2470150" cy="933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咨询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170D428-1633-458B-98AD-F324FD803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4200" y="2381250"/>
            <a:ext cx="34036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7DEE8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4810E28-568A-4A51-BE3E-BDC5B085F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4200" y="2381250"/>
            <a:ext cx="76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solidFill>
              <a:srgbClr val="1D4ED8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F4E6D99-5C61-467C-94E5-307283FA4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2800" y="2571750"/>
            <a:ext cx="43815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05E84F7-D750-4AA0-9917-FF8659C76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7150" y="2552700"/>
            <a:ext cx="2470150" cy="933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查询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9FB4595-F3C5-45BD-9D15-7D3247FEF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7350" y="2381250"/>
            <a:ext cx="34036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7DEE8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582CF92-9172-4D0A-B572-469B6EC77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7350" y="2381250"/>
            <a:ext cx="76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solidFill>
              <a:srgbClr val="B45309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4A9E806-B53C-4028-8CA5-E000F6FCF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5950" y="2571750"/>
            <a:ext cx="43815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E5014D8-92EE-40BA-A1FA-4FEA5E5AA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0300" y="2552700"/>
            <a:ext cx="2470150" cy="933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生成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F3CB6E5-570A-416B-A237-291148CA2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48100"/>
            <a:ext cx="34036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7DEE8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9864445-0A51-47C4-B607-CCA434A17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48100"/>
            <a:ext cx="76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6534"/>
          </a:solidFill>
          <a:ln xmlns:a="http://schemas.openxmlformats.org/drawingml/2006/main" w="0">
            <a:solidFill>
              <a:srgbClr val="166534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4DB4271-A291-41DD-8037-35E262935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038600"/>
            <a:ext cx="43815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665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66534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63941D4-B11C-4811-91D8-09405E12E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019550"/>
            <a:ext cx="2470150" cy="933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修改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090413D-306C-4F7E-8801-4DE2F8F71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4200" y="3848100"/>
            <a:ext cx="34036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7DEE8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E91388F-49FE-4D73-99D8-AAD9240D8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4200" y="3848100"/>
            <a:ext cx="76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1C1C"/>
          </a:solidFill>
          <a:ln xmlns:a="http://schemas.openxmlformats.org/drawingml/2006/main" w="0">
            <a:solidFill>
              <a:srgbClr val="B91C1C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38F17B8-D33E-43F2-BC5D-59794CED0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2800" y="4038600"/>
            <a:ext cx="43815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91C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B91C1C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E48F61F-B4F2-44A9-B1CB-479E4577C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7150" y="4019550"/>
            <a:ext cx="2470150" cy="933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审批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DEFD508-5B13-4BF1-8299-01F4FC3B0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7350" y="3848100"/>
            <a:ext cx="34036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7DEE8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7B95F2C-ADB7-4594-9AE4-54905375F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7350" y="3848100"/>
            <a:ext cx="76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28D9"/>
          </a:solidFill>
          <a:ln xmlns:a="http://schemas.openxmlformats.org/drawingml/2006/main" w="0">
            <a:solidFill>
              <a:srgbClr val="6D28D9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898501E-90E1-4A96-9DCA-89A0E6A6E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5950" y="4038600"/>
            <a:ext cx="43815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6D28D9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1B68FEB-407C-4C6A-B720-937B77CD0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0300" y="4019550"/>
            <a:ext cx="2470150" cy="933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升级</a:t>
            </a:r>
          </a:p>
        </p:txBody>
      </p:sp>
    </p:spTree>
    <p:extLst>
      <p:ext uri="{BB962C8B-B14F-4D97-AF65-F5344CB8AC3E}">
        <p14:creationId xmlns:p14="http://schemas.microsoft.com/office/powerpoint/2010/main" val="1100647232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A65D565-B4EE-4491-9C47-89A2A4D89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solidFill>
              <a:srgbClr val="FAFBFC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93578B-2E57-4744-BD62-D7FC96538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B006B8-3C61-4E53-ABDC-248F1DE28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E0D17A-E4EB-4161-ACEA-BF0622C83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20955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计划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29BFF9-1BD4-4E01-B1F2-92292D103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8572500" cy="7620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从目标到任务计划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0EC7D5-4759-470C-BA82-75806DDC8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62100"/>
            <a:ext cx="8763000" cy="4572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Agent要能把目标拆成可执行步骤，但每一步都要有边界。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E64AE3-A9CD-423B-B7C5-D37C26238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514350"/>
            <a:ext cx="81915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16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87AFDD-88D8-4ADB-81BA-4925F4F81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30480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WEI SPACE FDE TRAINING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895B41F-AC9A-47E4-A169-9A9F3313E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6534150"/>
            <a:ext cx="18288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流程蓝图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C39ACE3-D59C-441D-92A5-D3D3A49F0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43250"/>
            <a:ext cx="1587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4F1"/>
          </a:solidFill>
          <a:ln xmlns:a="http://schemas.openxmlformats.org/drawingml/2006/main" w="10478">
            <a:solidFill>
              <a:srgbClr val="0F766E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9823F11-59DA-40F8-B2FA-BF99735EF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381375"/>
            <a:ext cx="135890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理解目标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82444C7-2F89-4B81-9F41-B77F10BAF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5700" y="3409950"/>
            <a:ext cx="171450" cy="285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14EA5F0-0CE7-47C4-9DE7-E6FC92F60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6200" y="3143250"/>
            <a:ext cx="1587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F"/>
          </a:solidFill>
          <a:ln xmlns:a="http://schemas.openxmlformats.org/drawingml/2006/main" w="10478">
            <a:solidFill>
              <a:srgbClr val="1D4ED8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8171E5A-2FEB-4433-8986-3B9034979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0500" y="3381375"/>
            <a:ext cx="135890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检查上下文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FD5DCF7-05E1-4777-90C2-9FC6D9F0A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2750" y="3409950"/>
            <a:ext cx="171450" cy="285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C3C4EA3-DFEA-4F05-8161-37025BE8D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3143250"/>
            <a:ext cx="1587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E5"/>
          </a:solidFill>
          <a:ln xmlns:a="http://schemas.openxmlformats.org/drawingml/2006/main" w="10478">
            <a:solidFill>
              <a:srgbClr val="B45309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719C735-4A62-4908-995A-C8FAA08A3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7550" y="3381375"/>
            <a:ext cx="135890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选择工具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3B891BB-F50A-4FB6-9017-150F28C50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409950"/>
            <a:ext cx="171450" cy="285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1F8B741-9097-48E4-BDD9-A80D33118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143250"/>
            <a:ext cx="1587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7ED"/>
          </a:solidFill>
          <a:ln xmlns:a="http://schemas.openxmlformats.org/drawingml/2006/main" w="10478">
            <a:solidFill>
              <a:srgbClr val="166534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75893B9-F4A9-4AA2-988D-AB270423A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381375"/>
            <a:ext cx="135890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生成计划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03BBF11-DED2-48F7-9872-219EDB3F9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6850" y="3409950"/>
            <a:ext cx="171450" cy="285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8FB43B6-28D5-42FD-BFBF-0A6C93350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7350" y="3143250"/>
            <a:ext cx="1587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CEC"/>
          </a:solidFill>
          <a:ln xmlns:a="http://schemas.openxmlformats.org/drawingml/2006/main" w="10478">
            <a:solidFill>
              <a:srgbClr val="B91C1C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48FB285-56A6-4ABE-ACCD-FDFD33BEB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1650" y="3381375"/>
            <a:ext cx="135890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执行动作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BBA3B70-3707-4DEB-988F-3C0213E59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3900" y="3409950"/>
            <a:ext cx="171450" cy="285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A632C5D-2717-4073-AF88-9907705A6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4400" y="3143250"/>
            <a:ext cx="1587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DFF"/>
          </a:solidFill>
          <a:ln xmlns:a="http://schemas.openxmlformats.org/drawingml/2006/main" w="10478">
            <a:solidFill>
              <a:srgbClr val="6D28D9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E9DDE8A-E831-426C-9E63-110AB953F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8700" y="3381375"/>
            <a:ext cx="135890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复盘结果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6BE5BB3-1779-45DB-876A-D9CEAFEEF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953000"/>
            <a:ext cx="86868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0">
            <a:solidFill>
              <a:srgbClr val="F4F7FA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986A392-AF84-4BA5-BC3C-0774D63C5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5086350"/>
            <a:ext cx="842010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5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FDE判断：是否有清晰输入、上下文、工具、输出和复盘指标。</a:t>
            </a:r>
          </a:p>
        </p:txBody>
      </p:sp>
    </p:spTree>
    <p:extLst>
      <p:ext uri="{BB962C8B-B14F-4D97-AF65-F5344CB8AC3E}">
        <p14:creationId xmlns:p14="http://schemas.microsoft.com/office/powerpoint/2010/main" val="723422161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C837D24-A768-439D-9D85-D1C983BE0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solidFill>
              <a:srgbClr val="FAFBFC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517797-14C7-48F1-8DE1-B99535264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98B1F4-01B1-4960-9F0B-A319A3D5A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151D1F-8FF8-4813-8E6B-182B0464B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20955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销售案例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B8B3EA-F161-46DB-B952-4510AC1C1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8572500" cy="7620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销售线索数字员工流程蓝图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FF647D-866D-4E7E-8BAD-688434088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62100"/>
            <a:ext cx="8763000" cy="4572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从线索进入到CRM回写，演示一个完整数字员工流程。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A7F2CD-BD58-4818-98B2-50E97A546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514350"/>
            <a:ext cx="81915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17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AB3E4D-5C16-44EC-9AE2-B9FC6F868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30480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WEI SPACE FDE TRAINING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856026-AABB-4206-BD63-276448B2A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6534150"/>
            <a:ext cx="18288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流程蓝图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7249CD-D80A-4748-B706-3BF04F082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05050"/>
            <a:ext cx="3048000" cy="285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25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现场事实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6D9282C-48B9-4282-9757-DF873D76F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305050"/>
            <a:ext cx="3048000" cy="285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25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诊断含义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5BF0A07-609C-4833-9123-CF44A9D31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19400"/>
            <a:ext cx="48768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4F1"/>
          </a:solidFill>
          <a:ln xmlns:a="http://schemas.openxmlformats.org/drawingml/2006/main" w="9525">
            <a:solidFill>
              <a:srgbClr val="D7DEE8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424721C-3858-4286-9DD2-690D9A872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971800"/>
            <a:ext cx="4457700" cy="2476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1403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线索进入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5166F63-EEDE-4642-BCDF-78BF1F050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00450"/>
            <a:ext cx="48768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solidFill>
              <a:srgbClr val="D7DEE8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2F97B3F-8067-477A-A9B6-D8A4B3957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752850"/>
            <a:ext cx="4457700" cy="2476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1403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画像补全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021DC66-FD12-442E-AA78-B609CF964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81500"/>
            <a:ext cx="48768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E5"/>
          </a:solidFill>
          <a:ln xmlns:a="http://schemas.openxmlformats.org/drawingml/2006/main" w="9525">
            <a:solidFill>
              <a:srgbClr val="D7DEE8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CF080E0-B276-4EE4-AEF3-D2D1EFE63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533900"/>
            <a:ext cx="4457700" cy="2476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1403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优先级判断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2B1F54F-F4FB-42E1-A3D4-262118664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819400"/>
            <a:ext cx="48196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3F71020-2CFF-4107-80B2-2E945F081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971800"/>
            <a:ext cx="4400550" cy="2476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1403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话术草稿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F9E3133-75D9-4398-A7EB-8871DC26B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600450"/>
            <a:ext cx="48196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2A4ECAF-EB17-4226-8133-758F49246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752850"/>
            <a:ext cx="4400550" cy="2476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1403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销售确认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1002644-4D49-4FE4-AB4D-B4627FA74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381500"/>
            <a:ext cx="48196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2CAA309-2B45-4266-B05A-01A65B1DA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533900"/>
            <a:ext cx="4400550" cy="2476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1403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CRM写回</a:t>
            </a:r>
          </a:p>
        </p:txBody>
      </p:sp>
    </p:spTree>
    <p:extLst>
      <p:ext uri="{BB962C8B-B14F-4D97-AF65-F5344CB8AC3E}">
        <p14:creationId xmlns:p14="http://schemas.microsoft.com/office/powerpoint/2010/main" val="664106535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D19777D-A8A7-40AD-BDD2-65A5C238C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solidFill>
              <a:srgbClr val="FAFBFC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271C67-E3DE-4B95-A771-4FCDF35AB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77ED4C-C48B-4B09-A4EA-EE75CC8D9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9C5A21-0E95-4194-B660-9A60F76F8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20955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异常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45E1F8-9769-48D4-BA26-CA8BAC664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8572500" cy="7620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异常路径比主路径更重要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52F28B-92AE-4C65-9DD0-041C77F84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62100"/>
            <a:ext cx="8763000" cy="4572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生产级流程必须设计缺字段、低置信度、工具失败、越权和客户投诉。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1BB822-54ED-4510-B724-B611EF41F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514350"/>
            <a:ext cx="81915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18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3EF982-A596-42A4-BDAB-E9C0A31E3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30480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WEI SPACE FDE TRAINING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D9BCD7-4124-465E-AD31-961378431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6534150"/>
            <a:ext cx="18288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流程蓝图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D79F3F2-82E0-48DF-BAD4-2114E7E28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66950"/>
            <a:ext cx="106299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4CC07B6-1459-4E67-B29A-91B71C098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381250"/>
            <a:ext cx="314325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33333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诊断句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D2CBE34-FBD8-4A73-82A1-4B8821D76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381250"/>
            <a:ext cx="590550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33333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FDE要追到的证据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25476E4-F01B-466D-8A03-9355C5F6C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67000"/>
            <a:ext cx="106299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7DEE8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7837F7E-4EB6-4448-87E4-A40CB5099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781300"/>
            <a:ext cx="3238500" cy="3619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字段缺失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2B0944D-1CBA-4AD7-BE81-6B0D2ED23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781300"/>
            <a:ext cx="6000750" cy="3619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请求补充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A996F16-CCDF-47A9-832C-7FB36EF69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57550"/>
            <a:ext cx="106299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73BFAEB-95AF-4332-8F9B-16E319BBC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371850"/>
            <a:ext cx="3238500" cy="3619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低置信度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DEE9BF7-E08F-4D86-99BC-EB7AD7FFC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371850"/>
            <a:ext cx="6000750" cy="3619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转人工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8B6407B-2AED-4F60-B20C-1A84D6373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48100"/>
            <a:ext cx="106299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7DEE8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07CCAC1-722E-41C6-9B9A-6F915A6C5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962400"/>
            <a:ext cx="3238500" cy="3619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工具失败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6DBAAB8-AB29-49FE-8EC0-DB1F3FEBE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962400"/>
            <a:ext cx="6000750" cy="3619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重试或降级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26F8AF2-E225-4F09-8624-9E282EA8C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38650"/>
            <a:ext cx="106299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8026251-0E75-4F7D-958D-87039369F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552950"/>
            <a:ext cx="3238500" cy="3619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权限不足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399931C-1ABE-4902-BBD5-0370906AE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552950"/>
            <a:ext cx="6000750" cy="3619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停止执行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AA4DE98-9AA6-41C5-98CC-8151A35B5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029200"/>
            <a:ext cx="106299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7DEE8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609AA35-45DD-45C6-9236-E769C1097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143500"/>
            <a:ext cx="3238500" cy="3619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客户投诉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F32E603-DBFF-4D9E-9B4A-7842C6072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5143500"/>
            <a:ext cx="6000750" cy="3619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主管介入</a:t>
            </a:r>
          </a:p>
        </p:txBody>
      </p:sp>
    </p:spTree>
    <p:extLst>
      <p:ext uri="{BB962C8B-B14F-4D97-AF65-F5344CB8AC3E}">
        <p14:creationId xmlns:p14="http://schemas.microsoft.com/office/powerpoint/2010/main" val="1123109788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BE03F1E-3909-4513-AEF4-8ED77543F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solidFill>
              <a:srgbClr val="FAFBFC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789F69-8039-4B8C-A66F-49F5D5F94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00D83A-1563-4CF4-96B5-E7143E785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4110B0-762F-4565-A55C-FD08E369E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20955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练习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F93261-12BD-4710-A489-5615EB463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8572500" cy="7620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完成数字员工流程蓝图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44DEFE-5EFA-4730-94A9-662C6909B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62100"/>
            <a:ext cx="8763000" cy="4572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每组把一个MVP场景拆成主路径、异常路径和回写路径。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BD8E58-3F7C-46F9-9ABC-B703F7C9D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514350"/>
            <a:ext cx="81915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19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3AB8EDA-E3F9-4A63-ACD1-89FBC780D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30480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WEI SPACE FDE TRAINING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A537BB0-B05C-4129-8F49-64A265E62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6534150"/>
            <a:ext cx="18288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流程蓝图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82E361D-010F-450F-A01B-B98DA6BB8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43150"/>
            <a:ext cx="37338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7DEE8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1D92D48-152A-4BF5-8EBE-3BB609FE1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67000"/>
            <a:ext cx="15240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55555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课堂动作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89D7B98-427F-4F6B-98AB-18DB98B70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124200"/>
            <a:ext cx="1714500" cy="3619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10分钟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EF8F151-CB6E-41CF-9846-8BA80DE07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771900"/>
            <a:ext cx="2857500" cy="666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讲师示范后，学员用自己的真实流程产出材料。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B42E366-E4E8-46E1-AFF8-B1150E35D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4193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F4F1"/>
          </a:solidFill>
          <a:ln xmlns:a="http://schemas.openxmlformats.org/drawingml/2006/main" w="9525">
            <a:solidFill>
              <a:srgbClr val="0F766E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C2CC8C0-FED2-4087-9A19-2D97C714C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505075"/>
            <a:ext cx="323850" cy="1524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27778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6D7F448-DAD5-4CDC-99AD-8415C92E4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2381250"/>
            <a:ext cx="5048250" cy="4191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写触发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7F61417-0CA2-45A8-87C9-FA98E0F19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0670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solidFill>
              <a:srgbClr val="1D4ED8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277CE51-24B5-4DD0-83A1-7D1191955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152775"/>
            <a:ext cx="323850" cy="1524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27778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3775CEC-DC2B-4D15-843F-817295545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3028950"/>
            <a:ext cx="5048250" cy="4191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写意图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49AC5AF-C15F-4075-85DB-C2C8FC84C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7147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4E5"/>
          </a:solidFill>
          <a:ln xmlns:a="http://schemas.openxmlformats.org/drawingml/2006/main" w="9525">
            <a:solidFill>
              <a:srgbClr val="B45309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F1089AB-D990-4D34-875E-6866F5D9C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800475"/>
            <a:ext cx="323850" cy="1524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27778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D8C0B26-BA98-44CB-A7E1-99B0BDC28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3676650"/>
            <a:ext cx="5048250" cy="4191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写工具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A61ECA2-8701-4EF8-80AD-473C5B5FB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3624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7ED"/>
          </a:solidFill>
          <a:ln xmlns:a="http://schemas.openxmlformats.org/drawingml/2006/main" w="9525">
            <a:solidFill>
              <a:srgbClr val="166534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62FB6BA-69B6-4A39-A995-3E1768440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448175"/>
            <a:ext cx="323850" cy="1524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27778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665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166534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9F8EEF9-081A-4826-AFDA-6F09010E9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4324350"/>
            <a:ext cx="5048250" cy="4191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写人审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8E624E8-37DB-4093-9C58-93745F11B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50101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EECEC"/>
          </a:solidFill>
          <a:ln xmlns:a="http://schemas.openxmlformats.org/drawingml/2006/main" w="9525">
            <a:solidFill>
              <a:srgbClr val="B91C1C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CDD6A5F-7162-470A-B4C1-08452141C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5095875"/>
            <a:ext cx="323850" cy="1524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27778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B91C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B91C1C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BC5F5E1-B277-4670-8367-957CFDD53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4972050"/>
            <a:ext cx="5048250" cy="4191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写回写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16BEC51-7192-4B53-9CBE-3205AF51C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56578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EDFF"/>
          </a:solidFill>
          <a:ln xmlns:a="http://schemas.openxmlformats.org/drawingml/2006/main" w="9525">
            <a:solidFill>
              <a:srgbClr val="6D28D9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915CBFB-CDFE-411B-9CE3-8059C9D98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5743575"/>
            <a:ext cx="323850" cy="1524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27778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6D28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6D28D9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B5B9CD7-4941-4F6A-9F95-711117BEA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5619750"/>
            <a:ext cx="5048250" cy="4191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写复盘</a:t>
            </a:r>
          </a:p>
        </p:txBody>
      </p:sp>
    </p:spTree>
    <p:extLst>
      <p:ext uri="{BB962C8B-B14F-4D97-AF65-F5344CB8AC3E}">
        <p14:creationId xmlns:p14="http://schemas.microsoft.com/office/powerpoint/2010/main" val="1083036747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150A8E7-B14F-4ECD-8B41-857A4110F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0">
            <a:solidFill>
              <a:srgbClr val="0B1220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E387E5-8EE5-4C8C-9A53-7D9AE21C1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FF5453-C8C4-4E6C-A363-164A59B44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895350"/>
            <a:ext cx="2095500" cy="285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83333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Part 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DC19F7-2DC5-4494-BD85-F900C7F85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57350"/>
            <a:ext cx="8096250" cy="10668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工具/API与权限设计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E35846-5B3D-442A-8133-F9D9C1B0E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48000"/>
            <a:ext cx="7334250" cy="6286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D7DEE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D7DEE9"/>
                </a:solidFill>
                <a:latin typeface="Microsoft YaHei"/>
                <a:ea typeface="Microsoft YaHei"/>
                <a:cs typeface="Microsoft YaHei"/>
              </a:rPr>
              <a:t>工具让Agent从建议走向执行，也把风险带进生产流程。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8A89B2-88D6-4BB1-8188-93D84F1FB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38700"/>
            <a:ext cx="12763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8000"/>
            </a:srgbClr>
          </a:solidFill>
          <a:ln xmlns:a="http://schemas.openxmlformats.org/drawingml/2006/main" w="9525">
            <a:solidFill>
              <a:srgbClr val="3B4658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D5D5A7-71B4-42E0-BE44-91868B989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010150"/>
            <a:ext cx="112395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58823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工具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A7EBB5-A887-4070-902C-6F7ACD6AF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4838700"/>
            <a:ext cx="12763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8000"/>
            </a:srgbClr>
          </a:solidFill>
          <a:ln xmlns:a="http://schemas.openxmlformats.org/drawingml/2006/main" w="9525">
            <a:solidFill>
              <a:srgbClr val="3B4658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E7263C6-854E-401C-81E2-50B401B75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5010150"/>
            <a:ext cx="112395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58823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权限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FC4103-60A5-4BBB-8037-40378CEBD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838700"/>
            <a:ext cx="12763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8000"/>
            </a:srgbClr>
          </a:solidFill>
          <a:ln xmlns:a="http://schemas.openxmlformats.org/drawingml/2006/main" w="9525">
            <a:solidFill>
              <a:srgbClr val="3B4658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8A1A528-C41E-4878-9481-BFAB023A5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5010150"/>
            <a:ext cx="112395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58823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日志</a:t>
            </a:r>
          </a:p>
        </p:txBody>
      </p:sp>
    </p:spTree>
    <p:extLst>
      <p:ext uri="{BB962C8B-B14F-4D97-AF65-F5344CB8AC3E}">
        <p14:creationId xmlns:p14="http://schemas.microsoft.com/office/powerpoint/2010/main" val="680292693"/>
      </p:ext>
    </p:extLst>
  </p:cSld>
</p:sld>
</file>

<file path=ppt/slides/slide2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FFBD996-8CBF-42F1-8D8E-A8BC4415F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solidFill>
              <a:srgbClr val="FAFBFC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83A206-D595-481B-9975-0D4914C85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579ECA-2C69-47F2-83C0-7E90CBB9E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75B79F-829F-4D66-9F65-033B7203F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20955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工具清单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DD10FE-D023-48A8-A1A2-CF6048FA8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8572500" cy="7620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工具不是越多越好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7CD6BF-5426-4B32-8E2E-F0FBF78EB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62100"/>
            <a:ext cx="8763000" cy="4572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每个工具都要说明用途、输入、输出、权限、失败处理和日志。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006E45-9AA0-4EDA-8A18-971B0592D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514350"/>
            <a:ext cx="81915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21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9EF0A6-B26B-41CF-B480-49D9F8EE4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30480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WEI SPACE FDE TRAINING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ECDAC8-798F-41C8-8BFA-0CA189191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6534150"/>
            <a:ext cx="18288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工具权限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161253C-8912-4211-9E53-E78C1224C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81250"/>
            <a:ext cx="34036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7DEE8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1149368-07C4-4CE1-B0B3-9E4AA4DC5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81250"/>
            <a:ext cx="76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A933059-B9C7-4881-85BD-7F3281D59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571750"/>
            <a:ext cx="43815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4938DC5-6F2A-4AAA-8211-F93380F40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552700"/>
            <a:ext cx="2470150" cy="933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查询工具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1E6C6A9-52E0-4031-B0E0-A19100525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4200" y="2381250"/>
            <a:ext cx="34036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7DEE8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A0D0DA7-1A58-4FC0-8B70-EA2070109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4200" y="2381250"/>
            <a:ext cx="76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solidFill>
              <a:srgbClr val="1D4ED8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43F05C9-942A-4D89-9CBD-44BFC13DD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2800" y="2571750"/>
            <a:ext cx="43815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6C79CDB-58A1-4F8C-BFA1-301E3A87C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7150" y="2552700"/>
            <a:ext cx="2470150" cy="933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写回工具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F72A8E8-4A52-4302-958D-D8A2CBFF5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7350" y="2381250"/>
            <a:ext cx="34036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7DEE8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9464030-30B8-49AD-9F32-BA7CC65DD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7350" y="2381250"/>
            <a:ext cx="76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solidFill>
              <a:srgbClr val="B45309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10D47DE-2355-4CF9-BB85-43606AAB1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5950" y="2571750"/>
            <a:ext cx="43815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AD8C302-F89D-4D6E-B57D-8F919A979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0300" y="2552700"/>
            <a:ext cx="2470150" cy="933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通知工具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3C2F737-C786-4E0E-B863-641D54E2C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48100"/>
            <a:ext cx="34036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7DEE8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A77B9C8-30E8-4941-83C6-0874164B7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48100"/>
            <a:ext cx="76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6534"/>
          </a:solidFill>
          <a:ln xmlns:a="http://schemas.openxmlformats.org/drawingml/2006/main" w="0">
            <a:solidFill>
              <a:srgbClr val="166534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54F27D3-16C3-4D79-8AFB-DB861853D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038600"/>
            <a:ext cx="43815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665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66534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23100E2-EABB-4555-9315-FF9D7E597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019550"/>
            <a:ext cx="2470150" cy="933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审批工具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F440AA1-37E3-4CE5-841B-F3F73AAB9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4200" y="3848100"/>
            <a:ext cx="34036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7DEE8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EB01505-1891-4BEA-B895-EFECD1487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4200" y="3848100"/>
            <a:ext cx="76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1C1C"/>
          </a:solidFill>
          <a:ln xmlns:a="http://schemas.openxmlformats.org/drawingml/2006/main" w="0">
            <a:solidFill>
              <a:srgbClr val="B91C1C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BDA5EF8-E99E-4464-ADD2-F873BD6A1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2800" y="4038600"/>
            <a:ext cx="43815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91C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B91C1C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704C3CB-7A61-4629-AE31-3E6A67677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7150" y="4019550"/>
            <a:ext cx="2470150" cy="933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分析工具</a:t>
            </a:r>
          </a:p>
        </p:txBody>
      </p:sp>
    </p:spTree>
    <p:extLst>
      <p:ext uri="{BB962C8B-B14F-4D97-AF65-F5344CB8AC3E}">
        <p14:creationId xmlns:p14="http://schemas.microsoft.com/office/powerpoint/2010/main" val="323972854"/>
      </p:ext>
    </p:extLst>
  </p:cSld>
</p:sld>
</file>

<file path=ppt/slides/slide2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14D4915-B7DA-4BC9-8681-039ECC30C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solidFill>
              <a:srgbClr val="FAFBFC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2A62CB-B495-46F3-BFF9-3C31B8717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C5F02D-0202-4810-B576-C0730C2CF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F08C9A-ABF8-4028-BBBA-FE9D8F257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20955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Schema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04FB72-31BB-4BAF-99E3-F261DACF8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8572500" cy="7620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工具Schema是行动契约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671AC0-8D6B-4800-8867-69EFEC8A1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62100"/>
            <a:ext cx="8763000" cy="4572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参数、枚举、必填字段、校验规则决定Agent能否稳定调用工具。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C1068A-75F3-4551-9AF7-7FCB87941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514350"/>
            <a:ext cx="81915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22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D556E6-7671-4D8E-B903-DBFFA8380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30480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WEI SPACE FDE TRAINING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89C3FFD-8926-4792-9D01-59D25469C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6534150"/>
            <a:ext cx="18288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工具权限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3B55F4B-72D9-4911-8195-2E51B6741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66950"/>
            <a:ext cx="10363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D0E2B11-154B-40E0-993F-05C0F85A9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381250"/>
            <a:ext cx="171450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33333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字段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3E88BEF-55FB-4943-978E-A583F95E6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381250"/>
            <a:ext cx="571500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33333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讲师追问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5322D5E-0BA6-4BAA-90D3-801BF3CAA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67000"/>
            <a:ext cx="103632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7DEE8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14554AC-E794-4DEF-ABF6-33900F93D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790825"/>
            <a:ext cx="1809750" cy="2095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46296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工具名称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9E836C2-B556-46B2-81FB-9AF70B284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781300"/>
            <a:ext cx="723900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58823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需要读写哪些系统？权限由谁批准？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6FB4026-E818-4053-A906-FD27576B8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62300"/>
            <a:ext cx="103632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376CDA4-C9F5-490E-9252-D5986DDAA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286125"/>
            <a:ext cx="1809750" cy="2095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46296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触发条件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279A864-D362-4876-8DA9-EA2A9CEED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276600"/>
            <a:ext cx="723900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58823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写具体证据，不写抽象愿望。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4E4000D-10A2-4B1E-92D0-C6D075601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57600"/>
            <a:ext cx="103632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7DEE8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7FFFFBF-174A-4523-831B-B6B5ECE11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781425"/>
            <a:ext cx="1809750" cy="2095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46296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必填参数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9F66A0E-BDFD-4DF5-B868-51B7A0DEF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771900"/>
            <a:ext cx="723900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58823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写具体证据，不写抽象愿望。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F9C69D4-DA89-418E-96E6-248C6F691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152900"/>
            <a:ext cx="103632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2ECB61F-9B4B-4823-A2AB-79F75B11B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276725"/>
            <a:ext cx="1809750" cy="2095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46296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可选参数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03DB266-82C2-46EE-AE7A-DB8B6F65E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4267200"/>
            <a:ext cx="723900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58823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写具体证据，不写抽象愿望。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002CEA9-EABA-4EB9-8A91-09122A1B8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648200"/>
            <a:ext cx="103632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7DEE8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89D4C2B-DCDC-4D8F-891D-3676DB2BE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772025"/>
            <a:ext cx="1809750" cy="2095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46296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返回结果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DE6F444-8B33-4791-A4D5-C78266A33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4762500"/>
            <a:ext cx="723900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58823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写具体证据，不写抽象愿望。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6EA28A2-10D2-436D-B05D-DDBA06740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143500"/>
            <a:ext cx="103632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97DF5C2-9ACE-4FF1-862F-516D44E69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267325"/>
            <a:ext cx="1809750" cy="2095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46296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错误码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CF33762-7E87-4A16-B286-4CE60E854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5257800"/>
            <a:ext cx="723900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58823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写具体证据，不写抽象愿望。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B85365A-B705-4DD8-B677-A6AA2ED6B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638800"/>
            <a:ext cx="103632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7DEE8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FC757F0-5A02-47B6-AB60-787D909CF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762625"/>
            <a:ext cx="1809750" cy="2095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46296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日志字段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E26237E-DE78-41E9-A6C0-F874EC5B1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5753100"/>
            <a:ext cx="723900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58823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写具体证据，不写抽象愿望。</a:t>
            </a:r>
          </a:p>
        </p:txBody>
      </p:sp>
    </p:spTree>
    <p:extLst>
      <p:ext uri="{BB962C8B-B14F-4D97-AF65-F5344CB8AC3E}">
        <p14:creationId xmlns:p14="http://schemas.microsoft.com/office/powerpoint/2010/main" val="353447517"/>
      </p:ext>
    </p:extLst>
  </p:cSld>
</p:sld>
</file>

<file path=ppt/slides/slide2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7115BB5-5D88-4C95-8946-0533BDACD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solidFill>
              <a:srgbClr val="FAFBFC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FAAFD1-363C-4948-927A-43906499C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3293D7-DC40-4A05-9AB3-8A6157B7E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2E2167-4CC8-489C-A4EF-87CB5E9CB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20955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权限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DAFB8E-F6D9-4D1F-9A2B-09BFFDF69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8572500" cy="7620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权限按角色、场景和动作分层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B1B7FC-005B-4089-8C77-2536B5F20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62100"/>
            <a:ext cx="8763000" cy="4572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读、写、发、删、改、审，每一类动作都要单独授权。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AE22AB-2498-40B5-A915-184A5EE1C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514350"/>
            <a:ext cx="81915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23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91AC5E-D859-44A6-888B-32E9CF0F2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30480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WEI SPACE FDE TRAINING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EE07F67-84A1-4130-B365-C9EBFF7E9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6534150"/>
            <a:ext cx="18288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工具权限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46F183B-2D55-4BE8-8F73-447D163DC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952750"/>
            <a:ext cx="19812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4F1"/>
          </a:solidFill>
          <a:ln xmlns:a="http://schemas.openxmlformats.org/drawingml/2006/main" w="11430">
            <a:solidFill>
              <a:srgbClr val="0F766E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3F4BD4-FC38-49AD-994A-9BFB7CC3F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238500"/>
            <a:ext cx="1600200" cy="285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只读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5FE34DD-7AE5-450B-8E5B-5BA0BE647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705100"/>
            <a:ext cx="198120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F"/>
          </a:solidFill>
          <a:ln xmlns:a="http://schemas.openxmlformats.org/drawingml/2006/main" w="11430">
            <a:solidFill>
              <a:srgbClr val="1D4ED8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056ED92-2AE6-49A4-9609-F5794D2DE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3086100"/>
            <a:ext cx="1600200" cy="285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草稿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6043D9D-06F3-45D2-8DA2-3F702BA4D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457450"/>
            <a:ext cx="19812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E5"/>
          </a:solidFill>
          <a:ln xmlns:a="http://schemas.openxmlformats.org/drawingml/2006/main" w="11430">
            <a:solidFill>
              <a:srgbClr val="B45309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9723B79-CC80-44B9-A2BD-BB7F0BD55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933700"/>
            <a:ext cx="1600200" cy="285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提交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6847777-F1E5-4D7B-A24E-E5F362043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209800"/>
            <a:ext cx="198120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7ED"/>
          </a:solidFill>
          <a:ln xmlns:a="http://schemas.openxmlformats.org/drawingml/2006/main" w="11430">
            <a:solidFill>
              <a:srgbClr val="166534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7C51209-B75E-45B6-8BB7-556F3AB5B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781300"/>
            <a:ext cx="1600200" cy="285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审批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466BF7A-4661-49DE-8CF5-17ECF04CB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1962150"/>
            <a:ext cx="1981200" cy="18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CEC"/>
          </a:solidFill>
          <a:ln xmlns:a="http://schemas.openxmlformats.org/drawingml/2006/main" w="11430">
            <a:solidFill>
              <a:srgbClr val="B91C1C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984379C-0073-4B7D-8B41-F615AFE10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2628900"/>
            <a:ext cx="1600200" cy="285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自动执行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7C84217-4D18-416D-8A63-1DDC4E116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5334000"/>
            <a:ext cx="8153400" cy="285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8182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B91C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B91C1C"/>
                </a:solidFill>
                <a:latin typeface="Microsoft YaHei"/>
                <a:ea typeface="Microsoft YaHei"/>
                <a:cs typeface="Microsoft YaHei"/>
              </a:rPr>
              <a:t>越往右，越需要明确规则、日志、审批和回滚。</a:t>
            </a:r>
          </a:p>
        </p:txBody>
      </p:sp>
    </p:spTree>
    <p:extLst>
      <p:ext uri="{BB962C8B-B14F-4D97-AF65-F5344CB8AC3E}">
        <p14:creationId xmlns:p14="http://schemas.microsoft.com/office/powerpoint/2010/main" val="1950930403"/>
      </p:ext>
    </p:extLst>
  </p:cSld>
</p:sld>
</file>

<file path=ppt/slides/slide2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EF286C5-0C88-4B1D-A09E-1E2BA0E46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solidFill>
              <a:srgbClr val="FAFBFC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8DBB31-B843-4825-9299-53D2AFAEC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3F414F-B81A-4C6D-9576-A20682388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3E80B4-262C-4C5F-BAE8-673F7A9D3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20955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幂等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1EA43E-5486-40B9-AF09-44A329B59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8572500" cy="7620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幂等、重试与回滚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52C16A-B2B5-4CED-9428-D9F0A9FBB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62100"/>
            <a:ext cx="8763000" cy="4572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工具失败不是小概率，FDE要设计重复调用不出事故的机制。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3B27BE-2EAC-4F1E-BA7D-B90E491C6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514350"/>
            <a:ext cx="81915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24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C080F32-494F-4827-A1D5-117035F7A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30480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WEI SPACE FDE TRAINING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55CF60-240C-4281-A6C3-A220DDB1C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6534150"/>
            <a:ext cx="18288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工具权限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5192870-CA31-40AF-8DD8-C0E367EDB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62200"/>
            <a:ext cx="3416300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4F1"/>
          </a:solidFill>
          <a:ln xmlns:a="http://schemas.openxmlformats.org/drawingml/2006/main" w="9525">
            <a:solidFill>
              <a:srgbClr val="0F766E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EFD2D25-0BF3-4B96-BD1F-11DD946C7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590800"/>
            <a:ext cx="2997200" cy="111442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幂等Key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21E2C3C-8246-44F9-A2EC-D6F8E9408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7850" y="2362200"/>
            <a:ext cx="3416300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solidFill>
              <a:srgbClr val="1D4ED8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A794A0B-6F08-4153-8430-B79FF8D5D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7400" y="2590800"/>
            <a:ext cx="2997200" cy="111442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重试次数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8BF946A-9223-41CF-BA6F-84C37D8BD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4650" y="2362200"/>
            <a:ext cx="3416300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E5"/>
          </a:solidFill>
          <a:ln xmlns:a="http://schemas.openxmlformats.org/drawingml/2006/main" w="9525">
            <a:solidFill>
              <a:srgbClr val="B45309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A1B2E3D-11EC-45E6-BA71-FC9F35CE8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4200" y="2590800"/>
            <a:ext cx="2997200" cy="111442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超时处理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62FA94B-85B7-4713-9350-D90EE8073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24325"/>
            <a:ext cx="3416300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7ED"/>
          </a:solidFill>
          <a:ln xmlns:a="http://schemas.openxmlformats.org/drawingml/2006/main" w="9525">
            <a:solidFill>
              <a:srgbClr val="166534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552A70F-A643-49A5-961E-AAAF66F23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352925"/>
            <a:ext cx="2997200" cy="111442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回滚动作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FC3B2FF-C16B-4D42-A293-7615AE3FB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7850" y="4124325"/>
            <a:ext cx="3416300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CEC"/>
          </a:solidFill>
          <a:ln xmlns:a="http://schemas.openxmlformats.org/drawingml/2006/main" w="9525">
            <a:solidFill>
              <a:srgbClr val="B91C1C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71613D3-34FC-4FA0-9690-A00B2BC8A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7400" y="4352925"/>
            <a:ext cx="2997200" cy="111442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人工兜底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A7DF64E-7DA5-4FA7-8E60-B660A66DB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4650" y="4124325"/>
            <a:ext cx="3416300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DFF"/>
          </a:solidFill>
          <a:ln xmlns:a="http://schemas.openxmlformats.org/drawingml/2006/main" w="9525">
            <a:solidFill>
              <a:srgbClr val="6D28D9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D6733F0-D418-4FFF-8BCD-6E0EEA2B6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4200" y="4352925"/>
            <a:ext cx="2997200" cy="111442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告警通知</a:t>
            </a:r>
          </a:p>
        </p:txBody>
      </p:sp>
    </p:spTree>
    <p:extLst>
      <p:ext uri="{BB962C8B-B14F-4D97-AF65-F5344CB8AC3E}">
        <p14:creationId xmlns:p14="http://schemas.microsoft.com/office/powerpoint/2010/main" val="193006037"/>
      </p:ext>
    </p:extLst>
  </p:cSld>
</p:sld>
</file>

<file path=ppt/slides/slide2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3DDC4D3-9BB8-42A7-8DC8-ADFB48EE1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solidFill>
              <a:srgbClr val="FAFBFC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50C957-AB03-4150-A8A1-6944AE19F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7DB9AE-723C-4697-B4CD-964AF59A4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A006B4-4EDA-4A9A-9942-434E35F26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20955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日志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871785-906D-403C-BA3D-CC6093669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8572500" cy="7620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日志是数字员工的黑匣子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8C5E42-8884-4BFA-8A41-01F5DA8B6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62100"/>
            <a:ext cx="8763000" cy="4572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日志要记录谁触发、看了什么、调用什么、结果如何、谁审批。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DA4D30-624E-4F3D-9A0E-69C23D3C8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514350"/>
            <a:ext cx="81915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25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31921C-DC80-4C3E-A625-54FD87F31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30480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WEI SPACE FDE TRAINING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D2F15A7-8221-4B6F-A42B-6968EAD92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6534150"/>
            <a:ext cx="18288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工具权限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425CC24-00BA-4A9A-81C7-AD2379C2D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66950"/>
            <a:ext cx="106299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F61B92B-41A6-4C19-B952-3EA3A73C8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381250"/>
            <a:ext cx="314325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33333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诊断句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7204062-D14D-4F3C-8820-37EC81FA0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381250"/>
            <a:ext cx="590550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33333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FDE要追到的证据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3079901-AE9A-4E05-9B7B-6759F2DF7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67000"/>
            <a:ext cx="106299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7DEE8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3286915-7833-4085-B96B-F9158D4F3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781300"/>
            <a:ext cx="3238500" cy="3619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触发人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D684DA4-27DF-4104-B6D8-04B865F9D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781300"/>
            <a:ext cx="6000750" cy="3619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身份与权限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22F7DD1-4D10-42F3-AA2E-0CE410F34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57550"/>
            <a:ext cx="106299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3E82615-9276-4DC1-92E9-2B8E69873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371850"/>
            <a:ext cx="3238500" cy="3619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上下文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94914CF-CC24-4FEA-AE62-1A72AD2D7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371850"/>
            <a:ext cx="6000750" cy="3619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引用和数据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67E0514-2E44-468E-AED6-19AF309CC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48100"/>
            <a:ext cx="106299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7DEE8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CE2683E-A85B-4875-B97C-7587772C3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962400"/>
            <a:ext cx="3238500" cy="3619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工具调用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FFE3607-6623-4826-91BD-98ED9CAF2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962400"/>
            <a:ext cx="6000750" cy="3619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参数与结果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45265A8-E077-4CF1-8768-BE8BBA3B8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38650"/>
            <a:ext cx="106299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4ED1103-AA94-4159-8B16-A67C211A7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552950"/>
            <a:ext cx="3238500" cy="3619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审批人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1B57EB8-FDDF-48BA-9258-F6579DAB5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552950"/>
            <a:ext cx="6000750" cy="3619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决策理由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C9D85A9-9DA1-4AAC-999E-4D7877281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029200"/>
            <a:ext cx="106299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7DEE8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488B0C2-4B20-4186-8A80-21A25D3F2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143500"/>
            <a:ext cx="3238500" cy="3619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输出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20FBAD5-1C4C-4766-8354-287A1960C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5143500"/>
            <a:ext cx="6000750" cy="3619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写回位置</a:t>
            </a:r>
          </a:p>
        </p:txBody>
      </p:sp>
    </p:spTree>
    <p:extLst>
      <p:ext uri="{BB962C8B-B14F-4D97-AF65-F5344CB8AC3E}">
        <p14:creationId xmlns:p14="http://schemas.microsoft.com/office/powerpoint/2010/main" val="615203766"/>
      </p:ext>
    </p:extLst>
  </p:cSld>
</p:sld>
</file>

<file path=ppt/slides/slide2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EB3FBB5-6E1E-42B6-9455-E6FF00B54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solidFill>
              <a:srgbClr val="FAFBFC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1E9A0D-DB41-4C3F-85A9-5500855B2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ED3CB4-00CF-4758-8B13-5908FC458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BE2901-4CAC-43CC-95BA-5E88EFB12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20955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企微/CRM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BA9B58-F3EE-4FCE-B047-E66B89BE6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8572500" cy="7620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企业微信 + CRM工具接入案例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FD981F-39D6-427B-9F67-B4F9BAD6F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62100"/>
            <a:ext cx="8763000" cy="4572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国内企业数字员工常从企微触发，在CRM或工单系统闭环。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302ACF-6E91-4666-8482-ECE94B229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514350"/>
            <a:ext cx="81915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26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8BB802-6737-412F-9FCB-1ADE97974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30480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WEI SPACE FDE TRAINING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7D057C-474B-4DC3-85C3-9676B3430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6534150"/>
            <a:ext cx="18288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工具权限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C6855EC-6B3E-4AA1-9E8D-F9E4D299E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05050"/>
            <a:ext cx="3048000" cy="285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25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现场事实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C4C68E3-9BC2-41B4-8CDB-DA7ADE1F8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305050"/>
            <a:ext cx="3048000" cy="285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25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诊断含义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A07C270-FDEF-41F3-9783-C1AF02E2F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19400"/>
            <a:ext cx="48768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4F1"/>
          </a:solidFill>
          <a:ln xmlns:a="http://schemas.openxmlformats.org/drawingml/2006/main" w="9525">
            <a:solidFill>
              <a:srgbClr val="D7DEE8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B62B39B-913F-43EC-ABA0-859460227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971800"/>
            <a:ext cx="4457700" cy="2476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1403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企微会话触发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C67F533-6359-4D5A-B5FC-359E7C2B4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00450"/>
            <a:ext cx="48768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solidFill>
              <a:srgbClr val="D7DEE8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82158F8-15C1-4263-9526-989B30F8B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752850"/>
            <a:ext cx="4457700" cy="2476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1403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客户ID匹配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C5FB0FC-B8D8-41FE-9276-097646302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81500"/>
            <a:ext cx="48768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E5"/>
          </a:solidFill>
          <a:ln xmlns:a="http://schemas.openxmlformats.org/drawingml/2006/main" w="9525">
            <a:solidFill>
              <a:srgbClr val="D7DEE8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0CB9D37-1D5D-4DA0-8F0B-564E23D08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533900"/>
            <a:ext cx="4457700" cy="2476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1403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CRM查询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BAC1439-9A88-4E37-9D6C-853B16195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819400"/>
            <a:ext cx="48196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A280115-55A6-434A-BF43-B799391CE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971800"/>
            <a:ext cx="4400550" cy="2476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1403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生成跟进建议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20E5641-4D28-4FA1-B1DD-35067F32A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600450"/>
            <a:ext cx="48196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85BD7F2-9590-41FE-9075-4C24AC352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752850"/>
            <a:ext cx="4400550" cy="2476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1403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销售确认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DB01A54-83E1-4192-904E-966AA677D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381500"/>
            <a:ext cx="48196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19D731F-FC56-41E3-A163-C1A5AB393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533900"/>
            <a:ext cx="4400550" cy="2476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1403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写回CRM</a:t>
            </a:r>
          </a:p>
        </p:txBody>
      </p:sp>
    </p:spTree>
    <p:extLst>
      <p:ext uri="{BB962C8B-B14F-4D97-AF65-F5344CB8AC3E}">
        <p14:creationId xmlns:p14="http://schemas.microsoft.com/office/powerpoint/2010/main" val="1537255656"/>
      </p:ext>
    </p:extLst>
  </p:cSld>
</p:sld>
</file>

<file path=ppt/slides/slide2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95348A7-2D71-4BA3-B836-F0F2800E3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solidFill>
              <a:srgbClr val="FAFBFC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A61F28-62F5-4310-8C71-BCF6838A7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CF68CC-E31C-4B2A-B8BE-864565110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7ADC3D-C097-4A74-BC3F-FC6FF9C33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20955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练习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D4666B-1CA9-4B6D-9854-58796B90C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8572500" cy="7620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设计一个工具调用说明书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070993-310D-4133-8DF9-9EDDC36C0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62100"/>
            <a:ext cx="8763000" cy="4572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学员要为一个工具写清参数、权限、失败和日志。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95E70F-7BDD-4867-A83A-670245B7F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514350"/>
            <a:ext cx="81915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27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F33F2E-5EC0-48E2-B0EA-8ACD2194B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30480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WEI SPACE FDE TRAINING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DE10EC-CE49-4F43-99BC-2F731E7D9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6534150"/>
            <a:ext cx="18288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工具权限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74018D2-8D3D-40DD-B4B7-6676F2186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43150"/>
            <a:ext cx="37338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7DEE8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B308EE5-C672-40A5-8EAF-9AB27AF70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67000"/>
            <a:ext cx="15240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55555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课堂动作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BA25FF6-2D73-47D2-B14B-66D105230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124200"/>
            <a:ext cx="1714500" cy="3619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10分钟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B3769AD-4BE1-41EB-B36D-AAF986417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771900"/>
            <a:ext cx="2857500" cy="666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讲师示范后，学员用自己的真实流程产出材料。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8D23BA6-CC2B-4CA6-B949-723AFC51F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4193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F4F1"/>
          </a:solidFill>
          <a:ln xmlns:a="http://schemas.openxmlformats.org/drawingml/2006/main" w="9525">
            <a:solidFill>
              <a:srgbClr val="0F766E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AD9C1CB-A326-417F-8629-CBF6EB499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505075"/>
            <a:ext cx="323850" cy="1524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27778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D9DCF10-FF0C-4C25-96EE-5D4A12ACE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2381250"/>
            <a:ext cx="5048250" cy="4191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选一个工具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EC94C43-EAD3-42A7-82BE-B64E640C3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0670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solidFill>
              <a:srgbClr val="1D4ED8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DB31F09-BE9D-47FA-B830-4118E6756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152775"/>
            <a:ext cx="323850" cy="1524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27778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155686E-E393-461F-ACDF-A4B738DF3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3028950"/>
            <a:ext cx="5048250" cy="4191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写Schema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D71CB95-BA9C-44F7-B54E-E08908DF9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7147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4E5"/>
          </a:solidFill>
          <a:ln xmlns:a="http://schemas.openxmlformats.org/drawingml/2006/main" w="9525">
            <a:solidFill>
              <a:srgbClr val="B45309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8F0EBE2-CBBF-43B1-81AE-2624F7806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800475"/>
            <a:ext cx="323850" cy="1524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27778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14E48A5-1058-4E7B-9781-921121FA7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3676650"/>
            <a:ext cx="5048250" cy="4191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标权限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416617F-2CA8-4491-AADA-491721E6F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3624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7ED"/>
          </a:solidFill>
          <a:ln xmlns:a="http://schemas.openxmlformats.org/drawingml/2006/main" w="9525">
            <a:solidFill>
              <a:srgbClr val="166534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FDEF18D-64B7-44A8-89F4-E9DEFE084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448175"/>
            <a:ext cx="323850" cy="1524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27778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665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166534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AE689CF-7F9C-42CC-AA18-7723C311E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4324350"/>
            <a:ext cx="5048250" cy="4191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写失败处理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20F5A57-7176-47C4-9897-9276D4099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50101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EECEC"/>
          </a:solidFill>
          <a:ln xmlns:a="http://schemas.openxmlformats.org/drawingml/2006/main" w="9525">
            <a:solidFill>
              <a:srgbClr val="B91C1C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F2C7A25-092B-471B-841F-EC9B1EA89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5095875"/>
            <a:ext cx="323850" cy="1524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27778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B91C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B91C1C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6BA1D09-A4BA-46F4-81A2-B1FE5374F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4972050"/>
            <a:ext cx="5048250" cy="4191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写日志字段</a:t>
            </a:r>
          </a:p>
        </p:txBody>
      </p:sp>
    </p:spTree>
    <p:extLst>
      <p:ext uri="{BB962C8B-B14F-4D97-AF65-F5344CB8AC3E}">
        <p14:creationId xmlns:p14="http://schemas.microsoft.com/office/powerpoint/2010/main" val="909739921"/>
      </p:ext>
    </p:extLst>
  </p:cSld>
</p:sld>
</file>

<file path=ppt/slides/slide2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91D8990-1EA6-4D85-9F62-C86DB48E2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0">
            <a:solidFill>
              <a:srgbClr val="0B1220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190CA5-B9D8-4ECF-83C6-80FA906CC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F24A50-E0F1-4114-973A-7DB0767F6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895350"/>
            <a:ext cx="2095500" cy="285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83333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Part 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864957-2706-47E9-9D29-650F6EB3D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57350"/>
            <a:ext cx="8096250" cy="10668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人机协作与安全护栏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62D576-5B50-4644-B871-8BF2E22EF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48000"/>
            <a:ext cx="7334250" cy="6286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D7DEE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D7DEE9"/>
                </a:solidFill>
                <a:latin typeface="Microsoft YaHei"/>
                <a:ea typeface="Microsoft YaHei"/>
                <a:cs typeface="Microsoft YaHei"/>
              </a:rPr>
              <a:t>企业AI不是替代人，而是重新设计人机分工。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B8E40B-92E6-4216-BE93-957821536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38700"/>
            <a:ext cx="12763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8000"/>
            </a:srgbClr>
          </a:solidFill>
          <a:ln xmlns:a="http://schemas.openxmlformats.org/drawingml/2006/main" w="9525">
            <a:solidFill>
              <a:srgbClr val="3B4658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7DBF8E-5A1B-4712-891D-EDF748A7C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010150"/>
            <a:ext cx="112395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58823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人审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713EDA-0AAD-42E6-93B6-375406382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4838700"/>
            <a:ext cx="12763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8000"/>
            </a:srgbClr>
          </a:solidFill>
          <a:ln xmlns:a="http://schemas.openxmlformats.org/drawingml/2006/main" w="9525">
            <a:solidFill>
              <a:srgbClr val="3B4658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8C635CE-DAE2-499E-9B2D-B62261DFA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5010150"/>
            <a:ext cx="112395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58823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接管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89EB658-8112-4CAF-A84D-24A0E5D4B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838700"/>
            <a:ext cx="12763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8000"/>
            </a:srgbClr>
          </a:solidFill>
          <a:ln xmlns:a="http://schemas.openxmlformats.org/drawingml/2006/main" w="9525">
            <a:solidFill>
              <a:srgbClr val="3B4658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ECE35C9-F4CE-4B11-A529-C55407D0D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5010150"/>
            <a:ext cx="112395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58823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合规</a:t>
            </a:r>
          </a:p>
        </p:txBody>
      </p:sp>
    </p:spTree>
    <p:extLst>
      <p:ext uri="{BB962C8B-B14F-4D97-AF65-F5344CB8AC3E}">
        <p14:creationId xmlns:p14="http://schemas.microsoft.com/office/powerpoint/2010/main" val="596705691"/>
      </p:ext>
    </p:extLst>
  </p:cSld>
</p:sld>
</file>

<file path=ppt/slides/slide2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1DC860C-5CE2-4CEC-83F6-BF2E7DBA2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solidFill>
              <a:srgbClr val="FAFBFC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DB292C-B141-4E19-8158-3B25E00F3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4D31FE-AC79-4E79-9C91-622111105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BC89EE-26AC-424A-813E-4D9128236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20955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风险分级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82E3B8-246F-433A-B1FC-A4B323DFA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8572500" cy="7620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四级行动权限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929D1E-C011-4387-92B0-5CD15746F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62100"/>
            <a:ext cx="8763000" cy="4572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按风险决定AI能回答、起草、提交审批还是自动执行。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BB55F2-79CA-476E-9ABC-CD46A2C56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514350"/>
            <a:ext cx="81915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29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104896-BF21-4BE1-9508-3C08C5658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30480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WEI SPACE FDE TRAINING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2CF1CEB-339D-4551-93BB-82B8AD9F5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6534150"/>
            <a:ext cx="18288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人机护栏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AD2E4F4-58CD-4485-A03C-E425C1AB1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66950"/>
            <a:ext cx="33909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0F766E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3CD0FF2-D30D-44F7-A843-36ACD4013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19350"/>
            <a:ext cx="285750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47619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L0回答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2249723-1337-4AE0-8379-A11A5A685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24150"/>
            <a:ext cx="291465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85984"/>
          </a:bodyPr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低风险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9DD2F27-F9B1-4807-ABA6-A95921315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266950"/>
            <a:ext cx="33909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D4ED8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8164E94-0F20-48C1-8017-B3D753CFC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419350"/>
            <a:ext cx="285750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47619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L1草稿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9756BBC-F17A-42C7-8E18-F6512E809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724150"/>
            <a:ext cx="291465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85984"/>
          </a:bodyPr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人确认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E119CC9-C6A1-4A5A-AFC1-308E3810A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266950"/>
            <a:ext cx="33909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45309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7BAF63C-72D9-467B-B307-3DC9F077B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419350"/>
            <a:ext cx="285750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47619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L2审批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8FCCD74-3142-4488-9E63-8DF339476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724150"/>
            <a:ext cx="291465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85984"/>
          </a:bodyPr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主管通过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4C10358-54D8-4601-84AC-D7A8BC14E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95650"/>
            <a:ext cx="33909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66534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068BAF8-B27E-4F83-8244-6D606AB48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448050"/>
            <a:ext cx="285750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47619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665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66534"/>
                </a:solidFill>
                <a:latin typeface="Microsoft YaHei"/>
                <a:ea typeface="Microsoft YaHei"/>
                <a:cs typeface="Microsoft YaHei"/>
              </a:rPr>
              <a:t>L3执行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06826C0-875A-4388-AFF9-EA13EAB29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752850"/>
            <a:ext cx="291465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85984"/>
          </a:bodyPr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低风险自动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6056CA9-D0AA-4BB1-B1D9-7E972A2DF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295650"/>
            <a:ext cx="33909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91C1C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6F55D9E-DC26-4913-B980-6D0189B3D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448050"/>
            <a:ext cx="285750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47619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B91C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B91C1C"/>
                </a:solidFill>
                <a:latin typeface="Microsoft YaHei"/>
                <a:ea typeface="Microsoft YaHei"/>
                <a:cs typeface="Microsoft YaHei"/>
              </a:rPr>
              <a:t>禁止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24ED6EA-CBCC-4C61-8F8A-EC261A1AE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752850"/>
            <a:ext cx="291465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85984"/>
          </a:bodyPr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高敏动作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E681F56-75D6-4927-8075-2A6624905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295650"/>
            <a:ext cx="33909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6D28D9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5B8CB66-F9D8-4B26-BE1E-98B4BBB50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448050"/>
            <a:ext cx="285750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47619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6D28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6D28D9"/>
                </a:solidFill>
                <a:latin typeface="Microsoft YaHei"/>
                <a:ea typeface="Microsoft YaHei"/>
                <a:cs typeface="Microsoft YaHei"/>
              </a:rPr>
              <a:t>复盘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78ED2EA-325B-44D9-AA20-BCD6B77B7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752850"/>
            <a:ext cx="291465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85984"/>
          </a:bodyPr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全程留痕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C96A50F-A5FC-4DD2-83F5-714D45196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5467350"/>
            <a:ext cx="746760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76389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评分必须写证据：不能只填数字。</a:t>
            </a:r>
          </a:p>
        </p:txBody>
      </p:sp>
    </p:spTree>
    <p:extLst>
      <p:ext uri="{BB962C8B-B14F-4D97-AF65-F5344CB8AC3E}">
        <p14:creationId xmlns:p14="http://schemas.microsoft.com/office/powerpoint/2010/main" val="62911276"/>
      </p:ext>
    </p:extLst>
  </p:cSld>
</p:sld>
</file>

<file path=ppt/slides/slide3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11D2C11-5F9F-454F-88F6-1D27C7AA9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solidFill>
              <a:srgbClr val="FAFBFC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F8E42F-653B-462C-B992-0838D0B93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360467-8195-49AD-B0BC-ADEA79D14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D74128-2EC0-403D-A424-DDA9DE94E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20955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人审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C95F64-DB6C-41AC-81D7-00B9B5F8B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8572500" cy="7620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人审不是慢，而是生产安全阀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2A3191-A88E-49BC-91F3-17982731E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62100"/>
            <a:ext cx="8763000" cy="4572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人审要设计触发条件、审什么、给谁审、超时怎么办。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E15DC2-3805-44F9-ACFC-38D87799A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514350"/>
            <a:ext cx="81915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30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971248-46B3-41F5-BCA2-007DBD2B5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30480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WEI SPACE FDE TRAINING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1D4D93D-1EB4-4C1D-88D2-BB8C4EA3E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6534150"/>
            <a:ext cx="18288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人机护栏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B79EB47-0BF5-4F2A-9713-10510A50F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81250"/>
            <a:ext cx="34036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7DEE8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3E8CCFC-2B47-48DE-B8F5-E770C14DF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81250"/>
            <a:ext cx="76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B1D934E-C1FA-43CB-A66F-37817A9A8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571750"/>
            <a:ext cx="43815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69C287D-F5B1-4433-BF62-E80F0DD03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552700"/>
            <a:ext cx="2470150" cy="933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低置信度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BBDA63B-C9EF-4BC3-BB14-2F7D4CDA4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4200" y="2381250"/>
            <a:ext cx="34036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7DEE8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15D3678-7C36-400B-B609-13FBBC2FD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4200" y="2381250"/>
            <a:ext cx="76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solidFill>
              <a:srgbClr val="1D4ED8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7116A56-B7B4-4E75-9E07-61348BF38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2800" y="2571750"/>
            <a:ext cx="43815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A99FB3F-5A61-4C66-AE6D-6B477209C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7150" y="2552700"/>
            <a:ext cx="2470150" cy="933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金额较高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D006A10-D1E9-43AA-806F-728182362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7350" y="2381250"/>
            <a:ext cx="34036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7DEE8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36BE7E1-DBDA-4460-BC4C-2BE01C134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7350" y="2381250"/>
            <a:ext cx="76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solidFill>
              <a:srgbClr val="B45309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198B7C5-82D5-4551-AC31-6AC9632E3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5950" y="2571750"/>
            <a:ext cx="43815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039F6CD-5E01-41AA-AC6C-2E6C79D60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0300" y="2552700"/>
            <a:ext cx="2470150" cy="933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客户承诺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064611C-A2A9-4DF7-BDFC-51E0310CE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48100"/>
            <a:ext cx="34036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7DEE8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B4DBD22-FE10-4E27-8785-6A17836D1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48100"/>
            <a:ext cx="76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6534"/>
          </a:solidFill>
          <a:ln xmlns:a="http://schemas.openxmlformats.org/drawingml/2006/main" w="0">
            <a:solidFill>
              <a:srgbClr val="166534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4C11300-27C4-452B-BF2E-ED7CD14B1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038600"/>
            <a:ext cx="43815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665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66534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E5747F0-C22B-4CF2-B508-485BF18EA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019550"/>
            <a:ext cx="2470150" cy="933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合规敏感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65AD769-2028-49DB-98C7-5D4A1CD8B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4200" y="3848100"/>
            <a:ext cx="34036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7DEE8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29355C6-4209-43F7-B99F-B2E36581A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4200" y="3848100"/>
            <a:ext cx="76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1C1C"/>
          </a:solidFill>
          <a:ln xmlns:a="http://schemas.openxmlformats.org/drawingml/2006/main" w="0">
            <a:solidFill>
              <a:srgbClr val="B91C1C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B7B4F06-FEC6-49FE-8B0E-B7E7308EB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2800" y="4038600"/>
            <a:ext cx="43815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91C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B91C1C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9318D14-9760-46D9-83D4-B752D9B46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7150" y="4019550"/>
            <a:ext cx="2470150" cy="933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异常投诉</a:t>
            </a:r>
          </a:p>
        </p:txBody>
      </p:sp>
    </p:spTree>
    <p:extLst>
      <p:ext uri="{BB962C8B-B14F-4D97-AF65-F5344CB8AC3E}">
        <p14:creationId xmlns:p14="http://schemas.microsoft.com/office/powerpoint/2010/main" val="1501426417"/>
      </p:ext>
    </p:extLst>
  </p:cSld>
</p:sld>
</file>

<file path=ppt/slides/slide3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80B25BF-366C-4E89-910C-F231C90F0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solidFill>
              <a:srgbClr val="FAFBFC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0D0AD7-0521-4BEF-AFCF-2C2D1EC7C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016CD5-9ADA-4925-834A-B331F8B45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F1C7A9-E333-479C-8D16-3E734B25B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20955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拒绝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818D0A-60FB-4783-A1AA-BE223B9C8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8572500" cy="7620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会拒绝的Agent更可靠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DFEA07-580D-4F15-BADC-5D1A8A610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62100"/>
            <a:ext cx="8763000" cy="4572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越权、无依据、高风险、超范围和冲突信息必须拒绝或转人工。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7A0960-AA17-4BDE-BFAD-52055D7C3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514350"/>
            <a:ext cx="81915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31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498DE8-5191-4669-AFAD-FD8BD84A3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30480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WEI SPACE FDE TRAINING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F2B9C0-89E9-4B43-96E0-043560054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6534150"/>
            <a:ext cx="18288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人机护栏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51E5956-754A-4E92-9435-783103808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952750"/>
            <a:ext cx="19812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4F1"/>
          </a:solidFill>
          <a:ln xmlns:a="http://schemas.openxmlformats.org/drawingml/2006/main" w="11430">
            <a:solidFill>
              <a:srgbClr val="0F766E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97A5F21-E7B1-4F01-9DFF-44783AD3D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238500"/>
            <a:ext cx="1600200" cy="285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越权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6EE0C64-EBC7-48D0-BD9A-CAE7EAEEB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705100"/>
            <a:ext cx="198120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F"/>
          </a:solidFill>
          <a:ln xmlns:a="http://schemas.openxmlformats.org/drawingml/2006/main" w="11430">
            <a:solidFill>
              <a:srgbClr val="1D4ED8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4B6EA11-B963-404E-9B31-BB4EFBB99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3086100"/>
            <a:ext cx="1600200" cy="285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无依据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75CFC54-960D-4275-9DC9-1F6ADC5B7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457450"/>
            <a:ext cx="19812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E5"/>
          </a:solidFill>
          <a:ln xmlns:a="http://schemas.openxmlformats.org/drawingml/2006/main" w="11430">
            <a:solidFill>
              <a:srgbClr val="B45309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7366D1A-B8E0-4078-921F-9CAE77B7E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933700"/>
            <a:ext cx="1600200" cy="285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高风险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C25DAB7-EB78-4235-9F7C-D27F18101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209800"/>
            <a:ext cx="198120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7ED"/>
          </a:solidFill>
          <a:ln xmlns:a="http://schemas.openxmlformats.org/drawingml/2006/main" w="11430">
            <a:solidFill>
              <a:srgbClr val="166534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61723F1-0612-48A1-95B0-E11ABBC2F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781300"/>
            <a:ext cx="1600200" cy="285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超范围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810FDD7-D16C-4B2E-B6FC-83C616FB9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5334000"/>
            <a:ext cx="8153400" cy="285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8182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B91C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B91C1C"/>
                </a:solidFill>
                <a:latin typeface="Microsoft YaHei"/>
                <a:ea typeface="Microsoft YaHei"/>
                <a:cs typeface="Microsoft YaHei"/>
              </a:rPr>
              <a:t>越往右，越需要明确规则、日志、审批和回滚。</a:t>
            </a:r>
          </a:p>
        </p:txBody>
      </p:sp>
    </p:spTree>
    <p:extLst>
      <p:ext uri="{BB962C8B-B14F-4D97-AF65-F5344CB8AC3E}">
        <p14:creationId xmlns:p14="http://schemas.microsoft.com/office/powerpoint/2010/main" val="1288263467"/>
      </p:ext>
    </p:extLst>
  </p:cSld>
</p:sld>
</file>

<file path=ppt/slides/slide3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4D9B213-2875-4A47-989C-339D87861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solidFill>
              <a:srgbClr val="FAFBFC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D7F108-AF4D-4C44-BAC8-8810AA2A8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C65729-7051-41A3-A9CC-88762451E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D1E3FB-F12E-411D-809B-9FE67E3D0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20955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接管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24D805-136C-4DFB-9792-60A18441C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8572500" cy="7620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人工接管SOP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62ABAC-E7A0-437C-9111-EFDDF626C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62100"/>
            <a:ext cx="8763000" cy="4572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接管要带上下文，而不是把问题甩给人。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333CE4-3340-4162-BA85-C9FCCB61E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514350"/>
            <a:ext cx="81915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32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EE55A7-39D5-4D2B-B754-DFFE44817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30480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WEI SPACE FDE TRAINING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F28DB42-C604-4F68-86B5-A4E6A16D6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6534150"/>
            <a:ext cx="18288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人机护栏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D64933B-A6E8-444D-BFB9-ABF7E0857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66950"/>
            <a:ext cx="106299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43B3E73-968F-455D-AA74-92C8A79BC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381250"/>
            <a:ext cx="314325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33333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诊断句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975D0CD-52DD-407A-9B97-2DB0E8BA1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381250"/>
            <a:ext cx="590550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33333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FDE要追到的证据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B278BC7-9806-42FF-B33C-EDBC22C2E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67000"/>
            <a:ext cx="106299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7DEE8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F7BC89D-BF1A-447F-91F8-433885676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781300"/>
            <a:ext cx="3238500" cy="3619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触发条件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41BC7F1-3F74-4952-A280-18A549E79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781300"/>
            <a:ext cx="6000750" cy="3619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为什么接管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643EEE8-EC39-4DB3-A215-912446EF2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57550"/>
            <a:ext cx="106299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BD3A5E0-0A9A-49E3-BC5C-A4537DEFF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371850"/>
            <a:ext cx="3238500" cy="3619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接管对象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05ED999-9D9B-4D2F-87D1-78950847E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371850"/>
            <a:ext cx="6000750" cy="3619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谁处理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FBCFC04-C441-4EC2-A59C-0F3C14DA1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48100"/>
            <a:ext cx="106299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7DEE8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179AD36-2459-42BC-91A0-16C944931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962400"/>
            <a:ext cx="3238500" cy="3619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携带上下文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F992AA9-B459-44FF-87C3-8396471B8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962400"/>
            <a:ext cx="6000750" cy="3619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材料和工具结果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798554F-1B88-44A3-8B9F-094F23E54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38650"/>
            <a:ext cx="106299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0C1E7BE-0B88-4FE5-9658-62302DD30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552950"/>
            <a:ext cx="3238500" cy="3619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处理结果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5F1A347-4563-4894-8F60-C0B5828BA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552950"/>
            <a:ext cx="6000750" cy="3619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如何回写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34C9D54-C1CD-4560-8AE3-D80DB85F5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029200"/>
            <a:ext cx="106299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7DEE8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6A2B0A5-8EAB-4E84-ABD3-E9364F87C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143500"/>
            <a:ext cx="3238500" cy="3619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复盘标签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EC61A97-035A-4EDB-A137-134DFE49A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5143500"/>
            <a:ext cx="6000750" cy="3619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如何改进</a:t>
            </a:r>
          </a:p>
        </p:txBody>
      </p:sp>
    </p:spTree>
    <p:extLst>
      <p:ext uri="{BB962C8B-B14F-4D97-AF65-F5344CB8AC3E}">
        <p14:creationId xmlns:p14="http://schemas.microsoft.com/office/powerpoint/2010/main" val="2119617494"/>
      </p:ext>
    </p:extLst>
  </p:cSld>
</p:sld>
</file>

<file path=ppt/slides/slide3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59AEB05-BDB6-4F1E-AA3B-17990CE04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solidFill>
              <a:srgbClr val="FAFBFC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926B4C-DE12-4DC5-A3ED-B52631D49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CA33A2-7DE1-49F5-9333-593E53FE9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C2F63E-236B-4725-8BB1-3D4C98779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20955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安全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45BF79-E9B7-44EC-9989-C150338EB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8572500" cy="7620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护栏设计的五类策略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626DD4-8CCB-49D6-B66B-A2DF1E09E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62100"/>
            <a:ext cx="8763000" cy="4572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安全不是一句禁止，而是输入、过程、工具、输出和运营多层防线。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05C4DA-FE60-4E7C-A16A-06737C7BE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514350"/>
            <a:ext cx="81915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33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F20209-7586-4DEF-ACBD-ABF0EA660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30480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WEI SPACE FDE TRAINING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B63ACB2-4FFD-4CEA-BEBC-2082B02AB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6534150"/>
            <a:ext cx="18288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人机护栏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6DF8B59-81A1-47BB-97C2-FCBBFF718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62200"/>
            <a:ext cx="3416300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4F1"/>
          </a:solidFill>
          <a:ln xmlns:a="http://schemas.openxmlformats.org/drawingml/2006/main" w="9525">
            <a:solidFill>
              <a:srgbClr val="0F766E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7CA475-A7E0-400C-A74F-27AE70291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590800"/>
            <a:ext cx="2997200" cy="111442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输入过滤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93F93E5-8D47-4027-A929-B845268CB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7850" y="2362200"/>
            <a:ext cx="3416300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solidFill>
              <a:srgbClr val="1D4ED8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C251BFC-2FB3-443B-8A9E-ED73139D9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7400" y="2590800"/>
            <a:ext cx="2997200" cy="111442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检索权限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6FC4973-9811-4D03-BCE5-765ECAC48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4650" y="2362200"/>
            <a:ext cx="3416300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E5"/>
          </a:solidFill>
          <a:ln xmlns:a="http://schemas.openxmlformats.org/drawingml/2006/main" w="9525">
            <a:solidFill>
              <a:srgbClr val="B45309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67A1D55-5C36-4834-A5DC-67723C421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4200" y="2590800"/>
            <a:ext cx="2997200" cy="111442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工具约束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268A1D3-DF90-4613-AF7F-8172E43D1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24325"/>
            <a:ext cx="3416300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7ED"/>
          </a:solidFill>
          <a:ln xmlns:a="http://schemas.openxmlformats.org/drawingml/2006/main" w="9525">
            <a:solidFill>
              <a:srgbClr val="166534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8451AAA-C266-4612-AD97-7B0BD5089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352925"/>
            <a:ext cx="2997200" cy="111442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输出校验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FAEDF71-AE21-4F17-A493-4EAA60B66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7850" y="4124325"/>
            <a:ext cx="3416300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CEC"/>
          </a:solidFill>
          <a:ln xmlns:a="http://schemas.openxmlformats.org/drawingml/2006/main" w="9525">
            <a:solidFill>
              <a:srgbClr val="B91C1C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D6DEF44-3826-43DE-B5D0-96463AC19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7400" y="4352925"/>
            <a:ext cx="2997200" cy="111442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人审接管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4693DAB-177C-45BE-9A28-098EBCE69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4650" y="4124325"/>
            <a:ext cx="3416300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DFF"/>
          </a:solidFill>
          <a:ln xmlns:a="http://schemas.openxmlformats.org/drawingml/2006/main" w="9525">
            <a:solidFill>
              <a:srgbClr val="6D28D9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CFA977D-56D2-4EA5-9735-B3344191B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4200" y="4352925"/>
            <a:ext cx="2997200" cy="111442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运营复盘</a:t>
            </a:r>
          </a:p>
        </p:txBody>
      </p:sp>
    </p:spTree>
    <p:extLst>
      <p:ext uri="{BB962C8B-B14F-4D97-AF65-F5344CB8AC3E}">
        <p14:creationId xmlns:p14="http://schemas.microsoft.com/office/powerpoint/2010/main" val="141109621"/>
      </p:ext>
    </p:extLst>
  </p:cSld>
</p:sld>
</file>

<file path=ppt/slides/slide3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A82F031-5EB1-43FF-8BC7-84271123F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solidFill>
              <a:srgbClr val="FAFBFC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8E2BC1-F0A7-49B3-ABD0-EA9694310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21A68A-CB12-4256-A786-B5C26F39E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54EBE3-481B-490D-99E4-B0A342F96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20955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练习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59CCE9-86A8-4A85-BA74-31CE248BA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8572500" cy="7620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为数字员工设计安全护栏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858FD8-3EF8-441E-B8BB-752ADA646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62100"/>
            <a:ext cx="8763000" cy="4572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每组为自己的数字员工写出拒绝、接管、审批和日志规则。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1D92E2-D1F5-481A-829D-625F2FA30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514350"/>
            <a:ext cx="81915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34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981A23F-F015-4CE0-93F7-95B43AF95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30480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WEI SPACE FDE TRAINING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D5230E2-4BE5-4CA1-BEF0-DA0227BA6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6534150"/>
            <a:ext cx="18288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人机护栏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45C0BB8-6423-4073-A830-1E7179A69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43150"/>
            <a:ext cx="37338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7DEE8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6789786-9B67-4A12-AD0C-E29FEE823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67000"/>
            <a:ext cx="15240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55555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课堂动作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1A4EE14-DA6A-41B5-B383-CED0E3FB3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124200"/>
            <a:ext cx="1714500" cy="3619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10分钟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9B7B7B4-4CF3-4BA1-9D1F-65450FC18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771900"/>
            <a:ext cx="2857500" cy="666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讲师示范后，学员用自己的真实流程产出材料。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7BEFD7C-C2BB-4865-967E-79EDB9107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4193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F4F1"/>
          </a:solidFill>
          <a:ln xmlns:a="http://schemas.openxmlformats.org/drawingml/2006/main" w="9525">
            <a:solidFill>
              <a:srgbClr val="0F766E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0B86547-885A-4640-8AE3-479049446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505075"/>
            <a:ext cx="323850" cy="1524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27778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7E81367-8BD1-4ED0-8C2C-4A2457BFB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2381250"/>
            <a:ext cx="5048250" cy="4191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写禁止事项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86A421D-F428-45BB-A660-23F260CC5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0670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solidFill>
              <a:srgbClr val="1D4ED8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FA675FC-D571-436D-8105-F26CCE5A3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152775"/>
            <a:ext cx="323850" cy="1524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27778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9DE7B2E-A7B5-4D84-AE70-6E0436D72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3028950"/>
            <a:ext cx="5048250" cy="4191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写接管条件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73DCFEF-04A2-4CB9-A05A-4F9E30C03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7147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4E5"/>
          </a:solidFill>
          <a:ln xmlns:a="http://schemas.openxmlformats.org/drawingml/2006/main" w="9525">
            <a:solidFill>
              <a:srgbClr val="B45309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EBB26B0-2824-42FC-96CD-827BB51F2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800475"/>
            <a:ext cx="323850" cy="1524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27778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836BD73-B148-49E1-A9DA-4D850A52A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3676650"/>
            <a:ext cx="5048250" cy="4191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写审批节点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E21CFF5-F4A6-4418-A209-6E00FEB61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3624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7ED"/>
          </a:solidFill>
          <a:ln xmlns:a="http://schemas.openxmlformats.org/drawingml/2006/main" w="9525">
            <a:solidFill>
              <a:srgbClr val="166534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A7EE8EB-E12E-4CDA-9CE9-2A381575B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448175"/>
            <a:ext cx="323850" cy="1524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27778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665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166534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9B79A91-A25F-47E5-9328-F6D955CD3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4324350"/>
            <a:ext cx="5048250" cy="4191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写输出校验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58B1FAE-08DB-4FEC-811B-9C10F04F5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50101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EECEC"/>
          </a:solidFill>
          <a:ln xmlns:a="http://schemas.openxmlformats.org/drawingml/2006/main" w="9525">
            <a:solidFill>
              <a:srgbClr val="B91C1C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EBA63A2-508B-4967-99B0-7D9F4B848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5095875"/>
            <a:ext cx="323850" cy="1524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27778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B91C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B91C1C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889E24E-DE83-4DFC-9B65-7B6B3D37F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4972050"/>
            <a:ext cx="5048250" cy="4191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写复盘字段</a:t>
            </a:r>
          </a:p>
        </p:txBody>
      </p:sp>
    </p:spTree>
    <p:extLst>
      <p:ext uri="{BB962C8B-B14F-4D97-AF65-F5344CB8AC3E}">
        <p14:creationId xmlns:p14="http://schemas.microsoft.com/office/powerpoint/2010/main" val="1246944120"/>
      </p:ext>
    </p:extLst>
  </p:cSld>
</p:sld>
</file>

<file path=ppt/slides/slide3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D016AB2-5207-451E-832E-C8B4D5588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0">
            <a:solidFill>
              <a:srgbClr val="0B1220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86E353-EF5E-4677-802F-FCCC91AD5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653E54-B364-4450-B1FD-10366A23A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895350"/>
            <a:ext cx="2095500" cy="285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83333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Part 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59AC05-5071-460F-9FEB-5DD6A5FC5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57350"/>
            <a:ext cx="8096250" cy="10668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编排模式与多Agent协作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B2D944-DCCC-48FA-8E22-28DB7868A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48000"/>
            <a:ext cx="7334250" cy="6286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D7DEE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D7DEE9"/>
                </a:solidFill>
                <a:latin typeface="Microsoft YaHei"/>
                <a:ea typeface="Microsoft YaHei"/>
                <a:cs typeface="Microsoft YaHei"/>
              </a:rPr>
              <a:t>不同复杂度的业务流程，需要不同编排模式。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371FF2-07C3-4081-B611-DE460422B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38700"/>
            <a:ext cx="12763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8000"/>
            </a:srgbClr>
          </a:solidFill>
          <a:ln xmlns:a="http://schemas.openxmlformats.org/drawingml/2006/main" w="9525">
            <a:solidFill>
              <a:srgbClr val="3B4658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27550A-C5D4-49C7-88E6-A7A2F60D6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010150"/>
            <a:ext cx="112395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58823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工作流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F6CA02-C457-4994-A95B-47F2BABF2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4838700"/>
            <a:ext cx="12763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8000"/>
            </a:srgbClr>
          </a:solidFill>
          <a:ln xmlns:a="http://schemas.openxmlformats.org/drawingml/2006/main" w="9525">
            <a:solidFill>
              <a:srgbClr val="3B4658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75BF83-2B93-4724-A39C-4AEA19622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5010150"/>
            <a:ext cx="112395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58823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计划执行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1EC4155-80D2-46AE-A224-6360697AD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838700"/>
            <a:ext cx="12763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8000"/>
            </a:srgbClr>
          </a:solidFill>
          <a:ln xmlns:a="http://schemas.openxmlformats.org/drawingml/2006/main" w="9525">
            <a:solidFill>
              <a:srgbClr val="3B4658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5BE8054-86A6-4207-AA56-0157F0279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5010150"/>
            <a:ext cx="112395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58823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多Agent</a:t>
            </a:r>
          </a:p>
        </p:txBody>
      </p:sp>
    </p:spTree>
    <p:extLst>
      <p:ext uri="{BB962C8B-B14F-4D97-AF65-F5344CB8AC3E}">
        <p14:creationId xmlns:p14="http://schemas.microsoft.com/office/powerpoint/2010/main" val="828942054"/>
      </p:ext>
    </p:extLst>
  </p:cSld>
</p:sld>
</file>

<file path=ppt/slides/slide3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4EFCD3B-1B0F-42A7-86A0-3B622F7B6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solidFill>
              <a:srgbClr val="FAFBFC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C52552-146A-478E-BDCE-9F42EC3CB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5AE4B0-3D5C-4210-AFF3-2FCF7CE87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E88F10-726F-4BFA-90F5-E3018C513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20955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模式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80568D-B425-4BDC-80FA-98A11B38B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8572500" cy="7620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五种常见Agent编排模式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D864AB-65E0-4732-A8F9-E904F869A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62100"/>
            <a:ext cx="8763000" cy="4572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从固定流程到多Agent协作，复杂度越高，治理要求越高。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124A25-AD61-4D13-9429-C25F5FCA9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514350"/>
            <a:ext cx="81915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36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AC00A3-B0CE-4697-B72E-E7E47633A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30480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WEI SPACE FDE TRAINING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61C50FC-E38E-40F4-AD4F-5634FDD0D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6534150"/>
            <a:ext cx="18288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编排协作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721720D-7509-4CA2-B3D6-B456E94A7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81250"/>
            <a:ext cx="34036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7DEE8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34B27A9-5457-4DFD-AC47-916C9C1F8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81250"/>
            <a:ext cx="76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8BB8863-5B57-4935-8B30-D8EA26637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571750"/>
            <a:ext cx="43815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278D992-3E80-4685-BF90-8FD3AB5C3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552700"/>
            <a:ext cx="2470150" cy="933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单轮工具调用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DE0EA95-D47E-470B-9CA9-ED74E3030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4200" y="2381250"/>
            <a:ext cx="34036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7DEE8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6C67583-226B-41CA-99D5-6B1E65A7B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4200" y="2381250"/>
            <a:ext cx="76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solidFill>
              <a:srgbClr val="1D4ED8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D97F554-170D-47AC-91C4-E08B195CC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2800" y="2571750"/>
            <a:ext cx="43815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3906EBB-CD8D-4142-8BF4-5309DC523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7150" y="2552700"/>
            <a:ext cx="2470150" cy="933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确定性工作流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3D87F1D-F49F-4EAD-B9F2-A146D4738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7350" y="2381250"/>
            <a:ext cx="34036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7DEE8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B66279C-A21C-4189-A76B-0F40DA739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7350" y="2381250"/>
            <a:ext cx="76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solidFill>
              <a:srgbClr val="B45309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270A0C1-EFE2-438C-B266-49B5D69C2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5950" y="2571750"/>
            <a:ext cx="43815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85859E6-A1E8-4882-A7C3-31EFE0AD6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0300" y="2552700"/>
            <a:ext cx="2470150" cy="933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计划-执行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63B59D7-0D17-4143-A3D2-CB331165F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48100"/>
            <a:ext cx="34036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7DEE8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F897123-1403-453C-978E-BF7109F59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48100"/>
            <a:ext cx="76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6534"/>
          </a:solidFill>
          <a:ln xmlns:a="http://schemas.openxmlformats.org/drawingml/2006/main" w="0">
            <a:solidFill>
              <a:srgbClr val="166534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DA33038-C4E5-4A04-BBC1-843C5C31C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038600"/>
            <a:ext cx="43815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665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66534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C5B79A4-5310-4007-B5D5-27DEF498A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019550"/>
            <a:ext cx="2470150" cy="933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评估-优化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ACA5B16-7A13-43B6-86FB-A20DE2338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4200" y="3848100"/>
            <a:ext cx="34036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7DEE8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EC3A531-50D9-43F2-895A-D47294BB7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4200" y="3848100"/>
            <a:ext cx="76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1C1C"/>
          </a:solidFill>
          <a:ln xmlns:a="http://schemas.openxmlformats.org/drawingml/2006/main" w="0">
            <a:solidFill>
              <a:srgbClr val="B91C1C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535E2B6-0DA9-43E4-A38F-C26B47846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2800" y="4038600"/>
            <a:ext cx="43815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91C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B91C1C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BB99A51-4145-4B11-84DF-04BFC8611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7150" y="4019550"/>
            <a:ext cx="2470150" cy="933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多Agent协作</a:t>
            </a:r>
          </a:p>
        </p:txBody>
      </p:sp>
    </p:spTree>
    <p:extLst>
      <p:ext uri="{BB962C8B-B14F-4D97-AF65-F5344CB8AC3E}">
        <p14:creationId xmlns:p14="http://schemas.microsoft.com/office/powerpoint/2010/main" val="1677688880"/>
      </p:ext>
    </p:extLst>
  </p:cSld>
</p:sld>
</file>

<file path=ppt/slides/slide3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1EF4860-B81C-4840-B01A-0CA1A1BEA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solidFill>
              <a:srgbClr val="FAFBFC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B1F23A-B278-472D-B50D-D5549C9BF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C340BC-418A-4994-B3DC-118470DFD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045992-F457-41D8-B899-BFE3B3F4F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20955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工作流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13DB58-6451-47E6-A9A9-53DF874BC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8572500" cy="7620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确定性工作流适合高频稳定任务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FB7D71-47A3-47B3-8805-5E3AA5AA9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62100"/>
            <a:ext cx="8763000" cy="4572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客户服务、报销预审、线索跟进等任务，优先用稳定流程。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DBF805-6840-40E1-BB8F-71C06C7C0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514350"/>
            <a:ext cx="81915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37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5505F2-2587-4CE7-9541-33D6AD74B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30480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WEI SPACE FDE TRAINING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1BDEAA3-1CA9-4F00-B612-D49E801FD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6534150"/>
            <a:ext cx="18288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编排协作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45B340F-98E3-4A3F-9624-6BF4E8BEA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43250"/>
            <a:ext cx="1587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4F1"/>
          </a:solidFill>
          <a:ln xmlns:a="http://schemas.openxmlformats.org/drawingml/2006/main" w="10478">
            <a:solidFill>
              <a:srgbClr val="0F766E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A2F9A73-847F-48EB-9516-15CC5CE47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381375"/>
            <a:ext cx="135890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触发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3CFB2FC-6DCB-4782-9ED5-9C762D412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5700" y="3409950"/>
            <a:ext cx="171450" cy="285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3B9BEF6-141F-4BB5-9815-D933BA347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6200" y="3143250"/>
            <a:ext cx="1587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F"/>
          </a:solidFill>
          <a:ln xmlns:a="http://schemas.openxmlformats.org/drawingml/2006/main" w="10478">
            <a:solidFill>
              <a:srgbClr val="1D4ED8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2952A87-3A9A-444A-A9C5-9065FF96E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0500" y="3381375"/>
            <a:ext cx="135890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判断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2A9B074-138D-4AA7-A573-BED96E61F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2750" y="3409950"/>
            <a:ext cx="171450" cy="285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56CCE58-F0A1-4E68-A8EC-88F88375D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3143250"/>
            <a:ext cx="1587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E5"/>
          </a:solidFill>
          <a:ln xmlns:a="http://schemas.openxmlformats.org/drawingml/2006/main" w="10478">
            <a:solidFill>
              <a:srgbClr val="B45309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F88FD7D-65C3-46FF-99FE-87E5A92F3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7550" y="3381375"/>
            <a:ext cx="135890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检索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DAEC384-B774-45C8-8C8F-EBF3D5777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409950"/>
            <a:ext cx="171450" cy="285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01DA406-AED0-4271-B5CE-6F105EE4E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143250"/>
            <a:ext cx="1587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7ED"/>
          </a:solidFill>
          <a:ln xmlns:a="http://schemas.openxmlformats.org/drawingml/2006/main" w="10478">
            <a:solidFill>
              <a:srgbClr val="166534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47F7742-371A-4A5E-97BF-62B1006D1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381375"/>
            <a:ext cx="135890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生成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3834CF3-8EFF-41D8-A13D-02819230D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6850" y="3409950"/>
            <a:ext cx="171450" cy="285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57B353C-3A4F-43E2-A09F-05D382F67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7350" y="3143250"/>
            <a:ext cx="1587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CEC"/>
          </a:solidFill>
          <a:ln xmlns:a="http://schemas.openxmlformats.org/drawingml/2006/main" w="10478">
            <a:solidFill>
              <a:srgbClr val="B91C1C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771AC0D-FBBF-4A5D-AD5F-1D195D37E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1650" y="3381375"/>
            <a:ext cx="135890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人审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22371D9-7F3F-4680-A877-2C79A03D5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3900" y="3409950"/>
            <a:ext cx="171450" cy="285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15297BE-150C-4B8F-9080-B2430BE6D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4400" y="3143250"/>
            <a:ext cx="1587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DFF"/>
          </a:solidFill>
          <a:ln xmlns:a="http://schemas.openxmlformats.org/drawingml/2006/main" w="10478">
            <a:solidFill>
              <a:srgbClr val="6D28D9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96EC27D-6456-43A3-A05F-12F9C4E3C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8700" y="3381375"/>
            <a:ext cx="135890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回写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6DA6AE1-6870-4CDC-A66A-F54D6A6A8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953000"/>
            <a:ext cx="86868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0">
            <a:solidFill>
              <a:srgbClr val="F4F7FA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318E287-8444-41DC-B825-37C4A3900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5086350"/>
            <a:ext cx="842010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5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FDE判断：是否有清晰输入、上下文、工具、输出和复盘指标。</a:t>
            </a:r>
          </a:p>
        </p:txBody>
      </p:sp>
    </p:spTree>
    <p:extLst>
      <p:ext uri="{BB962C8B-B14F-4D97-AF65-F5344CB8AC3E}">
        <p14:creationId xmlns:p14="http://schemas.microsoft.com/office/powerpoint/2010/main" val="1950141260"/>
      </p:ext>
    </p:extLst>
  </p:cSld>
</p:sld>
</file>

<file path=ppt/slides/slide3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EE3A304-449B-4445-BBC3-C15945D6E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solidFill>
              <a:srgbClr val="FAFBFC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87692A-A2C4-4501-B691-86B67210D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BF6109-DC95-4EA2-B9D1-50ECCC328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8A2C32-571E-4C7B-8406-5399038D9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20955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计划执行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F02EAF-949B-4CFA-8D17-48960DCB9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8572500" cy="7620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计划-执行适合复杂任务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C1A682-E1A3-47CD-94E7-3E4C8A82B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62100"/>
            <a:ext cx="8763000" cy="4572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当任务需要拆解、查询多系统、比较方案时，可以用计划执行模式。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6FBD56-6AAD-431B-9E23-D981E4223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514350"/>
            <a:ext cx="81915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38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469D24A-AC93-47CC-B608-371908A6F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30480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WEI SPACE FDE TRAINING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96C47E-7FDE-42A0-A5FB-5FC5C52DA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6534150"/>
            <a:ext cx="18288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编排协作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2DBC130-D33E-438A-9022-2758F5352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62200"/>
            <a:ext cx="3416300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4F1"/>
          </a:solidFill>
          <a:ln xmlns:a="http://schemas.openxmlformats.org/drawingml/2006/main" w="9525">
            <a:solidFill>
              <a:srgbClr val="0F766E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400D5EF-5154-426B-9099-98B4C0EAA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590800"/>
            <a:ext cx="2997200" cy="111442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先出计划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415B222-DFFC-464D-A61D-FF7CCDD53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7850" y="2362200"/>
            <a:ext cx="3416300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solidFill>
              <a:srgbClr val="1D4ED8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B9F317D-7923-4BE6-82DE-876C7F234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7400" y="2590800"/>
            <a:ext cx="2997200" cy="111442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确认范围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B4681A3-A335-42B4-B45B-C7AF7B0CA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4650" y="2362200"/>
            <a:ext cx="3416300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E5"/>
          </a:solidFill>
          <a:ln xmlns:a="http://schemas.openxmlformats.org/drawingml/2006/main" w="9525">
            <a:solidFill>
              <a:srgbClr val="B45309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B4F2B4F-F22B-4088-AEBD-868B021CA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4200" y="2590800"/>
            <a:ext cx="2997200" cy="111442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逐步执行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EB285CC-1678-4E48-BCCC-B8223125D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24325"/>
            <a:ext cx="3416300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7ED"/>
          </a:solidFill>
          <a:ln xmlns:a="http://schemas.openxmlformats.org/drawingml/2006/main" w="9525">
            <a:solidFill>
              <a:srgbClr val="166534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6542FF7-EE47-4EDD-B3B5-694D87EB5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352925"/>
            <a:ext cx="2997200" cy="111442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检查结果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1479881-181E-42D9-93F8-A91F4EE53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7850" y="4124325"/>
            <a:ext cx="3416300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CEC"/>
          </a:solidFill>
          <a:ln xmlns:a="http://schemas.openxmlformats.org/drawingml/2006/main" w="9525">
            <a:solidFill>
              <a:srgbClr val="B91C1C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2DF893E-70F2-47E1-9F9D-F256DA628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7400" y="4352925"/>
            <a:ext cx="2997200" cy="111442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失败回退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72339B2-7DC5-4ACA-8AFB-14EDDCA82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4650" y="4124325"/>
            <a:ext cx="3416300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DFF"/>
          </a:solidFill>
          <a:ln xmlns:a="http://schemas.openxmlformats.org/drawingml/2006/main" w="9525">
            <a:solidFill>
              <a:srgbClr val="6D28D9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F378F03-22A0-4B36-A3A7-84D7E2EA4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4200" y="4352925"/>
            <a:ext cx="2997200" cy="111442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总结沉淀</a:t>
            </a:r>
          </a:p>
        </p:txBody>
      </p:sp>
    </p:spTree>
    <p:extLst>
      <p:ext uri="{BB962C8B-B14F-4D97-AF65-F5344CB8AC3E}">
        <p14:creationId xmlns:p14="http://schemas.microsoft.com/office/powerpoint/2010/main" val="377961730"/>
      </p:ext>
    </p:extLst>
  </p:cSld>
</p:sld>
</file>

<file path=ppt/slides/slide3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968CD1B-01D8-40FC-B9A6-D3C12A588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solidFill>
              <a:srgbClr val="FAFBFC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911323-90EA-42AE-875D-94088703C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BD2E1D-BD52-4234-A569-963E4B6A1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57D0DE-A17F-42FD-9459-D83935FD4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20955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评估优化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C01210-42D2-4F0C-83DC-379022A07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8572500" cy="7620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评估器让Agent自检但不替代验收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520F5C-D16E-4413-9E29-963194FE9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62100"/>
            <a:ext cx="8763000" cy="4572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评估器可以检查格式、引用、风险和完整性，但高风险仍需人审。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4B213D-1AEF-40B2-B1F6-B5F07DE4C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514350"/>
            <a:ext cx="81915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39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0139B2-B7F9-42FC-BBAC-96ABD3CFA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30480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WEI SPACE FDE TRAINING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260BE3-913E-4F90-87FD-6C27984F3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6534150"/>
            <a:ext cx="18288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编排协作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4D46E4-4CD0-4E04-8343-7BADF94EE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81250"/>
            <a:ext cx="34036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7DEE8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88B7DFF-F6FD-469B-AEE3-F9CEA8C3D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81250"/>
            <a:ext cx="76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5FABA7E-325F-4EF7-B713-6F2926F3E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571750"/>
            <a:ext cx="43815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FCD412A-12E3-4528-9C0F-F017567E4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552700"/>
            <a:ext cx="2470150" cy="933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格式检查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C10FC7B-745E-4D59-9B7D-6F46CD102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4200" y="2381250"/>
            <a:ext cx="34036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7DEE8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FFDE68A-BB19-42DD-8476-2FC7AF1B1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4200" y="2381250"/>
            <a:ext cx="76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solidFill>
              <a:srgbClr val="1D4ED8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5DBE271-4B0D-44A1-9792-D3A9383FD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2800" y="2571750"/>
            <a:ext cx="43815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403A2CC-E225-497B-B724-7E869A740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7150" y="2552700"/>
            <a:ext cx="2470150" cy="933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引用检查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18632A0-78D9-4FC3-8E8C-63D6E13B1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7350" y="2381250"/>
            <a:ext cx="34036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7DEE8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BA3B9A6-05E4-4650-9D9B-DFB91CF1C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7350" y="2381250"/>
            <a:ext cx="76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solidFill>
              <a:srgbClr val="B45309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063E01B-754B-4E76-8D9B-CCF52EC38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5950" y="2571750"/>
            <a:ext cx="43815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8A00CCF-7665-47F8-8B4B-AF4ECE5F6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0300" y="2552700"/>
            <a:ext cx="2470150" cy="933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风险检查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9143B4F-0AB6-46FE-8C04-871B6964F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48100"/>
            <a:ext cx="34036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7DEE8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0E913E9-724F-4B9B-ADA5-E753F5817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48100"/>
            <a:ext cx="76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6534"/>
          </a:solidFill>
          <a:ln xmlns:a="http://schemas.openxmlformats.org/drawingml/2006/main" w="0">
            <a:solidFill>
              <a:srgbClr val="166534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DC99E64-FF8C-46E0-B923-6BA07260E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038600"/>
            <a:ext cx="43815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665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66534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101DAF9-BCEB-4E4A-A4F6-FBFCF05F7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019550"/>
            <a:ext cx="2470150" cy="933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完整性检查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B807036-5769-4013-ADD8-EE1CD8703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4200" y="3848100"/>
            <a:ext cx="34036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7DEE8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6B4AD95-6F59-4BDE-BDB9-1E6B20A0A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4200" y="3848100"/>
            <a:ext cx="76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1C1C"/>
          </a:solidFill>
          <a:ln xmlns:a="http://schemas.openxmlformats.org/drawingml/2006/main" w="0">
            <a:solidFill>
              <a:srgbClr val="B91C1C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5D73674-914F-4180-9E1A-6D2E114FE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2800" y="4038600"/>
            <a:ext cx="43815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91C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B91C1C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139AEAF-5589-4FF5-BFCE-2CDAC3F19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7150" y="4019550"/>
            <a:ext cx="2470150" cy="933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人工终审</a:t>
            </a:r>
          </a:p>
        </p:txBody>
      </p:sp>
    </p:spTree>
    <p:extLst>
      <p:ext uri="{BB962C8B-B14F-4D97-AF65-F5344CB8AC3E}">
        <p14:creationId xmlns:p14="http://schemas.microsoft.com/office/powerpoint/2010/main" val="1862777882"/>
      </p:ext>
    </p:extLst>
  </p:cSld>
</p:sld>
</file>

<file path=ppt/slides/slide4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1D9A46E-9762-49D7-97F3-1DA85939D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solidFill>
              <a:srgbClr val="FAFBFC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F3094E-653E-4E4A-825A-028CD51B4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E9368C-3642-425D-A2B6-C2C85EEBD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81261B-ABA2-4AD1-B4AA-720BC4D3E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20955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多Agent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61CEF9-7DBA-455D-8CCD-C82F24D97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8572500" cy="7620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多Agent不是炫技，而是分工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A49473-A3F1-4C41-9DC2-57292F9F9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62100"/>
            <a:ext cx="8763000" cy="4572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研究、写作、审核、执行可以分工，但必须有主控和责任边界。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A0A781-86EF-4488-86AC-0852DF58D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514350"/>
            <a:ext cx="81915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40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2EEC94-C2A5-4393-B83A-BA34CDF1F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30480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WEI SPACE FDE TRAINING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185DD82-EF07-46D4-B0B2-53C98B323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6534150"/>
            <a:ext cx="18288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编排协作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8F1F141-0834-4AF9-A204-3713E26C1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05050"/>
            <a:ext cx="3048000" cy="285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25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现场事实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8D7428D-ECA6-4C8C-9BD2-43A4E7116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305050"/>
            <a:ext cx="3048000" cy="285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25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诊断含义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0A4F399-4020-40A4-9430-C133A6C62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19400"/>
            <a:ext cx="48768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4F1"/>
          </a:solidFill>
          <a:ln xmlns:a="http://schemas.openxmlformats.org/drawingml/2006/main" w="9525">
            <a:solidFill>
              <a:srgbClr val="D7DEE8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67DA5FE-4C6C-480A-9DF5-B1EF62324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971800"/>
            <a:ext cx="4457700" cy="2476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1403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研究Agent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E912BFB-D3DC-4C86-91AA-B004822E3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00450"/>
            <a:ext cx="48768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solidFill>
              <a:srgbClr val="D7DEE8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33ABD79-D3B5-4638-B42A-1C12766E6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752850"/>
            <a:ext cx="4457700" cy="2476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1403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执行Agent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77C8109-102E-4D54-8567-3DD023776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81500"/>
            <a:ext cx="48768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E5"/>
          </a:solidFill>
          <a:ln xmlns:a="http://schemas.openxmlformats.org/drawingml/2006/main" w="9525">
            <a:solidFill>
              <a:srgbClr val="D7DEE8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6BA47DE-F08A-42AD-8BE3-095FB91C8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533900"/>
            <a:ext cx="4457700" cy="2476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1403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审核Agent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9FEE442-2140-4055-86B1-52F66B6D5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819400"/>
            <a:ext cx="48196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2E47F33-1988-484F-A7DE-6A4CBAA8B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971800"/>
            <a:ext cx="4400550" cy="2476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1403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主控Agent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86A2E5B-060D-4AE3-B374-78DF0A6CA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600450"/>
            <a:ext cx="48196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FFF8282-BAD7-47AD-94BC-D63A9206A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752850"/>
            <a:ext cx="4400550" cy="2476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1403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日志汇总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B7ED958-15B9-4FED-AC89-9D6CA2B65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381500"/>
            <a:ext cx="48196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9A56711-9095-4BE3-8B2B-0E3B6CF15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533900"/>
            <a:ext cx="4400550" cy="2476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1403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人工Owner</a:t>
            </a:r>
          </a:p>
        </p:txBody>
      </p:sp>
    </p:spTree>
    <p:extLst>
      <p:ext uri="{BB962C8B-B14F-4D97-AF65-F5344CB8AC3E}">
        <p14:creationId xmlns:p14="http://schemas.microsoft.com/office/powerpoint/2010/main" val="1408236628"/>
      </p:ext>
    </p:extLst>
  </p:cSld>
</p:sld>
</file>

<file path=ppt/slides/slide4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6C478B6-3137-469D-A3A4-A7F1E6B57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solidFill>
              <a:srgbClr val="FAFBFC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FF55FA-3545-458F-A240-E8B2D1748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85A59E-49F6-4407-B426-28966D5DE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4009A1-C9D2-42B0-86F2-63613D6EA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20955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练习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BBC65C-4A60-4343-BE3D-954DCEA95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8572500" cy="7620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选择合适的Agent编排模式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DA7F4A-C710-4276-B2F0-7D0AC580B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62100"/>
            <a:ext cx="8763000" cy="4572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学员要解释为什么用工作流、计划执行或多Agent，而不是只选最复杂方案。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30E013-070D-4C80-B450-51CBCEB10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514350"/>
            <a:ext cx="81915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41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485E6F-F72A-4C9F-BE3E-99DF5A431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30480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WEI SPACE FDE TRAINING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1D6DAC4-3BB4-4413-8A61-D39DEAA43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6534150"/>
            <a:ext cx="18288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编排协作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9F86E32-F7AB-4523-80A6-6B5E231EF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43150"/>
            <a:ext cx="37338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7DEE8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604EB42-DFF8-418D-80F0-F13F72EBC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67000"/>
            <a:ext cx="15240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55555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课堂动作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B9CA2A7-4CC7-485D-B7BC-93B6A06B7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124200"/>
            <a:ext cx="1714500" cy="3619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10分钟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676C33A-5011-4E04-B412-316D87956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771900"/>
            <a:ext cx="2857500" cy="666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讲师示范后，学员用自己的真实流程产出材料。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FA55197-EC5E-4709-9FDE-E0FA94387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4193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F4F1"/>
          </a:solidFill>
          <a:ln xmlns:a="http://schemas.openxmlformats.org/drawingml/2006/main" w="9525">
            <a:solidFill>
              <a:srgbClr val="0F766E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E2BA49B-4E0A-4C2C-8E6A-7EE80F13D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505075"/>
            <a:ext cx="323850" cy="1524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27778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658B5BD-0C97-4AE6-ABBA-23A8FB8E5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2381250"/>
            <a:ext cx="5048250" cy="4191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判断复杂度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6D80CE6-9EF2-41A7-A3C8-1A73245CE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0670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solidFill>
              <a:srgbClr val="1D4ED8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A344A32-2505-4399-AA1E-5EC48047E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152775"/>
            <a:ext cx="323850" cy="1524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27778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BBDE89C-E18E-4FE1-9FCF-831A8F90D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3028950"/>
            <a:ext cx="5048250" cy="4191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判断风险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10A88AA-796B-4E91-A26C-42ADD9FD6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7147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4E5"/>
          </a:solidFill>
          <a:ln xmlns:a="http://schemas.openxmlformats.org/drawingml/2006/main" w="9525">
            <a:solidFill>
              <a:srgbClr val="B45309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6A1034D-A2A1-4D3F-8711-F8B4A8430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800475"/>
            <a:ext cx="323850" cy="1524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27778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4C4B4E4-49BA-4446-8821-FC3F2E538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3676650"/>
            <a:ext cx="5048250" cy="4191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判断频次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18A256E-CFB5-4E26-ABA6-C3C193D29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3624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7ED"/>
          </a:solidFill>
          <a:ln xmlns:a="http://schemas.openxmlformats.org/drawingml/2006/main" w="9525">
            <a:solidFill>
              <a:srgbClr val="166534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5312994-9CE8-450E-9C46-A7CF6134D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448175"/>
            <a:ext cx="323850" cy="1524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27778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665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166534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839A08F-372D-433D-8F3C-0467E8FC1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4324350"/>
            <a:ext cx="5048250" cy="4191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选择模式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5F404E3-8284-4CC1-9DE8-85994A89E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50101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EECEC"/>
          </a:solidFill>
          <a:ln xmlns:a="http://schemas.openxmlformats.org/drawingml/2006/main" w="9525">
            <a:solidFill>
              <a:srgbClr val="B91C1C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28B49D4-9E93-4819-9F12-626762D89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5095875"/>
            <a:ext cx="323850" cy="1524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27778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B91C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B91C1C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91B00C1-15C7-490B-8D0A-44E51BC99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4972050"/>
            <a:ext cx="5048250" cy="4191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写理由</a:t>
            </a:r>
          </a:p>
        </p:txBody>
      </p:sp>
    </p:spTree>
    <p:extLst>
      <p:ext uri="{BB962C8B-B14F-4D97-AF65-F5344CB8AC3E}">
        <p14:creationId xmlns:p14="http://schemas.microsoft.com/office/powerpoint/2010/main" val="1298493666"/>
      </p:ext>
    </p:extLst>
  </p:cSld>
</p:sld>
</file>

<file path=ppt/slides/slide4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35CE6AE-A1AD-4393-AC1F-16F5C119B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0">
            <a:solidFill>
              <a:srgbClr val="0B1220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4A5D8C-1362-4EE4-A167-3C805B9AF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17748B-9313-454B-870F-F3815E843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895350"/>
            <a:ext cx="2095500" cy="285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83333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Part 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500EBF-F2B1-41E5-9902-FDDD49C82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57350"/>
            <a:ext cx="8096250" cy="10668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Claude / OpenAI / 腾讯 / WEI实践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70B5D1-8ADC-496D-8574-F11F949D3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48000"/>
            <a:ext cx="7334250" cy="6286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D7DEE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D7DEE9"/>
                </a:solidFill>
                <a:latin typeface="Microsoft YaHei"/>
                <a:ea typeface="Microsoft YaHei"/>
                <a:cs typeface="Microsoft YaHei"/>
              </a:rPr>
              <a:t>平台能力不同，但部署抽象保持一致。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A3EB6A-05CD-4739-ACFD-2B009BDAA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38700"/>
            <a:ext cx="12763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8000"/>
            </a:srgbClr>
          </a:solidFill>
          <a:ln xmlns:a="http://schemas.openxmlformats.org/drawingml/2006/main" w="9525">
            <a:solidFill>
              <a:srgbClr val="3B4658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9F36EE-D3D2-4B09-BD18-075FF2796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010150"/>
            <a:ext cx="112395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58823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Claude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D6C68B7-BA52-4DAA-BB4E-CE01C2C9F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4838700"/>
            <a:ext cx="12763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8000"/>
            </a:srgbClr>
          </a:solidFill>
          <a:ln xmlns:a="http://schemas.openxmlformats.org/drawingml/2006/main" w="9525">
            <a:solidFill>
              <a:srgbClr val="3B4658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E9CDC35-6F50-4FB8-830E-87066CA86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5010150"/>
            <a:ext cx="112395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58823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OpenAI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32282A-F1A6-4313-972A-997DCCCBD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838700"/>
            <a:ext cx="12763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8000"/>
            </a:srgbClr>
          </a:solidFill>
          <a:ln xmlns:a="http://schemas.openxmlformats.org/drawingml/2006/main" w="9525">
            <a:solidFill>
              <a:srgbClr val="3B4658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F404A1E-813D-4F59-9617-0365ECDA0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5010150"/>
            <a:ext cx="112395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58823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腾讯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FFCB298-87B9-441E-8130-669699F49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838700"/>
            <a:ext cx="12763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8000"/>
            </a:srgbClr>
          </a:solidFill>
          <a:ln xmlns:a="http://schemas.openxmlformats.org/drawingml/2006/main" w="9525">
            <a:solidFill>
              <a:srgbClr val="3B4658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F1F92AE-5C0F-486F-88E7-B92EC9280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5010150"/>
            <a:ext cx="112395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58823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WEI</a:t>
            </a:r>
          </a:p>
        </p:txBody>
      </p:sp>
    </p:spTree>
    <p:extLst>
      <p:ext uri="{BB962C8B-B14F-4D97-AF65-F5344CB8AC3E}">
        <p14:creationId xmlns:p14="http://schemas.microsoft.com/office/powerpoint/2010/main" val="1991768783"/>
      </p:ext>
    </p:extLst>
  </p:cSld>
</p:sld>
</file>

<file path=ppt/slides/slide4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64C3CC1-16B9-4D2D-BFED-A0A607141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solidFill>
              <a:srgbClr val="FAFBFC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EF6889-67BD-482E-B11B-BC8476FB4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FCA66B-9D87-45F7-BA5C-4869F14E3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155A66-E874-4FB5-A15E-B5B2B4A12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20955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Claude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42043C-6C9E-4A59-9E00-8AB646799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8572500" cy="7620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Claude体系：工具使用、长上下文与MCP思路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71341B-724D-4D45-952B-1753351D9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62100"/>
            <a:ext cx="8763000" cy="4572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Claude适合把长上下文、工具调用和外部系统连接成受控工作流。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897864-C2B5-46D6-A77A-3A6F5208A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514350"/>
            <a:ext cx="81915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43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23AE1F-030F-4FC1-86CF-1F68D134E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30480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WEI SPACE FDE TRAINING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CDF7DF-D9E3-4857-AC54-AAEC07303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6534150"/>
            <a:ext cx="18288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平台实践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CA94114-F90E-4B93-9F02-2AEA2881A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81250"/>
            <a:ext cx="34036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7DEE8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99FA28D-EDCF-40CB-B941-CA5D7065F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81250"/>
            <a:ext cx="76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B6D1C24-D4F1-4C5D-A4BF-F290650A9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571750"/>
            <a:ext cx="43815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A74662D-7485-4935-B73A-9CDAC0783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552700"/>
            <a:ext cx="2470150" cy="933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Tool use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9793481-CE2D-4679-BA3B-06E7B3326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4200" y="2381250"/>
            <a:ext cx="34036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7DEE8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F14B4F8-6C20-4B08-9A08-76627CC99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4200" y="2381250"/>
            <a:ext cx="76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solidFill>
              <a:srgbClr val="1D4ED8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A771F76-34FD-4087-801E-69573E19D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2800" y="2571750"/>
            <a:ext cx="43815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C01BE2D-6586-44FA-9BCC-68AF09E88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7150" y="2552700"/>
            <a:ext cx="2470150" cy="933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Long context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65D1A3D-2431-4813-8ED8-B9078CFA7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7350" y="2381250"/>
            <a:ext cx="34036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7DEE8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8BAB644-42A2-47A6-BCFA-4615D0086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7350" y="2381250"/>
            <a:ext cx="76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solidFill>
              <a:srgbClr val="B45309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A6A9CBC-5E2B-435E-AE8F-28FAEEE31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5950" y="2571750"/>
            <a:ext cx="43815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AFC1543-7B39-4B95-8B63-9E19601D6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0300" y="2552700"/>
            <a:ext cx="2470150" cy="933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Prompt caching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53CE954-6027-4412-852B-E86D9696C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48100"/>
            <a:ext cx="34036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7DEE8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FF4F5E5-A33E-4252-A809-8A7E2E583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48100"/>
            <a:ext cx="76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6534"/>
          </a:solidFill>
          <a:ln xmlns:a="http://schemas.openxmlformats.org/drawingml/2006/main" w="0">
            <a:solidFill>
              <a:srgbClr val="166534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F04DE56-52F9-4915-8597-0D9617172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038600"/>
            <a:ext cx="43815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665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66534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43C097D-42FE-46B6-90F1-269A3F870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019550"/>
            <a:ext cx="2470150" cy="933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MCP连接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495DE1C-9F81-4265-962C-783363ABD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4200" y="3848100"/>
            <a:ext cx="34036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7DEE8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B32E3F0-ECD4-45A2-9821-13BC9F686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4200" y="3848100"/>
            <a:ext cx="76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1C1C"/>
          </a:solidFill>
          <a:ln xmlns:a="http://schemas.openxmlformats.org/drawingml/2006/main" w="0">
            <a:solidFill>
              <a:srgbClr val="B91C1C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C4EA2F2-015A-40CF-A84E-408A02DB1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2800" y="4038600"/>
            <a:ext cx="43815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91C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B91C1C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E74BCBB-420B-4F56-BBEE-61B88440D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7150" y="4019550"/>
            <a:ext cx="2470150" cy="933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人工确认</a:t>
            </a:r>
          </a:p>
        </p:txBody>
      </p:sp>
    </p:spTree>
    <p:extLst>
      <p:ext uri="{BB962C8B-B14F-4D97-AF65-F5344CB8AC3E}">
        <p14:creationId xmlns:p14="http://schemas.microsoft.com/office/powerpoint/2010/main" val="2066157184"/>
      </p:ext>
    </p:extLst>
  </p:cSld>
</p:sld>
</file>

<file path=ppt/slides/slide4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1128996-8994-4EEB-89C4-AC5D30DF8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solidFill>
              <a:srgbClr val="FAFBFC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9839E5-512C-4C1A-9157-17A557096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873CED-959C-4977-B8BE-BC84D0CD2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56D356-650C-4FE3-838B-98765A270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20955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OpenAI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C4C1F7-A38B-4C43-9519-ADF79F0A5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8572500" cy="7620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OpenAI体系：Responses、Agents、Tools、Tracing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BCAC67-EE96-4A35-9B16-C418A4D00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62100"/>
            <a:ext cx="8763000" cy="4572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OpenAI实践强调工具、状态、文件检索、运行追踪和评估。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C20922-B1DD-4460-8924-5B6257C59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514350"/>
            <a:ext cx="81915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44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6FB298-E599-474F-9AC6-42B7833CF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30480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WEI SPACE FDE TRAINING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45EDA6-6D54-4A40-9822-BE90D684A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6534150"/>
            <a:ext cx="18288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平台实践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68A7133-E4DF-4A41-8976-515DE0E2E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81250"/>
            <a:ext cx="34036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7DEE8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0CA8CE-D549-4AB9-865F-C31D00091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81250"/>
            <a:ext cx="76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57546AB-B159-4994-802F-74B18F3C0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571750"/>
            <a:ext cx="43815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BB1702A-9AB9-4D83-95AB-2A4E96EA9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552700"/>
            <a:ext cx="2470150" cy="933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Responses API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BA7A4C7-B22D-454A-8182-A432E4277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4200" y="2381250"/>
            <a:ext cx="34036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7DEE8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FD10E35-854B-4313-9144-F61C98023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4200" y="2381250"/>
            <a:ext cx="76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solidFill>
              <a:srgbClr val="1D4ED8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A46E90D-639A-4B69-A02B-425E93CF1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2800" y="2571750"/>
            <a:ext cx="43815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BBDB026-EF04-4117-BAED-749482267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7150" y="2552700"/>
            <a:ext cx="2470150" cy="933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Agents SDK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209E12E-3D38-46B9-B4D0-C7CF7596D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7350" y="2381250"/>
            <a:ext cx="34036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7DEE8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18F40E1-FCDA-4692-8F05-9D084E05F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7350" y="2381250"/>
            <a:ext cx="76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solidFill>
              <a:srgbClr val="B45309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FEED997-F33F-477B-825F-F93E4FE9B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5950" y="2571750"/>
            <a:ext cx="43815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85EE122-425A-4889-81B3-57AE04BFE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0300" y="2552700"/>
            <a:ext cx="2470150" cy="933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Tools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8FAD6D9-682C-48F1-AF73-62EE38B12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48100"/>
            <a:ext cx="34036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7DEE8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4379B28-7A6E-4081-84B4-F7B592210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48100"/>
            <a:ext cx="76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6534"/>
          </a:solidFill>
          <a:ln xmlns:a="http://schemas.openxmlformats.org/drawingml/2006/main" w="0">
            <a:solidFill>
              <a:srgbClr val="166534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C1D102A-F05C-46C5-A74F-7BE8E9502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038600"/>
            <a:ext cx="43815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665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66534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5F8252E-276A-437E-863D-2C88DD9B0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019550"/>
            <a:ext cx="2470150" cy="933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Tracing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039C1C2-BC99-49A4-8215-43D0E9D5C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4200" y="3848100"/>
            <a:ext cx="34036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7DEE8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9F4A008-6F7C-4DC9-B855-9BA43486E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4200" y="3848100"/>
            <a:ext cx="76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1C1C"/>
          </a:solidFill>
          <a:ln xmlns:a="http://schemas.openxmlformats.org/drawingml/2006/main" w="0">
            <a:solidFill>
              <a:srgbClr val="B91C1C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B40A5AB-3275-432E-B68D-4CB037140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2800" y="4038600"/>
            <a:ext cx="43815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91C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B91C1C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44609C7-8717-4342-870E-9F25E5527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7150" y="4019550"/>
            <a:ext cx="2470150" cy="933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Evals</a:t>
            </a:r>
          </a:p>
        </p:txBody>
      </p:sp>
    </p:spTree>
    <p:extLst>
      <p:ext uri="{BB962C8B-B14F-4D97-AF65-F5344CB8AC3E}">
        <p14:creationId xmlns:p14="http://schemas.microsoft.com/office/powerpoint/2010/main" val="2043900647"/>
      </p:ext>
    </p:extLst>
  </p:cSld>
</p:sld>
</file>

<file path=ppt/slides/slide4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98DA83D-6FB1-4BA6-827E-4A2122C41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solidFill>
              <a:srgbClr val="FAFBFC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DAC7B9-C935-4015-8DB1-0592BE471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4FF468-7BEA-4C00-B57A-6EEA16C87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F27AF5-5439-4AC3-ABF2-ECD9D17FE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20955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腾讯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FD5EE9-10F7-4BBB-9DC7-28E93EDA7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8572500" cy="7620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腾讯体系：ADP、CloudBase与企业应用集成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A2482D-630D-4C98-ABF7-7710E4795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62100"/>
            <a:ext cx="8763000" cy="4572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腾讯生态适合国内企业云、工作流、插件、知识库和企微场景。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D477F5-C27D-4AC2-84FB-15F6D5290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514350"/>
            <a:ext cx="81915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45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C7115B-A738-40F3-952F-AC2D41810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30480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WEI SPACE FDE TRAINING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F4DE43-B00B-41BE-8485-1FA12A62A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6534150"/>
            <a:ext cx="18288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平台实践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D68729E-7BBC-46B9-A37A-85E3235AC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81250"/>
            <a:ext cx="34036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7DEE8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F9E80D9-A49F-413B-8957-EADD0AABB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81250"/>
            <a:ext cx="76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199B459-A834-46C2-9234-AE1CD8CDA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571750"/>
            <a:ext cx="43815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3F82568-53C7-4D49-B0DF-FC4635287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552700"/>
            <a:ext cx="2470150" cy="933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ADP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674A42C-8560-4F0F-BD2F-D725AC2D1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4200" y="2381250"/>
            <a:ext cx="34036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7DEE8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F467EF1-F01E-4313-A215-6E523467F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4200" y="2381250"/>
            <a:ext cx="76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solidFill>
              <a:srgbClr val="1D4ED8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A3B300B-A6B1-46EF-BF14-752AA18AA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2800" y="2571750"/>
            <a:ext cx="43815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BACFAC0-03B8-4A0A-A58A-8B7BF3132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7150" y="2552700"/>
            <a:ext cx="2470150" cy="933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知识库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F465D4F-1BBF-4EF9-8FB8-B2ABD93FA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7350" y="2381250"/>
            <a:ext cx="34036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7DEE8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B8C5E42-1829-461C-8554-9C3C8067A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7350" y="2381250"/>
            <a:ext cx="76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solidFill>
              <a:srgbClr val="B45309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BB6950A-9444-4516-86A3-D041AB4C0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5950" y="2571750"/>
            <a:ext cx="43815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4128F8E-0451-4C5F-B76B-0C1CADE07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0300" y="2552700"/>
            <a:ext cx="2470150" cy="933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插件/工作流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CA37731-552B-4896-BB22-6B62727DF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48100"/>
            <a:ext cx="34036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7DEE8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28DF9F0-4BB9-4618-8203-DC5AC623C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48100"/>
            <a:ext cx="76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6534"/>
          </a:solidFill>
          <a:ln xmlns:a="http://schemas.openxmlformats.org/drawingml/2006/main" w="0">
            <a:solidFill>
              <a:srgbClr val="166534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D4D7054-67C9-47B7-8D8F-8CDF369AA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038600"/>
            <a:ext cx="43815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665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66534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2EC2C45-61AF-4652-907D-7A23399E1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019550"/>
            <a:ext cx="2470150" cy="933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CloudBase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1C45353-79BC-4462-9ABA-02F07346E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4200" y="3848100"/>
            <a:ext cx="34036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7DEE8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2EAF5C6-AAAD-4D8E-9CDC-DCDDA7307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4200" y="3848100"/>
            <a:ext cx="76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1C1C"/>
          </a:solidFill>
          <a:ln xmlns:a="http://schemas.openxmlformats.org/drawingml/2006/main" w="0">
            <a:solidFill>
              <a:srgbClr val="B91C1C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F56075F-7172-42CC-8A7C-72318964F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2800" y="4038600"/>
            <a:ext cx="43815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91C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B91C1C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C8CC753-DC61-4244-8508-9676FAC55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7150" y="4019550"/>
            <a:ext cx="2470150" cy="933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企业微信</a:t>
            </a:r>
          </a:p>
        </p:txBody>
      </p:sp>
    </p:spTree>
    <p:extLst>
      <p:ext uri="{BB962C8B-B14F-4D97-AF65-F5344CB8AC3E}">
        <p14:creationId xmlns:p14="http://schemas.microsoft.com/office/powerpoint/2010/main" val="449300784"/>
      </p:ext>
    </p:extLst>
  </p:cSld>
</p:sld>
</file>

<file path=ppt/slides/slide4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7B469EF-4286-496D-B869-3C3175493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solidFill>
              <a:srgbClr val="FAFBFC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D9736D-BFDA-4E6E-BA31-DE5A3D83C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1E0E03-AA83-4879-BC83-ED40C74AB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C97D8F-35BA-4A07-A747-E231CDBCF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20955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WEI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E65C49-37A7-46F5-BE55-95FD7BCB7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8572500" cy="7620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WEI BOT数字员工部署闭环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840DA7-6C54-4A93-B70A-6B4A84410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62100"/>
            <a:ext cx="8763000" cy="4572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WEI体系可把模型聚合、上下文包、工具接入和代养运营组合成交付产品。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51D3E1-AC21-4F9C-8DD0-240C5F4F9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514350"/>
            <a:ext cx="81915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46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ED9368-A178-4C83-BBFC-403DAFE28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30480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WEI SPACE FDE TRAINING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0319CF9-AA4E-421E-B18A-9D5DC2C2F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6534150"/>
            <a:ext cx="18288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平台实践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C3CBF3E-3A22-4EE7-B9EB-ADBC80591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62200"/>
            <a:ext cx="3416300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4F1"/>
          </a:solidFill>
          <a:ln xmlns:a="http://schemas.openxmlformats.org/drawingml/2006/main" w="9525">
            <a:solidFill>
              <a:srgbClr val="0F766E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E5D8857-8F4D-4F38-BE0C-4210AE6CA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590800"/>
            <a:ext cx="2997200" cy="111442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WEI API：模型与算力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2AFA69E-1BD5-4A02-8ACD-76AD91079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7850" y="2362200"/>
            <a:ext cx="3416300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solidFill>
              <a:srgbClr val="1D4ED8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AD6BED7-AAF1-4E06-918B-C50C9F23F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7400" y="2590800"/>
            <a:ext cx="2997200" cy="111442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WEI BOT：数字员工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1438479-45DE-48F7-A2B4-410543FEA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4650" y="2362200"/>
            <a:ext cx="3416300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E5"/>
          </a:solidFill>
          <a:ln xmlns:a="http://schemas.openxmlformats.org/drawingml/2006/main" w="9525">
            <a:solidFill>
              <a:srgbClr val="B45309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F56D4DA-CEBC-41A7-9F07-6E051D280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4200" y="2590800"/>
            <a:ext cx="2997200" cy="111442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WEI CONSULTING：诊断交付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6E02711-A104-4000-9CB6-7BD765E10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24325"/>
            <a:ext cx="3416300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7ED"/>
          </a:solidFill>
          <a:ln xmlns:a="http://schemas.openxmlformats.org/drawingml/2006/main" w="9525">
            <a:solidFill>
              <a:srgbClr val="166534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2076311-80C3-4FDC-8805-292AFAE2C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352925"/>
            <a:ext cx="2997200" cy="111442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WEI SPACE：训练孵化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BDD97E5-6E4C-4BA1-944F-40BC00CA8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7850" y="4124325"/>
            <a:ext cx="3416300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CEC"/>
          </a:solidFill>
          <a:ln xmlns:a="http://schemas.openxmlformats.org/drawingml/2006/main" w="9525">
            <a:solidFill>
              <a:srgbClr val="B91C1C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5432599-13BC-4787-A6BA-4360B3988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7400" y="4352925"/>
            <a:ext cx="2997200" cy="111442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WEI CAPITAL：项目加速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6AF7480-ED28-40BD-91AE-85BC10EC2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4650" y="4124325"/>
            <a:ext cx="3416300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DFF"/>
          </a:solidFill>
          <a:ln xmlns:a="http://schemas.openxmlformats.org/drawingml/2006/main" w="9525">
            <a:solidFill>
              <a:srgbClr val="6D28D9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C661035-0AD6-4894-806C-8F6C30790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4200" y="4352925"/>
            <a:ext cx="2997200" cy="111442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OPC复制</a:t>
            </a:r>
          </a:p>
        </p:txBody>
      </p:sp>
    </p:spTree>
    <p:extLst>
      <p:ext uri="{BB962C8B-B14F-4D97-AF65-F5344CB8AC3E}">
        <p14:creationId xmlns:p14="http://schemas.microsoft.com/office/powerpoint/2010/main" val="1912410660"/>
      </p:ext>
    </p:extLst>
  </p:cSld>
</p:sld>
</file>

<file path=ppt/slides/slide4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9F64564-BB88-4FE5-98D1-277221522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solidFill>
              <a:srgbClr val="FAFBFC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66C9FE-E40D-49B0-8F39-F9AC2078B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960F32-DA6C-4431-A9E8-BDE737689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843594-03C3-402A-859D-3729D8666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20955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迁移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462820-4DC6-4AAE-94A5-92B1CA0E5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8572500" cy="7620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同一数字员工如何跨平台实现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17DF35-7A60-483A-92C4-A418B20D9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62100"/>
            <a:ext cx="8763000" cy="4572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课程要教FDE抽象能力，让同一部署蓝图能迁移到不同技术栈。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E40976-4DD1-426B-8BF8-F24AFB45C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514350"/>
            <a:ext cx="81915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47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C27BC8-8BC3-4BE7-8F11-6C8E112CE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30480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WEI SPACE FDE TRAINING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E0C583-9EBB-4FA8-9F45-17825A805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6534150"/>
            <a:ext cx="18288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平台实践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05BEBF0-9984-4FAD-8956-F3F414962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05050"/>
            <a:ext cx="3048000" cy="285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25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现场事实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5032886-7610-4E47-8425-3BE1291E8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305050"/>
            <a:ext cx="3048000" cy="285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25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诊断含义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D3E8E71-B017-44F0-839C-B7D9103B8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19400"/>
            <a:ext cx="48768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4F1"/>
          </a:solidFill>
          <a:ln xmlns:a="http://schemas.openxmlformats.org/drawingml/2006/main" w="9525">
            <a:solidFill>
              <a:srgbClr val="D7DEE8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2200593-336C-4666-A0A1-D52A9E5FC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971800"/>
            <a:ext cx="4457700" cy="2476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1403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角色说明不变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7C81E23-122D-499D-932C-FEA58E764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00450"/>
            <a:ext cx="48768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solidFill>
              <a:srgbClr val="D7DEE8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53336D3-3A27-4E00-820E-28D0EF0DD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752850"/>
            <a:ext cx="4457700" cy="2476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1403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上下文包不变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F00B0E0-6F11-4E6A-8B59-4C3FC5995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81500"/>
            <a:ext cx="48768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E5"/>
          </a:solidFill>
          <a:ln xmlns:a="http://schemas.openxmlformats.org/drawingml/2006/main" w="9525">
            <a:solidFill>
              <a:srgbClr val="D7DEE8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F3DE8D1-DD00-4942-BB8A-3C1AD3AA3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533900"/>
            <a:ext cx="4457700" cy="2476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1403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工具Schema可迁移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6F2DFE6-FAFF-4CDF-9277-8BF00783A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819400"/>
            <a:ext cx="48196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A9077F6-B235-43F9-84CD-112E7D946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971800"/>
            <a:ext cx="4400550" cy="2476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1403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护栏规则可迁移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B6E3C06-E923-4818-BF7B-4C678BAEE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600450"/>
            <a:ext cx="48196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7ECCF03-274A-4846-A29B-960183FB5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752850"/>
            <a:ext cx="4400550" cy="2476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1403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测试集可迁移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10E6C6A-E0EE-4BEF-8CBA-5C4EFD530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381500"/>
            <a:ext cx="48196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1273A64-A009-4FBC-A2E5-A251DCE30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533900"/>
            <a:ext cx="4400550" cy="2476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1403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平台接口替换</a:t>
            </a:r>
          </a:p>
        </p:txBody>
      </p:sp>
    </p:spTree>
    <p:extLst>
      <p:ext uri="{BB962C8B-B14F-4D97-AF65-F5344CB8AC3E}">
        <p14:creationId xmlns:p14="http://schemas.microsoft.com/office/powerpoint/2010/main" val="854615475"/>
      </p:ext>
    </p:extLst>
  </p:cSld>
</p:sld>
</file>

<file path=ppt/slides/slide4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E0A865C-A643-4E6F-A9A5-FCEFC3392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0">
            <a:solidFill>
              <a:srgbClr val="0B1220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503214-81C6-4ABA-A4EA-BAAA76E17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D3FF2B-6E8A-4420-8146-4ABA93D54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895350"/>
            <a:ext cx="2095500" cy="285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83333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Part 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322921-8A90-4B9C-BC9D-7FABDE6DA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57350"/>
            <a:ext cx="8096250" cy="10668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试点上线与验收工作坊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5FADEB-6338-42DF-818F-339D77403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48000"/>
            <a:ext cx="7334250" cy="6286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D7DEE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D7DEE9"/>
                </a:solidFill>
                <a:latin typeface="Microsoft YaHei"/>
                <a:ea typeface="Microsoft YaHei"/>
                <a:cs typeface="Microsoft YaHei"/>
              </a:rPr>
              <a:t>数字员工必须经过沙盒、灰度、验收和运营复盘。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30AD86-A19C-4F5C-8F69-62ECEBFDA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38700"/>
            <a:ext cx="12763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8000"/>
            </a:srgbClr>
          </a:solidFill>
          <a:ln xmlns:a="http://schemas.openxmlformats.org/drawingml/2006/main" w="9525">
            <a:solidFill>
              <a:srgbClr val="3B4658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AC1A7C-4B70-4BFD-9BFF-45049AFD8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010150"/>
            <a:ext cx="112395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58823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沙盒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F8FC53-8762-41E7-A555-1200B69D6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4838700"/>
            <a:ext cx="12763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8000"/>
            </a:srgbClr>
          </a:solidFill>
          <a:ln xmlns:a="http://schemas.openxmlformats.org/drawingml/2006/main" w="9525">
            <a:solidFill>
              <a:srgbClr val="3B4658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D2CAFC-79EF-44EF-8717-8D30644EE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5010150"/>
            <a:ext cx="112395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58823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灰度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292B36A-E594-483B-AA91-8E37F91C0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838700"/>
            <a:ext cx="12763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8000"/>
            </a:srgbClr>
          </a:solidFill>
          <a:ln xmlns:a="http://schemas.openxmlformats.org/drawingml/2006/main" w="9525">
            <a:solidFill>
              <a:srgbClr val="3B4658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ACFFF87-A41A-4865-841A-88E55CD71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5010150"/>
            <a:ext cx="112395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58823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运营</a:t>
            </a:r>
          </a:p>
        </p:txBody>
      </p:sp>
    </p:spTree>
    <p:extLst>
      <p:ext uri="{BB962C8B-B14F-4D97-AF65-F5344CB8AC3E}">
        <p14:creationId xmlns:p14="http://schemas.microsoft.com/office/powerpoint/2010/main" val="927846120"/>
      </p:ext>
    </p:extLst>
  </p:cSld>
</p:sld>
</file>

<file path=ppt/slides/slide4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9F26A8E-8299-4D07-BBC9-319E905A2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solidFill>
              <a:srgbClr val="FAFBFC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5BBBDE-F13F-4C33-9B69-1B1E267EA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896B21-29AD-4702-B508-F46EF1797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58C17F-45B3-4926-B1FB-F8D970C09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20955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环境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BE0C4C-B32D-4522-84BD-384C3F6AF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8572500" cy="7620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从沙盒到生产的四个环境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CC0C03-EC69-4FC0-9BDD-24C136B63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62100"/>
            <a:ext cx="8763000" cy="4572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不要让Demo直接进生产，要按环境逐步放权。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2594A9-6610-4DD4-A447-89F1174BA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514350"/>
            <a:ext cx="81915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49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DCC33A-8CB5-4A5F-8C57-46109A707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30480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WEI SPACE FDE TRAINING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28D2177-AB3F-46AF-908B-77C62F568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6534150"/>
            <a:ext cx="18288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上线验收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2562282-4DC4-413D-82C8-85ABCBD2D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43250"/>
            <a:ext cx="1587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4F1"/>
          </a:solidFill>
          <a:ln xmlns:a="http://schemas.openxmlformats.org/drawingml/2006/main" w="10478">
            <a:solidFill>
              <a:srgbClr val="0F766E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1595CCB-8E48-4187-B18E-3F8679E68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381375"/>
            <a:ext cx="135890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Demo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3FBAD7E-AD2A-4829-B43A-5F566D7D4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5700" y="3409950"/>
            <a:ext cx="171450" cy="285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A1EA3FE-FDF9-4698-86FC-854D00F7F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6200" y="3143250"/>
            <a:ext cx="1587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F"/>
          </a:solidFill>
          <a:ln xmlns:a="http://schemas.openxmlformats.org/drawingml/2006/main" w="10478">
            <a:solidFill>
              <a:srgbClr val="1D4ED8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664396E-B4AF-4206-8E6D-7010F5BE5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0500" y="3381375"/>
            <a:ext cx="135890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Sandbox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420C247-03EC-4652-9828-4B9E77982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2750" y="3409950"/>
            <a:ext cx="171450" cy="285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B0C2280-400B-4DED-A0A9-912ADB3D9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3143250"/>
            <a:ext cx="1587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E5"/>
          </a:solidFill>
          <a:ln xmlns:a="http://schemas.openxmlformats.org/drawingml/2006/main" w="10478">
            <a:solidFill>
              <a:srgbClr val="B45309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836BFD6-CA47-4898-AD64-1BB2E47CD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7550" y="3381375"/>
            <a:ext cx="135890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Pilot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DD4273C-902B-4F2F-B67C-9D1D46A54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409950"/>
            <a:ext cx="171450" cy="285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7BAC2C9-B355-4D53-9007-AB0A89D00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143250"/>
            <a:ext cx="1587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7ED"/>
          </a:solidFill>
          <a:ln xmlns:a="http://schemas.openxmlformats.org/drawingml/2006/main" w="10478">
            <a:solidFill>
              <a:srgbClr val="166534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0119ABC-6BBC-4429-886C-3A355D615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381375"/>
            <a:ext cx="135890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Production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0A3AF7D-CD01-4BB3-A25E-911835FCF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6850" y="3409950"/>
            <a:ext cx="171450" cy="285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CEDCD95-8BEC-4C5D-B9F9-94770F4EC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7350" y="3143250"/>
            <a:ext cx="1587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CEC"/>
          </a:solidFill>
          <a:ln xmlns:a="http://schemas.openxmlformats.org/drawingml/2006/main" w="10478">
            <a:solidFill>
              <a:srgbClr val="B91C1C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E3EB726-9B14-4FA2-B20C-075F75E04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1650" y="3381375"/>
            <a:ext cx="135890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Operate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4982983-0DF6-4007-A20A-576036CFD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3900" y="3409950"/>
            <a:ext cx="171450" cy="285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D0A1AEA-D5DA-41F4-9F57-C8D877594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4400" y="3143250"/>
            <a:ext cx="1587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DFF"/>
          </a:solidFill>
          <a:ln xmlns:a="http://schemas.openxmlformats.org/drawingml/2006/main" w="10478">
            <a:solidFill>
              <a:srgbClr val="6D28D9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F7B9AC3-C884-436C-A0F1-8996B497D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8700" y="3381375"/>
            <a:ext cx="135890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Scale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759358F-01A6-4EA9-9385-8596E199C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953000"/>
            <a:ext cx="86868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0">
            <a:solidFill>
              <a:srgbClr val="F4F7FA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08037C6-5BD7-4CC1-84E3-DD9C5CED4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5086350"/>
            <a:ext cx="842010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5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FDE判断：是否有清晰输入、上下文、工具、输出和复盘指标。</a:t>
            </a:r>
          </a:p>
        </p:txBody>
      </p:sp>
    </p:spTree>
    <p:extLst>
      <p:ext uri="{BB962C8B-B14F-4D97-AF65-F5344CB8AC3E}">
        <p14:creationId xmlns:p14="http://schemas.microsoft.com/office/powerpoint/2010/main" val="1152565633"/>
      </p:ext>
    </p:extLst>
  </p:cSld>
</p:sld>
</file>

<file path=ppt/slides/slide5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D597221-7F3F-4B86-A679-06ABD7268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solidFill>
              <a:srgbClr val="FAFBFC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55E986-D1E6-4167-9C6A-CAAD07AA5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DDCDAF-92A7-4743-B443-266770E4F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E98E2F-DF8E-4C6F-B4AB-D57770C54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20955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测试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2AA8F3-DC4E-4C18-A751-6BC1809B9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8572500" cy="7620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数字员工测试集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79BC0A-07A1-4ED0-9039-08E51A25A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62100"/>
            <a:ext cx="8763000" cy="4572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测试要覆盖正常、异常、工具失败、越权、人审和回写。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FAD3DE-D30B-4BF0-9471-4F1D648E7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514350"/>
            <a:ext cx="81915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50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A47B43-784F-4E6D-B202-364B10876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30480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WEI SPACE FDE TRAINING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88501AF-2D20-4A72-8697-4C460A076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6534150"/>
            <a:ext cx="18288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上线验收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2A653A4-1727-4487-BF21-1556BCD1C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66950"/>
            <a:ext cx="106299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093D014-B903-404C-882A-C5E4F720B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381250"/>
            <a:ext cx="314325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33333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诊断句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D365B62-52D7-4C32-9567-16DA3F4A4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381250"/>
            <a:ext cx="590550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33333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FDE要追到的证据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1AB70DA-7D66-4DAC-A1A5-8E22A3118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67000"/>
            <a:ext cx="106299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7DEE8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C1C459A-D867-4B53-B094-9A2529019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781300"/>
            <a:ext cx="3238500" cy="3619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正常任务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37C5507-57A4-4666-8095-78B44F87E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781300"/>
            <a:ext cx="6000750" cy="3619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完成闭环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AC395FF-2390-4FC0-9C44-4D0EBAAF4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57550"/>
            <a:ext cx="106299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6F643F4-5149-41CB-A499-D7B2F7759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371850"/>
            <a:ext cx="3238500" cy="3619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异常输入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4EFBB43-2809-4C1C-88D1-3A3D65960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371850"/>
            <a:ext cx="6000750" cy="3619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请求补充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F1B77B7-D715-4D62-8A0E-1F4F748A8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48100"/>
            <a:ext cx="106299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7DEE8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08BFBBD-B3D7-4150-B11C-C50A3E4F2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962400"/>
            <a:ext cx="3238500" cy="3619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工具失败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ECC9DF0-D56E-487A-AF50-73FA8AD46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962400"/>
            <a:ext cx="6000750" cy="3619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重试降级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E43A97E-66F1-40A9-9FEB-9307E18BA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38650"/>
            <a:ext cx="106299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A4EEA3D-F7B5-4B0B-88A8-121A03659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552950"/>
            <a:ext cx="3238500" cy="3619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越权任务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8EE72B5-76C5-40CF-B4AA-590C4CE19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552950"/>
            <a:ext cx="6000750" cy="3619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拒绝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5C94D2F-B21E-4240-8FE1-E90E71E42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029200"/>
            <a:ext cx="106299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7DEE8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A3FD8D7-6E5A-42AB-B5D5-50E0F1057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143500"/>
            <a:ext cx="3238500" cy="3619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高风险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7CD23A3-CF3F-4DBC-BF3D-82E5E142C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5143500"/>
            <a:ext cx="6000750" cy="3619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转审批</a:t>
            </a:r>
          </a:p>
        </p:txBody>
      </p:sp>
    </p:spTree>
    <p:extLst>
      <p:ext uri="{BB962C8B-B14F-4D97-AF65-F5344CB8AC3E}">
        <p14:creationId xmlns:p14="http://schemas.microsoft.com/office/powerpoint/2010/main" val="1403395904"/>
      </p:ext>
    </p:extLst>
  </p:cSld>
</p:sld>
</file>

<file path=ppt/slides/slide5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CF747C8-CA32-4D9D-B181-68651DDE1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solidFill>
              <a:srgbClr val="FAFBFC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B7C921-4BD5-4CF5-A279-FDB3F63C7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809AC7-7EC6-4B21-B2C1-669166748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2564AE-5649-4771-B316-61ECF7CC4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20955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指标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95554A-6258-466C-A7AF-E9084D97A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8572500" cy="7620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上线运营看板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8357B8-BEB5-4369-B484-A62BC205D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62100"/>
            <a:ext cx="8763000" cy="4572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运营看板要同时看业务价值、质量、风险、成本和体验。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B3F8AD-AC09-4C76-A6E8-420607567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514350"/>
            <a:ext cx="81915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51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3CD31C-9259-4A88-BC29-5A1699DA7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30480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WEI SPACE FDE TRAINING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4B878B-5AF5-47FC-A066-DAED8A9BB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6534150"/>
            <a:ext cx="18288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上线验收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4321009-E503-40CA-987E-4D62D66DE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05050"/>
            <a:ext cx="33909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7DEE8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3AF8D83-FEDE-46D7-B37F-29DDC4AE1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05050"/>
            <a:ext cx="33909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5374641-05B6-47BD-AE57-C238C5B20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552700"/>
            <a:ext cx="1009650" cy="285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25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任务完成率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2120CB0-5963-4185-8205-668293CC4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2533650"/>
            <a:ext cx="1828800" cy="552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闭环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B16CCA9-649B-42AC-A3DB-5B6EA7E16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305050"/>
            <a:ext cx="33909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7DEE8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0B2F384-0250-4994-8DED-89DEFC0B7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305050"/>
            <a:ext cx="33909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solidFill>
              <a:srgbClr val="1D4ED8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811B117-753A-468E-9107-7537D0909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552700"/>
            <a:ext cx="1009650" cy="285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25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人工接管率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0477640-F65D-4E9B-8C8C-6B6A59DA6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2533650"/>
            <a:ext cx="1828800" cy="552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边界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2DE99E7-3EAE-4D7B-B904-95079B263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305050"/>
            <a:ext cx="33909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7DEE8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55A1D97-47CE-49AF-B2D6-1A64F1297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305050"/>
            <a:ext cx="33909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solidFill>
              <a:srgbClr val="B45309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E305B3C-0C52-4DC5-AF55-FF7568374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552700"/>
            <a:ext cx="1009650" cy="285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25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错误率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BCEABAE-D7BF-4157-9CCD-07B2CD57E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533650"/>
            <a:ext cx="1828800" cy="552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质量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802A343-0A9A-46A2-B3A7-97E482ED1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24250"/>
            <a:ext cx="33909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7DEE8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3409651-0BFA-484F-B65C-A139BF836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24250"/>
            <a:ext cx="33909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6534"/>
          </a:solidFill>
          <a:ln xmlns:a="http://schemas.openxmlformats.org/drawingml/2006/main" w="0">
            <a:solidFill>
              <a:srgbClr val="166534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73271CC-487E-4278-95D8-573AF5A51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771900"/>
            <a:ext cx="1009650" cy="285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25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665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66534"/>
                </a:solidFill>
                <a:latin typeface="Microsoft YaHei"/>
                <a:ea typeface="Microsoft YaHei"/>
                <a:cs typeface="Microsoft YaHei"/>
              </a:rPr>
              <a:t>处理时长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641211D-889C-4DCC-B03C-21D7AA409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3752850"/>
            <a:ext cx="1828800" cy="552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效率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D468C5C-80D1-4132-9D60-CD7ED8553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524250"/>
            <a:ext cx="33909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7DEE8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33E540F-DFF5-4EE4-9751-12BE03AF8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524250"/>
            <a:ext cx="33909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1C1C"/>
          </a:solidFill>
          <a:ln xmlns:a="http://schemas.openxmlformats.org/drawingml/2006/main" w="0">
            <a:solidFill>
              <a:srgbClr val="B91C1C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775AAC7-F2CF-4927-9B28-E09527349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771900"/>
            <a:ext cx="1009650" cy="285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25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B91C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B91C1C"/>
                </a:solidFill>
                <a:latin typeface="Microsoft YaHei"/>
                <a:ea typeface="Microsoft YaHei"/>
                <a:cs typeface="Microsoft YaHei"/>
              </a:rPr>
              <a:t>调用成本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4BAE312-EC51-4020-845C-59B42E8D9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3752850"/>
            <a:ext cx="1828800" cy="552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成本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B424C13-5BB5-4223-AD82-9AF6D4EE4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524250"/>
            <a:ext cx="33909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7DEE8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EEDB1E0-8C78-4979-B860-E563AB889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524250"/>
            <a:ext cx="33909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28D9"/>
          </a:solidFill>
          <a:ln xmlns:a="http://schemas.openxmlformats.org/drawingml/2006/main" w="0">
            <a:solidFill>
              <a:srgbClr val="6D28D9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A7D642A-E975-4ADC-BB9D-F8C13D845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771900"/>
            <a:ext cx="1009650" cy="285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25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6D28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6D28D9"/>
                </a:solidFill>
                <a:latin typeface="Microsoft YaHei"/>
                <a:ea typeface="Microsoft YaHei"/>
                <a:cs typeface="Microsoft YaHei"/>
              </a:rPr>
              <a:t>业务指标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73FFA63-8390-47D4-BF55-A9D8DD8A2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752850"/>
            <a:ext cx="1828800" cy="552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价值</a:t>
            </a:r>
          </a:p>
        </p:txBody>
      </p:sp>
    </p:spTree>
    <p:extLst>
      <p:ext uri="{BB962C8B-B14F-4D97-AF65-F5344CB8AC3E}">
        <p14:creationId xmlns:p14="http://schemas.microsoft.com/office/powerpoint/2010/main" val="800514160"/>
      </p:ext>
    </p:extLst>
  </p:cSld>
</p:sld>
</file>

<file path=ppt/slides/slide5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9875B67-7675-4F02-9FCE-410D4AD3B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solidFill>
              <a:srgbClr val="FAFBFC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58D744-1EB8-415B-A420-B5D6FA7AE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B2CA51-629B-401C-9966-439828393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A313FD-579E-423F-A73C-462FB9841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20955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灰度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A692A1-D042-4470-9B33-FFDBF8B98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8572500" cy="7620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灰度上线策略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6E158D-495B-488D-B899-07BF7E80C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62100"/>
            <a:ext cx="8763000" cy="4572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先小范围、低风险、强人审，再逐步扩大自动化比例。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3973D9-0528-4BA2-A134-D9C6C8742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514350"/>
            <a:ext cx="81915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52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6477A0-BF49-4509-BC83-F7379124E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30480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WEI SPACE FDE TRAINING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C99A0E0-4F13-4392-ABA7-22A139BDD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6534150"/>
            <a:ext cx="18288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上线验收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9B43652-AF51-4B43-87BD-69E9EABD8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81250"/>
            <a:ext cx="34036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7DEE8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2EFBF88-FF02-49E9-82FE-E8102B6EB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81250"/>
            <a:ext cx="76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EE73936-AD01-4F60-9F0D-6B57A3898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571750"/>
            <a:ext cx="43815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092C5CE-B457-4A08-B52E-5404E86D7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552700"/>
            <a:ext cx="2470150" cy="933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选试点团队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5EC4F0D-BAB3-4002-B5F5-4CA9FB564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4200" y="2381250"/>
            <a:ext cx="34036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7DEE8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54D7BB0-F302-4832-AD29-0C54A3884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4200" y="2381250"/>
            <a:ext cx="76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solidFill>
              <a:srgbClr val="1D4ED8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9425A7F-025E-4BDB-A1BA-601F24D2F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2800" y="2571750"/>
            <a:ext cx="43815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F26FC0D-BC55-43F4-80EF-9656263AC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7150" y="2552700"/>
            <a:ext cx="2470150" cy="933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限定任务范围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F9F3DFE-329F-4824-9409-28FCFF04B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7350" y="2381250"/>
            <a:ext cx="34036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7DEE8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C5F2171-F4D0-40F4-AB88-8DA4FDED9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7350" y="2381250"/>
            <a:ext cx="76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solidFill>
              <a:srgbClr val="B45309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43CC896-C9B4-4C7D-9DF8-EE822527F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5950" y="2571750"/>
            <a:ext cx="43815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3C0B58B-BA5B-45F9-9247-D15BB5C5F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0300" y="2552700"/>
            <a:ext cx="2470150" cy="933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保留人工审批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0AAB845-CD10-4DC2-9A07-96C25469B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48100"/>
            <a:ext cx="34036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7DEE8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57C1FDC-B8B9-4AFF-9ECC-DA3B97C71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48100"/>
            <a:ext cx="76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6534"/>
          </a:solidFill>
          <a:ln xmlns:a="http://schemas.openxmlformats.org/drawingml/2006/main" w="0">
            <a:solidFill>
              <a:srgbClr val="166534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4540B51-F20A-40FF-94CA-7BF4E33E4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038600"/>
            <a:ext cx="43815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665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66534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724D062-097A-486F-BE51-5794EB76E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019550"/>
            <a:ext cx="2470150" cy="933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每日复盘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B37F62E-B83A-4CE5-BD6D-1D9CB344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4200" y="3848100"/>
            <a:ext cx="34036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7DEE8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D85ABC3-2556-4931-97C2-481D320D8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4200" y="3848100"/>
            <a:ext cx="76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1C1C"/>
          </a:solidFill>
          <a:ln xmlns:a="http://schemas.openxmlformats.org/drawingml/2006/main" w="0">
            <a:solidFill>
              <a:srgbClr val="B91C1C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F5CE938-8682-423F-A9D1-B5FBF659E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2800" y="4038600"/>
            <a:ext cx="43815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91C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B91C1C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0BC59BE-B394-4819-9DA7-5FB532E49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7150" y="4019550"/>
            <a:ext cx="2470150" cy="933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逐步放权</a:t>
            </a:r>
          </a:p>
        </p:txBody>
      </p:sp>
    </p:spTree>
    <p:extLst>
      <p:ext uri="{BB962C8B-B14F-4D97-AF65-F5344CB8AC3E}">
        <p14:creationId xmlns:p14="http://schemas.microsoft.com/office/powerpoint/2010/main" val="1503841610"/>
      </p:ext>
    </p:extLst>
  </p:cSld>
</p:sld>
</file>

<file path=ppt/slides/slide5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9321837-3FC2-479A-8E5B-F5C64760A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solidFill>
              <a:srgbClr val="FAFBFC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58EADC-EB0F-47E3-9981-D6D64C57A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E402B9-7534-41F6-B02E-163B7C66F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07A084-F802-4880-BB67-F9BF6D7D5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20955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事故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37684F-8DC1-422E-8B9B-FCA2B3978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8572500" cy="7620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数字员工事故复盘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4955CF-536D-479E-AFB0-619417C5A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62100"/>
            <a:ext cx="8763000" cy="4572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上线后要准备停用、回滚、通知、修复和复盘机制。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7E6FA6-C713-4916-9DCA-61160AD6D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514350"/>
            <a:ext cx="81915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53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B45B7D-FEB1-484B-B752-15CC8A800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30480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WEI SPACE FDE TRAINING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3E0434A-F8C8-4F38-85F0-253115FF0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6534150"/>
            <a:ext cx="18288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上线验收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0851496-8236-45DF-B7E0-03596E104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952750"/>
            <a:ext cx="19812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4F1"/>
          </a:solidFill>
          <a:ln xmlns:a="http://schemas.openxmlformats.org/drawingml/2006/main" w="11430">
            <a:solidFill>
              <a:srgbClr val="0F766E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2CE7C9C-D7E5-46E7-A7AE-024F657E4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238500"/>
            <a:ext cx="1600200" cy="285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停用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5AAC39B-0D63-4DAA-962E-4DF1200DB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705100"/>
            <a:ext cx="198120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F"/>
          </a:solidFill>
          <a:ln xmlns:a="http://schemas.openxmlformats.org/drawingml/2006/main" w="11430">
            <a:solidFill>
              <a:srgbClr val="1D4ED8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70EDFB6-3E03-443A-99FD-DD5AAED8E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3086100"/>
            <a:ext cx="1600200" cy="285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回滚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867343F-8667-4C2B-B99B-F5ECD531B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457450"/>
            <a:ext cx="19812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E5"/>
          </a:solidFill>
          <a:ln xmlns:a="http://schemas.openxmlformats.org/drawingml/2006/main" w="11430">
            <a:solidFill>
              <a:srgbClr val="B45309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18A88FF-31C2-4F0B-AAB7-804C31493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933700"/>
            <a:ext cx="1600200" cy="285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通知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0C0784E-7091-4884-BB9A-238CAD1F0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209800"/>
            <a:ext cx="198120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7ED"/>
          </a:solidFill>
          <a:ln xmlns:a="http://schemas.openxmlformats.org/drawingml/2006/main" w="11430">
            <a:solidFill>
              <a:srgbClr val="166534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91A93F3-6010-4735-9DB1-2C3A86BA6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781300"/>
            <a:ext cx="1600200" cy="285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修复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5C8C74D-475C-4B69-8C8B-1BCCC44FA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5334000"/>
            <a:ext cx="8153400" cy="285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68182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B91C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B91C1C"/>
                </a:solidFill>
                <a:latin typeface="Microsoft YaHei"/>
                <a:ea typeface="Microsoft YaHei"/>
                <a:cs typeface="Microsoft YaHei"/>
              </a:rPr>
              <a:t>越往右，越需要明确规则、日志、审批和回滚。</a:t>
            </a:r>
          </a:p>
        </p:txBody>
      </p:sp>
    </p:spTree>
    <p:extLst>
      <p:ext uri="{BB962C8B-B14F-4D97-AF65-F5344CB8AC3E}">
        <p14:creationId xmlns:p14="http://schemas.microsoft.com/office/powerpoint/2010/main" val="1405329227"/>
      </p:ext>
    </p:extLst>
  </p:cSld>
</p:sld>
</file>

<file path=ppt/slides/slide5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1A5CC0B-3364-400F-94E8-6DC8D1850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solidFill>
              <a:srgbClr val="FAFBFC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2F43F7-2958-44C6-8D9E-CAD4DB5EB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5B1947-6603-4204-A712-193168524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0A1A27-F22C-48E2-8655-F65F315E7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20955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交付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5B5775-83E7-42C8-86AC-8268C7A15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8572500" cy="7620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FDE部署交付包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89280B-7530-4815-9812-C77C0709E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62100"/>
            <a:ext cx="8763000" cy="4572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交付物必须让客户、交付、技术和运营团队都能接手。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A0DC00-BBEF-4FCA-BFE3-B0842126F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514350"/>
            <a:ext cx="81915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54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0FE67A-37C5-4ECB-90EE-31D4830D9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30480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WEI SPACE FDE TRAINING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E00CDF-4239-4165-B14D-409E43041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6534150"/>
            <a:ext cx="18288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上线验收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FB82F5-FB04-4178-9951-F6ED0E783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66950"/>
            <a:ext cx="10363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D807D60-7E65-4030-9E22-7F5CD2869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381250"/>
            <a:ext cx="171450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33333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字段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068ED2C-1A87-4590-95D6-74A13527C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381250"/>
            <a:ext cx="571500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33333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讲师追问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56801DF-F0BF-45D2-AE96-DD9F1E4CE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67000"/>
            <a:ext cx="103632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7DEE8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8F67D20-A6FB-44E5-AC8B-A16E076A7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790825"/>
            <a:ext cx="1809750" cy="2095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46296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岗位说明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1864DF8-52E4-4863-ABF3-76FF5D4FF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781300"/>
            <a:ext cx="723900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58823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谁负责结果？谁真正操作？谁会抵触？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FFE0427-45B3-47EF-A30B-F14E0F78C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62300"/>
            <a:ext cx="103632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06D96B9-67C3-48E0-8933-4677F1B0D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286125"/>
            <a:ext cx="1809750" cy="2095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46296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流程蓝图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DC7354B-1F65-4F61-96FC-B02C5EFA8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276600"/>
            <a:ext cx="723900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58823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具体是哪一步，不接受“整个部门都要AI化”。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D648E3D-D04C-46AD-85FC-57A898F1E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57600"/>
            <a:ext cx="103632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7DEE8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277EA39-076D-49D1-B1CD-BD97146C5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781425"/>
            <a:ext cx="1809750" cy="2095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46296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工具说明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985FD8A-EF99-4C89-98BD-274DF718E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771900"/>
            <a:ext cx="723900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58823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需要读写哪些系统？权限由谁批准？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02A7942-675E-47B3-9391-83B678163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152900"/>
            <a:ext cx="103632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3BD4185-92D8-4581-88EF-7EA52AD9F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276725"/>
            <a:ext cx="1809750" cy="2095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46296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护栏规则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F7D3388-03EA-48A3-A721-5A67E7770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4267200"/>
            <a:ext cx="723900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58823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写具体证据，不写抽象愿望。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005AFD5-278F-48F8-A717-87BF83006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648200"/>
            <a:ext cx="103632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7DEE8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8B13556-B4C9-4E64-B760-68B8AC3F6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772025"/>
            <a:ext cx="1809750" cy="2095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46296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测试集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35FA94B-625B-453D-8D2A-4F18BF4ED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4762500"/>
            <a:ext cx="723900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58823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写具体证据，不写抽象愿望。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A3676B4-5696-426D-B0D3-8D0BCE901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143500"/>
            <a:ext cx="103632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604D277-7CA5-447B-827D-0BD4B678A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267325"/>
            <a:ext cx="1809750" cy="2095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46296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灰度方案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3E4211B-A0AA-49D0-9B0E-68CB4C5B3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5257800"/>
            <a:ext cx="723900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58823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写具体证据，不写抽象愿望。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F43AAFB-BC79-4F37-A8EE-EE95BA268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638800"/>
            <a:ext cx="103632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7DEE8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3D3B7A8-16F5-410F-A771-C36FAA11B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762625"/>
            <a:ext cx="1809750" cy="2095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46296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运营看板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63B572A-F963-43B0-AC37-EB8C0A529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5753100"/>
            <a:ext cx="723900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58823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写具体证据，不写抽象愿望。</a:t>
            </a:r>
          </a:p>
        </p:txBody>
      </p:sp>
    </p:spTree>
    <p:extLst>
      <p:ext uri="{BB962C8B-B14F-4D97-AF65-F5344CB8AC3E}">
        <p14:creationId xmlns:p14="http://schemas.microsoft.com/office/powerpoint/2010/main" val="1961199868"/>
      </p:ext>
    </p:extLst>
  </p:cSld>
</p:sld>
</file>

<file path=ppt/slides/slide5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8CF79AB-FDBF-465E-811E-58CA1D057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solidFill>
              <a:srgbClr val="FAFBFC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E8D937-3F16-47A6-A695-17CF948B2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630755-9F97-4F21-8900-0F02424F4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6BC165-41E0-4BFB-8B3E-7F08AC0F7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20955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工作坊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1615C1-9183-4604-A684-9502CBBF3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8572500" cy="7620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产出一个数字员工部署蓝图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6908DF-A7E0-4982-AC11-5FFCD6229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62100"/>
            <a:ext cx="8763000" cy="4572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每组把第3章上下文包升级为可上线的数字员工部署包。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660BB1-8A52-4090-90A8-58D45CD8F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514350"/>
            <a:ext cx="81915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55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C313DA-B1A2-4B2D-A2DF-756ABDE16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30480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WEI SPACE FDE TRAINING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7060BF-8266-4A48-9BD3-668447055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6534150"/>
            <a:ext cx="18288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上线验收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A9D3E5F-3944-462A-8A1C-105263F83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43150"/>
            <a:ext cx="37338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7DEE8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05555AC-A34B-4A37-B12A-8B2D0B787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67000"/>
            <a:ext cx="15240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55555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课堂动作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5EA799E-98A1-4E57-9CBD-EF36EBC81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124200"/>
            <a:ext cx="1714500" cy="3619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5分钟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9DA7B99-D2F2-4774-A270-0C825ABC9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771900"/>
            <a:ext cx="2857500" cy="666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讲师示范后，学员用自己的真实流程产出材料。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FCFAC79-88BB-4A5C-80E2-B4E06DED5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4193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F4F1"/>
          </a:solidFill>
          <a:ln xmlns:a="http://schemas.openxmlformats.org/drawingml/2006/main" w="9525">
            <a:solidFill>
              <a:srgbClr val="0F766E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C7C3029-0136-453A-9AE8-DAF00B4EE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505075"/>
            <a:ext cx="323850" cy="1524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27778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A9BE9E7-0989-447A-87F1-B317757A2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2381250"/>
            <a:ext cx="5048250" cy="4191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岗位说明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4AB78AE-E394-48D4-8E41-12F1CC54C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0670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solidFill>
              <a:srgbClr val="1D4ED8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1F7762F-89DF-4D20-80D6-EA04FCA93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152775"/>
            <a:ext cx="323850" cy="1524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27778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08B73B0-382D-4ADC-BB07-4E1053D8A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3028950"/>
            <a:ext cx="5048250" cy="4191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流程主线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EAEF6A0-4A61-4FE3-B182-3394DD8DD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7147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4E5"/>
          </a:solidFill>
          <a:ln xmlns:a="http://schemas.openxmlformats.org/drawingml/2006/main" w="9525">
            <a:solidFill>
              <a:srgbClr val="B45309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8AA9E8A-33EA-4411-83EB-497D24B10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800475"/>
            <a:ext cx="323850" cy="1524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27778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1F83153-871E-4C03-896F-42EED65CF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3676650"/>
            <a:ext cx="5048250" cy="4191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工具Schema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B88F408-B801-4827-AE66-461C5BE4F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3624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7ED"/>
          </a:solidFill>
          <a:ln xmlns:a="http://schemas.openxmlformats.org/drawingml/2006/main" w="9525">
            <a:solidFill>
              <a:srgbClr val="166534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4E6F16A-0957-47EE-84CB-9226EA35E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448175"/>
            <a:ext cx="323850" cy="1524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27778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665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166534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146647C-BEC4-4AC0-85E1-D8D221972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4324350"/>
            <a:ext cx="5048250" cy="4191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人机护栏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C842EA3-D15C-45DC-95C1-07A837A8E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50101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EECEC"/>
          </a:solidFill>
          <a:ln xmlns:a="http://schemas.openxmlformats.org/drawingml/2006/main" w="9525">
            <a:solidFill>
              <a:srgbClr val="B91C1C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321ACDA-4512-4085-853E-584135B2C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5095875"/>
            <a:ext cx="323850" cy="1524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27778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B91C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B91C1C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23E399D-02C0-4B7F-B50F-0DD585265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4972050"/>
            <a:ext cx="5048250" cy="4191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测试集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818D3BF-FB7D-4294-BD04-FF10D2A13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56578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EDFF"/>
          </a:solidFill>
          <a:ln xmlns:a="http://schemas.openxmlformats.org/drawingml/2006/main" w="9525">
            <a:solidFill>
              <a:srgbClr val="6D28D9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D8A4FEE-3799-4E0B-81C9-BA2BBE5F6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5743575"/>
            <a:ext cx="323850" cy="1524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27778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6D28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6D28D9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590F8BC-B570-4840-8E81-04FDA7D80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5619750"/>
            <a:ext cx="5048250" cy="4191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上线计划</a:t>
            </a:r>
          </a:p>
        </p:txBody>
      </p:sp>
    </p:spTree>
    <p:extLst>
      <p:ext uri="{BB962C8B-B14F-4D97-AF65-F5344CB8AC3E}">
        <p14:creationId xmlns:p14="http://schemas.microsoft.com/office/powerpoint/2010/main" val="2100858291"/>
      </p:ext>
    </p:extLst>
  </p:cSld>
</p:sld>
</file>

<file path=ppt/slides/slide5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9C72C21-1C48-4F42-A8D9-F324459CA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0">
            <a:solidFill>
              <a:srgbClr val="0B1220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61305D-EA87-4576-B7DB-7B3DE8F9E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F0E0DA-15B5-4BB1-9332-FEF08B171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933450"/>
            <a:ext cx="19050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7407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本章收束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E7C33B-290E-4B5E-AF1B-6D98EFFF2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695450"/>
            <a:ext cx="8382000" cy="1047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从上下文工程到数字员工交付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824EF2-3025-45A8-B18E-B403B6BFC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67050"/>
            <a:ext cx="7810500" cy="666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DCE4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DCE4EE"/>
                </a:solidFill>
                <a:latin typeface="Microsoft YaHei"/>
                <a:ea typeface="Microsoft YaHei"/>
                <a:cs typeface="Microsoft YaHei"/>
              </a:rPr>
              <a:t>FDE真正的价值，是让企业AI在真实流程里安全、可控、可复盘地工作。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639DE3-ED86-4B19-8060-4E0DC8D07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953000"/>
            <a:ext cx="209550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91667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可执行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EF612C-F37C-4B37-8F1B-9573C5243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5448300"/>
            <a:ext cx="952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ABE7DC-6EBE-48B9-AEE4-CDA3E75C6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4953000"/>
            <a:ext cx="209550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91667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可控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FD4F4DE-39EE-4F21-9FFA-B31433A0C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5448300"/>
            <a:ext cx="952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solidFill>
              <a:srgbClr val="1D4ED8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B20A6F9-E676-4CBA-86D4-D19CAD5AA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953000"/>
            <a:ext cx="209550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91667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可验收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565E6D0-95FE-4227-A708-44063A64B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448300"/>
            <a:ext cx="952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solidFill>
              <a:srgbClr val="B45309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4DAFAA2-6AD1-4258-9A74-F3C7610F4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953000"/>
            <a:ext cx="209550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57150" rIns="76200" bIns="57150" anchor="t">
            <a:normAutofit fontScale="91667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可运营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BB345AA-EB60-4908-BE72-7A6EC0399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5448300"/>
            <a:ext cx="952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6534"/>
          </a:solidFill>
          <a:ln xmlns:a="http://schemas.openxmlformats.org/drawingml/2006/main" w="0">
            <a:solidFill>
              <a:srgbClr val="166534"/>
            </a:solidFill>
          </a:ln>
        </p:spPr>
      </p:sp>
    </p:spTree>
    <p:extLst>
      <p:ext uri="{BB962C8B-B14F-4D97-AF65-F5344CB8AC3E}">
        <p14:creationId xmlns:p14="http://schemas.microsoft.com/office/powerpoint/2010/main" val="99333130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2026-05-16T01:11:20.7750000Z</dcterms:created>
  <dcterms:modified xsi:type="dcterms:W3CDTF">2026-05-16T01:11:20.7750000Z</dcterms:modified>
</coreProperties>
</file>