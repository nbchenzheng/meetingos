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61772fdbf424b" /><Relationship Type="http://schemas.openxmlformats.org/officeDocument/2006/relationships/extended-properties" Target="/docProps/app.xml" Id="R58e469a4b7464c47" /><Relationship Type="http://schemas.openxmlformats.org/officeDocument/2006/relationships/officeDocument" Target="/ppt/presentation.xml" Id="Reb0cf1502bfa46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b9d967300640ae"/>
  </p:sldMasterIdLst>
  <p:notesMasterIdLst>
    <p:notesMasterId xmlns:r="http://schemas.openxmlformats.org/officeDocument/2006/relationships" r:id="Rb5c57c6915f84d2d"/>
  </p:notesMasterIdLst>
  <p:sldIdLst>
    <p:sldId xmlns:r="http://schemas.openxmlformats.org/officeDocument/2006/relationships" id="256" r:id="R47dbad8be2f24257"/>
    <p:sldId xmlns:r="http://schemas.openxmlformats.org/officeDocument/2006/relationships" id="257" r:id="R7c79ed82f4c0442b"/>
    <p:sldId xmlns:r="http://schemas.openxmlformats.org/officeDocument/2006/relationships" id="258" r:id="Rb7805c9ce8884e2c"/>
    <p:sldId xmlns:r="http://schemas.openxmlformats.org/officeDocument/2006/relationships" id="259" r:id="R9aef4c808d704aa7"/>
    <p:sldId xmlns:r="http://schemas.openxmlformats.org/officeDocument/2006/relationships" id="260" r:id="Rb75085d8b5ba401e"/>
    <p:sldId xmlns:r="http://schemas.openxmlformats.org/officeDocument/2006/relationships" id="261" r:id="R97485a29beca492f"/>
    <p:sldId xmlns:r="http://schemas.openxmlformats.org/officeDocument/2006/relationships" id="262" r:id="R97d5200e4ccc4521"/>
    <p:sldId xmlns:r="http://schemas.openxmlformats.org/officeDocument/2006/relationships" id="263" r:id="R79018973ac4b4e72"/>
    <p:sldId xmlns:r="http://schemas.openxmlformats.org/officeDocument/2006/relationships" id="264" r:id="R3b057c6f7a784915"/>
    <p:sldId xmlns:r="http://schemas.openxmlformats.org/officeDocument/2006/relationships" id="265" r:id="R454ee4a73b1a44cc"/>
    <p:sldId xmlns:r="http://schemas.openxmlformats.org/officeDocument/2006/relationships" id="266" r:id="Reb9c6a1b05ab458d"/>
    <p:sldId xmlns:r="http://schemas.openxmlformats.org/officeDocument/2006/relationships" id="267" r:id="R2e5bca184a834d19"/>
    <p:sldId xmlns:r="http://schemas.openxmlformats.org/officeDocument/2006/relationships" id="268" r:id="Rc8a86aa78aa749e7"/>
    <p:sldId xmlns:r="http://schemas.openxmlformats.org/officeDocument/2006/relationships" id="269" r:id="Rbc302ff64a8f49b8"/>
    <p:sldId xmlns:r="http://schemas.openxmlformats.org/officeDocument/2006/relationships" id="270" r:id="R4908e6b8b0974910"/>
    <p:sldId xmlns:r="http://schemas.openxmlformats.org/officeDocument/2006/relationships" id="271" r:id="R922ffbc3d1b441d2"/>
    <p:sldId xmlns:r="http://schemas.openxmlformats.org/officeDocument/2006/relationships" id="272" r:id="R5394dcb009ee4fcb"/>
    <p:sldId xmlns:r="http://schemas.openxmlformats.org/officeDocument/2006/relationships" id="273" r:id="R0d67a14f80794bca"/>
    <p:sldId xmlns:r="http://schemas.openxmlformats.org/officeDocument/2006/relationships" id="274" r:id="Rd68a0b40e10c48c3"/>
    <p:sldId xmlns:r="http://schemas.openxmlformats.org/officeDocument/2006/relationships" id="275" r:id="R2b27a550e39b47b6"/>
    <p:sldId xmlns:r="http://schemas.openxmlformats.org/officeDocument/2006/relationships" id="276" r:id="Ra65389594d224255"/>
    <p:sldId xmlns:r="http://schemas.openxmlformats.org/officeDocument/2006/relationships" id="277" r:id="Raf3aad378b3146c4"/>
    <p:sldId xmlns:r="http://schemas.openxmlformats.org/officeDocument/2006/relationships" id="278" r:id="R67c9f26aeb5d4124"/>
    <p:sldId xmlns:r="http://schemas.openxmlformats.org/officeDocument/2006/relationships" id="279" r:id="Rfbb7a8e69e924102"/>
    <p:sldId xmlns:r="http://schemas.openxmlformats.org/officeDocument/2006/relationships" id="280" r:id="R76e9ff565185463d"/>
    <p:sldId xmlns:r="http://schemas.openxmlformats.org/officeDocument/2006/relationships" id="281" r:id="Rd308709efcf44576"/>
    <p:sldId xmlns:r="http://schemas.openxmlformats.org/officeDocument/2006/relationships" id="282" r:id="R1f8919a498414d91"/>
    <p:sldId xmlns:r="http://schemas.openxmlformats.org/officeDocument/2006/relationships" id="283" r:id="R75de8e41a118426a"/>
    <p:sldId xmlns:r="http://schemas.openxmlformats.org/officeDocument/2006/relationships" id="284" r:id="Rde74fd1e01294338"/>
    <p:sldId xmlns:r="http://schemas.openxmlformats.org/officeDocument/2006/relationships" id="285" r:id="R68dd137b5a754a07"/>
    <p:sldId xmlns:r="http://schemas.openxmlformats.org/officeDocument/2006/relationships" id="286" r:id="Rf32fddb36d5e47c3"/>
    <p:sldId xmlns:r="http://schemas.openxmlformats.org/officeDocument/2006/relationships" id="287" r:id="R111a4b9b86294257"/>
    <p:sldId xmlns:r="http://schemas.openxmlformats.org/officeDocument/2006/relationships" id="288" r:id="R1959b8f6d4af49d3"/>
    <p:sldId xmlns:r="http://schemas.openxmlformats.org/officeDocument/2006/relationships" id="289" r:id="R02edd564d3b64209"/>
    <p:sldId xmlns:r="http://schemas.openxmlformats.org/officeDocument/2006/relationships" id="290" r:id="R8be5109899b845ed"/>
    <p:sldId xmlns:r="http://schemas.openxmlformats.org/officeDocument/2006/relationships" id="291" r:id="R4d9f648d5ce341ab"/>
    <p:sldId xmlns:r="http://schemas.openxmlformats.org/officeDocument/2006/relationships" id="292" r:id="R4e03c7290e3042af"/>
    <p:sldId xmlns:r="http://schemas.openxmlformats.org/officeDocument/2006/relationships" id="293" r:id="Ra41d12699b934c96"/>
    <p:sldId xmlns:r="http://schemas.openxmlformats.org/officeDocument/2006/relationships" id="294" r:id="Rbd1e801e39694e11"/>
    <p:sldId xmlns:r="http://schemas.openxmlformats.org/officeDocument/2006/relationships" id="295" r:id="Rfde93619b61b44c3"/>
    <p:sldId xmlns:r="http://schemas.openxmlformats.org/officeDocument/2006/relationships" id="296" r:id="Ree5e4d23f35047e5"/>
    <p:sldId xmlns:r="http://schemas.openxmlformats.org/officeDocument/2006/relationships" id="297" r:id="R7fd1bf476aa3429f"/>
    <p:sldId xmlns:r="http://schemas.openxmlformats.org/officeDocument/2006/relationships" id="298" r:id="R68b1ea2c40b54f23"/>
    <p:sldId xmlns:r="http://schemas.openxmlformats.org/officeDocument/2006/relationships" id="299" r:id="Rb07e98ab6aa3439d"/>
    <p:sldId xmlns:r="http://schemas.openxmlformats.org/officeDocument/2006/relationships" id="300" r:id="R6afc61586986407f"/>
    <p:sldId xmlns:r="http://schemas.openxmlformats.org/officeDocument/2006/relationships" id="301" r:id="Re4cb5571d30f4f38"/>
    <p:sldId xmlns:r="http://schemas.openxmlformats.org/officeDocument/2006/relationships" id="302" r:id="R467444637ac445f7"/>
    <p:sldId xmlns:r="http://schemas.openxmlformats.org/officeDocument/2006/relationships" id="303" r:id="R1546758908bd4e01"/>
    <p:sldId xmlns:r="http://schemas.openxmlformats.org/officeDocument/2006/relationships" id="304" r:id="R49d4240ccf394ee8"/>
    <p:sldId xmlns:r="http://schemas.openxmlformats.org/officeDocument/2006/relationships" id="305" r:id="R2fb860797c69495c"/>
    <p:sldId xmlns:r="http://schemas.openxmlformats.org/officeDocument/2006/relationships" id="306" r:id="R11f88649c6484da9"/>
    <p:sldId xmlns:r="http://schemas.openxmlformats.org/officeDocument/2006/relationships" id="307" r:id="Rd75d6e277dbf4087"/>
    <p:sldId xmlns:r="http://schemas.openxmlformats.org/officeDocument/2006/relationships" id="308" r:id="R48b4871c87594974"/>
    <p:sldId xmlns:r="http://schemas.openxmlformats.org/officeDocument/2006/relationships" id="309" r:id="R4fec220518ca4b68"/>
    <p:sldId xmlns:r="http://schemas.openxmlformats.org/officeDocument/2006/relationships" id="310" r:id="R685a944926ee481f"/>
    <p:sldId xmlns:r="http://schemas.openxmlformats.org/officeDocument/2006/relationships" id="311" r:id="R1c73086c9e6645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9d967300640ae" /><Relationship Type="http://schemas.openxmlformats.org/officeDocument/2006/relationships/theme" Target="/ppt/theme/theme1.xml" Id="R227b9f1ff82b410f" /><Relationship Type="http://schemas.openxmlformats.org/officeDocument/2006/relationships/notesMaster" Target="/ppt/notesMasters/notesMaster1.xml" Id="Rb5c57c6915f84d2d" /><Relationship Type="http://schemas.openxmlformats.org/officeDocument/2006/relationships/presProps" Target="/ppt/presProps.xml" Id="Rfa30b3c9abdb4d88" /><Relationship Type="http://schemas.openxmlformats.org/officeDocument/2006/relationships/viewProps" Target="/ppt/viewProps.xml" Id="R79005430ecce4838" /><Relationship Type="http://schemas.openxmlformats.org/officeDocument/2006/relationships/tableStyles" Target="/ppt/tableStyles.xml" Id="Rf87b2663aa07471d" /><Relationship Type="http://schemas.openxmlformats.org/officeDocument/2006/relationships/slide" Target="/ppt/slides/slide1.xml" Id="R47dbad8be2f24257" /><Relationship Type="http://schemas.openxmlformats.org/officeDocument/2006/relationships/slide" Target="/ppt/slides/slide2.xml" Id="R7c79ed82f4c0442b" /><Relationship Type="http://schemas.openxmlformats.org/officeDocument/2006/relationships/slide" Target="/ppt/slides/slide3.xml" Id="Rb7805c9ce8884e2c" /><Relationship Type="http://schemas.openxmlformats.org/officeDocument/2006/relationships/slide" Target="/ppt/slides/slide4.xml" Id="R9aef4c808d704aa7" /><Relationship Type="http://schemas.openxmlformats.org/officeDocument/2006/relationships/slide" Target="/ppt/slides/slide5.xml" Id="Rb75085d8b5ba401e" /><Relationship Type="http://schemas.openxmlformats.org/officeDocument/2006/relationships/slide" Target="/ppt/slides/slide6.xml" Id="R97485a29beca492f" /><Relationship Type="http://schemas.openxmlformats.org/officeDocument/2006/relationships/slide" Target="/ppt/slides/slide7.xml" Id="R97d5200e4ccc4521" /><Relationship Type="http://schemas.openxmlformats.org/officeDocument/2006/relationships/slide" Target="/ppt/slides/slide8.xml" Id="R79018973ac4b4e72" /><Relationship Type="http://schemas.openxmlformats.org/officeDocument/2006/relationships/slide" Target="/ppt/slides/slide9.xml" Id="R3b057c6f7a784915" /><Relationship Type="http://schemas.openxmlformats.org/officeDocument/2006/relationships/slide" Target="/ppt/slides/slide10.xml" Id="R454ee4a73b1a44cc" /><Relationship Type="http://schemas.openxmlformats.org/officeDocument/2006/relationships/slide" Target="/ppt/slides/slide11.xml" Id="Reb9c6a1b05ab458d" /><Relationship Type="http://schemas.openxmlformats.org/officeDocument/2006/relationships/slide" Target="/ppt/slides/slide12.xml" Id="R2e5bca184a834d19" /><Relationship Type="http://schemas.openxmlformats.org/officeDocument/2006/relationships/slide" Target="/ppt/slides/slide13.xml" Id="Rc8a86aa78aa749e7" /><Relationship Type="http://schemas.openxmlformats.org/officeDocument/2006/relationships/slide" Target="/ppt/slides/slide14.xml" Id="Rbc302ff64a8f49b8" /><Relationship Type="http://schemas.openxmlformats.org/officeDocument/2006/relationships/slide" Target="/ppt/slides/slide15.xml" Id="R4908e6b8b0974910" /><Relationship Type="http://schemas.openxmlformats.org/officeDocument/2006/relationships/slide" Target="/ppt/slides/slide16.xml" Id="R922ffbc3d1b441d2" /><Relationship Type="http://schemas.openxmlformats.org/officeDocument/2006/relationships/slide" Target="/ppt/slides/slide17.xml" Id="R5394dcb009ee4fcb" /><Relationship Type="http://schemas.openxmlformats.org/officeDocument/2006/relationships/slide" Target="/ppt/slides/slide18.xml" Id="R0d67a14f80794bca" /><Relationship Type="http://schemas.openxmlformats.org/officeDocument/2006/relationships/slide" Target="/ppt/slides/slide19.xml" Id="Rd68a0b40e10c48c3" /><Relationship Type="http://schemas.openxmlformats.org/officeDocument/2006/relationships/slide" Target="/ppt/slides/slide20.xml" Id="R2b27a550e39b47b6" /><Relationship Type="http://schemas.openxmlformats.org/officeDocument/2006/relationships/slide" Target="/ppt/slides/slide21.xml" Id="Ra65389594d224255" /><Relationship Type="http://schemas.openxmlformats.org/officeDocument/2006/relationships/slide" Target="/ppt/slides/slide22.xml" Id="Raf3aad378b3146c4" /><Relationship Type="http://schemas.openxmlformats.org/officeDocument/2006/relationships/slide" Target="/ppt/slides/slide23.xml" Id="R67c9f26aeb5d4124" /><Relationship Type="http://schemas.openxmlformats.org/officeDocument/2006/relationships/slide" Target="/ppt/slides/slide24.xml" Id="Rfbb7a8e69e924102" /><Relationship Type="http://schemas.openxmlformats.org/officeDocument/2006/relationships/slide" Target="/ppt/slides/slide25.xml" Id="R76e9ff565185463d" /><Relationship Type="http://schemas.openxmlformats.org/officeDocument/2006/relationships/slide" Target="/ppt/slides/slide26.xml" Id="Rd308709efcf44576" /><Relationship Type="http://schemas.openxmlformats.org/officeDocument/2006/relationships/slide" Target="/ppt/slides/slide27.xml" Id="R1f8919a498414d91" /><Relationship Type="http://schemas.openxmlformats.org/officeDocument/2006/relationships/slide" Target="/ppt/slides/slide28.xml" Id="R75de8e41a118426a" /><Relationship Type="http://schemas.openxmlformats.org/officeDocument/2006/relationships/slide" Target="/ppt/slides/slide29.xml" Id="Rde74fd1e01294338" /><Relationship Type="http://schemas.openxmlformats.org/officeDocument/2006/relationships/slide" Target="/ppt/slides/slide30.xml" Id="R68dd137b5a754a07" /><Relationship Type="http://schemas.openxmlformats.org/officeDocument/2006/relationships/slide" Target="/ppt/slides/slide31.xml" Id="Rf32fddb36d5e47c3" /><Relationship Type="http://schemas.openxmlformats.org/officeDocument/2006/relationships/slide" Target="/ppt/slides/slide32.xml" Id="R111a4b9b86294257" /><Relationship Type="http://schemas.openxmlformats.org/officeDocument/2006/relationships/slide" Target="/ppt/slides/slide33.xml" Id="R1959b8f6d4af49d3" /><Relationship Type="http://schemas.openxmlformats.org/officeDocument/2006/relationships/slide" Target="/ppt/slides/slide34.xml" Id="R02edd564d3b64209" /><Relationship Type="http://schemas.openxmlformats.org/officeDocument/2006/relationships/slide" Target="/ppt/slides/slide35.xml" Id="R8be5109899b845ed" /><Relationship Type="http://schemas.openxmlformats.org/officeDocument/2006/relationships/slide" Target="/ppt/slides/slide36.xml" Id="R4d9f648d5ce341ab" /><Relationship Type="http://schemas.openxmlformats.org/officeDocument/2006/relationships/slide" Target="/ppt/slides/slide37.xml" Id="R4e03c7290e3042af" /><Relationship Type="http://schemas.openxmlformats.org/officeDocument/2006/relationships/slide" Target="/ppt/slides/slide38.xml" Id="Ra41d12699b934c96" /><Relationship Type="http://schemas.openxmlformats.org/officeDocument/2006/relationships/slide" Target="/ppt/slides/slide39.xml" Id="Rbd1e801e39694e11" /><Relationship Type="http://schemas.openxmlformats.org/officeDocument/2006/relationships/slide" Target="/ppt/slides/slide40.xml" Id="Rfde93619b61b44c3" /><Relationship Type="http://schemas.openxmlformats.org/officeDocument/2006/relationships/slide" Target="/ppt/slides/slide41.xml" Id="Ree5e4d23f35047e5" /><Relationship Type="http://schemas.openxmlformats.org/officeDocument/2006/relationships/slide" Target="/ppt/slides/slide42.xml" Id="R7fd1bf476aa3429f" /><Relationship Type="http://schemas.openxmlformats.org/officeDocument/2006/relationships/slide" Target="/ppt/slides/slide43.xml" Id="R68b1ea2c40b54f23" /><Relationship Type="http://schemas.openxmlformats.org/officeDocument/2006/relationships/slide" Target="/ppt/slides/slide44.xml" Id="Rb07e98ab6aa3439d" /><Relationship Type="http://schemas.openxmlformats.org/officeDocument/2006/relationships/slide" Target="/ppt/slides/slide45.xml" Id="R6afc61586986407f" /><Relationship Type="http://schemas.openxmlformats.org/officeDocument/2006/relationships/slide" Target="/ppt/slides/slide46.xml" Id="Re4cb5571d30f4f38" /><Relationship Type="http://schemas.openxmlformats.org/officeDocument/2006/relationships/slide" Target="/ppt/slides/slide47.xml" Id="R467444637ac445f7" /><Relationship Type="http://schemas.openxmlformats.org/officeDocument/2006/relationships/slide" Target="/ppt/slides/slide48.xml" Id="R1546758908bd4e01" /><Relationship Type="http://schemas.openxmlformats.org/officeDocument/2006/relationships/slide" Target="/ppt/slides/slide49.xml" Id="R49d4240ccf394ee8" /><Relationship Type="http://schemas.openxmlformats.org/officeDocument/2006/relationships/slide" Target="/ppt/slides/slide50.xml" Id="R2fb860797c69495c" /><Relationship Type="http://schemas.openxmlformats.org/officeDocument/2006/relationships/slide" Target="/ppt/slides/slide51.xml" Id="R11f88649c6484da9" /><Relationship Type="http://schemas.openxmlformats.org/officeDocument/2006/relationships/slide" Target="/ppt/slides/slide52.xml" Id="Rd75d6e277dbf4087" /><Relationship Type="http://schemas.openxmlformats.org/officeDocument/2006/relationships/slide" Target="/ppt/slides/slide53.xml" Id="R48b4871c87594974" /><Relationship Type="http://schemas.openxmlformats.org/officeDocument/2006/relationships/slide" Target="/ppt/slides/slide54.xml" Id="R4fec220518ca4b68" /><Relationship Type="http://schemas.openxmlformats.org/officeDocument/2006/relationships/slide" Target="/ppt/slides/slide55.xml" Id="R685a944926ee481f" /><Relationship Type="http://schemas.openxmlformats.org/officeDocument/2006/relationships/slide" Target="/ppt/slides/slide56.xml" Id="R1c73086c9e6645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6ed005f046240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77d93ef7f94c4d" /><Relationship Type="http://schemas.openxmlformats.org/officeDocument/2006/relationships/notesMaster" Target="/ppt/notesMasters/notesMaster1.xml" Id="R162bc92a14a040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1ddc961a114c8c" /><Relationship Type="http://schemas.openxmlformats.org/officeDocument/2006/relationships/notesMaster" Target="/ppt/notesMasters/notesMaster1.xml" Id="Rfdabb8546e1c47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1f879269b44425" /><Relationship Type="http://schemas.openxmlformats.org/officeDocument/2006/relationships/notesMaster" Target="/ppt/notesMasters/notesMaster1.xml" Id="R5dd23b58afd341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f5dd323808406f" /><Relationship Type="http://schemas.openxmlformats.org/officeDocument/2006/relationships/notesMaster" Target="/ppt/notesMasters/notesMaster1.xml" Id="R220848d7bf0943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c0134daa09482a" /><Relationship Type="http://schemas.openxmlformats.org/officeDocument/2006/relationships/notesMaster" Target="/ppt/notesMasters/notesMaster1.xml" Id="R54256d6ff02847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665bea683f41da" /><Relationship Type="http://schemas.openxmlformats.org/officeDocument/2006/relationships/notesMaster" Target="/ppt/notesMasters/notesMaster1.xml" Id="Rbdf1130d7bc949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d8d4df344b4c5c" /><Relationship Type="http://schemas.openxmlformats.org/officeDocument/2006/relationships/notesMaster" Target="/ppt/notesMasters/notesMaster1.xml" Id="R93db01db04f844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cee265a5f34be9" /><Relationship Type="http://schemas.openxmlformats.org/officeDocument/2006/relationships/notesMaster" Target="/ppt/notesMasters/notesMaster1.xml" Id="R93cbe122aaaf4e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5462f073cb42b1" /><Relationship Type="http://schemas.openxmlformats.org/officeDocument/2006/relationships/notesMaster" Target="/ppt/notesMasters/notesMaster1.xml" Id="Ra8ce8a30d1e743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f715adc7e14642" /><Relationship Type="http://schemas.openxmlformats.org/officeDocument/2006/relationships/notesMaster" Target="/ppt/notesMasters/notesMaster1.xml" Id="Rc323ad35f0544b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7e521441494cfd" /><Relationship Type="http://schemas.openxmlformats.org/officeDocument/2006/relationships/notesMaster" Target="/ppt/notesMasters/notesMaster1.xml" Id="R56ef902ac15344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dc2b7411b14e1f" /><Relationship Type="http://schemas.openxmlformats.org/officeDocument/2006/relationships/notesMaster" Target="/ppt/notesMasters/notesMaster1.xml" Id="R89402807b5d64e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9dfc049192458d" /><Relationship Type="http://schemas.openxmlformats.org/officeDocument/2006/relationships/notesMaster" Target="/ppt/notesMasters/notesMaster1.xml" Id="R7e65602b621040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2b3675ef4e4346" /><Relationship Type="http://schemas.openxmlformats.org/officeDocument/2006/relationships/notesMaster" Target="/ppt/notesMasters/notesMaster1.xml" Id="R0c42ae44538d42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7a8f122aac453d" /><Relationship Type="http://schemas.openxmlformats.org/officeDocument/2006/relationships/notesMaster" Target="/ppt/notesMasters/notesMaster1.xml" Id="Ra8235a0a13424e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4633cf289547b2" /><Relationship Type="http://schemas.openxmlformats.org/officeDocument/2006/relationships/notesMaster" Target="/ppt/notesMasters/notesMaster1.xml" Id="Rafc5079ef5c143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c2503b7a184977" /><Relationship Type="http://schemas.openxmlformats.org/officeDocument/2006/relationships/notesMaster" Target="/ppt/notesMasters/notesMaster1.xml" Id="R69c358fb51ab46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d28b76666347de" /><Relationship Type="http://schemas.openxmlformats.org/officeDocument/2006/relationships/notesMaster" Target="/ppt/notesMasters/notesMaster1.xml" Id="Re577dce5a60e43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323f48310a46eb" /><Relationship Type="http://schemas.openxmlformats.org/officeDocument/2006/relationships/notesMaster" Target="/ppt/notesMasters/notesMaster1.xml" Id="Rec3e86e62a484f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33ab3d94db4408" /><Relationship Type="http://schemas.openxmlformats.org/officeDocument/2006/relationships/notesMaster" Target="/ppt/notesMasters/notesMaster1.xml" Id="R8eb463b517e9421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6d6d62cb9f4c1e" /><Relationship Type="http://schemas.openxmlformats.org/officeDocument/2006/relationships/notesMaster" Target="/ppt/notesMasters/notesMaster1.xml" Id="R1253db48dd7c42c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10e4a3a5144626" /><Relationship Type="http://schemas.openxmlformats.org/officeDocument/2006/relationships/notesMaster" Target="/ppt/notesMasters/notesMaster1.xml" Id="R7905da45bc49422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1e8bcbc62b4c34" /><Relationship Type="http://schemas.openxmlformats.org/officeDocument/2006/relationships/notesMaster" Target="/ppt/notesMasters/notesMaster1.xml" Id="R57997157e83a4e4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50b450f072d4ae8" /><Relationship Type="http://schemas.openxmlformats.org/officeDocument/2006/relationships/notesMaster" Target="/ppt/notesMasters/notesMaster1.xml" Id="Rcff81c0b11d2451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aa36bc8452a4478" /><Relationship Type="http://schemas.openxmlformats.org/officeDocument/2006/relationships/notesMaster" Target="/ppt/notesMasters/notesMaster1.xml" Id="R74df16ba414b4c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7c6ba1f7c304b57" /><Relationship Type="http://schemas.openxmlformats.org/officeDocument/2006/relationships/notesMaster" Target="/ppt/notesMasters/notesMaster1.xml" Id="R0d02663f06cc40c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1f917252b114468" /><Relationship Type="http://schemas.openxmlformats.org/officeDocument/2006/relationships/notesMaster" Target="/ppt/notesMasters/notesMaster1.xml" Id="R4f413165618f438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c7219cdfba844d5" /><Relationship Type="http://schemas.openxmlformats.org/officeDocument/2006/relationships/notesMaster" Target="/ppt/notesMasters/notesMaster1.xml" Id="R9770a3e956974a0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4b9c0eed83241e0" /><Relationship Type="http://schemas.openxmlformats.org/officeDocument/2006/relationships/notesMaster" Target="/ppt/notesMasters/notesMaster1.xml" Id="Rde1048e35d5d4be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77af905eabb42e8" /><Relationship Type="http://schemas.openxmlformats.org/officeDocument/2006/relationships/notesMaster" Target="/ppt/notesMasters/notesMaster1.xml" Id="Rc33a7de0cc8b4b6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99c1fdbd85549c3" /><Relationship Type="http://schemas.openxmlformats.org/officeDocument/2006/relationships/notesMaster" Target="/ppt/notesMasters/notesMaster1.xml" Id="R990cfc8679f248f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4ba07277e8b4f31" /><Relationship Type="http://schemas.openxmlformats.org/officeDocument/2006/relationships/notesMaster" Target="/ppt/notesMasters/notesMaster1.xml" Id="Rd7c01453801f41d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c8b5ef1998e46bb" /><Relationship Type="http://schemas.openxmlformats.org/officeDocument/2006/relationships/notesMaster" Target="/ppt/notesMasters/notesMaster1.xml" Id="Rc0faf46b07df4c1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07e686702714a1d" /><Relationship Type="http://schemas.openxmlformats.org/officeDocument/2006/relationships/notesMaster" Target="/ppt/notesMasters/notesMaster1.xml" Id="R1f90f5a12d7a48d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64a2d627b884b47" /><Relationship Type="http://schemas.openxmlformats.org/officeDocument/2006/relationships/notesMaster" Target="/ppt/notesMasters/notesMaster1.xml" Id="Rbf07e4a33f9742d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47c5a7d1cec4ac2" /><Relationship Type="http://schemas.openxmlformats.org/officeDocument/2006/relationships/notesMaster" Target="/ppt/notesMasters/notesMaster1.xml" Id="R8e9faa3c523d445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6fe0003c6474b8a" /><Relationship Type="http://schemas.openxmlformats.org/officeDocument/2006/relationships/notesMaster" Target="/ppt/notesMasters/notesMaster1.xml" Id="R37f675e49ae4446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dffeef7f6d94ef2" /><Relationship Type="http://schemas.openxmlformats.org/officeDocument/2006/relationships/notesMaster" Target="/ppt/notesMasters/notesMaster1.xml" Id="Ra8a7104311614f4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3f4557a1a884677" /><Relationship Type="http://schemas.openxmlformats.org/officeDocument/2006/relationships/notesMaster" Target="/ppt/notesMasters/notesMaster1.xml" Id="R255c3bd0a040485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32f4c383dfb425d" /><Relationship Type="http://schemas.openxmlformats.org/officeDocument/2006/relationships/notesMaster" Target="/ppt/notesMasters/notesMaster1.xml" Id="R02db1b20857a45e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b44cfa4afa94d0c" /><Relationship Type="http://schemas.openxmlformats.org/officeDocument/2006/relationships/notesMaster" Target="/ppt/notesMasters/notesMaster1.xml" Id="R24322871af4a493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0e140d71cd14eda" /><Relationship Type="http://schemas.openxmlformats.org/officeDocument/2006/relationships/notesMaster" Target="/ppt/notesMasters/notesMaster1.xml" Id="R3a54fa301f4f4d3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4067c492be0482f" /><Relationship Type="http://schemas.openxmlformats.org/officeDocument/2006/relationships/notesMaster" Target="/ppt/notesMasters/notesMaster1.xml" Id="Re2a22165630a4de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0d6845e7b454c10" /><Relationship Type="http://schemas.openxmlformats.org/officeDocument/2006/relationships/notesMaster" Target="/ppt/notesMasters/notesMaster1.xml" Id="Rcc49c46506ac4ed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175ace6b3024153" /><Relationship Type="http://schemas.openxmlformats.org/officeDocument/2006/relationships/notesMaster" Target="/ppt/notesMasters/notesMaster1.xml" Id="R6cd7c7034cb4484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8459155fb834a34" /><Relationship Type="http://schemas.openxmlformats.org/officeDocument/2006/relationships/notesMaster" Target="/ppt/notesMasters/notesMaster1.xml" Id="R14f0af2fd4dd4b8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955b02430cf4700" /><Relationship Type="http://schemas.openxmlformats.org/officeDocument/2006/relationships/notesMaster" Target="/ppt/notesMasters/notesMaster1.xml" Id="R1ad41d30f5614bc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eb3fff8eecb4543" /><Relationship Type="http://schemas.openxmlformats.org/officeDocument/2006/relationships/notesMaster" Target="/ppt/notesMasters/notesMaster1.xml" Id="R25beb0f3d9c5400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0645002d1f74908" /><Relationship Type="http://schemas.openxmlformats.org/officeDocument/2006/relationships/notesMaster" Target="/ppt/notesMasters/notesMaster1.xml" Id="R0fc6ce0df1b943f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daa060a6b664cc8" /><Relationship Type="http://schemas.openxmlformats.org/officeDocument/2006/relationships/notesMaster" Target="/ppt/notesMasters/notesMaster1.xml" Id="R56db4e530f7e448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4df268a9f484265" /><Relationship Type="http://schemas.openxmlformats.org/officeDocument/2006/relationships/notesMaster" Target="/ppt/notesMasters/notesMaster1.xml" Id="R54f47ec419f24e6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feede31ac794e63" /><Relationship Type="http://schemas.openxmlformats.org/officeDocument/2006/relationships/notesMaster" Target="/ppt/notesMasters/notesMaster1.xml" Id="Rafbf56c82a4542e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d12eab5207148f0" /><Relationship Type="http://schemas.openxmlformats.org/officeDocument/2006/relationships/notesMaster" Target="/ppt/notesMasters/notesMaster1.xml" Id="Rc06cdac363784fb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bc2e96fb99c4cdd" /><Relationship Type="http://schemas.openxmlformats.org/officeDocument/2006/relationships/notesMaster" Target="/ppt/notesMasters/notesMaster1.xml" Id="R88d988244564444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686dc0c519c4fe9" /><Relationship Type="http://schemas.openxmlformats.org/officeDocument/2006/relationships/notesMaster" Target="/ppt/notesMasters/notesMaster1.xml" Id="Ra5723f1ef9c14e2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03ccebcc5994aa7" /><Relationship Type="http://schemas.openxmlformats.org/officeDocument/2006/relationships/notesMaster" Target="/ppt/notesMasters/notesMaster1.xml" Id="Red9025215fb24d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本页目的：承接诊断结果，把企业资料、业务状态、工具能力和风险边界变成AI可用的上下文系统。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知识与上下文工程”。这一页要训练的不是记住一个术语，而是让FDE在企业现场能判断：AI要可靠完成这个任务，究竟需要哪些上下文。请先记住本页核心句：承接诊断结果，把企业资料、业务状态、工具能力和风险边界变成AI可用的上下文系统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知识资产；上下文窗口；RAG；工具调用；记忆；评估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3章要把第2章的诊断结果变成工程输入。第2章选出了MVP场景，但场景能不能上线，取决于AI能不能拿到正确上下文。开场必须把边界立清：本章不是资料整理课，不是知识库工具课，而是企业AI可靠性的基础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【收束，约30秒】所以这一页最后要带走的不是“Chapter 03”这个标签，而是一个动作：下次客户说“我们要做知识库”或“我们要做AI员工”时，你要继续问上下文从哪里来、怎么更新、谁能看、如何验证。明确本章边界后，我们进入上下文工程的底层心法。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互动问题：请学员用一句话说明本页如何影响企业AI上线。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过渡语：明确本章边界后，我们进入上下文工程的底层心法。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本页目的：本章不是单纯教知识库，而是训练FDE把企业知识做成可部署上下文。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8课时学习路径”。这一页要训练的不是记住一个术语，而是让FDE在企业现场能判断：AI要可靠完成这个任务，究竟需要哪些上下文。请先记住本页核心句：本章不是单纯教知识库，而是训练FDE把企业知识做成可部署上下文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复盘与契约；上下文心法；知识盘点；文档治理；检索与长上下文；Agent上下文；平台实践；验收工作坊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3章要把第2章的诊断结果变成工程输入。第2章选出了MVP场景，但场景能不能上线，取决于AI能不能拿到正确上下文。开场必须把边界立清：本章不是资料整理课，不是知识库工具课，而是企业AI可靠性的基础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本章地图”这个标签，而是一个动作：下次客户说“我们要做知识库”或“我们要做AI员工”时，你要继续问上下文从哪里来、怎么更新、谁能看、如何验证。明确本章边界后，我们进入上下文工程的底层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互动问题：请学员用一句话说明本页如何影响企业AI上线。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过渡语：明确本章边界后，我们进入上下文工程的底层心法。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本页目的：第2章回答做什么，第3章回答AI可靠工作时必须知道什么。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诊断简报到上下文工程”。这一页要训练的不是记住一个术语，而是让FDE在企业现场能判断：AI要可靠完成这个任务，究竟需要哪些上下文。请先记住本页核心句：第2章回答做什么，第3章回答AI可靠工作时必须知道什么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业务目标；流程节点；上下文材料；系统工具；风险边界；评估指标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3章要把第2章的诊断结果变成工程输入。第2章选出了MVP场景，但场景能不能上线，取决于AI能不能拿到正确上下文。开场必须把边界立清：本章不是资料整理课，不是知识库工具课，而是企业AI可靠性的基础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承接第2章”这个标签，而是一个动作：下次客户说“我们要做知识库”或“我们要做AI员工”时，你要继续问上下文从哪里来、怎么更新、谁能看、如何验证。明确本章边界后，我们进入上下文工程的底层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互动问题：请学员用一句话说明本页如何影响企业AI上线。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过渡语：明确本章边界后，我们进入上下文工程的底层心法。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本页目的：知识库失败通常不是模型失败，而是上下文没有Owner、没有结构、没有更新、没有评价。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为什么很多企业知识库上线后没人用”。这一页要训练的不是记住一个术语，而是让FDE在企业现场能判断：AI要可靠完成这个任务，究竟需要哪些上下文。请先记住本页核心句：知识库失败通常不是模型失败，而是上下文没有Owner、没有结构、没有更新、没有评价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资料堆进库；版本不一致；权限不清；回答无引用；业务不信任；无人维护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3章要把第2章的诊断结果变成工程输入。第2章选出了MVP场景，但场景能不能上线，取决于AI能不能拿到正确上下文。开场必须把边界立清：本章不是资料整理课，不是知识库工具课，而是企业AI可靠性的基础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失败案例”这个标签，而是一个动作：下次客户说“我们要做知识库”或“我们要做AI员工”时，你要继续问上下文从哪里来、怎么更新、谁能看、如何验证。明确本章边界后，我们进入上下文工程的底层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互动问题：请学员用一句话说明本页如何影响企业AI上线。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过渡语：明确本章边界后，我们进入上下文工程的底层心法。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本页目的：Prompt只是入口，真正决定可靠性的，是模型能看到什么、能调用什么、能记住什么、不能做什么。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上下文是企业AI的工作现场”。这一页要训练的不是记住一个术语，而是让FDE在企业现场能判断：AI要可靠完成这个任务，究竟需要哪些上下文。请先记住本页核心句：Prompt只是入口，真正决定可靠性的，是模型能看到什么、能调用什么、能记住什么、不能做什么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入口；材料；状态；工具；边界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3章要把第2章的诊断结果变成工程输入。第2章选出了MVP场景，但场景能不能上线，取决于AI能不能拿到正确上下文。开场必须把边界立清：本章不是资料整理课，不是知识库工具课，而是企业AI可靠性的基础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本章核心句”这个标签，而是一个动作：下次客户说“我们要做知识库”或“我们要做AI员工”时，你要继续问上下文从哪里来、怎么更新、谁能看、如何验证。明确本章边界后，我们进入上下文工程的底层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互动问题：请学员用一句话说明本页如何影响企业AI上线。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过渡语：明确本章边界后，我们进入上下文工程的底层心法。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本页目的：先建立判断框架，再进入知识库和工具实现。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上下文工程心法”。这一页要训练的不是记住一个术语，而是让FDE在企业现场能判断：AI要可靠完成这个任务，究竟需要哪些上下文。请先记住本页核心句：先建立判断框架，再进入知识库和工具实现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可靠性；可控性；可复盘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下文心法是本章地基。Claude体系特别强调上下文窗口、长文档处理和工具使用；OpenAI体系强调指令、工具、文件检索和Agent状态；腾讯和国内平台强调知识库、插件、工作流和企业系统集成。FDE要教的是跨平台抽象：模型要看到什么、何时看到、怎么引用、怎么限制、怎么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上下文有静态和动态之分。静态上下文包括制度、SOP、产品手册；动态上下文包括当前客户、订单、库存、工单状态；过程上下文包括多轮对话、任务进度和工具调用结果。三者混在一起，系统就难维护；分层清楚，才好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【常见误区，约1分钟】不要把长上下文当作万能答案。长上下文可以减少检索遗漏，但会增加成本、延迟和噪声。FDE要判断哪些内容需要完整阅读，哪些内容应该检索，哪些内容必须实时调用工具。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1”这个标签，而是一个动作：下次客户说“我们要做知识库”或“我们要做AI员工”时，你要继续问上下文从哪里来、怎么更新、谁能看、如何验证。理解上下文之后，我们开始盘点企业到底有哪些知识和状态可供AI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互动问题：请学员把一个AI助手拆成指令、知识、数据、工具、记忆、权限、评估七项。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过渡语：理解上下文之后，我们开始盘点企业到底有哪些知识和状态可供AI使用。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本页目的：长上下文能让模型看到更多材料，但FDE要决定什么该放、怎么放、何时更新。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上下文窗口不是仓库，而是工作记忆”。这一页要训练的不是记住一个术语，而是让FDE在企业现场能判断：AI要可靠完成这个任务，究竟需要哪些上下文。请先记住本页核心句：长上下文能让模型看到更多材料，但FDE要决定什么该放、怎么放、何时更新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窗口：模型当次可见范围；任务：当前要完成的工作；状态：流程和用户位置；证据：可引用材料；边界：允许与禁止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下文心法是本章地基。Claude体系特别强调上下文窗口、长文档处理和工具使用；OpenAI体系强调指令、工具、文件检索和Agent状态；腾讯和国内平台强调知识库、插件、工作流和企业系统集成。FDE要教的是跨平台抽象：模型要看到什么、何时看到、怎么引用、怎么限制、怎么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可以把上下文窗口比作会议桌，而不是资料仓库。会议桌上放什么，大家就围绕什么讨论；资料太少，模型缺信息；资料太多且混乱，模型会被噪声带偏。FDE要决定哪些材料上桌、哪些材料放资料室按需检索、哪些材料必须实时查系统、哪些材料不能给模型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上下文有静态和动态之分。静态上下文包括制度、SOP、产品手册；动态上下文包括当前客户、订单、库存、工单状态；过程上下文包括多轮对话、任务进度和工具调用结果。三者混在一起，系统就难维护；分层清楚，才好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【常见误区，约1分钟】不要把长上下文当作万能答案。长上下文可以减少检索遗漏，但会增加成本、延迟和噪声。FDE要判断哪些内容需要完整阅读，哪些内容应该检索，哪些内容必须实时调用工具。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概念”这个标签，而是一个动作：下次客户说“我们要做知识库”或“我们要做AI员工”时，你要继续问上下文从哪里来、怎么更新、谁能看、如何验证。理解上下文之后，我们开始盘点企业到底有哪些知识和状态可供AI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互动问题：请学员把一个AI助手拆成指令、知识、数据、工具、记忆、权限、评估七项。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过渡语：理解上下文之后，我们开始盘点企业到底有哪些知识和状态可供AI使用。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本页目的：资料越多，噪声、冲突、过期信息和权限风险也越多。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更多上下文不等于更好结果”。这一页要训练的不是记住一个术语，而是让FDE在企业现场能判断：AI要可靠完成这个任务，究竟需要哪些上下文。请先记住本页核心句：资料越多，噪声、冲突、过期信息和权限风险也越多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噪声；冲突；过期；越权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下文心法是本章地基。Claude体系特别强调上下文窗口、长文档处理和工具使用；OpenAI体系强调指令、工具、文件检索和Agent状态；腾讯和国内平台强调知识库、插件、工作流和企业系统集成。FDE要教的是跨平台抽象：模型要看到什么、何时看到、怎么引用、怎么限制、怎么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上下文有静态和动态之分。静态上下文包括制度、SOP、产品手册；动态上下文包括当前客户、订单、库存、工单状态；过程上下文包括多轮对话、任务进度和工具调用结果。三者混在一起，系统就难维护；分层清楚，才好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【常见误区，约1分钟】不要把长上下文当作万能答案。长上下文可以减少检索遗漏，但会增加成本、延迟和噪声。FDE要判断哪些内容需要完整阅读，哪些内容应该检索，哪些内容必须实时调用工具。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误区”这个标签，而是一个动作：下次客户说“我们要做知识库”或“我们要做AI员工”时，你要继续问上下文从哪里来、怎么更新、谁能看、如何验证。理解上下文之后，我们开始盘点企业到底有哪些知识和状态可供AI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互动问题：请学员把一个AI助手拆成指令、知识、数据、工具、记忆、权限、评估七项。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过渡语：理解上下文之后，我们开始盘点企业到底有哪些知识和状态可供AI使用。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本页目的：FDE要把上下文拆成指令、知识、数据、工具、记忆和评估六层。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上下文六层模型”。这一页要训练的不是记住一个术语，而是让FDE在企业现场能判断：AI要可靠完成这个任务，究竟需要哪些上下文。请先记住本页核心句：FDE要把上下文拆成指令、知识、数据、工具、记忆和评估六层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指令：角色与规则；知识：制度与SOP；数据：业务状态；工具：读写系统；记忆：长期偏好；评估：验收样例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下文心法是本章地基。Claude体系特别强调上下文窗口、长文档处理和工具使用；OpenAI体系强调指令、工具、文件检索和Agent状态；腾讯和国内平台强调知识库、插件、工作流和企业系统集成。FDE要教的是跨平台抽象：模型要看到什么、何时看到、怎么引用、怎么限制、怎么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上下文有静态和动态之分。静态上下文包括制度、SOP、产品手册；动态上下文包括当前客户、订单、库存、工单状态；过程上下文包括多轮对话、任务进度和工具调用结果。三者混在一起，系统就难维护；分层清楚，才好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【常见误区，约1分钟】不要把长上下文当作万能答案。长上下文可以减少检索遗漏，但会增加成本、延迟和噪声。FDE要判断哪些内容需要完整阅读，哪些内容应该检索，哪些内容必须实时调用工具。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架构”这个标签，而是一个动作：下次客户说“我们要做知识库”或“我们要做AI员工”时，你要继续问上下文从哪里来、怎么更新、谁能看、如何验证。理解上下文之后，我们开始盘点企业到底有哪些知识和状态可供AI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互动问题：请学员把一个AI助手拆成指令、知识、数据、工具、记忆、权限、评估七项。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过渡语：理解上下文之后，我们开始盘点企业到底有哪些知识和状态可供AI使用。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本页目的：每个AI场景都要写清AI需要知道什么、从哪里知道、谁维护、何时失效。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上下文契约”。这一页要训练的不是记住一个术语，而是让FDE在企业现场能判断：AI要可靠完成这个任务，究竟需要哪些上下文。请先记住本页核心句：每个AI场景都要写清AI需要知道什么、从哪里知道、谁维护、何时失效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目标指标；使用对象；知识范围；数据来源；工具权限；禁止动作；评估样例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下文心法是本章地基。Claude体系特别强调上下文窗口、长文档处理和工具使用；OpenAI体系强调指令、工具、文件检索和Agent状态；腾讯和国内平台强调知识库、插件、工作流和企业系统集成。FDE要教的是跨平台抽象：模型要看到什么、何时看到、怎么引用、怎么限制、怎么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上下文契约要写到能交付。比如客服助手，不要只写“读取客服知识库”，要写知识范围、版本Owner、更新时间、用户权限、引用方式、禁止回答的主题、低置信度转人工条件和验收问题。讲师要让学员理解：契约写清，后面交付就少扯皮；契约模糊，项目一定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上下文有静态和动态之分。静态上下文包括制度、SOP、产品手册；动态上下文包括当前客户、订单、库存、工单状态；过程上下文包括多轮对话、任务进度和工具调用结果。三者混在一起，系统就难维护；分层清楚，才好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【常见误区，约1分钟】不要把长上下文当作万能答案。长上下文可以减少检索遗漏，但会增加成本、延迟和噪声。FDE要判断哪些内容需要完整阅读，哪些内容应该检索，哪些内容必须实时调用工具。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契约”这个标签，而是一个动作：下次客户说“我们要做知识库”或“我们要做AI员工”时，你要继续问上下文从哪里来、怎么更新、谁能看、如何验证。理解上下文之后，我们开始盘点企业到底有哪些知识和状态可供AI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互动问题：请学员把一个AI助手拆成指令、知识、数据、工具、记忆、权限、评估七项。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过渡语：理解上下文之后，我们开始盘点企业到底有哪些知识和状态可供AI使用。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本页目的：学员必须把抽象助手拆成可验证的上下文字段。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把一个模糊AI助手改写成上下文契约”。这一页要训练的不是记住一个术语，而是让FDE在企业现场能判断：AI要可靠完成这个任务，究竟需要哪些上下文。请先记住本页核心句：学员必须把抽象助手拆成可验证的上下文字段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选一个第2章场景；列出AI必须知道的事实；标注来源和Owner；定义禁止回答和转人工；写3条测试问题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上下文心法是本章地基。Claude体系特别强调上下文窗口、长文档处理和工具使用；OpenAI体系强调指令、工具、文件检索和Agent状态；腾讯和国内平台强调知识库、插件、工作流和企业系统集成。FDE要教的是跨平台抽象：模型要看到什么、何时看到、怎么引用、怎么限制、怎么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上下文契约要写到能交付。比如客服助手，不要只写“读取客服知识库”，要写知识范围、版本Owner、更新时间、用户权限、引用方式、禁止回答的主题、低置信度转人工条件和验收问题。讲师要让学员理解：契约写清，后面交付就少扯皮；契约模糊，项目一定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上下文有静态和动态之分。静态上下文包括制度、SOP、产品手册；动态上下文包括当前客户、订单、库存、工单状态；过程上下文包括多轮对话、任务进度和工具调用结果。三者混在一起，系统就难维护；分层清楚，才好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【常见误区，约1分钟】不要把长上下文当作万能答案。长上下文可以减少检索遗漏，但会增加成本、延迟和噪声。FDE要判断哪些内容需要完整阅读，哪些内容应该检索，哪些内容必须实时调用工具。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我们要做知识库”或“我们要做AI员工”时，你要继续问上下文从哪里来、怎么更新、谁能看、如何验证。理解上下文之后，我们开始盘点企业到底有哪些知识和状态可供AI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互动问题：请学员把一个AI助手拆成指令、知识、数据、工具、记忆、权限、评估七项。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过渡语：理解上下文之后，我们开始盘点企业到底有哪些知识和状态可供AI使用。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本页目的：先知道企业有什么知识，再谈模型如何使用知识。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知识资产盘点”。这一页要训练的不是记住一个术语，而是让FDE在企业现场能判断：AI要可靠完成这个任务，究竟需要哪些上下文。请先记住本页核心句：先知道企业有什么知识，再谈模型如何使用知识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显性知识；隐性知识；状态数据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知识盘点不是把文件夹列一遍，而是找到AI工作所需的事实来源。制度、SOP、历史案例、业务数据、员工经验、客户状态都是上下文。讲师要提醒学员：资料有不等于可用，可用不等于可上线；必须追问Owner、版本、权限、更新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知识盘点时，要区分“企业拥有资料”和“AI可用知识”。一份PDF存在服务器里，只说明企业拥有资料；它有结构、有版本、有Owner、有权限、有引用、有测试题，才接近AI可用知识。FDE要把这两个层次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知识资产的价值不在“有多少页”，而在能否支持关键任务。对销售助手来说，产品手册、成功案例、竞品口径、CRM字段、客户历史都比公司新闻稿更重要。盘点要从任务倒推，不是从文件夹正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【常见误区，约1分钟】客户常说“我们资料都有”。讲师要训练学员追问：是最新的吗？员工用的是这版吗？是否有例外？能不能给AI用？客户不同角色能不能看？这些问题会迅速区分资料存在和资料可部署。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2”这个标签，而是一个动作：下次客户说“我们要做知识库”或“我们要做AI员工”时，你要继续问上下文从哪里来、怎么更新、谁能看、如何验证。知识盘点完成后，下一步是把原始资料治理成可检索、可引用的知识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互动问题：请学员从自己的企业或行业里列三份最关键知识，并标注Owner和更新周期。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过渡语：知识盘点完成后，下一步是把原始资料治理成可检索、可引用的知识资产。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本页目的：知识不只在文档里，也在人、系统、流程和历史样例里。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知识的六种来源”。这一页要训练的不是记住一个术语，而是让FDE在企业现场能判断：AI要可靠完成这个任务，究竟需要哪些上下文。请先记住本页核心句：知识不只在文档里，也在人、系统、流程和历史样例里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制度：规则边界；SOP：操作步骤；案例：真实样例；数据：当前状态；话术：表达方式；暗知识：经验判断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知识盘点不是把文件夹列一遍，而是找到AI工作所需的事实来源。制度、SOP、历史案例、业务数据、员工经验、客户状态都是上下文。讲师要提醒学员：资料有不等于可用，可用不等于可上线；必须追问Owner、版本、权限、更新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知识资产的价值不在“有多少页”，而在能否支持关键任务。对销售助手来说，产品手册、成功案例、竞品口径、CRM字段、客户历史都比公司新闻稿更重要。盘点要从任务倒推，不是从文件夹正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【常见误区，约1分钟】客户常说“我们资料都有”。讲师要训练学员追问：是最新的吗？员工用的是这版吗？是否有例外？能不能给AI用？客户不同角色能不能看？这些问题会迅速区分资料存在和资料可部署。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分类”这个标签，而是一个动作：下次客户说“我们要做知识库”或“我们要做AI员工”时，你要继续问上下文从哪里来、怎么更新、谁能看、如何验证。知识盘点完成后，下一步是把原始资料治理成可检索、可引用的知识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互动问题：请学员从自己的企业或行业里列三份最关键知识，并标注Owner和更新周期。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过渡语：知识盘点完成后，下一步是把原始资料治理成可检索、可引用的知识资产。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本页目的：没有Owner的知识，会在上线后快速过期。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每份知识都必须有Owner和生命周期”。这一页要训练的不是记住一个术语，而是让FDE在企业现场能判断：AI要可靠完成这个任务，究竟需要哪些上下文。请先记住本页核心句：没有Owner的知识，会在上线后快速过期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谁批准；谁维护；多久更新；如何废止；如何通知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知识盘点不是把文件夹列一遍，而是找到AI工作所需的事实来源。制度、SOP、历史案例、业务数据、员工经验、客户状态都是上下文。讲师要提醒学员：资料有不等于可用，可用不等于可上线；必须追问Owner、版本、权限、更新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知识资产的价值不在“有多少页”，而在能否支持关键任务。对销售助手来说，产品手册、成功案例、竞品口径、CRM字段、客户历史都比公司新闻稿更重要。盘点要从任务倒推，不是从文件夹正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【常见误区，约1分钟】客户常说“我们资料都有”。讲师要训练学员追问：是最新的吗？员工用的是这版吗？是否有例外？能不能给AI用？客户不同角色能不能看？这些问题会迅速区分资料存在和资料可部署。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Owner”这个标签，而是一个动作：下次客户说“我们要做知识库”或“我们要做AI员工”时，你要继续问上下文从哪里来、怎么更新、谁能看、如何验证。知识盘点完成后，下一步是把原始资料治理成可检索、可引用的知识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互动问题：请学员从自己的企业或行业里列三份最关键知识，并标注Owner和更新周期。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过渡语：知识盘点完成后，下一步是把原始资料治理成可检索、可引用的知识资产。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本页目的：FDE要在盘点阶段就区分公开、部门、岗位、客户、敏感和禁止使用知识。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权限不是上线后再补的事”。这一页要训练的不是记住一个术语，而是让FDE在企业现场能判断：AI要可靠完成这个任务，究竟需要哪些上下文。请先记住本页核心句：FDE要在盘点阶段就区分公开、部门、岗位、客户、敏感和禁止使用知识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公开；部门；岗位；敏感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知识盘点不是把文件夹列一遍，而是找到AI工作所需的事实来源。制度、SOP、历史案例、业务数据、员工经验、客户状态都是上下文。讲师要提醒学员：资料有不等于可用，可用不等于可上线；必须追问Owner、版本、权限、更新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知识资产的价值不在“有多少页”，而在能否支持关键任务。对销售助手来说，产品手册、成功案例、竞品口径、CRM字段、客户历史都比公司新闻稿更重要。盘点要从任务倒推，不是从文件夹正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【常见误区，约1分钟】客户常说“我们资料都有”。讲师要训练学员追问：是最新的吗？员工用的是这版吗？是否有例外？能不能给AI用？客户不同角色能不能看？这些问题会迅速区分资料存在和资料可部署。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权限”这个标签，而是一个动作：下次客户说“我们要做知识库”或“我们要做AI员工”时，你要继续问上下文从哪里来、怎么更新、谁能看、如何验证。知识盘点完成后，下一步是把原始资料治理成可检索、可引用的知识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互动问题：请学员从自己的企业或行业里列三份最关键知识，并标注Owner和更新周期。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过渡语：知识盘点完成后，下一步是把原始资料治理成可检索、可引用的知识资产。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本页目的：把“资料有”追问成位置、格式、版本、Owner、权限和使用场景。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知识盘点的关键追问”。这一页要训练的不是记住一个术语，而是让FDE在企业现场能判断：AI要可靠完成这个任务，究竟需要哪些上下文。请先记住本页核心句：把“资料有”追问成位置、格式、版本、Owner、权限和使用场景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资料有→在哪里、哪个版本、谁维护；制度清楚→员工实际按哪版执行；案例很多→有没有成功和失败样例；数据能导→字段含义和更新频率是什么；可以开放→谁审批、谁能看、是否留痕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知识盘点不是把文件夹列一遍，而是找到AI工作所需的事实来源。制度、SOP、历史案例、业务数据、员工经验、客户状态都是上下文。讲师要提醒学员：资料有不等于可用，可用不等于可上线；必须追问Owner、版本、权限、更新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知识盘点时，要区分“企业拥有资料”和“AI可用知识”。一份PDF存在服务器里，只说明企业拥有资料；它有结构、有版本、有Owner、有权限、有引用、有测试题，才接近AI可用知识。FDE要把这两个层次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知识资产的价值不在“有多少页”，而在能否支持关键任务。对销售助手来说，产品手册、成功案例、竞品口径、CRM字段、客户历史都比公司新闻稿更重要。盘点要从任务倒推，不是从文件夹正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【常见误区，约1分钟】客户常说“我们资料都有”。讲师要训练学员追问：是最新的吗？员工用的是这版吗？是否有例外？能不能给AI用？客户不同角色能不能看？这些问题会迅速区分资料存在和资料可部署。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追问”这个标签，而是一个动作：下次客户说“我们要做知识库”或“我们要做AI员工”时，你要继续问上下文从哪里来、怎么更新、谁能看、如何验证。知识盘点完成后，下一步是把原始资料治理成可检索、可引用的知识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互动问题：请学员从自己的企业或行业里列三份最关键知识，并标注Owner和更新周期。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过渡语：知识盘点完成后，下一步是把原始资料治理成可检索、可引用的知识资产。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本页目的：企业最值钱的知识往往在资深员工脑子里，FDE要把它变成可复用样例。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隐性知识如何变成AI上下文”。这一页要训练的不是记住一个术语，而是让FDE在企业现场能判断：AI要可靠完成这个任务，究竟需要哪些上下文。请先记住本页核心句：企业最值钱的知识往往在资深员工脑子里，FDE要把它变成可复用样例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判断规则说不清；老员工凭经验；异常处理靠问人；沉淀成决策树；沉淀成问答对；沉淀成边界样例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知识盘点不是把文件夹列一遍，而是找到AI工作所需的事实来源。制度、SOP、历史案例、业务数据、员工经验、客户状态都是上下文。讲师要提醒学员：资料有不等于可用，可用不等于可上线；必须追问Owner、版本、权限、更新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知识资产的价值不在“有多少页”，而在能否支持关键任务。对销售助手来说，产品手册、成功案例、竞品口径、CRM字段、客户历史都比公司新闻稿更重要。盘点要从任务倒推，不是从文件夹正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【常见误区，约1分钟】客户常说“我们资料都有”。讲师要训练学员追问：是最新的吗？员工用的是这版吗？是否有例外？能不能给AI用？客户不同角色能不能看？这些问题会迅速区分资料存在和资料可部署。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暗知识”这个标签，而是一个动作：下次客户说“我们要做知识库”或“我们要做AI员工”时，你要继续问上下文从哪里来、怎么更新、谁能看、如何验证。知识盘点完成后，下一步是把原始资料治理成可检索、可引用的知识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互动问题：请学员从自己的企业或行业里列三份最关键知识，并标注Owner和更新周期。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过渡语：知识盘点完成后，下一步是把原始资料治理成可检索、可引用的知识资产。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本页目的：每组选择一个流程，盘点最少12份上下文材料。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完成企业知识资产盘点表”。这一页要训练的不是记住一个术语，而是让FDE在企业现场能判断：AI要可靠完成这个任务，究竟需要哪些上下文。请先记住本页核心句：每组选择一个流程，盘点最少12份上下文材料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列知识来源；标Owner；标权限；标更新周期；标上线风险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知识盘点不是把文件夹列一遍，而是找到AI工作所需的事实来源。制度、SOP、历史案例、业务数据、员工经验、客户状态都是上下文。讲师要提醒学员：资料有不等于可用，可用不等于可上线；必须追问Owner、版本、权限、更新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知识盘点时，要区分“企业拥有资料”和“AI可用知识”。一份PDF存在服务器里，只说明企业拥有资料；它有结构、有版本、有Owner、有权限、有引用、有测试题，才接近AI可用知识。FDE要把这两个层次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知识来源是否明确；第二，上下文边界是否可执行；第三，验收问题能不能暴露幻觉、过期、越权和错误引用。这样课堂才是交付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知识资产的价值不在“有多少页”，而在能否支持关键任务。对销售助手来说，产品手册、成功案例、竞品口径、CRM字段、客户历史都比公司新闻稿更重要。盘点要从任务倒推，不是从文件夹正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【常见误区，约1分钟】客户常说“我们资料都有”。讲师要训练学员追问：是最新的吗？员工用的是这版吗？是否有例外？能不能给AI用？客户不同角色能不能看？这些问题会迅速区分资料存在和资料可部署。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我们要做知识库”或“我们要做AI员工”时，你要继续问上下文从哪里来、怎么更新、谁能看、如何验证。知识盘点完成后，下一步是把原始资料治理成可检索、可引用的知识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互动问题：请学员从自己的企业或行业里列三份最关键知识，并标注Owner和更新周期。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过渡语：知识盘点完成后，下一步是把原始资料治理成可检索、可引用的知识资产。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本页目的：把企业资料从“可阅读”整理成“可检索、可引用、可维护”。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文档治理与知识切片”。这一页要训练的不是记住一个术语，而是让FDE在企业现场能判断：AI要可靠完成这个任务，究竟需要哪些上下文。请先记住本页核心句：把企业资料从“可阅读”整理成“可检索、可引用、可维护”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清洗；切片；元数据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文档治理决定知识库上限。很多企业把脏文档直接进库，结果模型只是更快地输出错误。切片也不是按字数机械切，而是按业务意义切，让模型一次拿到完整判断所需的规则、例外、版本和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切片时，不要只讲技术长度。请举例：报销制度里“差旅标准”“发票要求”“审批例外”“超标处理”应该分开切，因为它们服务不同问题；但“适用范围、生效日期、审批例外”不能被切掉，否则模型会给出无边界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切片的目标是让AI拿到完整且不冗余的判断单元。一个切片应该回答一个明确问题，包含必要条件、适用范围、例外情况和引用来源。如果切片只是一段残缺文字，检索到了也无法可靠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【常见误区，约1分钟】不要迷信固定字数切片。固定字数是技术默认，不是业务最优。FDE要能和业务Owner一起确定哪些规则必须保持在同一切片，哪些内容应该拆开，哪些内容需要元数据补充。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3”这个标签，而是一个动作：下次客户说“我们要做知识库”或“我们要做AI员工”时，你要继续问上下文从哪里来、怎么更新、谁能看、如何验证。资料治理好之后，我们进入RAG、长上下文和工具查询的取舍。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互动问题：请学员判断一段制度应该如何切片，并说明哪些字段必须做元数据。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过渡语：资料治理好之后，我们进入RAG、长上下文和工具查询的取舍。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本页目的：坏资料进入知识库，会把模型训练成更快地给出坏答案。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源文档质量决定知识库上限”。这一页要训练的不是记住一个术语，而是让FDE在企业现场能判断：AI要可靠完成这个任务，究竟需要哪些上下文。请先记住本页核心句：坏资料进入知识库，会把模型训练成更快地给出坏答案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版本混乱；标题不清；表格扫描件；规则冲突；缺少适用范围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文档治理决定知识库上限。很多企业把脏文档直接进库，结果模型只是更快地输出错误。切片也不是按字数机械切，而是按业务意义切，让模型一次拿到完整判断所需的规则、例外、版本和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切片的目标是让AI拿到完整且不冗余的判断单元。一个切片应该回答一个明确问题，包含必要条件、适用范围、例外情况和引用来源。如果切片只是一段残缺文字，检索到了也无法可靠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【常见误区，约1分钟】不要迷信固定字数切片。固定字数是技术默认，不是业务最优。FDE要能和业务Owner一起确定哪些规则必须保持在同一切片，哪些内容应该拆开，哪些内容需要元数据补充。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质量”这个标签，而是一个动作：下次客户说“我们要做知识库”或“我们要做AI员工”时，你要继续问上下文从哪里来、怎么更新、谁能看、如何验证。资料治理好之后，我们进入RAG、长上下文和工具查询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互动问题：请学员判断一段制度应该如何切片，并说明哪些字段必须做元数据。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过渡语：资料治理好之后，我们进入RAG、长上下文和工具查询的取舍。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本页目的：清洗不是美化排版，而是消除冲突、补足上下文、标明适用范围。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干净源与脏源的差别”。这一页要训练的不是记住一个术语，而是让FDE在企业现场能判断：AI要可靠完成这个任务，究竟需要哪些上下文。请先记住本页核心句：清洗不是美化排版，而是消除冲突、补足上下文、标明适用范围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脏源：多个版本；脏源：无生效日期；脏源：图片表格；干净：标题清晰；干净：范围明确；干净：引用稳定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文档治理决定知识库上限。很多企业把脏文档直接进库，结果模型只是更快地输出错误。切片也不是按字数机械切，而是按业务意义切，让模型一次拿到完整判断所需的规则、例外、版本和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切片的目标是让AI拿到完整且不冗余的判断单元。一个切片应该回答一个明确问题，包含必要条件、适用范围、例外情况和引用来源。如果切片只是一段残缺文字，检索到了也无法可靠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【常见误区，约1分钟】不要迷信固定字数切片。固定字数是技术默认，不是业务最优。FDE要能和业务Owner一起确定哪些规则必须保持在同一切片，哪些内容应该拆开，哪些内容需要元数据补充。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清洗”这个标签，而是一个动作：下次客户说“我们要做知识库”或“我们要做AI员工”时，你要继续问上下文从哪里来、怎么更新、谁能看、如何验证。资料治理好之后，我们进入RAG、长上下文和工具查询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互动问题：请学员判断一段制度应该如何切片，并说明哪些字段必须做元数据。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过渡语：资料治理好之后，我们进入RAG、长上下文和工具查询的取舍。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本页目的：好的切片让模型一次拿到完整判断所需的上下文。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不要只按字数切片，要按业务意义切片”。这一页要训练的不是记住一个术语，而是让FDE在企业现场能判断：AI要可靠完成这个任务，究竟需要哪些上下文。请先记住本页核心句：好的切片让模型一次拿到完整判断所需的上下文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按任务切；按规则切；按产品切；按角色切；按异常切；按版本切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文档治理决定知识库上限。很多企业把脏文档直接进库，结果模型只是更快地输出错误。切片也不是按字数机械切，而是按业务意义切，让模型一次拿到完整判断所需的规则、例外、版本和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切片时，不要只讲技术长度。请举例：报销制度里“差旅标准”“发票要求”“审批例外”“超标处理”应该分开切，因为它们服务不同问题；但“适用范围、生效日期、审批例外”不能被切掉，否则模型会给出无边界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切片的目标是让AI拿到完整且不冗余的判断单元。一个切片应该回答一个明确问题，包含必要条件、适用范围、例外情况和引用来源。如果切片只是一段残缺文字，检索到了也无法可靠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【常见误区，约1分钟】不要迷信固定字数切片。固定字数是技术默认，不是业务最优。FDE要能和业务Owner一起确定哪些规则必须保持在同一切片，哪些内容应该拆开，哪些内容需要元数据补充。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切片”这个标签，而是一个动作：下次客户说“我们要做知识库”或“我们要做AI员工”时，你要继续问上下文从哪里来、怎么更新、谁能看、如何验证。资料治理好之后，我们进入RAG、长上下文和工具查询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互动问题：请学员判断一段制度应该如何切片，并说明哪些字段必须做元数据。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过渡语：资料治理好之后，我们进入RAG、长上下文和工具查询的取舍。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本页目的：元数据决定检索、权限、更新、引用和审计能力。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元数据让知识可治理”。这一页要训练的不是记住一个术语，而是让FDE在企业现场能判断：AI要可靠完成这个任务，究竟需要哪些上下文。请先记住本页核心句：元数据决定检索、权限、更新、引用和审计能力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来源：文档/系统；Owner：责任人；版本：生效日期；权限：可见范围；标签：业务场景；状态：有效/废止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文档治理决定知识库上限。很多企业把脏文档直接进库，结果模型只是更快地输出错误。切片也不是按字数机械切，而是按业务意义切，让模型一次拿到完整判断所需的规则、例外、版本和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讲切片时，不要只讲技术长度。请举例：报销制度里“差旅标准”“发票要求”“审批例外”“超标处理”应该分开切，因为它们服务不同问题；但“适用范围、生效日期、审批例外”不能被切掉，否则模型会给出无边界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切片的目标是让AI拿到完整且不冗余的判断单元。一个切片应该回答一个明确问题，包含必要条件、适用范围、例外情况和引用来源。如果切片只是一段残缺文字，检索到了也无法可靠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【常见误区，约1分钟】不要迷信固定字数切片。固定字数是技术默认，不是业务最优。FDE要能和业务Owner一起确定哪些规则必须保持在同一切片，哪些内容应该拆开，哪些内容需要元数据补充。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元数据”这个标签，而是一个动作：下次客户说“我们要做知识库”或“我们要做AI员工”时，你要继续问上下文从哪里来、怎么更新、谁能看、如何验证。资料治理好之后，我们进入RAG、长上下文和工具查询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互动问题：请学员判断一段制度应该如何切片，并说明哪些字段必须做元数据。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过渡语：资料治理好之后，我们进入RAG、长上下文和工具查询的取舍。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本页目的：高频问题不只要答案，还要引用、边界、不可回答条件和升级路径。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把高频问答做成标准答案资产”。这一页要训练的不是记住一个术语，而是让FDE在企业现场能判断：AI要可靠完成这个任务，究竟需要哪些上下文。请先记住本页核心句：高频问题不只要答案，还要引用、边界、不可回答条件和升级路径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问题；标准答案；引用来源；适用范围；转人工条件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文档治理决定知识库上限。很多企业把脏文档直接进库，结果模型只是更快地输出错误。切片也不是按字数机械切，而是按业务意义切，让模型一次拿到完整判断所需的规则、例外、版本和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切片的目标是让AI拿到完整且不冗余的判断单元。一个切片应该回答一个明确问题，包含必要条件、适用范围、例外情况和引用来源。如果切片只是一段残缺文字，检索到了也无法可靠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【常见误区，约1分钟】不要迷信固定字数切片。固定字数是技术默认，不是业务最优。FDE要能和业务Owner一起确定哪些规则必须保持在同一切片，哪些内容应该拆开，哪些内容需要元数据补充。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答案库”这个标签，而是一个动作：下次客户说“我们要做知识库”或“我们要做AI员工”时，你要继续问上下文从哪里来、怎么更新、谁能看、如何验证。资料治理好之后，我们进入RAG、长上下文和工具查询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互动问题：请学员判断一段制度应该如何切片，并说明哪些字段必须做元数据。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过渡语：资料治理好之后，我们进入RAG、长上下文和工具查询的取舍。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本页目的：企业AI必须知道哪些问题不能回答、不能编、不能跨权限回答。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不会回答也是一种能力”。这一页要训练的不是记住一个术语，而是让FDE在企业现场能判断：AI要可靠完成这个任务，究竟需要哪些上下文。请先记住本页核心句：企业AI必须知道哪些问题不能回答、不能编、不能跨权限回答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不知道；无权限；过期；高风险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文档治理决定知识库上限。很多企业把脏文档直接进库，结果模型只是更快地输出错误。切片也不是按字数机械切，而是按业务意义切，让模型一次拿到完整判断所需的规则、例外、版本和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切片的目标是让AI拿到完整且不冗余的判断单元。一个切片应该回答一个明确问题，包含必要条件、适用范围、例外情况和引用来源。如果切片只是一段残缺文字，检索到了也无法可靠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【常见误区，约1分钟】不要迷信固定字数切片。固定字数是技术默认，不是业务最优。FDE要能和业务Owner一起确定哪些规则必须保持在同一切片，哪些内容应该拆开，哪些内容需要元数据补充。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边界”这个标签，而是一个动作：下次客户说“我们要做知识库”或“我们要做AI员工”时，你要继续问上下文从哪里来、怎么更新、谁能看、如何验证。资料治理好之后，我们进入RAG、长上下文和工具查询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互动问题：请学员判断一段制度应该如何切片，并说明哪些字段必须做元数据。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过渡语：资料治理好之后，我们进入RAG、长上下文和工具查询的取舍。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本页目的：上线后最重要的不是首版知识库，而是更新机制。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知识更新流程”。这一页要训练的不是记住一个术语，而是让FDE在企业现场能判断：AI要可靠完成这个任务，究竟需要哪些上下文。请先记住本页核心句：上线后最重要的不是首版知识库，而是更新机制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发现问题；提交变更；Owner审核；更新索引；测试回归；发布留痕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文档治理决定知识库上限。很多企业把脏文档直接进库，结果模型只是更快地输出错误。切片也不是按字数机械切，而是按业务意义切，让模型一次拿到完整判断所需的规则、例外、版本和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切片的目标是让AI拿到完整且不冗余的判断单元。一个切片应该回答一个明确问题，包含必要条件、适用范围、例外情况和引用来源。如果切片只是一段残缺文字，检索到了也无法可靠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【常见误区，约1分钟】不要迷信固定字数切片。固定字数是技术默认，不是业务最优。FDE要能和业务Owner一起确定哪些规则必须保持在同一切片，哪些内容应该拆开，哪些内容需要元数据补充。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更新”这个标签，而是一个动作：下次客户说“我们要做知识库”或“我们要做AI员工”时，你要继续问上下文从哪里来、怎么更新、谁能看、如何验证。资料治理好之后，我们进入RAG、长上下文和工具查询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互动问题：请学员判断一段制度应该如何切片，并说明哪些字段必须做元数据。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过渡语：资料治理好之后，我们进入RAG、长上下文和工具查询的取舍。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本页目的：学员要把原始文档拆成可检索切片、元数据和标准问答。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把一份政策文档改造成知识资产”。这一页要训练的不是记住一个术语，而是让FDE在企业现场能判断：AI要可靠完成这个任务，究竟需要哪些上下文。请先记住本页核心句：学员要把原始文档拆成可检索切片、元数据和标准问答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清理版本；定义切片；补元数据；写标准问答；设计不可回答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文档治理决定知识库上限。很多企业把脏文档直接进库，结果模型只是更快地输出错误。切片也不是按字数机械切，而是按业务意义切，让模型一次拿到完整判断所需的规则、例外、版本和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知识盘点时，要区分“企业拥有资料”和“AI可用知识”。一份PDF存在服务器里，只说明企业拥有资料；它有结构、有版本、有Owner、有权限、有引用、有测试题，才接近AI可用知识。FDE要把这两个层次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知识来源是否明确；第二，上下文边界是否可执行；第三，验收问题能不能暴露幻觉、过期、越权和错误引用。这样课堂才是交付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切片的目标是让AI拿到完整且不冗余的判断单元。一个切片应该回答一个明确问题，包含必要条件、适用范围、例外情况和引用来源。如果切片只是一段残缺文字，检索到了也无法可靠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【常见误区，约1分钟】不要迷信固定字数切片。固定字数是技术默认，不是业务最优。FDE要能和业务Owner一起确定哪些规则必须保持在同一切片，哪些内容应该拆开，哪些内容需要元数据补充。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我们要做知识库”或“我们要做AI员工”时，你要继续问上下文从哪里来、怎么更新、谁能看、如何验证。资料治理好之后，我们进入RAG、长上下文和工具查询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互动问题：请学员判断一段制度应该如何切片，并说明哪些字段必须做元数据。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过渡语：资料治理好之后，我们进入RAG、长上下文和工具查询的取舍。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本页目的：Claude长上下文、OpenAI文件检索、腾讯知识库，本质都是上下文供给策略。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检索增强与长上下文策略”。这一页要训练的不是记住一个术语，而是让FDE在企业现场能判断：AI要可靠完成这个任务，究竟需要哪些上下文。请先记住本页核心句：Claude长上下文、OpenAI文件检索、腾讯知识库，本质都是上下文供给策略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RAG；长上下文；引用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RAG和长上下文是两种上下文供给策略。长上下文适合复杂材料整体阅读，RAG适合大规模资料按需检索，工具查询适合实时状态。FDE要训练学员不要迷信单一技术，而是按材料规模、更新频率、引用要求、成本和风险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帮助学员建立取舍观。RAG适合资料多、更新快、需要引用的场景；长上下文适合一次性审阅完整合同、政策包或项目材料；工具查询适合库存、订单、客户状态这类实时数据。FDE不是问哪种技术高级，而是问哪种上下文供给方式更稳定、更便宜、更可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【概念加深，约1分钟】RAG的核心不是向量数据库，而是“按需给模型正确材料”。向量库只是实现之一，关键词过滤、元数据过滤、重排、人工精选上下文包都可能是更合适的方式。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【常见误区，约1分钟】检索系统上线后，不能只看用户是否能问出答案，还要看答案是否引用正确、是否取到了最新版本、是否误召回相似但不适用的制度、是否因为权限过滤导致信息缺失。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4”这个标签，而是一个动作：下次客户说“我们要做知识库”或“我们要做AI员工”时，你要继续问上下文从哪里来、怎么更新、谁能看、如何验证。上下文供给策略清楚后，我们继续设计Agent的指令、工具、记忆和接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互动问题：请学员判断当前场景更适合RAG、长上下文、工具查询还是组合方案。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过渡语：上下文供给策略清楚后，我们继续设计Agent的指令、工具、记忆和接管边界。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本页目的：不是二选一，而是按任务、材料规模、更新频率和引用要求组合。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RAG与长上下文如何取舍”。这一页要训练的不是记住一个术语，而是让FDE在企业现场能判断：AI要可靠完成这个任务，究竟需要哪些上下文。请先记住本页核心句：不是二选一，而是按任务、材料规模、更新频率和引用要求组合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小材料：直接放上下文；大资料：检索增强；高风险：必须引用；高频任务：缓存模板；动态数据：工具查询；长期协作：记忆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RAG和长上下文是两种上下文供给策略。长上下文适合复杂材料整体阅读，RAG适合大规模资料按需检索，工具查询适合实时状态。FDE要训练学员不要迷信单一技术，而是按材料规模、更新频率、引用要求、成本和风险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帮助学员建立取舍观。RAG适合资料多、更新快、需要引用的场景；长上下文适合一次性审阅完整合同、政策包或项目材料；工具查询适合库存、订单、客户状态这类实时数据。FDE不是问哪种技术高级，而是问哪种上下文供给方式更稳定、更便宜、更可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【概念加深，约1分钟】RAG的核心不是向量数据库，而是“按需给模型正确材料”。向量库只是实现之一，关键词过滤、元数据过滤、重排、人工精选上下文包都可能是更合适的方式。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【常见误区，约1分钟】检索系统上线后，不能只看用户是否能问出答案，还要看答案是否引用正确、是否取到了最新版本、是否误召回相似但不适用的制度、是否因为权限过滤导致信息缺失。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取舍”这个标签，而是一个动作：下次客户说“我们要做知识库”或“我们要做AI员工”时，你要继续问上下文从哪里来、怎么更新、谁能看、如何验证。上下文供给策略清楚后，我们继续设计Agent的指令、工具、记忆和接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互动问题：请学员判断当前场景更适合RAG、长上下文、工具查询还是组合方案。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过渡语：上下文供给策略清楚后，我们继续设计Agent的指令、工具、记忆和接管边界。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本页目的：长上下文适合一次性读全材料，但仍要防止信息冲突和任务漂移。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Claude长上下文适合复杂材料阅读与整合”。这一页要训练的不是记住一个术语，而是让FDE在企业现场能判断：AI要可靠完成这个任务，究竟需要哪些上下文。请先记住本页核心句：长上下文适合一次性读全材料，但仍要防止信息冲突和任务漂移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长文档审阅；多材料对照；合同/政策分析；项目材料综合；上下文裁剪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RAG和长上下文是两种上下文供给策略。长上下文适合复杂材料整体阅读，RAG适合大规模资料按需检索，工具查询适合实时状态。FDE要训练学员不要迷信单一技术，而是按材料规模、更新频率、引用要求、成本和风险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帮助学员建立取舍观。RAG适合资料多、更新快、需要引用的场景；长上下文适合一次性审阅完整合同、政策包或项目材料；工具查询适合库存、订单、客户状态这类实时数据。FDE不是问哪种技术高级，而是问哪种上下文供给方式更稳定、更便宜、更可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【概念加深，约1分钟】RAG的核心不是向量数据库，而是“按需给模型正确材料”。向量库只是实现之一，关键词过滤、元数据过滤、重排、人工精选上下文包都可能是更合适的方式。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【常见误区，约1分钟】检索系统上线后，不能只看用户是否能问出答案，还要看答案是否引用正确、是否取到了最新版本、是否误召回相似但不适用的制度、是否因为权限过滤导致信息缺失。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Claude”这个标签，而是一个动作：下次客户说“我们要做知识库”或“我们要做AI员工”时，你要继续问上下文从哪里来、怎么更新、谁能看、如何验证。上下文供给策略清楚后，我们继续设计Agent的指令、工具、记忆和接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互动问题：请学员判断当前场景更适合RAG、长上下文、工具查询还是组合方案。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过渡语：上下文供给策略清楚后，我们继续设计Agent的指令、工具、记忆和接管边界。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本页目的：向量不是魔法，它只是帮助系统找到语义相关材料。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向量检索的业务解释”。这一页要训练的不是记住一个术语，而是让FDE在企业现场能判断：AI要可靠完成这个任务，究竟需要哪些上下文。请先记住本页核心句：向量不是魔法，它只是帮助系统找到语义相关材料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切片；Embedding；召回；重排；引用；回填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RAG和长上下文是两种上下文供给策略。长上下文适合复杂材料整体阅读，RAG适合大规模资料按需检索，工具查询适合实时状态。FDE要训练学员不要迷信单一技术，而是按材料规模、更新频率、引用要求、成本和风险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帮助学员建立取舍观。RAG适合资料多、更新快、需要引用的场景；长上下文适合一次性审阅完整合同、政策包或项目材料；工具查询适合库存、订单、客户状态这类实时数据。FDE不是问哪种技术高级，而是问哪种上下文供给方式更稳定、更便宜、更可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【概念加深，约1分钟】RAG的核心不是向量数据库，而是“按需给模型正确材料”。向量库只是实现之一，关键词过滤、元数据过滤、重排、人工精选上下文包都可能是更合适的方式。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【常见误区，约1分钟】检索系统上线后，不能只看用户是否能问出答案，还要看答案是否引用正确、是否取到了最新版本、是否误召回相似但不适用的制度、是否因为权限过滤导致信息缺失。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向量检索”这个标签，而是一个动作：下次客户说“我们要做知识库”或“我们要做AI员工”时，你要继续问上下文从哪里来、怎么更新、谁能看、如何验证。上下文供给策略清楚后，我们继续设计Agent的指令、工具、记忆和接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互动问题：请学员判断当前场景更适合RAG、长上下文、工具查询还是组合方案。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过渡语：上下文供给策略清楚后，我们继续设计Agent的指令、工具、记忆和接管边界。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本页目的：企业AI回答要能说明依据来自哪里，尤其在制度、产品、报价、合规场景。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没有引用，企业就很难信任答案”。这一页要训练的不是记住一个术语，而是让FDE在企业现场能判断：AI要可靠完成这个任务，究竟需要哪些上下文。请先记住本页核心句：企业AI回答要能说明依据来自哪里，尤其在制度、产品、报价、合规场景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引用文档；引用段落；引用版本；引用时间；引用权限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RAG和长上下文是两种上下文供给策略。长上下文适合复杂材料整体阅读，RAG适合大规模资料按需检索，工具查询适合实时状态。FDE要训练学员不要迷信单一技术，而是按材料规模、更新频率、引用要求、成本和风险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【概念加深，约1分钟】RAG的核心不是向量数据库，而是“按需给模型正确材料”。向量库只是实现之一，关键词过滤、元数据过滤、重排、人工精选上下文包都可能是更合适的方式。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【常见误区，约1分钟】检索系统上线后，不能只看用户是否能问出答案，还要看答案是否引用正确、是否取到了最新版本、是否误召回相似但不适用的制度、是否因为权限过滤导致信息缺失。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引用”这个标签，而是一个动作：下次客户说“我们要做知识库”或“我们要做AI员工”时，你要继续问上下文从哪里来、怎么更新、谁能看、如何验证。上下文供给策略清楚后，我们继续设计Agent的指令、工具、记忆和接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互动问题：请学员判断当前场景更适合RAG、长上下文、工具查询还是组合方案。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过渡语：上下文供给策略清楚后，我们继续设计Agent的指令、工具、记忆和接管边界。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本页目的：高频稳定上下文适合缓存，动态任务上下文适合实时注入。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Prompt缓存与成本控制”。这一页要训练的不是记住一个术语，而是让FDE在企业现场能判断：AI要可靠完成这个任务，究竟需要哪些上下文。请先记住本页核心句：高频稳定上下文适合缓存，动态任务上下文适合实时注入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稳定指令：可缓存；制度材料：可缓存；客户状态：实时取；工具结果：实时取；临时任务：不缓存；敏感数据：慎缓存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RAG和长上下文是两种上下文供给策略。长上下文适合复杂材料整体阅读，RAG适合大规模资料按需检索，工具查询适合实时状态。FDE要训练学员不要迷信单一技术，而是按材料规模、更新频率、引用要求、成本和风险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【概念加深，约1分钟】RAG的核心不是向量数据库，而是“按需给模型正确材料”。向量库只是实现之一，关键词过滤、元数据过滤、重排、人工精选上下文包都可能是更合适的方式。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【常见误区，约1分钟】检索系统上线后，不能只看用户是否能问出答案，还要看答案是否引用正确、是否取到了最新版本、是否误召回相似但不适用的制度、是否因为权限过滤导致信息缺失。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成本”这个标签，而是一个动作：下次客户说“我们要做知识库”或“我们要做AI员工”时，你要继续问上下文从哪里来、怎么更新、谁能看、如何验证。上下文供给策略清楚后，我们继续设计Agent的指令、工具、记忆和接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互动问题：请学员判断当前场景更适合RAG、长上下文、工具查询还是组合方案。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过渡语：上下文供给策略清楚后，我们继续设计Agent的指令、工具、记忆和接管边界。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本页目的：FDE要能诊断模型错误是知识问题、检索问题、指令问题还是工具问题。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上下文污染、上下文遗忘与上下文漂移”。这一页要训练的不是记住一个术语，而是让FDE在企业现场能判断：AI要可靠完成这个任务，究竟需要哪些上下文。请先记住本页核心句：FDE要能诊断模型错误是知识问题、检索问题、指令问题还是工具问题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污染；遗忘；漂移；冲突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RAG和长上下文是两种上下文供给策略。长上下文适合复杂材料整体阅读，RAG适合大规模资料按需检索，工具查询适合实时状态。FDE要训练学员不要迷信单一技术，而是按材料规模、更新频率、引用要求、成本和风险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【概念加深，约1分钟】RAG的核心不是向量数据库，而是“按需给模型正确材料”。向量库只是实现之一，关键词过滤、元数据过滤、重排、人工精选上下文包都可能是更合适的方式。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【常见误区，约1分钟】检索系统上线后，不能只看用户是否能问出答案，还要看答案是否引用正确、是否取到了最新版本、是否误召回相似但不适用的制度、是否因为权限过滤导致信息缺失。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失败模式”这个标签，而是一个动作：下次客户说“我们要做知识库”或“我们要做AI员工”时，你要继续问上下文从哪里来、怎么更新、谁能看、如何验证。上下文供给策略清楚后，我们继续设计Agent的指令、工具、记忆和接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互动问题：请学员判断当前场景更适合RAG、长上下文、工具查询还是组合方案。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过渡语：上下文供给策略清楚后，我们继续设计Agent的指令、工具、记忆和接管边界。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本页目的：检索不是看能不能搜到，而是看能否稳定找到正确、最新、可引用材料。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检索系统的验收问题”。这一页要训练的不是记住一个术语，而是让FDE在企业现场能判断：AI要可靠完成这个任务，究竟需要哪些上下文。请先记住本页核心句：检索不是看能不能搜到，而是看能否稳定找到正确、最新、可引用材料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召回率→关键问题能否找到答案；准确率→答案是否来自正确材料；新鲜度→过期材料是否降权或废止；权限→越权材料是否不会出现；可追溯→能否看到来源和版本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RAG和长上下文是两种上下文供给策略。长上下文适合复杂材料整体阅读，RAG适合大规模资料按需检索，工具查询适合实时状态。FDE要训练学员不要迷信单一技术，而是按材料规模、更新频率、引用要求、成本和风险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帮助学员建立取舍观。RAG适合资料多、更新快、需要引用的场景；长上下文适合一次性审阅完整合同、政策包或项目材料；工具查询适合库存、订单、客户状态这类实时数据。FDE不是问哪种技术高级，而是问哪种上下文供给方式更稳定、更便宜、更可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【概念加深，约1分钟】RAG的核心不是向量数据库，而是“按需给模型正确材料”。向量库只是实现之一，关键词过滤、元数据过滤、重排、人工精选上下文包都可能是更合适的方式。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【常见误区，约1分钟】检索系统上线后，不能只看用户是否能问出答案，还要看答案是否引用正确、是否取到了最新版本、是否误召回相似但不适用的制度、是否因为权限过滤导致信息缺失。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评估”这个标签，而是一个动作：下次客户说“我们要做知识库”或“我们要做AI员工”时，你要继续问上下文从哪里来、怎么更新、谁能看、如何验证。上下文供给策略清楚后，我们继续设计Agent的指令、工具、记忆和接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互动问题：请学员判断当前场景更适合RAG、长上下文、工具查询还是组合方案。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过渡语：上下文供给策略清楚后，我们继续设计Agent的指令、工具、记忆和接管边界。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本页目的：同一场景要写出哪些材料进库、哪些实时取、哪些放Prompt、哪些必须引用。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讲师逐字稿：【开场，约40秒】各位看这一页，标题是“设计一个RAG + 长上下文方案”。这一页要训练的不是记住一个术语，而是让FDE在企业现场能判断：AI要可靠完成这个任务，究竟需要哪些上下文。请先记住本页核心句：同一场景要写出哪些材料进库、哪些实时取、哪些放Prompt、哪些必须引用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材料分层；切片策略；检索策略；引用策略；失败兜底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RAG和长上下文是两种上下文供给策略。长上下文适合复杂材料整体阅读，RAG适合大规模资料按需检索，工具查询适合实时状态。FDE要训练学员不要迷信单一技术，而是按材料规模、更新频率、引用要求、成本和风险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帮助学员建立取舍观。RAG适合资料多、更新快、需要引用的场景；长上下文适合一次性审阅完整合同、政策包或项目材料；工具查询适合库存、订单、客户状态这类实时数据。FDE不是问哪种技术高级，而是问哪种上下文供给方式更稳定、更便宜、更可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知识来源是否明确；第二，上下文边界是否可执行；第三，验收问题能不能暴露幻觉、过期、越权和错误引用。这样课堂才是交付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【概念加深，约1分钟】RAG的核心不是向量数据库，而是“按需给模型正确材料”。向量库只是实现之一，关键词过滤、元数据过滤、重排、人工精选上下文包都可能是更合适的方式。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【常见误区，约1分钟】检索系统上线后，不能只看用户是否能问出答案，还要看答案是否引用正确、是否取到了最新版本、是否误召回相似但不适用的制度、是否因为权限过滤导致信息缺失。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我们要做知识库”或“我们要做AI员工”时，你要继续问上下文从哪里来、怎么更新、谁能看、如何验证。上下文供给策略清楚后，我们继续设计Agent的指令、工具、记忆和接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互动问题：请学员判断当前场景更适合RAG、长上下文、工具查询还是组合方案。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过渡语：上下文供给策略清楚后，我们继续设计Agent的指令、工具、记忆和接管边界。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本页目的：知识让AI知道，工具让AI行动，指令和边界决定它如何行动。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指令、工具与Agent上下文”。这一页要训练的不是记住一个术语，而是让FDE在企业现场能判断：AI要可靠完成这个任务，究竟需要哪些上下文。请先记住本页核心句：知识让AI知道，工具让AI行动，指令和边界决定它如何行动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指令；工具；记忆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知识让AI知道，工具让AI行动，指令和边界决定AI如何行动。企业Agent不是一个会聊天的模型，而是一套带权限、工具、记忆、日志和人工接管的工作系统。本节要把学员从Prompt工程带到Agent上下文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Agent上下文要围绕行动边界讲。一个AI如果只能回答问题，风险较低；如果能写CRM、发邮件、创建工单、调整报价，就必须有工具权限、审批边界、失败处理、日志和人工接管。讲师要把“会调用工具”升级成“能受控地调用工具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【概念加深，约1分钟】Agent的上下文包括任务目标、工具能力、行动历史和权限边界。工具调用前后都要进入上下文：调用前知道为什么调用，调用后知道结果是否可信，失败后知道如何处理。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【常见误区，约1分钟】很多人把记忆当作体验增强，但企业记忆首先是治理问题。什么可以记、谁能删、多久失效、能否跨场景使用，都要提前设计。否则记忆越强，隐私和合规风险越高。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5”这个标签，而是一个动作：下次客户说“我们要做知识库”或“我们要做AI员工”时，你要继续问上下文从哪里来、怎么更新、谁能看、如何验证。方法讲完之后，我们把它映射到Claude、OpenAI、腾讯和国内大模型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互动问题：请学员为一个工具调用写触发条件、权限条件和失败处理。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过渡语：方法讲完之后，我们把它映射到Claude、OpenAI、腾讯和国内大模型平台。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本页目的：企业Agent的指令要包含角色、目标、流程、禁止事项、升级路径和输出格式。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系统指令不是一句角色扮演”。这一页要训练的不是记住一个术语，而是让FDE在企业现场能判断：AI要可靠完成这个任务，究竟需要哪些上下文。请先记住本页核心句：企业Agent的指令要包含角色、目标、流程、禁止事项、升级路径和输出格式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角色；目标；流程；边界；格式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知识让AI知道，工具让AI行动，指令和边界决定AI如何行动。企业Agent不是一个会聊天的模型，而是一套带权限、工具、记忆、日志和人工接管的工作系统。本节要把学员从Prompt工程带到Agent上下文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Agent上下文要围绕行动边界讲。一个AI如果只能回答问题，风险较低；如果能写CRM、发邮件、创建工单、调整报价，就必须有工具权限、审批边界、失败处理、日志和人工接管。讲师要把“会调用工具”升级成“能受控地调用工具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【概念加深，约1分钟】Agent的上下文包括任务目标、工具能力、行动历史和权限边界。工具调用前后都要进入上下文：调用前知道为什么调用，调用后知道结果是否可信，失败后知道如何处理。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【常见误区，约1分钟】很多人把记忆当作体验增强，但企业记忆首先是治理问题。什么可以记、谁能删、多久失效、能否跨场景使用，都要提前设计。否则记忆越强，隐私和合规风险越高。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指令”这个标签，而是一个动作：下次客户说“我们要做知识库”或“我们要做AI员工”时，你要继续问上下文从哪里来、怎么更新、谁能看、如何验证。方法讲完之后，我们把它映射到Claude、OpenAI、腾讯和国内大模型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互动问题：请学员为一个工具调用写触发条件、权限条件和失败处理。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过渡语：方法讲完之后，我们把它映射到Claude、OpenAI、腾讯和国内大模型平台。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本页目的：每次任务都要注入用户、目标、输入、状态、限制、工具和验收标准。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任务上下文模板”。这一页要训练的不是记住一个术语，而是让FDE在企业现场能判断：AI要可靠完成这个任务，究竟需要哪些上下文。请先记住本页核心句：每次任务都要注入用户、目标、输入、状态、限制、工具和验收标准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用户身份；业务目标；输入材料；当前状态；限制条件；可用工具；验收标准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知识让AI知道，工具让AI行动，指令和边界决定AI如何行动。企业Agent不是一个会聊天的模型，而是一套带权限、工具、记忆、日志和人工接管的工作系统。本节要把学员从Prompt工程带到Agent上下文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【概念加深，约1分钟】Agent的上下文包括任务目标、工具能力、行动历史和权限边界。工具调用前后都要进入上下文：调用前知道为什么调用，调用后知道结果是否可信，失败后知道如何处理。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【常见误区，约1分钟】很多人把记忆当作体验增强，但企业记忆首先是治理问题。什么可以记、谁能删、多久失效、能否跨场景使用，都要提前设计。否则记忆越强，隐私和合规风险越高。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模板”这个标签，而是一个动作：下次客户说“我们要做知识库”或“我们要做AI员工”时，你要继续问上下文从哪里来、怎么更新、谁能看、如何验证。方法讲完之后，我们把它映射到Claude、OpenAI、腾讯和国内大模型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互动问题：请学员为一个工具调用写触发条件、权限条件和失败处理。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过渡语：方法讲完之后，我们把它映射到Claude、OpenAI、腾讯和国内大模型平台。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本页目的：工具不是越多越好，每个工具都要有触发条件、参数、权限和失败处理。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工具上下文与函数边界”。这一页要训练的不是记住一个术语，而是让FDE在企业现场能判断：AI要可靠完成这个任务，究竟需要哪些上下文。请先记住本页核心句：工具不是越多越好，每个工具都要有触发条件、参数、权限和失败处理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；参数；权限；执行；失败；日志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知识让AI知道，工具让AI行动，指令和边界决定AI如何行动。企业Agent不是一个会聊天的模型，而是一套带权限、工具、记忆、日志和人工接管的工作系统。本节要把学员从Prompt工程带到Agent上下文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Agent上下文要围绕行动边界讲。一个AI如果只能回答问题，风险较低；如果能写CRM、发邮件、创建工单、调整报价，就必须有工具权限、审批边界、失败处理、日志和人工接管。讲师要把“会调用工具”升级成“能受控地调用工具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【概念加深，约1分钟】Agent的上下文包括任务目标、工具能力、行动历史和权限边界。工具调用前后都要进入上下文：调用前知道为什么调用，调用后知道结果是否可信，失败后知道如何处理。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【常见误区，约1分钟】很多人把记忆当作体验增强，但企业记忆首先是治理问题。什么可以记、谁能删、多久失效、能否跨场景使用，都要提前设计。否则记忆越强，隐私和合规风险越高。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工具”这个标签，而是一个动作：下次客户说“我们要做知识库”或“我们要做AI员工”时，你要继续问上下文从哪里来、怎么更新、谁能看、如何验证。方法讲完之后，我们把它映射到Claude、OpenAI、腾讯和国内大模型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互动问题：请学员为一个工具调用写触发条件、权限条件和失败处理。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过渡语：方法讲完之后，我们把它映射到Claude、OpenAI、腾讯和国内大模型平台。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本页目的：不同风险等级决定AI是回答、生成草稿、提交审批还是自动执行。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建议到执行，要按风险分级”。这一页要训练的不是记住一个术语，而是让FDE在企业现场能判断：AI要可靠完成这个任务，究竟需要哪些上下文。请先记住本页核心句：不同风险等级决定AI是回答、生成草稿、提交审批还是自动执行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回答；草稿；审批；执行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知识让AI知道，工具让AI行动，指令和边界决定AI如何行动。企业Agent不是一个会聊天的模型，而是一套带权限、工具、记忆、日志和人工接管的工作系统。本节要把学员从Prompt工程带到Agent上下文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【概念加深，约1分钟】Agent的上下文包括任务目标、工具能力、行动历史和权限边界。工具调用前后都要进入上下文：调用前知道为什么调用，调用后知道结果是否可信，失败后知道如何处理。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【常见误区，约1分钟】很多人把记忆当作体验增强，但企业记忆首先是治理问题。什么可以记、谁能删、多久失效、能否跨场景使用，都要提前设计。否则记忆越强，隐私和合规风险越高。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动作”这个标签，而是一个动作：下次客户说“我们要做知识库”或“我们要做AI员工”时，你要继续问上下文从哪里来、怎么更新、谁能看、如何验证。方法讲完之后，我们把它映射到Claude、OpenAI、腾讯和国内大模型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互动问题：请学员为一个工具调用写触发条件、权限条件和失败处理。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过渡语：方法讲完之后，我们把它映射到Claude、OpenAI、腾讯和国内大模型平台。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本页目的：记忆要有用途、边界、失效时间和删除机制。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AI记忆设计”。这一页要训练的不是记住一个术语，而是让FDE在企业现场能判断：AI要可靠完成这个任务，究竟需要哪些上下文。请先记住本页核心句：记忆要有用途、边界、失效时间和删除机制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个人偏好；客户历史；项目状态；禁止记忆；失效周期；删除请求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知识让AI知道，工具让AI行动，指令和边界决定AI如何行动。企业Agent不是一个会聊天的模型，而是一套带权限、工具、记忆、日志和人工接管的工作系统。本节要把学员从Prompt工程带到Agent上下文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Agent上下文要围绕行动边界讲。一个AI如果只能回答问题，风险较低；如果能写CRM、发邮件、创建工单、调整报价，就必须有工具权限、审批边界、失败处理、日志和人工接管。讲师要把“会调用工具”升级成“能受控地调用工具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【概念加深，约1分钟】Agent的上下文包括任务目标、工具能力、行动历史和权限边界。工具调用前后都要进入上下文：调用前知道为什么调用，调用后知道结果是否可信，失败后知道如何处理。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【常见误区，约1分钟】很多人把记忆当作体验增强，但企业记忆首先是治理问题。什么可以记、谁能删、多久失效、能否跨场景使用，都要提前设计。否则记忆越强，隐私和合规风险越高。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记忆”这个标签，而是一个动作：下次客户说“我们要做知识库”或“我们要做AI员工”时，你要继续问上下文从哪里来、怎么更新、谁能看、如何验证。方法讲完之后，我们把它映射到Claude、OpenAI、腾讯和国内大模型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互动问题：请学员为一个工具调用写触发条件、权限条件和失败处理。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过渡语：方法讲完之后，我们把它映射到Claude、OpenAI、腾讯和国内大模型平台。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本页目的：接管不是失败，而是让AI在高风险或低置信度时安全退出。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人工接管是上下文系统的一部分”。这一页要训练的不是记住一个术语，而是让FDE在企业现场能判断：AI要可靠完成这个任务，究竟需要哪些上下文。请先记住本页核心句：接管不是失败，而是让AI在高风险或低置信度时安全退出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何时接管；转给谁；带什么上下文；如何回写；如何复盘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知识让AI知道，工具让AI行动，指令和边界决定AI如何行动。企业Agent不是一个会聊天的模型，而是一套带权限、工具、记忆、日志和人工接管的工作系统。本节要把学员从Prompt工程带到Agent上下文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Agent上下文要围绕行动边界讲。一个AI如果只能回答问题，风险较低；如果能写CRM、发邮件、创建工单、调整报价，就必须有工具权限、审批边界、失败处理、日志和人工接管。讲师要把“会调用工具”升级成“能受控地调用工具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【概念加深，约1分钟】Agent的上下文包括任务目标、工具能力、行动历史和权限边界。工具调用前后都要进入上下文：调用前知道为什么调用，调用后知道结果是否可信，失败后知道如何处理。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【常见误区，约1分钟】很多人把记忆当作体验增强，但企业记忆首先是治理问题。什么可以记、谁能删、多久失效、能否跨场景使用，都要提前设计。否则记忆越强，隐私和合规风险越高。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接管”这个标签，而是一个动作：下次客户说“我们要做知识库”或“我们要做AI员工”时，你要继续问上下文从哪里来、怎么更新、谁能看、如何验证。方法讲完之后，我们把它映射到Claude、OpenAI、腾讯和国内大模型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互动问题：请学员为一个工具调用写触发条件、权限条件和失败处理。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过渡语：方法讲完之后，我们把它映射到Claude、OpenAI、腾讯和国内大模型平台。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本页目的：不同平台名称不同，但FDE设计语言应该统一。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讲师逐字稿：【开场，约40秒】各位看这一页，标题是“Claude / OpenAI / 腾讯的共同抽象”。这一页要训练的不是记住一个术语，而是让FDE在企业现场能判断：AI要可靠完成这个任务，究竟需要哪些上下文。请先记住本页核心句：不同平台名称不同，但FDE设计语言应该统一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【概念展开，约1分30秒】屏幕上的关键词是：Claude项目与长上下文→适合深阅读和复杂材料综合；OpenAI Responses/Agents/File Search→适合工具化Agent和文件检索；腾讯ADP/知识库/工作流→适合国内企业云与应用集成；国内模型生态→按知识、工具、权限、评估四件事抽象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知识让AI知道，工具让AI行动，指令和边界决定AI如何行动。企业Agent不是一个会聊天的模型，而是一套带权限、工具、记忆、日志和人工接管的工作系统。本节要把学员从Prompt工程带到Agent上下文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平台对照要避免站队。Claude强在长上下文和复杂材料处理，OpenAI生态适合文件检索、工具化Agent和评估，腾讯生态贴近国内企业云、知识库、工作流和应用开发。FDE要能把同一份上下文设计，迁移到不同平台上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【概念加深，约1分钟】Agent的上下文包括任务目标、工具能力、行动历史和权限边界。工具调用前后都要进入上下文：调用前知道为什么调用，调用后知道结果是否可信，失败后知道如何处理。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【常见误区，约1分钟】很多人把记忆当作体验增强，但企业记忆首先是治理问题。什么可以记、谁能删、多久失效、能否跨场景使用，都要提前设计。否则记忆越强，隐私和合规风险越高。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对照”这个标签，而是一个动作：下次客户说“我们要做知识库”或“我们要做AI员工”时，你要继续问上下文从哪里来、怎么更新、谁能看、如何验证。方法讲完之后，我们把它映射到Claude、OpenAI、腾讯和国内大模型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互动问题：请学员为一个工具调用写触发条件、权限条件和失败处理。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过渡语：方法讲完之后，我们把它映射到Claude、OpenAI、腾讯和国内大模型平台。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本页目的：不依赖单一厂商，但能把FDE方法落到主流平台。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平台实践对照”。这一页要训练的不是记住一个术语，而是让FDE在企业现场能判断：AI要可靠完成这个任务，究竟需要哪些上下文。请先记住本页核心句：不依赖单一厂商，但能把FDE方法落到主流平台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Claude；OpenAI；腾讯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国内模型生态更新很快，按钮会变，抽象不变。讲师要让学员知道：平台只是承载，FDE真正要掌握的是上下文分层、工具边界、权限治理、测试评估和运维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【概念加深，约1分钟】讲平台时，建议用同一张设计图映射到不同产品：Claude对应长上下文和工具使用，OpenAI对应Responses、File Search和Agents，腾讯对应ADP知识库、插件工作流和云开发。这样学员不会被产品名打散。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【常见误区，约1分钟】不要让学员认为课程只服务Claude或OpenAI。FDE要在国内外都可用，关键是掌握抽象：上下文分层、知识治理、工具边界、权限、评估和运营。平台选择是实施问题，不是方法本身。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6”这个标签，而是一个动作：下次客户说“我们要做知识库”或“我们要做AI员工”时，你要继续问上下文从哪里来、怎么更新、谁能看、如何验证。平台只是承载，最后要用验收工作坊证明学员能交付上下文工程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互动问题：请学员说明同一个上下文设计如何迁移到Claude、OpenAI和腾讯生态。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过渡语：平台只是承载，最后要用验收工作坊证明学员能交付上下文工程包。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本页目的：Claude适合把复杂材料、长文档和多轮任务放入上下文进行深度处理。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Claude体系：长上下文、工具使用与提示缓存”。这一页要训练的不是记住一个术语，而是让FDE在企业现场能判断：AI要可靠完成这个任务，究竟需要哪些上下文。请先记住本页核心句：Claude适合把复杂材料、长文档和多轮任务放入上下文进行深度处理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【概念展开，约1分30秒】屏幕上的关键词是：Context window；Prompt caching；Tool use；Projects/Memory；Citation thinking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国内模型生态更新很快，按钮会变，抽象不变。讲师要让学员知道：平台只是承载，FDE真正要掌握的是上下文分层、工具边界、权限治理、测试评估和运维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帮助学员建立取舍观。RAG适合资料多、更新快、需要引用的场景；长上下文适合一次性审阅完整合同、政策包或项目材料；工具查询适合库存、订单、客户状态这类实时数据。FDE不是问哪种技术高级，而是问哪种上下文供给方式更稳定、更便宜、更可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【概念加深，约1分钟】讲平台时，建议用同一张设计图映射到不同产品：Claude对应长上下文和工具使用，OpenAI对应Responses、File Search和Agents，腾讯对应ADP知识库、插件工作流和云开发。这样学员不会被产品名打散。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【常见误区，约1分钟】不要让学员认为课程只服务Claude或OpenAI。FDE要在国内外都可用，关键是掌握抽象：上下文分层、知识治理、工具边界、权限、评估和运营。平台选择是实施问题，不是方法本身。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Claude”这个标签，而是一个动作：下次客户说“我们要做知识库”或“我们要做AI员工”时，你要继续问上下文从哪里来、怎么更新、谁能看、如何验证。平台只是承载，最后要用验收工作坊证明学员能交付上下文工程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互动问题：请学员说明同一个上下文设计如何迁移到Claude、OpenAI和腾讯生态。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过渡语：平台只是承载，最后要用验收工作坊证明学员能交付上下文工程包。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本页目的：OpenAI实践更强调工具、文件检索、状态和评估组合成Agent应用。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讲师逐字稿：【开场，约40秒】各位看这一页，标题是“OpenAI体系：Responses、Agents、File Search”。这一页要训练的不是记住一个术语，而是让FDE在企业现场能判断：AI要可靠完成这个任务，究竟需要哪些上下文。请先记住本页核心句：OpenAI实践更强调工具、文件检索、状态和评估组合成Agent应用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【概念展开，约1分30秒】屏幕上的关键词是：Responses API；Agents SDK；File Search；Vector stores；Evals/Guardrails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国内模型生态更新很快，按钮会变，抽象不变。讲师要让学员知道：平台只是承载，FDE真正要掌握的是上下文分层、工具边界、权限治理、测试评估和运维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平台对照要避免站队。Claude强在长上下文和复杂材料处理，OpenAI生态适合文件检索、工具化Agent和评估，腾讯生态贴近国内企业云、知识库、工作流和应用开发。FDE要能把同一份上下文设计，迁移到不同平台上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【概念加深，约1分钟】讲平台时，建议用同一张设计图映射到不同产品：Claude对应长上下文和工具使用，OpenAI对应Responses、File Search和Agents，腾讯对应ADP知识库、插件工作流和云开发。这样学员不会被产品名打散。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【常见误区，约1分钟】不要让学员认为课程只服务Claude或OpenAI。FDE要在国内外都可用，关键是掌握抽象：上下文分层、知识治理、工具边界、权限、评估和运营。平台选择是实施问题，不是方法本身。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OpenAI”这个标签，而是一个动作：下次客户说“我们要做知识库”或“我们要做AI员工”时，你要继续问上下文从哪里来、怎么更新、谁能看、如何验证。平台只是承载，最后要用验收工作坊证明学员能交付上下文工程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互动问题：请学员说明同一个上下文设计如何迁移到Claude、OpenAI和腾讯生态。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过渡语：平台只是承载，最后要用验收工作坊证明学员能交付上下文工程包。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本页目的：腾讯生态适合连接国内企业云、知识库、工作流、应用开发和企业微信场景。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腾讯体系：ADP、CloudBase、CodeBuddy”。这一页要训练的不是记住一个术语，而是让FDE在企业现场能判断：AI要可靠完成这个任务，究竟需要哪些上下文。请先记住本页核心句：腾讯生态适合连接国内企业云、知识库、工作流、应用开发和企业微信场景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【概念展开，约1分30秒】屏幕上的关键词是：ADP Agent开发；知识库；插件/工作流；CloudBase；CodeBuddy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国内模型生态更新很快，按钮会变，抽象不变。讲师要让学员知道：平台只是承载，FDE真正要掌握的是上下文分层、工具边界、权限治理、测试评估和运维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平台对照要避免站队。Claude强在长上下文和复杂材料处理，OpenAI生态适合文件检索、工具化Agent和评估，腾讯生态贴近国内企业云、知识库、工作流和应用开发。FDE要能把同一份上下文设计，迁移到不同平台上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【概念加深，约1分钟】讲平台时，建议用同一张设计图映射到不同产品：Claude对应长上下文和工具使用，OpenAI对应Responses、File Search和Agents，腾讯对应ADP知识库、插件工作流和云开发。这样学员不会被产品名打散。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【常见误区，约1分钟】不要让学员认为课程只服务Claude或OpenAI。FDE要在国内外都可用，关键是掌握抽象：上下文分层、知识治理、工具边界、权限、评估和运营。平台选择是实施问题，不是方法本身。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腾讯”这个标签，而是一个动作：下次客户说“我们要做知识库”或“我们要做AI员工”时，你要继续问上下文从哪里来、怎么更新、谁能看、如何验证。平台只是承载，最后要用验收工作坊证明学员能交付上下文工程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互动问题：请学员说明同一个上下文设计如何迁移到Claude、OpenAI和腾讯生态。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过渡语：平台只是承载，最后要用验收工作坊证明学员能交付上下文工程包。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本页目的：FDE课程要教抽象能力，而不是只教某个按钮。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国内外大模型的统一适配层”。这一页要训练的不是记住一个术语，而是让FDE在企业现场能判断：AI要可靠完成这个任务，究竟需要哪些上下文。请先记住本页核心句：FDE课程要教抽象能力，而不是只教某个按钮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模型：能力与成本；知识：资料治理；工具：系统连接；权限：角色边界；评估：测试集；运维：日志复盘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国内模型生态更新很快，按钮会变，抽象不变。讲师要让学员知道：平台只是承载，FDE真正要掌握的是上下文分层、工具边界、权限治理、测试评估和运维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【概念加深，约1分钟】讲平台时，建议用同一张设计图映射到不同产品：Claude对应长上下文和工具使用，OpenAI对应Responses、File Search和Agents，腾讯对应ADP知识库、插件工作流和云开发。这样学员不会被产品名打散。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【常见误区，约1分钟】不要让学员认为课程只服务Claude或OpenAI。FDE要在国内外都可用，关键是掌握抽象：上下文分层、知识治理、工具边界、权限、评估和运营。平台选择是实施问题，不是方法本身。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兼容”这个标签，而是一个动作：下次客户说“我们要做知识库”或“我们要做AI员工”时，你要继续问上下文从哪里来、怎么更新、谁能看、如何验证。平台只是承载，最后要用验收工作坊证明学员能交付上下文工程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互动问题：请学员说明同一个上下文设计如何迁移到Claude、OpenAI和腾讯生态。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过渡语：平台只是承载，最后要用验收工作坊证明学员能交付上下文工程包。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本页目的：WEI体系可把模型聚合、数字员工代养和AI转型咨询连接成交付闭环。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讲师逐字稿：【开场，约40秒】各位看这一页，标题是“落到WEI API / WEI BOT / WEI CONSULTING”。这一页要训练的不是记住一个术语，而是让FDE在企业现场能判断：AI要可靠完成这个任务，究竟需要哪些上下文。请先记住本页核心句：WEI体系可把模型聚合、数字员工代养和AI转型咨询连接成交付闭环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【概念展开，约1分30秒】屏幕上的关键词是：WEI API供模型；WEI BOT承载数字员工；WEI CONSULTING做诊断交付；知识包沉淀；OPC复制；讲师训练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国内模型生态更新很快，按钮会变，抽象不变。讲师要让学员知道：平台只是承载，FDE真正要掌握的是上下文分层、工具边界、权限治理、测试评估和运维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【概念加深，约1分钟】讲平台时，建议用同一张设计图映射到不同产品：Claude对应长上下文和工具使用，OpenAI对应Responses、File Search和Agents，腾讯对应ADP知识库、插件工作流和云开发。这样学员不会被产品名打散。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【常见误区，约1分钟】不要让学员认为课程只服务Claude或OpenAI。FDE要在国内外都可用，关键是掌握抽象：上下文分层、知识治理、工具边界、权限、评估和运营。平台选择是实施问题，不是方法本身。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WEI体系”这个标签，而是一个动作：下次客户说“我们要做知识库”或“我们要做AI员工”时，你要继续问上下文从哪里来、怎么更新、谁能看、如何验证。平台只是承载，最后要用验收工作坊证明学员能交付上下文工程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互动问题：请学员说明同一个上下文设计如何迁移到Claude、OpenAI和腾讯生态。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过渡语：平台只是承载，最后要用验收工作坊证明学员能交付上下文工程包。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本页目的：把上下文工程从概念变成可交付包。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验收与工作坊”。这一页要训练的不是记住一个术语，而是让FDE在企业现场能判断：AI要可靠完成这个任务，究竟需要哪些上下文。请先记住本页核心句：把上下文工程从概念变成可交付包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测试集；验收；运营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工作坊是本章验收。学员必须把第2章筛选出的MVP场景，转成上下文工程包。只会讲知识库概念不合格，能交出知识资产清单、切片策略、工具边界、测试集和运营看板，才进入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验收时要讲硬标准：能回答正常问题不够，还要能处理无答案、过期答案、越权问题、陷阱问题和高风险问题。一个知识库如果只在标准FAQ上表现好，不代表能上线；能在边界问题上稳定拒答、引用和转人工，才有生产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【概念加深，约1分钟】验收测试集是知识系统的保险丝。没有测试集，更新资料时不知道是否破坏旧能力；没有边界题，系统只在简单问题上看起来聪明；没有越权题，安全风险上线后才暴露。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【常见误区，约1分钟】工作坊不是交漂亮表格，而是交能进入交付的上下文包。讲师要检查材料是否围绕一个MVP，而不是把企业所有资料都列进去。范围越清楚，第一版越可能成功。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7”这个标签，而是一个动作：下次客户说“我们要做知识库”或“我们要做AI员工”时，你要继续问上下文从哪里来、怎么更新、谁能看、如何验证。下一章会把这个上下文包继续推进到Agent流程设计与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互动问题：请每组展示一条正常题、一条边界题、一条越权题和一条陷阱题。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过渡语：下一章会把这个上下文包继续推进到Agent流程设计与数字员工部署。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本页目的：能检索、能引用、不过权、不过期、能接管、能复盘。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知识与上下文工程的六个验收门”。这一页要训练的不是记住一个术语，而是让FDE在企业现场能判断：AI要可靠完成这个任务，究竟需要哪些上下文。请先记住本页核心句：能检索、能引用、不过权、不过期、能接管、能复盘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可检索：关键问题能找到；可引用：来源版本清楚；不越权：按角色可见；不过期：更新机制明确；可接管：高风险转人；可复盘：日志与指标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工作坊是本章验收。学员必须把第2章筛选出的MVP场景，转成上下文工程包。只会讲知识库概念不合格，能交出知识资产清单、切片策略、工具边界、测试集和运营看板，才进入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验收时要讲硬标准：能回答正常问题不够，还要能处理无答案、过期答案、越权问题、陷阱问题和高风险问题。一个知识库如果只在标准FAQ上表现好，不代表能上线；能在边界问题上稳定拒答、引用和转人工，才有生产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【概念加深，约1分钟】验收测试集是知识系统的保险丝。没有测试集，更新资料时不知道是否破坏旧能力；没有边界题，系统只在简单问题上看起来聪明；没有越权题，安全风险上线后才暴露。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【常见误区，约1分钟】工作坊不是交漂亮表格，而是交能进入交付的上下文包。讲师要检查材料是否围绕一个MVP，而不是把企业所有资料都列进去。范围越清楚，第一版越可能成功。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验收”这个标签，而是一个动作：下次客户说“我们要做知识库”或“我们要做AI员工”时，你要继续问上下文从哪里来、怎么更新、谁能看、如何验证。下一章会把这个上下文包继续推进到Agent流程设计与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互动问题：请每组展示一条正常题、一条边界题、一条越权题和一条陷阱题。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过渡语：下一章会把这个上下文包继续推进到Agent流程设计与数字员工部署。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本页目的：测试集要包含正常问题、边界问题、过期问题、越权问题和陷阱问题。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构建知识QA测试集”。这一页要训练的不是记住一个术语，而是让FDE在企业现场能判断：AI要可靠完成这个任务，究竟需要哪些上下文。请先记住本页核心句：测试集要包含正常问题、边界问题、过期问题、越权问题和陷阱问题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正常问→应答且引用；边界问→说明范围；过期问→提示版本；越权问→拒答或转人工；陷阱问→不编造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工作坊是本章验收。学员必须把第2章筛选出的MVP场景，转成上下文工程包。只会讲知识库概念不合格，能交出知识资产清单、切片策略、工具边界、测试集和运营看板，才进入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验收时要讲硬标准：能回答正常问题不够，还要能处理无答案、过期答案、越权问题、陷阱问题和高风险问题。一个知识库如果只在标准FAQ上表现好，不代表能上线；能在边界问题上稳定拒答、引用和转人工，才有生产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【概念加深，约1分钟】验收测试集是知识系统的保险丝。没有测试集，更新资料时不知道是否破坏旧能力；没有边界题，系统只在简单问题上看起来聪明；没有越权题，安全风险上线后才暴露。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【常见误区，约1分钟】工作坊不是交漂亮表格，而是交能进入交付的上下文包。讲师要检查材料是否围绕一个MVP，而不是把企业所有资料都列进去。范围越清楚，第一版越可能成功。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测试”这个标签，而是一个动作：下次客户说“我们要做知识库”或“我们要做AI员工”时，你要继续问上下文从哪里来、怎么更新、谁能看、如何验证。下一章会把这个上下文包继续推进到Agent流程设计与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互动问题：请每组展示一条正常题、一条边界题、一条越权题和一条陷阱题。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过渡语：下一章会把这个上下文包继续推进到Agent流程设计与数字员工部署。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本页目的：上线后要持续观察质量、成本、风险和业务结果。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上下文系统上线后的运营看板”。这一页要训练的不是记住一个术语，而是让FDE在企业现场能判断：AI要可靠完成这个任务，究竟需要哪些上下文。请先记住本页核心句：上线后要持续观察质量、成本、风险和业务结果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命中率：找到材料；采纳率：用户接受；转人工率：边界触发；错误率：需修正；成本：调用与缓存；更新：资料时效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工作坊是本章验收。学员必须把第2章筛选出的MVP场景，转成上下文工程包。只会讲知识库概念不合格，能交出知识资产清单、切片策略、工具边界、测试集和运营看板，才进入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【概念加深，约1分钟】验收测试集是知识系统的保险丝。没有测试集，更新资料时不知道是否破坏旧能力；没有边界题，系统只在简单问题上看起来聪明；没有越权题，安全风险上线后才暴露。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【常见误区，约1分钟】工作坊不是交漂亮表格，而是交能进入交付的上下文包。讲师要检查材料是否围绕一个MVP，而不是把企业所有资料都列进去。范围越清楚，第一版越可能成功。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运营”这个标签，而是一个动作：下次客户说“我们要做知识库”或“我们要做AI员工”时，你要继续问上下文从哪里来、怎么更新、谁能看、如何验证。下一章会把这个上下文包继续推进到Agent流程设计与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互动问题：请每组展示一条正常题、一条边界题、一条越权题和一条陷阱题。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过渡语：下一章会把这个上下文包继续推进到Agent流程设计与数字员工部署。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本页目的：每组把第2章选出的MVP场景，做成可交付的上下文设计包。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产出一个企业上下文工程包”。这一页要训练的不是记住一个术语，而是让FDE在企业现场能判断：AI要可靠完成这个任务，究竟需要哪些上下文。请先记住本页核心句：每组把第2章选出的MVP场景，做成可交付的上下文设计包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上下文契约；知识资产清单；切片与元数据；RAG/长上下文策略；工具与记忆边界；QA测试集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工作坊是本章验收。学员必须把第2章筛选出的MVP场景，转成上下文工程包。只会讲知识库概念不合格，能交出知识资产清单、切片策略、工具边界、测试集和运营看板，才进入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把产品手册、价格表、销售话术全部上传，然后让模型回答销售问题。FDE做法不同：先区分哪些是长期稳定知识，哪些是客户当前状态，哪些必须实时查CRM，哪些只能生成草稿，哪些需要主管审批，哪些答案必须引用原文。这样一拆，数字员工就从聊天工具变成了一个可部署的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指令、知识、数据、工具、记忆、权限、评估。然后告诉学员：以后设计任何企业Agent，都先问这七个问题。它被要求怎么工作？它知道哪些稳定知识？它需要哪些实时数据？它能调用哪些工具？它要记住什么？它不能看什么、不能做什么？我们如何验证它做对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知识来源是否明确；第二，上下文边界是否可执行；第三，验收问题能不能暴露幻觉、过期、越权和错误引用。这样课堂才是交付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【概念加深，约1分钟】验收测试集是知识系统的保险丝。没有测试集，更新资料时不知道是否破坏旧能力；没有边界题，系统只在简单问题上看起来聪明；没有越权题，安全风险上线后才暴露。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【常见误区，约1分钟】工作坊不是交漂亮表格，而是交能进入交付的上下文包。讲师要检查材料是否围绕一个MVP，而不是把企业所有资料都列进去。范围越清楚，第一版越可能成功。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工作坊”这个标签，而是一个动作：下次客户说“我们要做知识库”或“我们要做AI员工”时，你要继续问上下文从哪里来、怎么更新、谁能看、如何验证。下一章会把这个上下文包继续推进到Agent流程设计与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互动问题：请每组展示一条正常题、一条边界题、一条越权题和一条陷阱题。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过渡语：下一章会把这个上下文包继续推进到Agent流程设计与数字员工部署。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本页目的：FDE的核心竞争力，是让企业AI从聪明回答走向可靠执行。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会问问题，到会搭上下文”。这一页要训练的不是记住一个术语，而是让FDE在企业现场能判断：AI要可靠完成这个任务，究竟需要哪些上下文。请先记住本页核心句：FDE的核心竞争力，是让企业AI从聪明回答走向可靠执行。接下来我会把它落到知识、数据、系统、工具、权限、记忆和评估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知识包；上下文包；测试包；运营包。讲这些词时，不要像念清单一样念过去。FDE要把每个词翻译成现场动作：这份知识从哪里来，谁维护，是否过期，哪些角色能看，模型需要引用哪一段，工具能不能写回，出错后谁接管。只有这样，学员才会理解上下文工程不是写Prompt，而是建设企业AI的工作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工作坊是本章验收。学员必须把第2章筛选出的MVP场景，转成上下文工程包。只会讲知识库概念不合格，能交出知识资产清单、切片策略、工具边界、测试集和运营看板，才进入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来源在哪里，谁负责，是否最新，谁能看，怎么引用，错了谁接管，如何测试。这样学员会形成上下文工程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【概念加深，约1分钟】验收测试集是知识系统的保险丝。没有测试集，更新资料时不知道是否破坏旧能力；没有边界题，系统只在简单问题上看起来聪明；没有越权题，安全风险上线后才暴露。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【常见误区，约1分钟】工作坊不是交漂亮表格，而是交能进入交付的上下文包。讲师要检查材料是否围绕一个MVP，而不是把企业所有资料都列进去。范围越清楚，第一版越可能成功。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先暴露的不是模型智商问题，而是上下文供给问题。个人使用时，人可以自己补充背景；企业部署时，AI必须从系统、知识库、任务状态和工具结果中获得背景。FDE的价值，就是把这些背景组织成稳定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把资料上传到知识库”，说明还停在工具层。你要追问：资料谁维护，如何过期，如何引用，如何分权限，如何测试错误回答，如何发现用户没有采纳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AI回答错了，是因为模型不行，还是因为上下文错了？请学员至少说出四种可能：资料过期、检索没命中、指令冲突、工具返回错误、权限不足、用户问题超出范围。这个追问能训练问题定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上下文工程要避免一次性完美主义。第一版不要追求把企业所有知识都整理完，而要围绕第一批MVP场景整理最小可用上下文包。这个包能被测试、能被更新、能被复用，再逐步扩展到更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建一个大知识库，而是先围绕这个销售跟进MVP，整理产品、客户状态、话术、工具权限和测试题，确保AI能可靠完成这一段流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本章收束”这个标签，而是一个动作：下次客户说“我们要做知识库”或“我们要做AI员工”时，你要继续问上下文从哪里来、怎么更新、谁能看、如何验证。下一章会把这个上下文包继续推进到Agent流程设计与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互动问题：请每组展示一条正常题、一条边界题、一条越权题和一条陷阱题。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过渡语：下一章会把这个上下文包继续推进到Agent流程设计与数字员工部署。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1eabdd7de499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37fce2eec1c4786" /><Relationship Type="http://schemas.openxmlformats.org/officeDocument/2006/relationships/slideLayout" Target="/ppt/slideLayouts/slideLayout2.xml" Id="Rbac1ba13fd9a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c1ba13fd9a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3e8a8279d94af1" /><Relationship Type="http://schemas.openxmlformats.org/officeDocument/2006/relationships/notesSlide" Target="/ppt/notesSlides/notesSlide1.xml" Id="Rfb710ab2d3c64e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e4369387ae48d9" /><Relationship Type="http://schemas.openxmlformats.org/officeDocument/2006/relationships/notesSlide" Target="/ppt/notesSlides/notesSlide2.xml" Id="R6022f84f896542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097c7c5baa486a" /><Relationship Type="http://schemas.openxmlformats.org/officeDocument/2006/relationships/notesSlide" Target="/ppt/notesSlides/notesSlide3.xml" Id="Re067ccb6ecb743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f62f8624d4140" /><Relationship Type="http://schemas.openxmlformats.org/officeDocument/2006/relationships/notesSlide" Target="/ppt/notesSlides/notesSlide4.xml" Id="Reb2599096a7841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cb730bcc0d477b" /><Relationship Type="http://schemas.openxmlformats.org/officeDocument/2006/relationships/notesSlide" Target="/ppt/notesSlides/notesSlide5.xml" Id="R8cc5e8935d4f46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ee66a78f3d4049" /><Relationship Type="http://schemas.openxmlformats.org/officeDocument/2006/relationships/notesSlide" Target="/ppt/notesSlides/notesSlide6.xml" Id="Ra5cd28bdbd1d49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e7758b468f49f5" /><Relationship Type="http://schemas.openxmlformats.org/officeDocument/2006/relationships/notesSlide" Target="/ppt/notesSlides/notesSlide7.xml" Id="R1b033f1eb1ce4e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733307be6418b" /><Relationship Type="http://schemas.openxmlformats.org/officeDocument/2006/relationships/notesSlide" Target="/ppt/notesSlides/notesSlide8.xml" Id="Rc9663057261241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660c8dd50c4e57" /><Relationship Type="http://schemas.openxmlformats.org/officeDocument/2006/relationships/notesSlide" Target="/ppt/notesSlides/notesSlide9.xml" Id="R9fa776127e854f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972f076a9f4fdd" /><Relationship Type="http://schemas.openxmlformats.org/officeDocument/2006/relationships/notesSlide" Target="/ppt/notesSlides/notesSlide10.xml" Id="R43d860a67f6040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8a67682f204ef1" /><Relationship Type="http://schemas.openxmlformats.org/officeDocument/2006/relationships/notesSlide" Target="/ppt/notesSlides/notesSlide11.xml" Id="R9e69c2dbf6ba4f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877101673e4303" /><Relationship Type="http://schemas.openxmlformats.org/officeDocument/2006/relationships/notesSlide" Target="/ppt/notesSlides/notesSlide12.xml" Id="Re85cfede9a3948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42dabab3e14b97" /><Relationship Type="http://schemas.openxmlformats.org/officeDocument/2006/relationships/notesSlide" Target="/ppt/notesSlides/notesSlide13.xml" Id="R0418a1e65fb643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ff521a3ee94d67" /><Relationship Type="http://schemas.openxmlformats.org/officeDocument/2006/relationships/notesSlide" Target="/ppt/notesSlides/notesSlide14.xml" Id="R79dcd27233b344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1e4f188cda4a0c" /><Relationship Type="http://schemas.openxmlformats.org/officeDocument/2006/relationships/notesSlide" Target="/ppt/notesSlides/notesSlide15.xml" Id="Rc771bec476ac44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dc34560eb34222" /><Relationship Type="http://schemas.openxmlformats.org/officeDocument/2006/relationships/notesSlide" Target="/ppt/notesSlides/notesSlide16.xml" Id="R6e3b2a3f40a541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e9254e8f2947ba" /><Relationship Type="http://schemas.openxmlformats.org/officeDocument/2006/relationships/notesSlide" Target="/ppt/notesSlides/notesSlide17.xml" Id="R39344250d29f42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0584632a0849f6" /><Relationship Type="http://schemas.openxmlformats.org/officeDocument/2006/relationships/notesSlide" Target="/ppt/notesSlides/notesSlide18.xml" Id="R3be130ee4b1649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892494150b406a" /><Relationship Type="http://schemas.openxmlformats.org/officeDocument/2006/relationships/notesSlide" Target="/ppt/notesSlides/notesSlide19.xml" Id="R138093a13ee843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9a023e965b45c1" /><Relationship Type="http://schemas.openxmlformats.org/officeDocument/2006/relationships/notesSlide" Target="/ppt/notesSlides/notesSlide20.xml" Id="R7f0af56681a34ee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6b1c64a288447a" /><Relationship Type="http://schemas.openxmlformats.org/officeDocument/2006/relationships/notesSlide" Target="/ppt/notesSlides/notesSlide21.xml" Id="Rf0082553d51f44c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6854aa69e74cbe" /><Relationship Type="http://schemas.openxmlformats.org/officeDocument/2006/relationships/notesSlide" Target="/ppt/notesSlides/notesSlide22.xml" Id="R7c4dda81d97649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6b819ce974d7d" /><Relationship Type="http://schemas.openxmlformats.org/officeDocument/2006/relationships/notesSlide" Target="/ppt/notesSlides/notesSlide23.xml" Id="R342da646fed7401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e676d163d2421e" /><Relationship Type="http://schemas.openxmlformats.org/officeDocument/2006/relationships/notesSlide" Target="/ppt/notesSlides/notesSlide24.xml" Id="R3b1be3623e2f458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77b27e6314ac4" /><Relationship Type="http://schemas.openxmlformats.org/officeDocument/2006/relationships/notesSlide" Target="/ppt/notesSlides/notesSlide25.xml" Id="Rd1a77b6c404e45b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02fc4529f54c0f" /><Relationship Type="http://schemas.openxmlformats.org/officeDocument/2006/relationships/notesSlide" Target="/ppt/notesSlides/notesSlide26.xml" Id="Rb81c6879009845c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9681ea95a3457c" /><Relationship Type="http://schemas.openxmlformats.org/officeDocument/2006/relationships/notesSlide" Target="/ppt/notesSlides/notesSlide27.xml" Id="R18d93db4580e4a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9037e4927d4b51" /><Relationship Type="http://schemas.openxmlformats.org/officeDocument/2006/relationships/notesSlide" Target="/ppt/notesSlides/notesSlide28.xml" Id="R350773575ce040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eef26b206c4379" /><Relationship Type="http://schemas.openxmlformats.org/officeDocument/2006/relationships/notesSlide" Target="/ppt/notesSlides/notesSlide29.xml" Id="Rbf79a7f524ea4b9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f2a70e06954913" /><Relationship Type="http://schemas.openxmlformats.org/officeDocument/2006/relationships/notesSlide" Target="/ppt/notesSlides/notesSlide30.xml" Id="R616b6f1a6f8b4ac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89099502854f71" /><Relationship Type="http://schemas.openxmlformats.org/officeDocument/2006/relationships/notesSlide" Target="/ppt/notesSlides/notesSlide31.xml" Id="Rd35ff4b6b36643b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bcf458940748b0" /><Relationship Type="http://schemas.openxmlformats.org/officeDocument/2006/relationships/notesSlide" Target="/ppt/notesSlides/notesSlide32.xml" Id="Rd9174da26927475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56dd9a3b4e417a" /><Relationship Type="http://schemas.openxmlformats.org/officeDocument/2006/relationships/notesSlide" Target="/ppt/notesSlides/notesSlide33.xml" Id="Re99b136dda61439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64a2aa4d7d4b29" /><Relationship Type="http://schemas.openxmlformats.org/officeDocument/2006/relationships/notesSlide" Target="/ppt/notesSlides/notesSlide34.xml" Id="Rbc75302b9d6c4db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ebf450a1dc41f5" /><Relationship Type="http://schemas.openxmlformats.org/officeDocument/2006/relationships/notesSlide" Target="/ppt/notesSlides/notesSlide35.xml" Id="R9fe61ea44636407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458a82ffbf48ba" /><Relationship Type="http://schemas.openxmlformats.org/officeDocument/2006/relationships/notesSlide" Target="/ppt/notesSlides/notesSlide36.xml" Id="R89c1789f1f824e0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dcfe7682af4290" /><Relationship Type="http://schemas.openxmlformats.org/officeDocument/2006/relationships/notesSlide" Target="/ppt/notesSlides/notesSlide37.xml" Id="R5eb7b7a041334c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1db791c17648cc" /><Relationship Type="http://schemas.openxmlformats.org/officeDocument/2006/relationships/notesSlide" Target="/ppt/notesSlides/notesSlide38.xml" Id="R734e7a1d9d6f406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4f39721a4a4095" /><Relationship Type="http://schemas.openxmlformats.org/officeDocument/2006/relationships/notesSlide" Target="/ppt/notesSlides/notesSlide39.xml" Id="R1f497e5fa09a4d4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ca858c3b94635" /><Relationship Type="http://schemas.openxmlformats.org/officeDocument/2006/relationships/notesSlide" Target="/ppt/notesSlides/notesSlide40.xml" Id="R1a7ced4525bd41e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f0586da93c4983" /><Relationship Type="http://schemas.openxmlformats.org/officeDocument/2006/relationships/notesSlide" Target="/ppt/notesSlides/notesSlide41.xml" Id="R8562d20f0dec41a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e369ab3ad4498d" /><Relationship Type="http://schemas.openxmlformats.org/officeDocument/2006/relationships/notesSlide" Target="/ppt/notesSlides/notesSlide42.xml" Id="R042c9ce0b8ee401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a9d96c966a4e0f" /><Relationship Type="http://schemas.openxmlformats.org/officeDocument/2006/relationships/notesSlide" Target="/ppt/notesSlides/notesSlide43.xml" Id="R5654a319f503460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6b3f6bcc0942ef" /><Relationship Type="http://schemas.openxmlformats.org/officeDocument/2006/relationships/notesSlide" Target="/ppt/notesSlides/notesSlide44.xml" Id="Re698269a67aa4f3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08adf6a7944253" /><Relationship Type="http://schemas.openxmlformats.org/officeDocument/2006/relationships/notesSlide" Target="/ppt/notesSlides/notesSlide45.xml" Id="Raf98cab90e8b458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b449e04f1c401d" /><Relationship Type="http://schemas.openxmlformats.org/officeDocument/2006/relationships/notesSlide" Target="/ppt/notesSlides/notesSlide46.xml" Id="Rde7a6f13657c48b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725fe6b36a4012" /><Relationship Type="http://schemas.openxmlformats.org/officeDocument/2006/relationships/notesSlide" Target="/ppt/notesSlides/notesSlide47.xml" Id="R2f249e1471a643b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5be81d85fc4097" /><Relationship Type="http://schemas.openxmlformats.org/officeDocument/2006/relationships/notesSlide" Target="/ppt/notesSlides/notesSlide48.xml" Id="Rc79119662169462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6b06c0d83c414c" /><Relationship Type="http://schemas.openxmlformats.org/officeDocument/2006/relationships/notesSlide" Target="/ppt/notesSlides/notesSlide49.xml" Id="R7fc272cd691348f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8f49d56f954b3c" /><Relationship Type="http://schemas.openxmlformats.org/officeDocument/2006/relationships/notesSlide" Target="/ppt/notesSlides/notesSlide50.xml" Id="Ra29aad85630e453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0d034980224d00" /><Relationship Type="http://schemas.openxmlformats.org/officeDocument/2006/relationships/notesSlide" Target="/ppt/notesSlides/notesSlide51.xml" Id="R6f4443505a57467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5116ae66ed447d" /><Relationship Type="http://schemas.openxmlformats.org/officeDocument/2006/relationships/notesSlide" Target="/ppt/notesSlides/notesSlide52.xml" Id="Rdc35268a5b514ce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cb0e1501524a25" /><Relationship Type="http://schemas.openxmlformats.org/officeDocument/2006/relationships/notesSlide" Target="/ppt/notesSlides/notesSlide53.xml" Id="Re3ff9aac34244af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05e247224049bb" /><Relationship Type="http://schemas.openxmlformats.org/officeDocument/2006/relationships/notesSlide" Target="/ppt/notesSlides/notesSlide54.xml" Id="R499bdd370eb8438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9e3f70f2e644d4" /><Relationship Type="http://schemas.openxmlformats.org/officeDocument/2006/relationships/notesSlide" Target="/ppt/notesSlides/notesSlide55.xml" Id="R65df91733fb246f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e82505130d41aa" /><Relationship Type="http://schemas.openxmlformats.org/officeDocument/2006/relationships/notesSlide" Target="/ppt/notesSlides/notesSlide56.xml" Id="R19a69993bdfb43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CB8255-B898-4B42-9537-D69C566D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F700C-D7BF-46A2-A178-26E26D4E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92A99-ED02-48BB-AFFF-F13AF93B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1385B-90FB-472D-8675-D056180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286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Chapter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2DC46-9DB3-456B-8414-C7C6035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企业知识与上下文工程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6D0D7-A922-4F4E-9FEB-B7D65488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676275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rPr>
              <a:t>承接诊断结果，把企业资料、业务状态、工具能力和风险边界变成AI可用的上下文系统。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C0304-571A-40F0-8D61-6C855A87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43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846CB-6731-445D-AC60-CEBB7C4B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763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知识资产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F467C-A9A2-4D5E-B93C-BE62C464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740C6-0ACF-4F66-AEA4-29A00E8D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0E6C8-B2F4-4324-9F70-CEF598B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6AF45-BD76-4F1D-84CD-D3E6E5A2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9DCEF-47AE-44CE-B2DF-84986713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91899-C3AD-44CD-8CBA-DF3AC1D1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CB275-6C7E-4A65-8555-C04EAD4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DC5D5-AF2E-42B0-A3C5-FE6000A6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005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0E852-B3B5-44C4-8E9E-D92C9EA5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E0BD9-CC46-4380-806F-C275BCFD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816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2A7E6-6F27-4E72-994C-63812D0B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4953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课程课本 + 逐页讲师稿 + 商务大字号PPT</a:t>
            </a:r>
          </a:p>
        </p:txBody>
      </p:sp>
    </p:spTree>
    <p:extLst>
      <p:ext uri="{BB962C8B-B14F-4D97-AF65-F5344CB8AC3E}">
        <p14:creationId xmlns:p14="http://schemas.microsoft.com/office/powerpoint/2010/main" val="9792981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183CD1-64E6-471A-9A63-1721CE09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3C537-377D-4DF4-9DA5-C0747D0B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043E5-F3FF-4E6A-9CC7-1E30B008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4EF0C-8A85-4389-9E1D-5030CE64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本章地图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68611-6514-4FD3-878E-1FF5D035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8课时学习路径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A497E-C973-48B6-898E-313B6347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本章不是单纯教知识库，而是训练FDE把企业知识做成可部署上下文。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2FF01-A952-469F-BA25-715C97E2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BA20F-6CB2-403A-9F1E-88A7F67C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C4479-E661-403F-8052-2DA42BF7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AB90F-8333-4D77-A2DB-6450DEE3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D894A-2C4C-4945-B7A8-8E2AD40B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A5BDB-9A49-41F7-89D8-0E590FAE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8A3F8-B0B4-4F74-B56F-F8EDB937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050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复盘与契约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EEDBD-2EA8-44F9-BFEC-B4947478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0D948-B55B-436F-A2A3-13EE0D47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0E02F-9121-4FD1-BA5F-73EF328A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FAA24-2D2E-4A5A-ABCD-F4DD8981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622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上下文心法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90651-6DDE-4C99-905E-A7744011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36904-CEE8-473B-932A-C3A4A675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BED52-0133-47A1-8E59-1B9E9F76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03185-A436-46DC-AE0E-D6F42688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知识盘点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6B11B-2867-4770-B637-259870BC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C2897-F0B4-4E02-B987-CDD1E8B2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AE7AC2-D173-4818-AA4B-B616750D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BFC3C-B420-42D1-9E78-CDDA5BFE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文档治理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3DB61C-987A-4540-9FDE-2E7F6DD5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F6B47-9DE6-4949-A9AE-C0942E3D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70154F-C9C1-44F4-A9F3-0047A001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67FF5-4119-4643-9408-EA3F2AE2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检索与长上下文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2EB409-A182-482A-BA88-11047CCD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C53A4C-B042-4BAC-9B6F-5ABAFD4E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AA2358-C780-4D90-8B22-61CB7D67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6FD92-643A-4FE0-A80F-83029CC4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Agent上下文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D7CF3A-B4BC-4482-98DA-5680B717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F5F133-9730-47BC-AE8D-85A37F6E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BF7623-EADF-4E84-B51F-B7A02686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D9CA68-53B7-4C6D-9B85-2E38CF9B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9D4059-5227-46A2-8C01-6226E7A2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91ABAF-D10C-40BF-AF62-011327A3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FD4D61-6206-4599-A9A1-926F13A0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48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657076-AC59-4D3F-9C10-80D0798D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054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验收工作坊</a:t>
            </a:r>
          </a:p>
        </p:txBody>
      </p:sp>
    </p:spTree>
    <p:extLst>
      <p:ext uri="{BB962C8B-B14F-4D97-AF65-F5344CB8AC3E}">
        <p14:creationId xmlns:p14="http://schemas.microsoft.com/office/powerpoint/2010/main" val="17736468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32A23D-568F-42AF-9E93-4CBF296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D940F-B169-4998-A700-C1D9FE5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6C1A0-E74A-416D-A812-AA1098D0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1F3A5-1B34-49DF-977C-2A61C3C5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承接第2章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42EF1-8304-422B-9D42-6552607B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从诊断简报到上下文工程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6FF5C-8D42-4891-8E1C-3CB71E4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第2章回答做什么，第3章回答AI可靠工作时必须知道什么。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B68C6-2150-4874-817A-E6573B9F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BA174-1160-4F7A-BE23-3B2A4AB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14964-5BB5-497A-B775-B158FFC9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CAE5B-B272-49CA-9CAD-88EAA12B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636DA-C996-4073-A56B-0449E7F0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9AE83-B1C1-4FBD-9535-02FD1563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7BB23-A633-455D-A2B2-991918BA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126B4-699A-4DD4-BC8E-71054586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流程节点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16DC2-6DC4-4B51-9AB4-66C8487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A99CC-62E9-44F3-B3D7-983DA260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AC052-C5FC-4A4B-88E6-6DB262F8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F76D6-B288-4D15-8DF9-F6174287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0615C-750B-4858-8FFF-4E64AE49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386F3-ADAE-47D6-B52D-48220446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EB07F3-C326-4D51-829F-CCAA982D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21F1B-9AE0-4CB6-88B2-159E1F0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64C1C-41D9-445D-A97C-9AE1ABC1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7182B-497F-4E47-AE85-6B5CB8EE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8CE827-89EC-4F33-9F54-AA9C499D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5D5C11-834D-4B86-A425-C277C232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评估指标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666BA-91C7-41C3-A2D9-FB51CE9C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B730FD-A0ED-4DD5-81E4-8672A416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FDE判断：是否有清晰输入、上下文、工具、输出和复盘指标。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21070208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FB7C70-9DD9-44D3-B52A-71C57C6A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2FF0A-435B-420E-859E-83403D88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B157A-F7AE-4034-9E7C-41562BBF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9CE2D-38F5-4CD8-90C7-0EAE6406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失败案例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29D7F-7398-4190-83E6-BB9CB1C8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为什么很多企业知识库上线后没人用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644A5-2962-4849-8C6D-9357A4CE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知识库失败通常不是模型失败，而是上下文没有Owner、没有结构、没有更新、没有评价。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1242A-4850-4597-936B-8220333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992FC-E254-4390-9B9C-EECD0EC3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63636-4A79-4B20-B4A2-1A6D558D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DC596-D0E3-433A-8887-9DC69189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6B4BC-CE94-45D5-9D0A-99451816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DB4EF-AFEB-404D-B05C-C9C46739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1B740-77D7-4DD8-A308-9D3C8C6C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资料堆进库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0569E-EE87-43CE-BE7F-64229B55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4BA04-5677-4275-B2C8-31BE075C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版本不一致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63843-B251-40EF-9CD5-F6AF2FF3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144DE-8C7B-4492-8BEC-989FA438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权限不清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C71CF-CAA4-4B64-8771-A695C109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4047A-9D61-48DC-8AC5-53F1DE2D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回答无引用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28308-5351-477C-AB4B-BA0A1BC0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53219-8342-4CBA-8CAD-32C48EB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业务不信任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9D4FA-9F19-4EAD-BF5B-827E25C8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E331E-E20D-4365-A41D-18D23C0C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无人维护</a:t>
            </a:r>
          </a:p>
        </p:txBody>
      </p:sp>
    </p:spTree>
    <p:extLst>
      <p:ext uri="{BB962C8B-B14F-4D97-AF65-F5344CB8AC3E}">
        <p14:creationId xmlns:p14="http://schemas.microsoft.com/office/powerpoint/2010/main" val="12478714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D53B29-DD9B-4E30-8DDD-AB88614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8336F-F441-46C5-967A-3864FF9C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B0EC3-AC38-4852-9CD0-46278D79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A821A-1C88-4922-8A2D-B93CF0A4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本章核心句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5B2EB-7692-4BFD-8D28-097231D9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上下文是企业AI的工作现场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2C5E7-9056-4416-89B8-39B56ACB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Prompt只是入口，真正决定可靠性的，是模型能看到什么、能调用什么、能记住什么、不能做什么。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62970-EA0E-407D-9BC6-2DB79F81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DC115-3042-488C-97DC-88D40F60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EDB9A-1C47-495C-BFC2-EFFFDCE3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10C55-C176-47EC-8E6D-F208C351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9829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37E16-5E09-40B2-A0E1-E43AD5B5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7810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368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DFE5C-C3DD-425D-B0F5-A0E318ED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78105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上下文是企业AI的工作现场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77437-3F02-4C2F-993F-2EE5AD9C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7239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9974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Prompt只是入口，真正决定可靠性的，是模型能看到什么、能调用什么、能记住什么、不能做什么。</a:t>
            </a:r>
          </a:p>
        </p:txBody>
      </p:sp>
    </p:spTree>
    <p:extLst>
      <p:ext uri="{BB962C8B-B14F-4D97-AF65-F5344CB8AC3E}">
        <p14:creationId xmlns:p14="http://schemas.microsoft.com/office/powerpoint/2010/main" val="16976639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CD7BCB-9B8B-40AE-8A2C-33754DA8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FD516-AC68-4FE0-9938-B1C41858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4E3D4-3557-4FC9-BAC2-B923A3C8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88429-AA45-4F2F-AB8F-BE5D3B59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上下文工程心法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7EA10-AB47-4B4F-B0C7-05BE5D2B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先建立判断框架，再进入知识库和工具实现。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62D53-79AA-4EB5-80D2-AD2908C5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11972-6F76-46E6-ACD4-EDB8B299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CDB00-CDCD-4DFA-915F-BCC4FC4E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E0949-6D21-446A-A810-CE30B340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可控性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99AEF-E67C-464C-8B94-10F52913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E8875-187D-430B-B271-FB38498E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可复盘</a:t>
            </a:r>
          </a:p>
        </p:txBody>
      </p:sp>
    </p:spTree>
    <p:extLst>
      <p:ext uri="{BB962C8B-B14F-4D97-AF65-F5344CB8AC3E}">
        <p14:creationId xmlns:p14="http://schemas.microsoft.com/office/powerpoint/2010/main" val="18739979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1DAC37-698A-4C65-BA84-CE7A50DD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150D6-1472-41C1-B8CE-F67C6E45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56D0A-C8C6-4C5D-968E-C8B2F202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D6203-468E-4C5C-96EF-AB4BC901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DC6-7564-4CC4-9D5E-D883DA91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上下文窗口不是仓库，而是工作记忆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5835B-D018-4A9F-BF1E-E99E9688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长上下文能让模型看到更多材料，但FDE要决定什么该放、怎么放、何时更新。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5DA76-C150-4071-B6F3-0ECBD13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918EA-30E7-476A-92DE-AF12E72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5A1DE-762F-45AD-98B5-B86EE102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上下文心法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38200-97AF-417B-A841-F3AD4575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BA81F-86A3-4A65-B397-B4763459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DC886-A9DB-4730-8EC5-31822951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4FCFA-D9EC-4BDF-89E3-586F4EE2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窗口：模型当次可见范围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5F774-D4C5-44A4-BAF2-29AF3A0D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FE33C-0CDC-43C4-8AD4-F892D689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91BC0-0A33-4D4F-B35B-29D136E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EA425-45FC-46C7-A97E-036DDDF8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任务：当前要完成的工作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936EF-92ED-408E-993E-6A2A8BA2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F5867-1C9B-4BBA-B37C-6F8EDDCA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C64F5-9C4F-4F3E-BD65-010AA7F2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6A2FF-FE3E-4E19-8B4F-6DAF20E8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状态：流程和用户位置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CF9B7-AC1F-40F3-A668-7D77AAB5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65B0D-8258-47BC-949D-D2155FCC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76E60-368E-4F62-9510-8A240604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4401C-BDF2-4980-A1EE-26C90508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证据：可引用材料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7088D-A9EF-462A-ABCC-52225F34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D96346-AD1C-4AA9-B72C-5268AD9A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8C083-7D8D-401C-9448-D4A42E52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8F8EF3-1461-4F19-829C-10021D2D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边界：允许与禁止</a:t>
            </a:r>
          </a:p>
        </p:txBody>
      </p:sp>
    </p:spTree>
    <p:extLst>
      <p:ext uri="{BB962C8B-B14F-4D97-AF65-F5344CB8AC3E}">
        <p14:creationId xmlns:p14="http://schemas.microsoft.com/office/powerpoint/2010/main" val="5418325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952A7-5E00-4092-BE9B-61B548E6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3C195-A5B8-480B-A6B6-1BA22C5C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026A4-DDE1-4510-8828-7D8B33E0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99A46-7354-45F1-BDAB-982ACDE8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E6A93-79A0-408C-A5EE-BF3CFB2A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更多上下文不等于更好结果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579D0-9F12-42C0-8A92-8546A086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资料越多，噪声、冲突、过期信息和权限风险也越多。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2B368-BAFB-4E66-89E7-1627AB99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122F1-93B9-48D9-987E-80779BD4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E3046-1668-4DA9-BCFE-C5FA5E2E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上下文心法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B7F20-155A-4E9D-9CE0-E6E4C1B6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A3BB3-3357-4AB9-9258-73837833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噪声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B7EC7-5C6B-474A-B0CE-B2028E9C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598F0-D110-4A60-AA67-E609778F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FCFDB-6519-47A7-967D-A2EB5D16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19FF1-FE49-4E6D-8CAD-F586AD6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过期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0CF24-5B96-4199-819F-76F3CEF9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298FB-6051-498B-AAFD-F9BCEC9A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越权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6C293-7FF9-4358-BAF7-B4E9EF4C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3552529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637968-8D61-421C-A97E-9D762D4D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39568-0E11-4D50-9F0B-FA5D7E7F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65516-A2BC-4878-AA62-AD64D36F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2A250-F66F-49BF-8EC6-4FCFC1F8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C1E20-6B3E-4958-AE59-A5B5FC1D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企业上下文六层模型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555E7-AEF9-4D87-94F4-E270E219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FDE要把上下文拆成指令、知识、数据、工具、记忆和评估六层。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A146E-C164-47C3-ABBB-C43054AB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1CA5E-B611-47B9-9933-1331357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E4C61-A166-4B48-9B1A-DA317118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上下文心法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5617A-F88D-4D90-B848-9B6C3793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2C52E-2D69-4710-844A-754B000F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指令：角色与规则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E2085-6776-43B7-AC17-94835C72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5B996-C09E-493F-8292-2E5B69D5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知识：制度与SOP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1ABB3-3507-4D03-96C0-FBA37053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D74BD-45C8-4955-B0E6-2DD289DD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数据：业务状态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FAA0E-6C41-4964-A302-A81590E7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465A6-B6C1-4358-A73C-374E20A8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工具：读写系统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AB1A0-A7EE-48F7-8C0F-4F383977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65D70-5A9F-4440-9E47-01696E79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记忆：长期偏好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FE4E3-AD65-44A2-B342-EB5E87B8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7B0F1-6C4C-4555-B81E-772A061E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评估：验收样例</a:t>
            </a:r>
          </a:p>
        </p:txBody>
      </p:sp>
    </p:spTree>
    <p:extLst>
      <p:ext uri="{BB962C8B-B14F-4D97-AF65-F5344CB8AC3E}">
        <p14:creationId xmlns:p14="http://schemas.microsoft.com/office/powerpoint/2010/main" val="8954685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83589A-B6C5-4B3F-B26D-F007500D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FF05E-1F14-4FE9-BAD2-C6C32A0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33CA9-9832-4FF2-A171-13B6F28F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DD443-ED3C-44B1-86C6-B78E6C05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B9700-E29E-4C7E-85D3-56DFBAC2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FDE上下文契约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703A9-41A4-4011-9A7C-467C663C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每个AI场景都要写清AI需要知道什么、从哪里知道、谁维护、何时失效。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EB554-643F-4F5B-8BD6-7AE74290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4D70B-EC0A-428D-9661-F02BCF7A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CE920-3182-44B8-84A6-9F627910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上下文心法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C0F46-B4D7-4531-BCE1-F3C88A6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F1047-D234-4093-BFA3-B7A74D56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87D58-2872-4E3F-8C30-7C565B1A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5715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102C2-909B-4096-89C5-333CDC87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CD0CB-3F94-4E74-AF02-8AD9A9C0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30E4A-4203-4D98-B7A6-B640A805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成功后看什么数，当前基线是多少？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8FE43-A581-448D-84F7-77C102C9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CC629-78B7-4312-B43A-343EACE5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使用对象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EA131-D617-4AA9-8FA4-9C5C4320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C3872-1726-415D-B704-7D7756B9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61A8D-99D6-41E9-8A02-1477C3E2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6B92B-6FA0-49A5-9C25-F49A63BB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719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C4C54-8F58-41EB-8E6A-1581562F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16EF2-F8DE-46C0-97CD-F309367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767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FB5EC-3673-47C1-AA49-DD34BBB5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3FCA6-8828-4DDD-9BD1-A5B0E49D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5EA96-5B35-4AA6-B76F-9150B0DE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9DF1CC-B1FC-4ABA-9708-A22A21FE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需要读写哪些系统？权限由谁批准？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49D1D5-AFC9-46DA-A74D-0B327BAF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1A84D8-C651-423F-8C15-628700AA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禁止动作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F2848A-8433-4812-B0CC-E5F8A4C7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E72F9A-6E76-44CC-BC84-025F25B7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25D4B-24A2-4208-BAE6-A24E7C30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626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评估样例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623AAE-45D8-4C0E-8B84-A6B9908A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</p:spTree>
    <p:extLst>
      <p:ext uri="{BB962C8B-B14F-4D97-AF65-F5344CB8AC3E}">
        <p14:creationId xmlns:p14="http://schemas.microsoft.com/office/powerpoint/2010/main" val="17169939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229351-3A19-46C7-B898-A03F2054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FF0FD-B852-474D-952A-6F5C0945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62AC1-6D8A-469E-ABC6-207B546F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635FF-A65B-4215-AEB5-EF7484F4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42963-BE29-4B9B-81BC-245795C2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把一个模糊AI助手改写成上下文契约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3C241-1881-4A24-A8CD-0D9D2758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学员必须把抽象助手拆成可验证的上下文字段。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7A22B-0B09-4659-BA91-1E6CB30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A6474-BF9F-4E29-B7B6-6E8FA151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98E1E-5AC0-4B81-9F68-2DCF06FB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上下文心法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CC895-A68A-4564-BB67-990D31BD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593FF-C0CC-4820-A6F3-A21AFD6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7CE71-DC79-45F9-9886-7E490F8A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DDE28-7023-4015-9260-584C7869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CDB0A-0C19-4BBC-9212-77D9F0C8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6FA12-FB79-44A3-93B5-C0E5A58A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703EE-589D-438E-96EB-14F643A2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选一个第2章场景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03700-B7F2-48B8-BAB9-15060AFB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50151-4110-4E03-B7B6-5E1B77A2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52744-7A79-41DE-A43B-342F07A7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列出AI必须知道的事实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65335-DE61-4F30-ACFA-08B2084F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0863B-2F25-44E6-8B92-88AB41B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C60CD-B26D-47F9-BA2B-9ED0C547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标注来源和Owner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8C65D-CA64-47C3-9886-832180FC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8E9E6-6CAA-48E1-99BF-82A24205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A3E9A-F4D9-45FC-9695-AFB0D7B2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定义禁止回答和转人工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888AC-7BB4-4AB1-9303-D1958811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FE63BA-ADB7-4490-B5B6-E5B0F27D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3F851-2BF7-4507-8AE5-4A5B5956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写3条测试问题</a:t>
            </a:r>
          </a:p>
        </p:txBody>
      </p:sp>
    </p:spTree>
    <p:extLst>
      <p:ext uri="{BB962C8B-B14F-4D97-AF65-F5344CB8AC3E}">
        <p14:creationId xmlns:p14="http://schemas.microsoft.com/office/powerpoint/2010/main" val="9130193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2CD62-9A73-45B2-9B01-B9B691B6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ACFAE-F217-4873-AD5C-CC0F3E8E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1C080-CBF8-49F7-AF91-6BFB850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8B55E-E8C1-4927-9717-5E42E247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企业知识资产盘点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09C16-200F-4B11-9EBB-D539D4E1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先知道企业有什么知识，再谈模型如何使用知识。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BEA4A-0800-4679-95AB-6A5ECD3B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2E2EB-6881-4031-81CC-1D79C5EC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显性知识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134DF-3705-4DDA-B08F-656B80DB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646AE-9C36-4A3F-89E1-9B43EEB4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隐性知识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A09E5-5CB2-4373-8670-3ABB9FD4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0B534-ECAA-4EEE-BCE3-C9E7B439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状态数据</a:t>
            </a:r>
          </a:p>
        </p:txBody>
      </p:sp>
    </p:spTree>
    <p:extLst>
      <p:ext uri="{BB962C8B-B14F-4D97-AF65-F5344CB8AC3E}">
        <p14:creationId xmlns:p14="http://schemas.microsoft.com/office/powerpoint/2010/main" val="67101182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6021B-FD1E-4AF7-ADE4-9912B695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804E8-122F-4784-AC06-B0FEF240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CA3DB-EBB1-4A49-B1CC-A58A3EE9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03168-1F3B-42CB-A65F-E2F4F47C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2765E-5D98-40A4-AE4B-79D81587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企业知识的六种来源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2DBBB-196C-4A1E-ACD2-F4DCE99F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知识不只在文档里，也在人、系统、流程和历史样例里。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633E1-42F9-402E-8E99-280427F3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CB570-F783-4808-88E7-5D25FC49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44E1F-0D8A-4157-9836-65E21AA9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知识盘点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1466C-B974-45E0-B39E-945D9C8D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82518-83DA-48B3-935A-AA65085C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26D0E-C596-444D-A5FF-8DC94FED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制度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26D5C-5389-42B6-A3FE-2A884677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092BC-9E0D-4AC4-BB65-F9F88344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3ACAC-DE64-4B6D-8F49-098F9EB0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9B17C-0214-460F-853E-621DD517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7CC62-34AA-42A3-AB23-B26F13F8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操作步骤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F635F-F6DF-416C-BB77-A76D46E1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C19E6-46A5-4D35-B288-D0BE7D4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E3695-179D-465F-BF33-3A742363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610DA-D421-4E19-8383-795EFD7F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真实样例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64E49-4CC0-4BD3-82B0-CB5E9E3C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5FF8C-8B7E-452D-A83A-C8B9DC03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863615-D761-4856-B4F1-AA7A14C7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5D30C1-6063-4C93-A1C9-655EF508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441B45-8F48-4A9C-B33D-022BE2FD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96E39-FA13-4568-A29A-B0276FF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FCA606-2E8C-4EAB-ADFA-C21B0ECB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话术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2C7952-B232-4A43-8042-9D04E2A7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表达方式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053F4E-96ED-470C-8C81-47E4D5D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072A4B-F902-4DDF-9BCE-CD02F71A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A4895F-D0F8-4222-ABCE-3C4F4694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暗知识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218612-553A-422C-932E-A94AE562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经验判断</a:t>
            </a:r>
          </a:p>
        </p:txBody>
      </p:sp>
    </p:spTree>
    <p:extLst>
      <p:ext uri="{BB962C8B-B14F-4D97-AF65-F5344CB8AC3E}">
        <p14:creationId xmlns:p14="http://schemas.microsoft.com/office/powerpoint/2010/main" val="7982365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292B2-58EF-4A50-9F11-D2B1A6E9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3C00D-BDA9-44D6-84A2-5B0EE5C1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53D60-B057-4386-A4AA-30969122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DD141-726A-4622-A02E-6BC8C75E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2432F-939E-4E7E-9278-D360385E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每份知识都必须有Owner和生命周期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B9C0F-8B99-4014-A550-05D50B2C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没有Owner的知识，会在上线后快速过期。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898D1-015E-485E-AAB4-B544635A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920E8-7CE3-442F-85AA-AF73E1C7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77415-C717-4AA4-8159-E1E1C9DE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知识盘点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22194-4079-47E1-A91F-85E41AFC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48C00-9827-4F5B-ABBF-ADA50CF9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7FF72-6FE9-479D-A162-B860CFFA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6203B-F514-4337-BAB9-4ACFBFAE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谁批准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D322A-EC17-4D56-88F4-77BC7890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ECDE7-F992-4122-B28E-86E83DB6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4153B-A9BA-4358-BB0A-853BADFE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9BDBB-651D-4995-809E-5CD0451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谁维护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FF77A-2DDB-4517-8D10-1A2B0D47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AB58E-7BC7-4E23-96CA-A58E378D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F6F72-31ED-4BE9-823F-85769675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B7642-32B9-4FAA-ADC8-FD405D1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多久更新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D7487-ADA3-413C-B992-8B0FB4F3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E694F-53C2-4325-96EC-FFF870AE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881902-4AA6-4DE6-9E9D-4BD99B59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DF640-5F92-4ED0-8E47-C82CEC68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如何废止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505785-3353-492A-BD24-4C9F5AF7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D6AFC1-0BA5-408C-88FA-E387C78B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0AEC79-29E2-4E6D-98C6-12952BC2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610606-9503-45A5-8ABF-E1F3B58D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如何通知</a:t>
            </a:r>
          </a:p>
        </p:txBody>
      </p:sp>
    </p:spTree>
    <p:extLst>
      <p:ext uri="{BB962C8B-B14F-4D97-AF65-F5344CB8AC3E}">
        <p14:creationId xmlns:p14="http://schemas.microsoft.com/office/powerpoint/2010/main" val="43043229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23F8D-7820-40A3-B8FE-0A34782F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6A1C7-E6EB-4150-BDCF-4FA05E2E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3FB6E-E4FB-4C34-A7CC-1FC7C67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CAA3B-4593-4A97-8A0F-901DD05B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A2893-67CF-4E05-B19E-BCCE8983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权限不是上线后再补的事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6D47A-3591-4F31-8BD5-9076BA2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FDE要在盘点阶段就区分公开、部门、岗位、客户、敏感和禁止使用知识。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F0FDC-6086-4695-AC72-B1CB3D0C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D9878-2AFA-403F-B576-5C5D05BA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6B6D5-5517-4146-8017-CDBF105D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知识盘点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76662-35D6-474A-8B57-C438176D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E6F26-1FE1-4ECC-BA91-F1B51E44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AC648-FB38-47FC-996D-7C255C71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9DA22-BC9F-421E-AE43-25EE0202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BE8B4-4D02-4896-AA18-78C676FF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B0385-CA7E-49B8-8D0E-3573D788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岗位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E0856-F1A1-4D6D-B076-3AA063B7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BE8EB-40C9-4834-AC93-4D88EDE4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敏感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F481C-8DDB-4D03-9982-32B0B7AD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5062137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FBB04-7010-4A0A-9123-9D8866D3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58570-A20E-40B1-B4F6-1B7883AB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FF0A6-FB3F-40B1-8BE8-F499CEAC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38DB2-742F-4853-A2C9-505CECF1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追问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90E59-42C8-40FD-A07C-03A78423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知识盘点的关键追问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C2A34-ABD8-4080-B932-E36CA62E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把“资料有”追问成位置、格式、版本、Owner、权限和使用场景。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CCB89-2063-4C48-9C3E-E678784C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9FCCE-7756-43A5-9089-6F332EE8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442EC-E718-4E52-90CB-213AC407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知识盘点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B731B-8C5B-4ECD-9D53-C686EA77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AF6C6-0CE3-4675-A3F3-EB95CC2F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D5214-C951-4A75-8536-38A45A00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C705B-9493-4925-9358-77A137B1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18680-08C8-43CE-8C4F-5D5B14E3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资料有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43610-C900-4715-9563-39B9A837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在哪里、哪个版本、谁维护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FB275-BBFA-4047-9E14-4F8C4D8E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F5649-03C3-4BEC-83A9-0AFA028F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制度清楚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4B6E0-53DA-417C-A56C-2478DA03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员工实际按哪版执行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5EC05-169B-4E54-B60D-A1245475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79D7A-8834-4001-BE6F-163DFC4F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案例很多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BEA17-F613-42C4-A14C-F892D574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有没有成功和失败样例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49E1F-D392-4C53-B74D-46B2F276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C7C46-61BD-4530-B577-C180560D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数据能导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DB3A0-5BFB-4506-8520-7EEA6319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字段含义和更新频率是什么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0BCC9-7B0D-427A-B658-039A9DFF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C4AD4-D462-4294-83B4-7147BFE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可以开放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01A280-8F57-4647-9D4C-9F8E5B27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谁审批、谁能看、是否留痕</a:t>
            </a:r>
          </a:p>
        </p:txBody>
      </p:sp>
    </p:spTree>
    <p:extLst>
      <p:ext uri="{BB962C8B-B14F-4D97-AF65-F5344CB8AC3E}">
        <p14:creationId xmlns:p14="http://schemas.microsoft.com/office/powerpoint/2010/main" val="7646741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7E46B-7B02-4159-A5D7-41FFDEFD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81F3D-4802-491B-81A6-F89FD7FB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204A9-7FE6-4DA0-A3BE-10B36D22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3D0B0-6F18-4A9D-A688-87BE08D0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暗知识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BC7B0-AFC0-4858-8983-DE35C0B5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隐性知识如何变成AI上下文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6F703-1DD8-471C-94F1-22EB4ADA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企业最值钱的知识往往在资深员工脑子里，FDE要把它变成可复用样例。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87C09-323C-4D44-866C-C4BB42EE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29E67-A92B-477E-90FE-D28947C4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521FF-7057-4E52-B9E7-CCBC58D7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知识盘点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A1C6A-9F67-4B1A-9231-4EB910E1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966DE-33DF-47BB-81C2-53702AD7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EDB9E-920A-44D1-923D-255AA800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A72B9-8C21-4A99-90B7-D690B4AA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判断规则说不清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F6F02-B770-4D6D-97C6-C8826006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E3AA6-309E-40FA-9277-5D6F1FDA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老员工凭经验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960A4-B6F9-4DB6-BAC4-7D736240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DB661-DBED-46C3-8981-40A760E9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异常处理靠问人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4E8F4-FC4B-43CD-9007-0E9BDEDC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39181-F43C-4FC9-B4D5-C1AEE4F9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沉淀成决策树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8BDFF-698F-4D73-9B26-EC3A8E94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02C6D-E1C3-4945-A281-BFE81F22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沉淀成问答对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5E154-E668-4B6C-BBE7-79B86C3E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FC81C-A8D2-477B-B8FC-885D855C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沉淀成边界样例</a:t>
            </a:r>
          </a:p>
        </p:txBody>
      </p:sp>
    </p:spTree>
    <p:extLst>
      <p:ext uri="{BB962C8B-B14F-4D97-AF65-F5344CB8AC3E}">
        <p14:creationId xmlns:p14="http://schemas.microsoft.com/office/powerpoint/2010/main" val="45496130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694D9-B852-4962-B37F-AD167080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86968-A4BC-4CBC-8009-41B9D877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1E981-70C5-4880-8095-9E95565A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CB96F-77C5-4134-8473-3F25419B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B1B2D-1DF9-4061-83D8-AA84C84B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完成企业知识资产盘点表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013DF-B2B7-46B5-AC23-77943F47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每组选择一个流程，盘点最少12份上下文材料。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B9EC1-3F0C-4B83-B2AC-4FE8997D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F6400-929E-46E8-BCB9-483F187D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A9E6F-7FF0-4963-97D7-7E54F424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知识盘点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7C664-E792-4876-8B6D-44DCA874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50837-A224-4404-B749-F0EAF58C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61369-53A9-4E49-AC03-52E5688E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20903-AEB8-4B48-A616-0680793F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45AFA-CB6E-4B9A-861C-6A9D4171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42D8B-18E5-4ED5-AC16-A1DD9F89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2BDFF-228C-445F-8F2F-78F5F2A3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列知识来源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25984-D80E-4875-BC84-5BFEC110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B1B0F-2257-4DC4-85EA-75366298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B2263-433D-46FF-ACE1-963C5D99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92827-71BF-4C59-8F45-456C8567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E2483-9F6D-4AD5-973F-0F7ABF81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E47C1-D04D-41B0-9D92-2F97188D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标权限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2D85A-8A4E-4F63-8545-C185D973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F2152-25A8-491F-847A-A92E930E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927D6-054F-40B0-AD2F-797CD136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标更新周期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DA8BE-0BF7-4439-BE17-796AE2D8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4791CB-8956-4F39-AAF8-0E78866C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CCC449-3C70-4190-A623-0FC7545C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标上线风险</a:t>
            </a:r>
          </a:p>
        </p:txBody>
      </p:sp>
    </p:spTree>
    <p:extLst>
      <p:ext uri="{BB962C8B-B14F-4D97-AF65-F5344CB8AC3E}">
        <p14:creationId xmlns:p14="http://schemas.microsoft.com/office/powerpoint/2010/main" val="190639194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394562-F333-437B-BAFD-8FF097A1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7F910-7D1F-4B08-9EED-4120FDF8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D1AAD-79F2-4DD6-BB8A-6317A8E8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E5019-DFA9-42AE-A390-E75A3B3E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文档治理与知识切片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31204-82FE-4518-AA27-BAF783F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把企业资料从“可阅读”整理成“可检索、可引用、可维护”。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26E90-CD38-4DF8-85E5-4CBE7934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65F3D-05C1-479C-B8DE-8423698D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86F15-AF8B-49B1-9861-29038672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0BD6E-3CC7-4E9D-A264-7CB66733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切片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C8597-4E8B-4408-93AC-FD17B78C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C5246-AFC9-42E6-B9FC-25D2823A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元数据</a:t>
            </a:r>
          </a:p>
        </p:txBody>
      </p:sp>
    </p:spTree>
    <p:extLst>
      <p:ext uri="{BB962C8B-B14F-4D97-AF65-F5344CB8AC3E}">
        <p14:creationId xmlns:p14="http://schemas.microsoft.com/office/powerpoint/2010/main" val="29031269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0940C-274D-47D3-A2B6-07E9819A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C9B48-4689-4D5E-BF1D-BAC1D893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5EB26-C662-4E50-A4A6-1A086806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2A6D2-C6DA-4E2A-A79F-E446CF88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28188-1C69-411E-A0FD-EEDC0AC5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源文档质量决定知识库上限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214F9-04B0-4CF7-8A8A-EC66CE44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坏资料进入知识库，会把模型训练成更快地给出坏答案。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4EBA2-CFD5-4CD9-8DD9-0B26C67D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12E82-986D-4264-A784-D7147DA5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08BDA-9A52-4653-A28D-8EFB210B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治理切片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2C778-DECD-4B2A-A2B1-ADD625A5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90217-E480-40B5-8C2F-BF4AE808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62721-E753-446D-9DB9-FF25086E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93639-E3F3-45B6-A393-9285CD9F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版本混乱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53DE0-A421-414C-8284-AEB8A73B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A91C1-514F-4FC2-BF0B-7907CAE9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CF5B4-323B-43D3-85B3-77258FD5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81ED5-6EC4-4B13-BD88-92A97544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标题不清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C9782-D818-473D-B643-824F0446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936BE-16B6-4467-8A55-4354FE3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47B20-730B-4D3F-B019-F1A89106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728CD-CA6C-49E7-8E0E-72E46903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表格扫描件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1B652-A007-4BB1-ACD9-1F1F761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57FA3-B3F7-47DA-BD63-E909DB1F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FCA30-2267-4CCC-925F-4FFC11A2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932CF-64C4-4CA8-9152-6B26CB51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规则冲突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08668F-997D-46D2-A711-15B7B886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ED2638-5FC7-401A-9914-A537A01F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F9D207-D446-4838-8AD8-B6695F9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A30F63-90D1-460D-A4A0-7E612C05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缺少适用范围</a:t>
            </a:r>
          </a:p>
        </p:txBody>
      </p:sp>
    </p:spTree>
    <p:extLst>
      <p:ext uri="{BB962C8B-B14F-4D97-AF65-F5344CB8AC3E}">
        <p14:creationId xmlns:p14="http://schemas.microsoft.com/office/powerpoint/2010/main" val="109051833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3B16D-B1DC-4A13-9DA2-8F47D2BF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33D82-BEAF-4C8E-B3A2-66774CBD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08815-1690-49E5-9855-4D8749EF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DFE28-12DD-44F1-9C50-498307D1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清洗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6D23E-5864-4A96-83CC-C7C1C444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干净源与脏源的差别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C8A23-FF72-4A44-B0F6-C403F3A5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清洗不是美化排版，而是消除冲突、补足上下文、标明适用范围。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10096-C9EE-4565-897F-CC2DD6F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22F8B-BC19-4F59-B001-DA875131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2B0F8-6A06-4B33-BDB8-C317BB6F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治理切片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FEB6A-B520-4A94-830D-DA87222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B4C56-5204-4FE4-B452-9ADED38D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8AD56-30A6-46B0-B157-E0C8888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7201F-8D52-43E9-834B-B097C4FA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脏源：多个版本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804DF-DD37-4B28-A112-A8FAD83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C6D8B-7552-4575-8085-74EEC991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脏源：无生效日期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F537A-5EA9-49AB-A223-90441FC5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EF284-4126-4FDE-8B12-E0BD85EF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脏源：图片表格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838E7-A927-4BF4-B40F-214264F9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0CF64-647F-4D27-BEA7-30D99F8A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干净：标题清晰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1EEB5-CB47-4E51-858D-32108D2D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96A5C-67BF-4A87-BF26-0D0B731E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干净：范围明确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59573-C913-408C-B71A-C2B90A95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864BC-F3F3-4DFB-8E3E-16189CBE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干净：引用稳定</a:t>
            </a:r>
          </a:p>
        </p:txBody>
      </p:sp>
    </p:spTree>
    <p:extLst>
      <p:ext uri="{BB962C8B-B14F-4D97-AF65-F5344CB8AC3E}">
        <p14:creationId xmlns:p14="http://schemas.microsoft.com/office/powerpoint/2010/main" val="27816461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1E87FC-DD44-4C9B-BFD2-668C6FA2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20E8E-2B60-4F4C-9820-1F3A4607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FC631-7BEB-4C8B-9C9A-9DEA38B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D8EEC-8AF2-4DF1-985D-DA73F205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切片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65EDC-2888-485F-A9BE-F36AFFF8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不要只按字数切片，要按业务意义切片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36AAA-84CC-4E62-8133-43E4C091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好的切片让模型一次拿到完整判断所需的上下文。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80734-F738-4286-BCD7-38A2CE8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3D311-C697-4443-ABDC-0FB86745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89EBF-8BEF-4665-BC76-BBD94DEB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治理切片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C846C-3128-48C7-A94E-2E13F56E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16FF-2443-42B6-BF04-555A3C89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按任务切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9CC33-6AAE-4FD0-A4D2-4A49DC5C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7CD8D-566D-443F-8D78-BF5B449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按规则切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D32A8-ECE2-47B4-A310-659AD227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5BE4F-0415-4079-8C30-292C66F3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按产品切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3E9E4-C6DE-4A38-AFA3-194899D8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B27A6-188E-4419-A11D-AEE8FE42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按角色切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2A9C8-DE6D-4491-9025-F413FF4A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CC25B-D0E6-4492-BC38-F3238DD3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按异常切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DA995-7583-4862-AF1E-5D94EF69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47696-90A9-45F6-BDD1-973CCFB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按版本切</a:t>
            </a:r>
          </a:p>
        </p:txBody>
      </p:sp>
    </p:spTree>
    <p:extLst>
      <p:ext uri="{BB962C8B-B14F-4D97-AF65-F5344CB8AC3E}">
        <p14:creationId xmlns:p14="http://schemas.microsoft.com/office/powerpoint/2010/main" val="123974558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395E72-1799-45D8-97B2-0975D31D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9CBEE-967B-46B3-A236-140ED965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78BDB-67D2-4CAB-8420-E303BB6E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2461C-B1FD-4AAE-B863-FA2C8680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元数据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35CFC-4A4F-4381-A5AB-5494996E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元数据让知识可治理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5666F-3534-4AB8-8220-9336A112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元数据决定检索、权限、更新、引用和审计能力。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2F340-28A2-4EF8-AEA6-AF569D08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75493-D88F-4E3E-8913-1CB6BC05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3DEC4-05D4-4E13-A1FB-BD12BB58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治理切片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D5FFC-09B2-4C51-90BD-1560CB92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9B975-9DFC-47DA-81E3-73EBE63C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EF208-9EFA-4099-8F3A-253CF302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5E481-C72E-429E-97ED-E8916BD4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文档/系统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A9E22-A612-44E3-8FC5-2EB2B38F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54830-4178-4A0F-AEA4-CFC6DADB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DAC84-DB47-414C-95B4-50BA99B1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24D3C-E601-4535-B600-D90E6917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责任人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721E0-41E9-47D9-AF31-5CD6C37E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6116B-A2E3-439B-8760-34D12B3C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1BCC1-1546-4E98-997D-13C5A368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CA174-BD05-4F90-94E0-3C46127E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生效日期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CFDAB-EF7B-4728-9D28-270E8441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C1E0E-B6AE-4B0C-8CBC-4635BE92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A159F0-A577-4BC6-A613-ED47D875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F2BEE-DE89-46DF-AD9A-D2E2B318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可见范围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4EAE2-56CA-4ACB-A56E-5465786B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BF5100-44AF-47E9-BB69-88EEACB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70EB7-DCDC-478E-9708-A56DF281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标签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BABA8-35E4-427D-80A6-7BD43F56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49B737-84D2-4D9C-A1C6-0FC503DC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E2199F-F523-4A4A-A12C-A91D8E5B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245D4C-B564-4A35-B5AB-DA2C168A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79F4B6-7816-474B-9253-BF02EE41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有效/废止</a:t>
            </a:r>
          </a:p>
        </p:txBody>
      </p:sp>
    </p:spTree>
    <p:extLst>
      <p:ext uri="{BB962C8B-B14F-4D97-AF65-F5344CB8AC3E}">
        <p14:creationId xmlns:p14="http://schemas.microsoft.com/office/powerpoint/2010/main" val="203472467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36951-56D6-4F43-93A4-3887B4E6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70FC9-42A1-4ECB-9F94-32C55FCE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79293-A932-4ED4-9F43-BA200B89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3E11D-1741-479B-9AD7-50D309FE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答案库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D5CA7-C807-4A89-BB36-F00D349B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把高频问答做成标准答案资产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E47FE-8E0E-4536-AE64-5A52AE2D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高频问题不只要答案，还要引用、边界、不可回答条件和升级路径。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92D9A-1990-4C7C-B0E5-7555E36D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636A5-0A83-4D06-9B62-E999CD09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84863-F22B-40C5-AE74-9431A4AF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治理切片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73DD4-75E2-4BF4-8212-FFBC17AF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4CE65-CB2A-4EB9-9FF0-94318079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04C06-BAF0-41F6-863D-9ABD2C3F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BB452-4A5B-455B-8175-ED336A1C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5B6E0-2945-4DCD-8395-0C6F68D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F8A1F-6B97-4CA9-BE23-6C9DC49F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83940-2939-42A0-8F0C-583EF237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10CB6-95C5-4A83-AC33-B5CF1D40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标准答案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04E3D-0AB6-4DFA-B6AF-192B7B36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5EAE3-9C1F-47DB-BBEB-E50A9020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37620-BA5C-4E80-A503-9089BFCD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F612E-EEE4-43E6-8DC3-9656C584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C14E7-84DF-4934-AAA1-15319E0F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0926A8-3D34-47C3-B659-FF687E05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3ACF0-8580-4587-AB8D-2C6E4C23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6AA52-2781-4AB8-A533-BD116CA3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17A55-E528-4798-8097-1EEE305F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E7157B-5F0C-4744-B3D0-076C2482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A60166-7FC7-4A3C-BABD-6157749C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9FF0C8-2D01-49E1-AF0A-C7176232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转人工条件</a:t>
            </a:r>
          </a:p>
        </p:txBody>
      </p:sp>
    </p:spTree>
    <p:extLst>
      <p:ext uri="{BB962C8B-B14F-4D97-AF65-F5344CB8AC3E}">
        <p14:creationId xmlns:p14="http://schemas.microsoft.com/office/powerpoint/2010/main" val="33877383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FB81BB-9CA6-42D3-AD5F-AE6F84C8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76F41-B940-419B-B77E-803F8A2C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DD592-EE8D-4E7A-B8B8-19E008D3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17F5B-D2D0-4DDC-B804-5076C2B7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FFFE6-7B7C-4906-9277-2FA9CFD0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不会回答也是一种能力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10FB1-D897-40C3-A4CB-43E5AC29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企业AI必须知道哪些问题不能回答、不能编、不能跨权限回答。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4A23F-E66F-437D-AE5A-7A392F19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5C296-D32A-473A-83F2-0DF812FB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B481D-521F-42F1-9EE2-1830F3A5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治理切片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A7DA7-0A24-41EB-BDF3-ED646297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F2531-C48C-493B-A78E-63966FBD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不知道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555F4-AB41-4CF9-A7CB-63793858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9BE8D-10AB-4680-8F3A-C8B1D7CE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无权限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C3389-B9B4-4404-A6DE-4BE44FBF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53F98-C04C-4424-9BD5-5FB518B1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过期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114A3-4F16-430A-BDB9-54F3FB5A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493A5-73FC-4C1B-964B-99C82168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4D169-3B7A-47D2-B40A-C8E7AA3C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00733661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AEA42-8E47-46FD-83A0-30FAB4D4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8B758-2F19-4A37-B375-7DC71F86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A56F2-0EFB-4CC1-BD77-375E0954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AB353-6020-48EC-B372-7C7BB366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更新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3D93F-EA24-4F5B-BB60-7C81B32E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知识更新流程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5F671-3E2B-4DFF-8D4F-68BF4A67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上线后最重要的不是首版知识库，而是更新机制。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5C8F1-BF2F-4B82-B246-44C2FB89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A0A41-D9EF-40BF-A92E-392494B0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BE9FD-A790-491E-B137-F7BE15B7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治理切片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F0D7A-4085-4AED-80ED-4B920F76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8B99A-460E-40B5-B83D-0E4D67EA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发现问题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72B5A-7384-482A-B37D-E667967B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6CA83-DACB-4B1B-B632-2438F94B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ED36F-37CE-4B01-B45E-AAFBC012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提交变更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FB686-735E-43FD-B1FD-0461660F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06A62-8ED6-4006-B7BA-56909AF1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F1BC9-B83A-4636-89FF-33E15740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Owner审核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E7DA7-4534-4D08-8A40-A0980E97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A4242-4183-453F-ADB2-328189A8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48549-250C-4F84-9EDD-714550E0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更新索引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6B7C7-EE2E-4273-8B1F-808BBCDE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2301A-1C05-4070-A651-C6754E2E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C2E62-5F85-4A24-A6FA-A798BE67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D3483-6507-480E-927B-81CBA1F3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54EF4-DE0B-4E0A-9F67-0D087DF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5833F1-3545-4F42-B643-8E4F00F4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发布留痕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4B7FF8-2055-4FF0-84AA-20921650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2A372C-58EF-4641-B7D2-28CA7C28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FDE判断：是否有清晰输入、上下文、工具、输出和复盘指标。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19353197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862C6E-3F65-4379-B073-BCD90374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5C129-C5C3-48C0-853D-5CB421CF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19FC2-4D2F-4AB0-91BD-9609F1FA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48414-C5B6-4B51-BCED-E82CAD8F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6452B-3DBE-46CE-A9B6-79A97CA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把一份政策文档改造成知识资产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732B0-8CFE-43FF-8218-47DF8D63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学员要把原始文档拆成可检索切片、元数据和标准问答。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FC366-9CF1-43C5-9C29-ADA3482D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2BE8E-D312-48DF-9AAC-974D6DAF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0B580-2C95-4BDF-AFCF-4C0E892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治理切片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957E9-1413-4EFB-95F5-A52E5D5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9A967-8190-40EF-A693-F8E5B054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E62A1-61C9-4B0A-8AAD-FC60B5C5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4ECBB-8E38-4475-8104-8396AA87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E620F-9270-43FD-9E94-C2D53BBF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F6826-4189-4065-935A-9A8E2D55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37517-B6A8-4469-BB61-AD03D03F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清理版本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2FB18-A766-414C-B7F9-0301F928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6CE94-4FCA-46D1-8815-C2FA6279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75502-323F-46A1-8692-E5B6257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定义切片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80D50-DC57-466F-AB61-6D0B998D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9DFC7-4EA2-4FAB-92D0-D904E49A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F1193-7BA6-4D0F-B8A9-20750EC7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补元数据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59AB6-3F94-47A4-822E-F9BA37DA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44667-9C91-4755-A42F-0AC00F5F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50C55-88E7-4CD1-8765-9F34548E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写标准问答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11B13-2218-4806-AA44-66579495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4BE73-E244-4B58-A99C-4E502694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7EB1D-D118-4909-9E88-272C273D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设计不可回答</a:t>
            </a:r>
          </a:p>
        </p:txBody>
      </p:sp>
    </p:spTree>
    <p:extLst>
      <p:ext uri="{BB962C8B-B14F-4D97-AF65-F5344CB8AC3E}">
        <p14:creationId xmlns:p14="http://schemas.microsoft.com/office/powerpoint/2010/main" val="56971294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E95F2F-3C84-4E5A-BDBD-79D65E35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1EC77-DEC8-4FB1-A7B7-EB8FF36D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99244-B704-46E1-A1EB-EBAE84CA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03005-295A-4C14-B6C1-F859943D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检索增强与长上下文策略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7A1A9-3995-4A05-A6D0-3F13D026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Claude长上下文、OpenAI文件检索、腾讯知识库，本质都是上下文供给策略。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380F6-C75D-47E8-B424-80B150E6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14F8F-08E6-453C-9230-2C296A36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96CD9-B03D-47E1-B100-0DE996A7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5ED1A-E1B1-4BA0-AE3F-C5B12223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932C8-48DF-496B-87B0-4F244F00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F1B0C-0005-4239-8438-6499E70E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</p:spTree>
    <p:extLst>
      <p:ext uri="{BB962C8B-B14F-4D97-AF65-F5344CB8AC3E}">
        <p14:creationId xmlns:p14="http://schemas.microsoft.com/office/powerpoint/2010/main" val="189087710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FFE969-7BBE-456B-B1FF-D9CA8A77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06DA0-3669-4A04-8C2F-4AC7CA35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815CE-AA90-4C54-A602-6F617D41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4A1F1-8306-461C-9E22-5394EB66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取舍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00BC2-49D6-4D76-8002-B5EC5EE2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RAG与长上下文如何取舍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288DA-3FC8-44E0-877D-44A51BD7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不是二选一，而是按任务、材料规模、更新频率和引用要求组合。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88E6C-2C35-4603-8EC4-38E2BD7D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1CC6F-FDB1-4353-AB53-D092D9F8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D0A1B-03D6-4CA5-B3AF-FF492B6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检索长上下文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BA67E-6B60-4B68-AF84-0D7D0E74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D6E7E-4D72-421C-896C-92F292C4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小材料：直接放上下文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E3046-865A-4FEA-B386-D1B9DB3C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D8843-89C4-473D-8AB1-317AD7BF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大资料：检索增强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73961-794A-41E0-B743-DA824D3D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B8933-685A-49CF-948F-DD856BF9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高风险：必须引用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F0D7E-C410-4747-8DAF-9679D509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3ED18-C2B1-40CC-9110-2B9ED881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高频任务：缓存模板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DAF8D-97E8-40AE-898C-DDACF7E9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28031-26E0-48D4-A649-A7493764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动态数据：工具查询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0557F-719C-4AC6-B338-41066541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CEDF5-6C2A-45E4-A0AC-7F4E68E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长期协作：记忆</a:t>
            </a:r>
          </a:p>
        </p:txBody>
      </p:sp>
    </p:spTree>
    <p:extLst>
      <p:ext uri="{BB962C8B-B14F-4D97-AF65-F5344CB8AC3E}">
        <p14:creationId xmlns:p14="http://schemas.microsoft.com/office/powerpoint/2010/main" val="168721546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A8162-11A2-4B9E-A7D5-FD5EBCB2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9AFB2-E3B5-4089-8CD3-8D1BC605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941CC-441D-4607-B98C-2B83F54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6D5AE-54F0-45AD-A505-AFB8565F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00B8A-69DB-4AC4-9C69-7CAAAFB3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Claude长上下文适合复杂材料阅读与整合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B0B8F-92C4-4810-B6CB-A7ECAEB5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长上下文适合一次性读全材料，但仍要防止信息冲突和任务漂移。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5BFFE-F2E1-4503-8311-92643B37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3273C-349D-4015-9BA2-81E8EC6B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6019F-9CFC-4BED-BCC6-EB50C47D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检索长上下文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5B584-2A9E-4996-BBEE-E9F5BEEE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08E15-F347-42AB-AA84-3ACD6529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2A2ED-8270-4F03-ABD8-E890AC7C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AEE3D-FBCD-4B09-8A03-72EE10C7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长文档审阅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88D29-C98A-4B23-A54E-FC13A4D5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DF101-52DE-40AE-B14A-D44C9E71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886FB-BF07-4FC4-9A71-BD5234C9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77B26-912E-420B-82B5-AC13CAF5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多材料对照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DFD65-DF41-4E12-A7EB-D9775104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FB7DE-A913-41FF-9355-5B364D1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31791-D8C6-40D4-8412-46BB65CC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34D07-182B-4437-BAEC-3ED566A2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合同/政策分析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00327-0997-4943-A1DA-610C7536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465D8-5B2C-4942-8E52-1098CB7A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85B87-39C4-4E92-80B6-CD8D5BE4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B9E00-E7E9-419F-A972-FACB5B86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项目材料综合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E407D-6A3A-496E-8CAE-CC15A689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B2DC1-632D-4076-9FC5-931A5F97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5E632-8449-4597-AD87-E72CF97F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8B117B-ACD5-40D4-BDC9-FF6A813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上下文裁剪</a:t>
            </a:r>
          </a:p>
        </p:txBody>
      </p:sp>
    </p:spTree>
    <p:extLst>
      <p:ext uri="{BB962C8B-B14F-4D97-AF65-F5344CB8AC3E}">
        <p14:creationId xmlns:p14="http://schemas.microsoft.com/office/powerpoint/2010/main" val="139717620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9BE8D3-5D54-4073-8798-9B59E358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CB435-A491-4DC3-8BE4-FB73EE32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F5F2A-622D-458F-8D33-C1B691C3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7AD76-EF68-4E0F-BE3A-E13E33A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向量检索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C75F5-F9FB-4693-9526-2F010576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向量检索的业务解释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A9989-8CF6-4774-A172-4775948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向量不是魔法，它只是帮助系统找到语义相关材料。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43729-51C2-4A29-B7A0-0D54EFAC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75DAA-062C-4583-9749-25F8850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34EAB-6B23-4F60-B7A8-4A616AFC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检索长上下文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FBE9F-73CE-45A1-B284-F0769EF8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9C0A0-6F44-4192-AFB9-8B67F50C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64F53-C1E3-4B20-B962-D0755AC0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切片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34B97-FF77-4E8D-8ABA-E81997EE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520E8-68E1-4B16-926C-0EB968F5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F4C42-F6ED-48B0-A63B-550C3C92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C4B31-A338-47B2-8258-21126ABE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Embedding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74983-9423-4177-9E52-32C06A4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2D400-C8EE-49E5-A63E-69204DF2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1723F-E927-4F4A-A949-9C447B3D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70D70-D1C2-480F-8C39-B55C58F0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召回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5743F-2AF8-4AE4-97D1-89DA24A3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A07AE-1436-407B-B057-0CBA6C9E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6F3F0-F0A6-4FA1-90CE-F9C302EC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6A22F-7AB5-4ED8-8D3F-2084BB42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重排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8613A-9533-45DC-B175-93ACC385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45F0AE-0843-4665-8D65-05477871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2BA6E-DD68-4109-A38A-C075107E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08069D-18FA-4BB2-9B4A-DEF16F4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F8D50-075E-4971-8BE1-BE20E1FD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C2E002-E10A-4D8B-9383-523C76D1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85E0E-94DA-4672-9868-52166907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3920D8-555B-48EB-AE06-844B78FF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回填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E99D9A-E6F1-4A07-A84E-32D465E8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294718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7E8452-EF86-4734-B55A-CC6C9840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9FAFF-226B-44D6-8EAB-6334C1C9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D9B15-B758-4534-8EC3-5F69A4A9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AEE46-633F-4D10-9CE3-AAAD2008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AA23B-0ACD-4A34-9E59-3D77CE6D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没有引用，企业就很难信任答案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2B435-AB9E-4DE8-AF9D-90409AB7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企业AI回答要能说明依据来自哪里，尤其在制度、产品、报价、合规场景。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56624-0FC9-4DFC-80A1-F86DDBFE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0A3EB-9AD4-4370-9FEB-3F53565C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34DEB-8B8D-4239-A978-A60E7750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检索长上下文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8DB8C-75FE-48C0-883F-87303710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BC8DA-CE1E-49A5-AF5A-2B4C3AAD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7E985-9ABB-4A80-8F4E-3B6B37E1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F4954-3377-483E-851B-76E5B1F6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引用文档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88AE4-3A06-4214-870C-49C8A541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6DDAE-7A68-4819-89BA-21C6BE45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FA8CB-2AAF-446B-82A2-09DC2821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158CE-50F3-4988-9E72-3F158ED9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引用段落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5EFF1-2ABA-49D6-AEDA-CA6BC19C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09455-050B-4A1A-8AC9-5C45A53B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98CC1-18D2-4FD3-8AB4-97FAAD3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C9A32-7720-42E3-A6E1-B69FF2DC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264F4C-A167-482C-BAC2-7826C494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DB63E-3DB4-428B-A672-24925378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E77F54-4EF9-4545-88BB-12EF7C58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12C7C-057B-44EA-9C69-75335C90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F0DBA5-2223-45F8-A218-20F6F662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2D44D-C1E5-4602-8E20-032ED73D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BE8B4-FA4E-452B-8925-5B16B7B6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2CB6B-70FB-425E-9030-2036F85E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引用权限</a:t>
            </a:r>
          </a:p>
        </p:txBody>
      </p:sp>
    </p:spTree>
    <p:extLst>
      <p:ext uri="{BB962C8B-B14F-4D97-AF65-F5344CB8AC3E}">
        <p14:creationId xmlns:p14="http://schemas.microsoft.com/office/powerpoint/2010/main" val="11687901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11B7BD-04F9-4276-A110-8EB858AE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1AECB-2320-47DF-8F22-E3D3117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CA542-E444-4346-9FF9-9AA6ECD9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54DAF-7BFB-45F8-9BDA-9AD405BA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FE017-B8F6-478B-84C4-B6ECD32A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Prompt缓存与成本控制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C3230-ACBE-4FE0-A86E-AA3E5706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高频稳定上下文适合缓存，动态任务上下文适合实时注入。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54F5A-2360-41B0-8C9D-F872A51B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8F1A-F45C-49CC-91EB-6321212F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D9087-88A3-4849-ADEA-8C4D0830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检索长上下文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AFF0A-21A5-4CCC-8A08-D4192B83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F4ABA-5500-4BAD-B40B-0F26BB2A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稳定指令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3584E-3576-4944-9CBB-17FDD0E0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可缓存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79461-E113-4C9D-AACC-6A8E389A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70A16-7DCF-4837-A2D2-BACAF6F1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制度材料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472D8-6D78-4554-B1B6-6E5005E3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可缓存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6AC7B-B743-497A-B134-724E9AE8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738A8-AE3F-4755-854B-DDF662EC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客户状态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95A08-9CCD-4819-8809-07FBD302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实时取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A01A2-D2A8-49A2-8944-8E57C34F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44DA4-3341-431B-AA02-236959A9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工具结果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05A5C-D9F0-41D2-9A2C-63840A3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实时取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05349-3D9A-4EF7-9BF1-488B2DA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64FFA-8F5B-4196-9929-541ACA28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临时任务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2D2BA-2AD6-46A8-8AA3-11D57DDE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不缓存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620DF3-D653-46A4-B2C9-7BDAC776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AD3A3-367B-4EDA-BE78-939D8F34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敏感数据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F952E7-5BB1-4A73-B438-EA1EE2C8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慎缓存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DA1D93-3064-4B83-AE7C-047FB646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7467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评分必须写证据：不能只填数字。</a:t>
            </a:r>
          </a:p>
        </p:txBody>
      </p:sp>
    </p:spTree>
    <p:extLst>
      <p:ext uri="{BB962C8B-B14F-4D97-AF65-F5344CB8AC3E}">
        <p14:creationId xmlns:p14="http://schemas.microsoft.com/office/powerpoint/2010/main" val="120452723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4ADB9F-2C14-45BF-82B3-F9814AC1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6C641-BFA8-4106-AC19-953369B5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97374-6336-40B7-B105-D73A9691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04549-1535-4436-B6B6-A4F1B3FA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失败模式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6CD21-ED8B-481D-B973-F02B089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上下文污染、上下文遗忘与上下文漂移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08F80-6FD5-4FF3-AC5D-BC3BC19E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FDE要能诊断模型错误是知识问题、检索问题、指令问题还是工具问题。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BF12D-C7B8-4D3D-81D3-51064901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ADD28-4AAE-4EB4-B741-0400CF6D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E6103-B356-4CA0-89AC-5FB57BC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检索长上下文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CBEA1-8D4C-450A-A34A-B7FF73D1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94475-2865-4575-8758-08CBEC8A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污染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C5247-6CF0-4342-9AAF-3226B50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58139-FC11-4EB8-B7D9-70351BDF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遗忘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B58D5-D632-429B-9CFC-1D6CD81C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FE151-83C4-48A5-9347-8F31F13A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漂移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32453-A8A9-4546-82B5-32823D0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72BF8-D703-440D-863E-DF5A7DF9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冲突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0F6D8-387A-4021-8EF8-402987E5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57137120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3E853-820D-4DB9-9956-A49BAB6C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47F4F-6108-47A3-B5ED-714B07D4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EE9EC-D5C4-4719-8D90-BFA9A7BE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E1445-85C3-4894-8751-C3AD6B83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84740-73F0-4FCB-8807-3CD320FE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检索系统的验收问题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9D074-D95C-459A-A315-7B281739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检索不是看能不能搜到，而是看能否稳定找到正确、最新、可引用材料。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01702-30C7-4252-953B-CC56E5A7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F67FF-88B4-4F5F-AE26-E6511A7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7B7E9-A803-48A3-AF8E-AB150246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检索长上下文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1DAE5-0A70-41E6-972E-9ADF8FF2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8CCCE-111F-4686-B59C-DC206DAD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6F78D-2754-4084-9FE6-90C7EBC7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43555-82C9-483C-8190-21BD18E0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E45EF-B6EC-4EC9-8278-38C562FC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召回率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12C11-D50C-479E-B6D0-E9AFB22A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关键问题能否找到答案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087D1-D7AD-49E8-9744-5A3D45BB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24321-F03F-4060-B5C1-3689A4D6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准确率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4A098-3ACB-4491-AF22-FCAA045A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答案是否来自正确材料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B31CA-72A3-4D47-9A2F-DBEE3D34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46743-CE33-4EFB-85DC-7312A473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新鲜度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DFB7F-92DF-4472-94ED-C01051FF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过期材料是否降权或废止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AE1E8-6D44-4896-8AC8-9C10A6FD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3D2D75-D043-4EB3-9436-990B1618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F5808-F576-48D4-971A-7C917621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越权材料是否不会出现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11738-28C1-4D78-A464-41BF8F0F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FA0468-B484-4502-BFD0-FD24094F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551B7-937F-4EEC-A452-F3892D3F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能否看到来源和版本</a:t>
            </a:r>
          </a:p>
        </p:txBody>
      </p:sp>
    </p:spTree>
    <p:extLst>
      <p:ext uri="{BB962C8B-B14F-4D97-AF65-F5344CB8AC3E}">
        <p14:creationId xmlns:p14="http://schemas.microsoft.com/office/powerpoint/2010/main" val="101684497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FAFB0B-FFCD-4227-8689-DF0EB42D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226CC-DD42-44FC-8330-E4E255F5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E9C79-D37E-4778-88DA-73AC77F3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C19B5-03A3-46A8-9E9A-08066E39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AF7C2-AE0A-4F1B-BF09-5104DCD0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设计一个RAG + 长上下文方案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2DE70-0764-4829-9581-1AB257E4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同一场景要写出哪些材料进库、哪些实时取、哪些放Prompt、哪些必须引用。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1D6CA-E354-4664-BE72-EB4AC06F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852BC-6249-48B8-AA94-452A342E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A229B-4A97-48C7-B6C8-C0709B1E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检索长上下文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E200A-AF6C-43A9-9CA9-711187E4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B5B6A-565C-48A4-990B-62FA3CAE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40172-0347-4C8B-9FE6-F3FCAC1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A4002-CED8-4B3C-865F-2C3DA42B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82B91-5633-4381-AD37-C37A596B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67A52-04F1-4E48-B450-64E43743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178EA-E05E-4D75-82B8-459EEC10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材料分层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CA8BC-E8AC-46CE-AE9B-6C0A5E92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9154A-697F-4593-866E-E9F74E05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51FE2-132D-4600-811B-1F5FCCA8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切片策略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B233C-4C1A-4090-B67B-D642FCB3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F158D-59AF-4FF5-88C0-B1052EC6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494A5-B416-4B90-A631-C7CF0F01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检索策略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21AC7-1359-4652-BD4D-977DC41C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29CE50-229F-4F62-8A0A-79686D45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3646CB-BC9F-4E28-AE74-F66BCFAA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引用策略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37B943-F549-4A64-9635-A6169FCE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D3B851-6622-4B40-9D10-0A5CE01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61018-81BC-4F86-BB8D-1AD8517C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失败兜底</a:t>
            </a:r>
          </a:p>
        </p:txBody>
      </p:sp>
    </p:spTree>
    <p:extLst>
      <p:ext uri="{BB962C8B-B14F-4D97-AF65-F5344CB8AC3E}">
        <p14:creationId xmlns:p14="http://schemas.microsoft.com/office/powerpoint/2010/main" val="91692526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0F7C18-C098-47EA-9AD2-A5587539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084D2-F9C5-4A0F-A173-5C75518F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80EDB-4ABA-4331-AEC2-33BC8909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1F599-4363-4FB4-AED1-A60EAB59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指令、工具与Agent上下文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BEE05-6B11-4F3A-A5BB-53A26C2A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知识让AI知道，工具让AI行动，指令和边界决定它如何行动。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22108-A6C0-47A9-9050-622358FC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0C498-88E7-461E-8CEF-C41A3CA3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C8AF9-6ABE-4C27-A9F6-24FBB054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5B4A8-F628-43CC-91A2-236C663B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B1571-1A8D-4163-AD79-0A278A90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0E0CF-9E6F-4A82-8B4E-B15F0B60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</p:spTree>
    <p:extLst>
      <p:ext uri="{BB962C8B-B14F-4D97-AF65-F5344CB8AC3E}">
        <p14:creationId xmlns:p14="http://schemas.microsoft.com/office/powerpoint/2010/main" val="150937283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B0CDF-7CF8-4905-97AF-0CFA8AC6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FCFB3-BF74-46AE-A476-C35B060B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BA9B3-75A5-4515-8130-D7B35585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FCC7E-4D5E-4FAB-8D43-72F8262C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指令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87818-5AAE-4F94-A269-A4F25403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系统指令不是一句角色扮演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41476-9C1B-4C39-8CB4-D25333E6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企业Agent的指令要包含角色、目标、流程、禁止事项、升级路径和输出格式。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AEED4-3DF3-4194-A3A7-298E77D3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447BB-F32C-4ECF-8EEC-73F299B7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5C0A6-B6CE-41E6-9F67-8CD74357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94231-57A8-4637-AF3B-99A6D9FF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B09C1-2E4E-4DC9-BB3D-2593D17F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A32F9-7336-4D76-AF7B-F5395E8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3BEEA-D531-44C8-A46C-74BD2BC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A6FA4-109B-453E-85D4-6653C690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B5D73-33A0-4122-B9A0-B4CAE113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B395D-3F28-4DD9-94AC-8C3BF749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5D1C0-76E3-4975-B99F-C53E3B34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EC86A-580C-45AA-A46C-8C077527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1D061-B000-4692-A424-ADC01BFF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39722-030C-4733-B617-8C22FFF8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83ADE-30D0-4A15-8BD6-0D8B5178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8B545-B7EA-40F0-9FFF-95E56AC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2D794C-5EE1-4F24-B2C4-0E215AFF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046E6-690A-4A52-9998-A6AE1CD6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B3BC7-5A41-4F6E-B0F8-C2B116F2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1EF9B-FCC9-476A-805D-A5D84ACA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C8DBB4-2C8B-4B3C-8BBF-C777036D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5FDFF-F82A-4316-864A-49071A0D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52DB3F-40B5-4586-A062-637EDA29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</p:spTree>
    <p:extLst>
      <p:ext uri="{BB962C8B-B14F-4D97-AF65-F5344CB8AC3E}">
        <p14:creationId xmlns:p14="http://schemas.microsoft.com/office/powerpoint/2010/main" val="149427313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FEE84-A809-4668-BDA2-F1D16C8A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A195B-2D83-4F72-B90F-782658DD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798C1-5516-46D8-A148-C96F2574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79A3A-F0D9-4C3A-A98E-02FB83EA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B4461-B250-46F3-94BA-3F62CCBE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任务上下文模板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AB982-6774-40B5-9E76-648FF4DC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每次任务都要注入用户、目标、输入、状态、限制、工具和验收标准。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65988-9CEB-4539-86CD-68049FD4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723B7-89EF-4F16-89F9-4836543B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5975F-A8D0-4F6E-B12F-816B2AE1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4F99B-9094-4633-A258-7E998339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AE10D-A1B2-4B27-8E81-F77F15FD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BFA21-9D3D-4425-A605-CA5DBE21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5715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94BBA-5829-415F-87DB-D5DA1586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C70E2-E40B-42F1-8F12-D063B00A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用户身份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F2337-16C3-4D31-BDDE-1ADF7CF8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9A3E9-C64E-4B85-A62D-0400A4BF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F3C5E-B401-4A72-A5AC-12FB4DF4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9945D-BBBC-4A5C-8DB3-1022BC06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15929-1C6A-4FF6-AFD6-468B081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5B1A6-9EB6-46C0-A50C-6F7F5C5B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B70A8-2D61-4B66-88D0-816AE059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719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99C02-CC2E-47AC-A59D-CB7EACCC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CA43C-0A6D-4BD2-AA9A-4303F8DC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767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E53C99-6F46-4A72-919A-57D78F85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9782A4-F9E7-4DEE-AA9C-112AADA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E73E21-701E-484A-812B-1D0026AA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限制条件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6517A3-2E4C-4561-9EF0-B3042E50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93B30-7DD7-40A0-9704-F0CADFF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0DE4E4-A5E6-4A3A-8AD2-7201135A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可用工具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D75F6C-6ED7-42AF-A7A4-9F48359D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需要读写哪些系统？权限由谁批准？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B01135-3B74-43C0-B366-23B65FC1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BA2FE4-4762-4FAD-ADAC-2A63CD69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626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验收标准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7AF8C-68A3-4BBE-A872-341E7AB7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</p:spTree>
    <p:extLst>
      <p:ext uri="{BB962C8B-B14F-4D97-AF65-F5344CB8AC3E}">
        <p14:creationId xmlns:p14="http://schemas.microsoft.com/office/powerpoint/2010/main" val="209810277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36F058-B9B6-428F-9537-A18C3C4A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3225F-EF47-43FA-B23D-5AF59FF6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09C27-6426-4E4B-A120-4C82BF6E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358FD-8564-4C9E-89C3-3886610A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2E457-A5A7-47CE-B83F-CDBBFC6C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工具上下文与函数边界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1C1E3-C2E7-4855-9159-67763307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工具不是越多越好，每个工具都要有触发条件、参数、权限和失败处理。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FD90B-DCC8-460B-8B23-5CE6E0C7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072BD-B8BF-44A7-8180-A9E6A208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5E499-771F-4F2F-AFD6-B40CC5B5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287F5-FEB1-4422-900F-86609D17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0D0E2-1327-4F81-8160-83557C78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39423-E630-4127-8C24-ED782C96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F7FDD-56E5-4345-A2DF-22ADCA7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CA9C8-7D03-4E55-AE24-B84B0AEE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参数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5A09D-E2A5-4A4E-8C99-42C5D372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52D23-3C1E-49FF-9177-C0FEBD1F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9ED19-D707-443C-9462-51B7B40E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D674F-44C1-4921-936B-3BA45DC1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BC31C-F8F5-4A78-A9D5-E67CE26B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83373-30E5-4173-BFB4-D8F5A6DE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2CC70-EE98-484E-BB6F-C4582753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93EB0-4469-490A-8CD8-0148B48B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97947-5687-40D8-B411-B72FC616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EC0C0-7B7E-42D4-B6A0-82A6E003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36D87-8F60-4966-9E95-1E9A0A1D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F9BB69-0456-494C-AD63-864992E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B9A68-D72F-49EC-A722-484F19C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6A5C9A-9240-4447-BD6E-1008FDA4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FDE判断：是否有清晰输入、上下文、工具、输出和复盘指标。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66930765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554C63-4DB6-4AFF-8873-8A415AFA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72CFC-35A1-4F78-8EE1-954A30E0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CD58E-4077-4366-842F-A10FAC1A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39162-FC0F-4BA0-8ECF-8907649D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1710C-214A-469D-B2FB-36F5EB86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从建议到执行，要按风险分级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34736-5FF0-496D-A817-EA2B8C33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不同风险等级决定AI是回答、生成草稿、提交审批还是自动执行。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BD394-BA34-416F-AE9C-41049037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084D2-96DB-4511-BE94-674770BE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DAC26-789C-421D-9FA3-E1174FF8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EB76D-79FC-434B-B63C-406EC97D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5AED7-430A-42DF-82D7-19D7F9B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C58D3-AE42-41EC-B5CB-C8904C32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E029F-342E-42D6-A831-3A0FFC71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FBFA3-3119-4DF7-8C03-A2A48150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9F3FF-87DE-44F2-AB78-3B9F35C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ABEDAC-92F3-4843-8E2F-5B8CA18C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9DF2C-7778-4F7C-99FC-744BCB1D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AD196-7F94-4B33-AA35-B80F6D47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54541031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E27EC3-20A0-476C-B607-692BE09C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FF7C0-534D-4F68-9006-F5E6DEED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59CF8-5AF9-42B9-8E90-A10F860B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AA56E-D67D-4028-8F9F-1ABB155F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94D76-ED2C-4853-8E0F-612909D9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企业AI记忆设计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DC253-86FE-48B3-A323-7F3F4FE1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记忆要有用途、边界、失效时间和删除机制。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ADE42-0CBD-4167-A759-245E3B43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67E39-B102-49A8-AF30-D746D9BA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D4D28-5CFA-4E5C-8ED0-B8128B16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41769-5264-400C-8CDD-FB9511F9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4F801-D759-469D-865C-9F1C5F79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个人偏好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ADF89-0C43-4DE2-8A83-32203E24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747BD-E5AC-471A-B9E7-288ADF5E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客户历史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D3130-9B7C-4B33-88E6-1EFA0F8F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A9BD9-0AFA-4348-BE24-A75C73AD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31122-55D5-4B3C-A3E7-1EE2E9F0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04D1E-BC7C-44D7-B31F-4052B4F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禁止记忆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F3985-1508-4E46-BFC0-8FEDADFB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222A4-8019-4491-9AF0-E0B13A58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失效周期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B2DC8-69D6-44E7-B05A-4FC36150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0D7EC-66A4-4C3D-B472-5B99430F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删除请求</a:t>
            </a:r>
          </a:p>
        </p:txBody>
      </p:sp>
    </p:spTree>
    <p:extLst>
      <p:ext uri="{BB962C8B-B14F-4D97-AF65-F5344CB8AC3E}">
        <p14:creationId xmlns:p14="http://schemas.microsoft.com/office/powerpoint/2010/main" val="1094338421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9C2B63-BC68-45B6-89A1-2470BF57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60364-F2E8-4558-9EBD-621F88E6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76F6A-4F99-4B0A-ADC0-2FB1B0A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E1D1C-0CA4-4EFD-ABC4-28B064A2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接管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F80EA-A0AB-417D-B574-5408DD77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人工接管是上下文系统的一部分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57232-DAC9-4B6C-A09D-561470D8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接管不是失败，而是让AI在高风险或低置信度时安全退出。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105A3-319B-4AFB-BCDD-3DB57228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938A-0513-4D7E-BAFD-8F4DACC0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A42A2-00C5-4D5D-95C2-3387E65E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E8E98-A278-4047-8334-455F2570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C11A6-C4ED-4C99-A4E9-7FF8D09D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A590C-E6D5-4AF6-8CD4-16D3CFC9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391AC-0771-43B6-98F7-04D374D0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何时接管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53955-2D52-4731-8A3C-6DA2E042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7C471-AA2F-45C0-950B-B713B5BA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C2507-F018-4804-AF36-5EB6680A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46DC0-58A3-44DC-A955-4EAD51AA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转给谁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3A782-600B-46E1-8ADE-22345678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86A17-EBF0-4E1F-A11A-A3C7E6AA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F30A0-2C08-4999-96B1-79B6E96B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41C33-5237-4FB3-B8FF-244DDC2A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带什么上下文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1D939-90CA-4BC5-BA25-A960EAC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198A6A-8C9F-4742-BF3B-84E0E2A4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71ECB-6EBC-42B8-A9F8-2AD2A310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16DDB7-9C82-4583-9A4A-393C141E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如何回写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9A62E-A8B8-47D7-833A-D0F68C8E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285DE-A1D3-4657-9CF9-789F1D1A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6CE7F2-F813-4B19-B843-B5E38269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6D554E-6ECE-4255-B4DB-1C775611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如何复盘</a:t>
            </a:r>
          </a:p>
        </p:txBody>
      </p:sp>
    </p:spTree>
    <p:extLst>
      <p:ext uri="{BB962C8B-B14F-4D97-AF65-F5344CB8AC3E}">
        <p14:creationId xmlns:p14="http://schemas.microsoft.com/office/powerpoint/2010/main" val="177887614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129D3-093A-4599-84D6-8D821869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2353C-824E-49C9-87E5-673439B4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C42E0-7346-4C13-9D71-466E0E50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BA54E-C7A9-4FC7-94DB-39C62946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6DC4-7AC2-4BAC-A710-22C91269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Claude / OpenAI / 腾讯的共同抽象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49158-B545-46CC-B7BB-252B3767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不同平台名称不同，但FDE设计语言应该统一。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92585-BC15-4CC1-B61E-1FEB622D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5B001-2B77-437B-AA97-F87CD57C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21AA3-4AEE-4412-8704-AEA6A4E5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6E899-7F30-40A2-B3F2-603FBE3A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92BF9-B24F-4FD6-8D1C-40EEECDE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B99CD-B83C-4AED-A9B4-EBB0BF75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87C19-ED30-430F-8C66-A3A87BB3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50F8A-563C-4133-BBD3-E807B1D1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Claude项目与长上下文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64BC4-51A5-4402-9DB3-8D2185CF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适合深阅读和复杂材料综合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9665C-DE96-478B-A0AE-ACE8F9EB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AC019-BE7F-427B-B141-6D948F92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OpenAI Responses/Agents/File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5B45B-BE59-4AF2-B532-F136B889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适合工具化Agent和文件检索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42E60-7E33-41E9-8D24-6794BCA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2D568-6294-49F3-A18D-4D606890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腾讯ADP/知识库/工作流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F2D73-2E85-4874-B94C-5E5FF05A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适合国内企业云与应用集成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81621-09D1-4757-B1E1-E4EF92B6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6CDF8-7BDA-4A4F-8252-D8A9ADB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国内模型生态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1C14E-1A20-469D-899B-A4817DC1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按知识、工具、权限、评估四件事抽象</a:t>
            </a:r>
          </a:p>
        </p:txBody>
      </p:sp>
    </p:spTree>
    <p:extLst>
      <p:ext uri="{BB962C8B-B14F-4D97-AF65-F5344CB8AC3E}">
        <p14:creationId xmlns:p14="http://schemas.microsoft.com/office/powerpoint/2010/main" val="1895529142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52D53-A8CA-4F80-AAE2-3BF57D76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14C64-89D2-45C6-A6EC-5702FD45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24774-6A0E-413C-BABC-86A5ADFF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07482-E22A-4159-BFDF-9025B01F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平台实践对照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5FDFC-FD4D-4814-8339-7B26B313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不依赖单一厂商，但能把FDE方法落到主流平台。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89431-DBE4-4310-9946-A47F67DE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CE66F-FD9A-4558-B0B1-A7672905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CFFEC-0D54-45C3-A8E5-389DE89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54D69-E29B-4038-B2FE-C69A7D6E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7B69E-5527-423C-B445-32673BA8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0B41C-9AF1-43BB-9826-E9423CFC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腾讯</a:t>
            </a:r>
          </a:p>
        </p:txBody>
      </p:sp>
    </p:spTree>
    <p:extLst>
      <p:ext uri="{BB962C8B-B14F-4D97-AF65-F5344CB8AC3E}">
        <p14:creationId xmlns:p14="http://schemas.microsoft.com/office/powerpoint/2010/main" val="20765034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CE596-22DB-4DD3-8248-74D01F0B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21513-D8B8-4356-9743-C8BFBD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D5334-0AD0-4206-A41E-A84E6741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9BC45-3A8E-428D-8FB8-037153B4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87A3E-F8DD-46A1-8F7D-62102768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Claude体系：长上下文、工具使用与提示缓存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5C1E8-D796-4696-9B1F-776F7370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Claude适合把复杂材料、长文档和多轮任务放入上下文进行深度处理。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93A96-44A8-4181-B175-55C4DB4C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80493-EAD9-42AD-9EF4-75E62BDC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AC10F-5164-4BAD-ABF9-EE9B2D22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8B905-72B4-4EE8-9300-DFF7B9C9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116E7-F7BE-483E-88C4-F1552467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025EA-5300-440C-8B0C-431D17A6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38702-9A61-489B-A40E-CC70CFCD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Context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50036-FFB8-47D4-BC28-4D377E1C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2B75D-0886-431F-8096-A218B998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7A3F8-89C0-40E6-9BA2-EC565B69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1C027-2090-43E4-9C5F-FBAA343C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Prompt caching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DB157-17D0-465A-AEAB-B3D07F51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253D6-C029-413A-8FC4-729F6F44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C4AC1-A584-4473-9BC4-C2E73C39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91504-40E3-4990-BC74-6F8C35A9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Tool 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26BF8-D2A3-43D5-B59C-B6189321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BB901-02CB-4A1A-B9CD-A9CD351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27384-1E78-425C-8EE9-EC043D05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D1F78-10AA-415A-928C-6AC2EA8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Projects/Memory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C96D1-29D1-441C-80AE-93470B59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177A9-E091-4D1A-A159-9316531F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CF23DE-12D8-47D3-8529-125F77E7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D9E29-B54B-418D-B167-3ECE76A7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Citation thinking</a:t>
            </a:r>
          </a:p>
        </p:txBody>
      </p:sp>
    </p:spTree>
    <p:extLst>
      <p:ext uri="{BB962C8B-B14F-4D97-AF65-F5344CB8AC3E}">
        <p14:creationId xmlns:p14="http://schemas.microsoft.com/office/powerpoint/2010/main" val="759161250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C60CC-E0C2-40CD-999C-3266BD47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F10B8-E9B4-495C-A6F7-F5CAE917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4D8EA-F3E9-4556-9570-20B6498E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6DBC0-D73D-4E82-8832-936EB5E0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3712C-B734-4C70-8C67-01EB7205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OpenAI体系：Responses、Agents、File 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520C3-B8F2-4E0C-BD41-6DF5829C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OpenAI实践更强调工具、文件检索、状态和评估组合成Agent应用。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E06F3-D4C9-469E-AA25-D98B9201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3566A-F087-4B32-A264-04831D36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4383E-CCA8-4AFE-992E-A4A509B7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B84B7-26F9-4243-9202-CDD7FA0C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CEA89-0FE4-48E8-B679-CE48482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3766B-BFB9-40AA-A85A-82266F3A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956F8-70FE-499B-A71B-9F090BEC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Responses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D8734-30B8-4CFB-A5CD-DB487F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3F13D-3D7E-485B-B2DA-197B236C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1B01A-9C0B-4000-BA4C-50179C15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7BFEE-2AC9-4F08-B7C1-3E13779C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Agents SDK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5A6E0-19DC-4317-B6EB-2CFE1E76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D6510-79A0-4983-8CD6-AE3598C5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FF7E1-8428-416B-92AF-2506D713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27EA8-465B-4387-8820-A8DA2C42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6598A-0BAD-4515-9350-8DF58976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84A6B-C51C-4E45-B98E-F80D632D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7BD886-5492-43F9-BD97-835E16A6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318A61-3B13-4ACE-B236-C8DF58B8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Vector stores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A647F-108F-4CA5-ACDD-1BBB7EF6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A16B61-F01B-4DE9-ADF1-CFFEA498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628FE-E62C-491D-9E0B-29A44DA1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49B21-4F10-41F4-9CA4-E994E942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Evals/Guardrails</a:t>
            </a:r>
          </a:p>
        </p:txBody>
      </p:sp>
    </p:spTree>
    <p:extLst>
      <p:ext uri="{BB962C8B-B14F-4D97-AF65-F5344CB8AC3E}">
        <p14:creationId xmlns:p14="http://schemas.microsoft.com/office/powerpoint/2010/main" val="1105876416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45586C-73F4-4BDA-8A6D-174E9431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4A7E1-5CFC-442D-B5D4-980487B8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CED17-2C66-48DB-B7FD-A75C34CC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55EF4-078B-4453-8294-B49A85F5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腾讯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3BC6C-4735-494F-AF8B-60EA3AED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腾讯体系：ADP、CloudBase、CodeBuddy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4FF58-ECAF-4331-B8B2-6DE3A4CB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腾讯生态适合连接国内企业云、知识库、工作流、应用开发和企业微信场景。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8D183-2624-4C57-ADC5-7EA91E24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D3534-84AA-47DB-848A-01C39D01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AA1BB-72E4-44E9-8583-DBB4C30F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49644-B568-426B-B14D-50DFA0A6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14BE6-D0D6-40FB-893F-831254CE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4F1C5-6FEB-4F62-9527-BDB433D0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F8FC5-F8AF-4048-B08A-85911B75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ADP Agent开发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046FF-75A5-4489-8F76-5CB5EF3D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1F591-1583-4231-A278-58FC4EA9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4B979-444D-49B1-8F40-608AB225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0BEA4-FD84-4CCA-AEE5-AE7FA3B8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0F497-1502-43CC-AC3C-87D98BD7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E63E6-D36C-4FC8-A8C7-409F13B5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B8A78-DE8C-4A7F-9968-A31E1D3F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B26A5-0924-431B-836E-C04E6F78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插件/工作流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1CC2F-029C-4889-A029-560E920A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E23BE-6BBD-4B7D-882F-8D08535F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3D248-6C5F-42E5-AE2B-36739775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E0BF2-6BDF-4312-A55D-B7A59D3B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CloudBase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25094-0661-44DC-A374-02EFABC2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F1E5E-A163-4D95-ADF4-EC05FA81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9C73B-32BC-4F59-93ED-138E7B8E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9F67E5-2AA5-4B67-A6D1-67C873D5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CodeBuddy</a:t>
            </a:r>
          </a:p>
        </p:txBody>
      </p:sp>
    </p:spTree>
    <p:extLst>
      <p:ext uri="{BB962C8B-B14F-4D97-AF65-F5344CB8AC3E}">
        <p14:creationId xmlns:p14="http://schemas.microsoft.com/office/powerpoint/2010/main" val="164060751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2BF002-671E-42B3-A441-42EB8948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33F8B-A645-4A61-A8E1-1780E0D4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772A3-C5C0-477B-815E-DA1C99F7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DD6D0-AED5-4C67-AA0A-5C4B050A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兼容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44DFF-1DCA-4532-A684-7E11FEC0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国内外大模型的统一适配层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8FAE6-861F-4EF9-9025-DE9833D3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FDE课程要教抽象能力，而不是只教某个按钮。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78AA8-0129-43E8-B219-B1AE3E7A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B51A8-65AA-4DE0-899D-23B112D5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F8983-F421-47F3-A93A-A5761547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41C2C-6142-4F53-BE9B-BEE56088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A5489-990D-437F-8DA5-B279E853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模型：能力与成本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238F0-DE89-4124-838B-E8194F72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296AC-9350-4E8E-A6BE-5924645F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知识：资料治理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B04FE-6E34-49CD-9FFC-CFFFF1EE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DE497-27F9-447F-B403-82808AF1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工具：系统连接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27DFC-893B-4940-987D-6CE21C5F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14F8E-EC0A-468A-A244-FE9DDF58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权限：角色边界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5C2B9-C09F-47E6-9259-101DE625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A1A47-5F35-4C05-91E4-C116B45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评估：测试集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81E2A-C9D3-4317-8312-B1543510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465F3-4C6A-4ED3-92AF-4A9A51A4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运维：日志复盘</a:t>
            </a:r>
          </a:p>
        </p:txBody>
      </p:sp>
    </p:spTree>
    <p:extLst>
      <p:ext uri="{BB962C8B-B14F-4D97-AF65-F5344CB8AC3E}">
        <p14:creationId xmlns:p14="http://schemas.microsoft.com/office/powerpoint/2010/main" val="38470359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871304-4F97-4C6B-A92C-41B95C07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E5F8F-6004-42ED-B29E-DC64A9C6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617F3-67E1-4089-95E7-C2FFFF9F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FBB7C-10F7-4001-AF01-22B0BDAD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WEI体系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B127C-D4AA-48C3-AF6E-D50E4000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落到WEI API / WEI BOT / WEI CONSULTING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0113B-B442-4A94-8791-2450D68A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WEI体系可把模型聚合、数字员工代养和AI转型咨询连接成交付闭环。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8D0B8-6DA6-4554-AF87-20D62F26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F1EDA-92E3-4EB1-9B27-51E80D53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7DA56-4E23-40BE-B037-4B6B1171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C3AEF-DAEA-43DA-996D-DBD77854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FB882-3BF3-46C5-A75B-6CE67DB2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2BA86-8633-4D02-8EB9-B040EB0F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12DC5-F978-4CA9-B092-6659E3E4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API供模型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B8045-5D97-4001-8FD4-FD4E75D7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1369A-F8B0-4CE2-A2A6-35DB98E0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BOT承载数字员工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28E3B-8E2C-4301-8BEE-9AE32DEB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A4397-FFFD-48A6-959A-B2AF0433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CONSULTING做诊断交付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D596E-A37B-4AAF-9115-1BB2201B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F3F22-1927-4DBE-A296-4701C6E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知识包沉淀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9E655-059B-45F8-95F0-4DFAD49D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69ED1-8B19-41A2-915C-A13E50E6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OPC复制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1A492-11AB-40E3-9584-277C8162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235B6-C1CD-4AEC-9692-9D4116CC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讲师训练</a:t>
            </a:r>
          </a:p>
        </p:txBody>
      </p:sp>
    </p:spTree>
    <p:extLst>
      <p:ext uri="{BB962C8B-B14F-4D97-AF65-F5344CB8AC3E}">
        <p14:creationId xmlns:p14="http://schemas.microsoft.com/office/powerpoint/2010/main" val="611281062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E3ED1-28FE-4215-AAE5-7476BB11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EE44D-7476-4920-8D28-3D30F9E8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FD5DF-D0A7-4467-90A9-60369B09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Part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FF1E3-BF28-4D7C-8ABD-AE5D5ED0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验收与工作坊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5AE9B-0F41-44F1-B117-11E95995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把上下文工程从概念变成可交付包。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51388-3F7C-4964-A871-0771AD0F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24284-3218-47FE-93B5-5DEA897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B15E1-08DF-4A6D-A344-F9ACC342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D9404-2905-4386-BD44-26DE5329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8C56C-046C-4764-B519-ADBA177A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CBF84-AEE4-4564-BA71-2840EB14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</p:spTree>
    <p:extLst>
      <p:ext uri="{BB962C8B-B14F-4D97-AF65-F5344CB8AC3E}">
        <p14:creationId xmlns:p14="http://schemas.microsoft.com/office/powerpoint/2010/main" val="1365014215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4850BF-5742-48A6-B975-EB4208FB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6622D-1CBD-412A-B5E6-3D0100A5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8CA91-A835-4A5B-AD77-890BCC2E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C2F5B-8756-42D9-9F3F-C274E5B6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BB627-BD3C-4E9D-860C-EA82BF93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知识与上下文工程的六个验收门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FD554-F196-4FEF-90AF-B394A9E3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能检索、能引用、不过权、不过期、能接管、能复盘。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CDF18-F0D2-4F0B-995B-DCD1D17A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BE187-EFD5-4992-ADD5-4324B142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A44F9-7C75-4965-80CD-B0E792BE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验收工作坊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3C88F-5128-42C7-9EE6-D6C2861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003F8-3C5E-4D41-9850-CAF55D8C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可检索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E6AA9-90DD-40A0-B0DB-0A742D50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关键问题能找到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C9929-0543-416D-99FA-1C618379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37A37-960A-4757-9EA1-8BCE33B1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可引用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6B4DF-FD6F-4262-ADBB-2C35B7C7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来源版本清楚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7027E-6C1F-4C14-A653-A85A1D86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5FAE8-8619-4BAB-9116-62BA94A9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不越权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011DE-2033-4C79-BB6C-D4DBD671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按角色可见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693A6-4885-485D-9EFF-A895906E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DD8F3-FBD4-4967-BF72-D6BA08B6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不过期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7F8DC-8713-4F11-A742-0571FC27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更新机制明确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6D4ACD-A8AD-481A-A724-11338FA6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D82D2-9358-4C2F-9973-B0EAAAF0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可接管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D01A5-FA11-4B12-9BFB-CB1B2BC6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高风险转人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966C1-158D-4DAC-8467-947F3B4D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66D89A-9373-45F1-B34E-BE76B3FC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可复盘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A9130-8F99-4C99-824A-52AB9825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日志与指标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8F04E-93C8-4F91-B943-571C0C7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7467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评分必须写证据：不能只填数字。</a:t>
            </a:r>
          </a:p>
        </p:txBody>
      </p:sp>
    </p:spTree>
    <p:extLst>
      <p:ext uri="{BB962C8B-B14F-4D97-AF65-F5344CB8AC3E}">
        <p14:creationId xmlns:p14="http://schemas.microsoft.com/office/powerpoint/2010/main" val="1942235661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22B4B-DAC0-43C8-8B65-36E6C4F1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DA1F9-1B40-4692-BE29-D9DF8CB7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A408E-7A8A-4AAD-8AA0-2644CED9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CE2D6-74E6-4A4B-A5BA-B4EE117E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1AB1B-3CF7-48D8-A328-12C99FB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构建知识QA测试集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53E91-9BC1-4F68-898E-FB5D5A7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测试集要包含正常问题、边界问题、过期问题、越权问题和陷阱问题。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3DC85-EBD0-4B71-AA8B-AD5FE293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82654-DE11-433D-A65E-C1E74788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1C06A-CB4A-4536-A49D-F566A267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验收工作坊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FCD48-9846-4EE2-AB10-50255E36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E978B-233F-49EB-8FE6-3D63C102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93EC6-9484-46F0-874D-C8805BBC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5917D-447A-417F-A83D-2DA608E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76F0A-4DE9-42BF-B221-226B552F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正常问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0481E-8B47-4B29-A877-A4F424AC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应答且引用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4EDE1-402E-4E89-B3A9-FA66D84E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6F169-BE42-4271-AE09-430B5EFD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674DD-B018-4808-A5DB-714EC95E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说明范围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80F08-7DCD-4DF7-A7B9-65E2A6B1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FCE31-C3B9-489E-BEE6-17F51FA8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过期问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25117-134D-4E4B-99DE-6D860FB0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提示版本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E9527-4C19-4118-88B9-0AFE273D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3F258-47AE-4138-89C5-D678E0DD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越权问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382B2-1E66-4A5F-BE43-F5686D62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拒答或转人工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EF253-59F3-4CC9-8CA9-31447043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3AFF1C-C368-4D3D-9139-19D011DD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陷阱问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C74E8-362B-4ED2-AE27-25A23BA6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不编造</a:t>
            </a:r>
          </a:p>
        </p:txBody>
      </p:sp>
    </p:spTree>
    <p:extLst>
      <p:ext uri="{BB962C8B-B14F-4D97-AF65-F5344CB8AC3E}">
        <p14:creationId xmlns:p14="http://schemas.microsoft.com/office/powerpoint/2010/main" val="1299454943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85B7C7-D43C-47FE-8050-C8238395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95115-8943-4ED0-B63E-AAF0F5AE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81789-164A-4DDB-B79F-A153E8D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4CC43-CA6E-4507-AD1B-4C86959D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80EC0-4A5A-40D6-850C-ABF58729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上下文系统上线后的运营看板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5D32D-9889-468E-A8D7-7809EC13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上线后要持续观察质量、成本、风险和业务结果。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F80F5-9733-4386-AD25-1E668589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0A06E-2F53-4F4A-9296-CD49B6B5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14756-92A2-45CA-8470-F52B2931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验收工作坊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59335-6813-4839-9A96-CE220EA6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1E6FE-9A5B-4407-85BE-A3CC72E1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5ECA5-AD15-4763-B56C-B3972C8F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56FD8-44A6-4377-AC57-C60D319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找到材料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71F62-15A1-40FE-A70E-DBECBEE1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43CF3-9487-4925-A568-3F9BB972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664B0-474E-400A-ADC7-FAECAF8A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采纳率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50070-ACC3-415D-B508-8D591471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用户接受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92D8D-D2AD-4355-84EF-16AA1AD6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FF697-7780-4E62-AC3F-DBB29CD7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3A38F-43D0-4AA1-B5DA-D46085D5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转人工率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04A6F-77C2-4A38-8D99-CDDC60AF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边界触发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5024D-9214-4CCE-BDC8-D72ACAE3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FC296-83E9-45EC-BEBE-986C9DC9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8DCE4-25DC-495E-96D8-4185098E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错误率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5B76A-68E6-4F77-9891-F9E8EE4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需修正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3979D3-F153-4B3B-BCB5-E0AC942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F1CEC-A389-4576-B981-3482AAC9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013393-94B5-4125-B924-8424B041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2F4F47-634A-4476-B6B9-B96AC2CB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调用与缓存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21DB04-11DD-4C7F-8B11-DA5C35B1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5C3EC-8BA8-4799-B3B0-ED3AD2A3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6682D0-E9B6-470E-8846-C2B10489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更新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0E39C5-26F5-4A1A-B4D1-981123B0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资料时效</a:t>
            </a:r>
          </a:p>
        </p:txBody>
      </p:sp>
    </p:spTree>
    <p:extLst>
      <p:ext uri="{BB962C8B-B14F-4D97-AF65-F5344CB8AC3E}">
        <p14:creationId xmlns:p14="http://schemas.microsoft.com/office/powerpoint/2010/main" val="843141913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554CE4-B197-4BF5-8A6C-5DF4B905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F24FA-42B9-4381-8305-FD6868B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47423-92A1-4A33-A176-AEAD0737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2220E-EF93-4316-9F69-3FEDC95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工作坊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4B297-EBF4-4A29-B27B-B3E96FCD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产出一个企业上下文工程包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D291C-5927-451D-9108-01DECE96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每组把第2章选出的MVP场景，做成可交付的上下文设计包。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A1B95-85D2-421F-B0BF-F175C76C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441E7-B37B-4F1C-B3C6-3BBE6B67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BF5DA-21E1-473E-B037-4CE8A626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验收工作坊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F25F1-8955-4954-BE24-20A4977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1190F-83AB-4CD9-92EE-E7FE4022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02B8B-E1DF-4A9D-93C0-ACB184F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16分钟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B8D17-2A1F-4632-967B-2876F166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2A57F-594F-407D-8224-2FB8ED52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38269-0AE2-40AE-ADC9-B394CE03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9C146-925E-462E-88C0-6CD7180C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上下文契约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F63D2-7AC8-4817-BCA6-7DFB0C45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1365F-D417-477B-BD04-2596D99C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FB822-3965-4806-A991-A739384A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知识资产清单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17967-29A8-416B-BD3C-E0385313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2C028-BF3E-44B2-A49B-C72948B4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6637E-89C3-496A-80A9-AA7F8B14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切片与元数据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C4440-4AFE-4381-B187-34EE1EED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46DC56-49E0-499E-A685-7375826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A8134-9184-4AD3-AF7D-08B2A756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RAG/长上下文策略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FFC1DF-0DF9-4756-B6CC-FB1BFD8E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EE0468-4E7C-44C6-88FC-277F8B2B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6740E-A8B3-4DFD-A96F-8CBD0073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工具与记忆边界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41FACA-92BA-4DEB-8520-B8D90743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5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C68359-BCB9-4E09-AE08-3022E5B2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435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20B093-8FD0-46A7-ADB1-02DD4C9F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197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QA测试集</a:t>
            </a:r>
          </a:p>
        </p:txBody>
      </p:sp>
    </p:spTree>
    <p:extLst>
      <p:ext uri="{BB962C8B-B14F-4D97-AF65-F5344CB8AC3E}">
        <p14:creationId xmlns:p14="http://schemas.microsoft.com/office/powerpoint/2010/main" val="108282610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D044A4-1CDA-4494-84F4-4CD7B13C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A3108-E8D1-4E9D-87E5-A0F84256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ED9A6-FA43-47C3-851E-E1AB1F1F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1905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本章收束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E3BF8-5255-46A5-9E22-2DAEA250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3820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从会问问题，到会搭上下文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4F623-3432-42D7-A4D7-7A1ECC06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810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rPr>
              <a:t>FDE的核心竞争力，是让企业AI从聪明回答走向可靠执行。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1FCC1-C950-4D6C-AE8E-5C251F6A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FC1A5-A9F4-40BA-B4C1-FC161288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C2DBA-43D6-4C5A-A40F-4457DA92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6CD62-115C-4BF4-9932-622798C7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11778-E7E4-484F-92F5-93BF1FF9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0C2DB-5630-42B2-830B-B2F07955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92BA7-A208-434C-B2A9-8779FEDC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13C0B-E21D-4772-ACDF-ECD604F5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</p:spTree>
    <p:extLst>
      <p:ext uri="{BB962C8B-B14F-4D97-AF65-F5344CB8AC3E}">
        <p14:creationId xmlns:p14="http://schemas.microsoft.com/office/powerpoint/2010/main" val="2099836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2026-05-16T00:51:24.9140000Z</dcterms:created>
  <dcterms:modified xsi:type="dcterms:W3CDTF">2026-05-16T00:51:24.9140000Z</dcterms:modified>
</coreProperties>
</file>