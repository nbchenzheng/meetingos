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9d6c6e52fe4f56" /><Relationship Type="http://schemas.openxmlformats.org/officeDocument/2006/relationships/extended-properties" Target="/docProps/app.xml" Id="R043d956206c24e38" /><Relationship Type="http://schemas.openxmlformats.org/officeDocument/2006/relationships/officeDocument" Target="/ppt/presentation.xml" Id="R78678fb357bd43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3f958b62694fe3"/>
  </p:sldMasterIdLst>
  <p:notesMasterIdLst>
    <p:notesMasterId xmlns:r="http://schemas.openxmlformats.org/officeDocument/2006/relationships" r:id="Refe5431e6f9c4409"/>
  </p:notesMasterIdLst>
  <p:sldIdLst>
    <p:sldId xmlns:r="http://schemas.openxmlformats.org/officeDocument/2006/relationships" id="256" r:id="Rba7037af77984a24"/>
    <p:sldId xmlns:r="http://schemas.openxmlformats.org/officeDocument/2006/relationships" id="257" r:id="Rc50f9d473299437a"/>
    <p:sldId xmlns:r="http://schemas.openxmlformats.org/officeDocument/2006/relationships" id="258" r:id="R0c4892db4eb3439b"/>
    <p:sldId xmlns:r="http://schemas.openxmlformats.org/officeDocument/2006/relationships" id="259" r:id="R342cfe6a8d814e57"/>
    <p:sldId xmlns:r="http://schemas.openxmlformats.org/officeDocument/2006/relationships" id="260" r:id="R19376f5fb84f4dfa"/>
    <p:sldId xmlns:r="http://schemas.openxmlformats.org/officeDocument/2006/relationships" id="261" r:id="R470c8f70c5e04fc6"/>
    <p:sldId xmlns:r="http://schemas.openxmlformats.org/officeDocument/2006/relationships" id="262" r:id="Rb8f6c6d718184bb3"/>
    <p:sldId xmlns:r="http://schemas.openxmlformats.org/officeDocument/2006/relationships" id="263" r:id="R6fbaf075bae74b9c"/>
    <p:sldId xmlns:r="http://schemas.openxmlformats.org/officeDocument/2006/relationships" id="264" r:id="Rdcbbc09f47474d79"/>
    <p:sldId xmlns:r="http://schemas.openxmlformats.org/officeDocument/2006/relationships" id="265" r:id="R543552c17d484b35"/>
    <p:sldId xmlns:r="http://schemas.openxmlformats.org/officeDocument/2006/relationships" id="266" r:id="Rebb50463c76e4921"/>
    <p:sldId xmlns:r="http://schemas.openxmlformats.org/officeDocument/2006/relationships" id="267" r:id="R45d9b37e17794f85"/>
    <p:sldId xmlns:r="http://schemas.openxmlformats.org/officeDocument/2006/relationships" id="268" r:id="R4ae61d0adbdc4cea"/>
    <p:sldId xmlns:r="http://schemas.openxmlformats.org/officeDocument/2006/relationships" id="269" r:id="R6ad94fd8347a4dab"/>
    <p:sldId xmlns:r="http://schemas.openxmlformats.org/officeDocument/2006/relationships" id="270" r:id="R7ca9a9ceeb3045d3"/>
    <p:sldId xmlns:r="http://schemas.openxmlformats.org/officeDocument/2006/relationships" id="271" r:id="R3f2dea66e30b4e13"/>
    <p:sldId xmlns:r="http://schemas.openxmlformats.org/officeDocument/2006/relationships" id="272" r:id="Rfb49366d28d4411c"/>
    <p:sldId xmlns:r="http://schemas.openxmlformats.org/officeDocument/2006/relationships" id="273" r:id="R8d614a089db64435"/>
    <p:sldId xmlns:r="http://schemas.openxmlformats.org/officeDocument/2006/relationships" id="274" r:id="Rbdcc5180812c44d4"/>
    <p:sldId xmlns:r="http://schemas.openxmlformats.org/officeDocument/2006/relationships" id="275" r:id="R6a610c112eb44062"/>
    <p:sldId xmlns:r="http://schemas.openxmlformats.org/officeDocument/2006/relationships" id="276" r:id="R4566f6a379d743e9"/>
    <p:sldId xmlns:r="http://schemas.openxmlformats.org/officeDocument/2006/relationships" id="277" r:id="R1acdea70799541c1"/>
    <p:sldId xmlns:r="http://schemas.openxmlformats.org/officeDocument/2006/relationships" id="278" r:id="Raba7cbf5d86d45d6"/>
    <p:sldId xmlns:r="http://schemas.openxmlformats.org/officeDocument/2006/relationships" id="279" r:id="R133df1bf1f6746f0"/>
    <p:sldId xmlns:r="http://schemas.openxmlformats.org/officeDocument/2006/relationships" id="280" r:id="Rf81364065809491d"/>
    <p:sldId xmlns:r="http://schemas.openxmlformats.org/officeDocument/2006/relationships" id="281" r:id="R3c5352e9becb4e18"/>
    <p:sldId xmlns:r="http://schemas.openxmlformats.org/officeDocument/2006/relationships" id="282" r:id="R3b3c22f0a2f94bf8"/>
    <p:sldId xmlns:r="http://schemas.openxmlformats.org/officeDocument/2006/relationships" id="283" r:id="R86df74fa8ce24b58"/>
    <p:sldId xmlns:r="http://schemas.openxmlformats.org/officeDocument/2006/relationships" id="284" r:id="R11ddf5d8c4304732"/>
    <p:sldId xmlns:r="http://schemas.openxmlformats.org/officeDocument/2006/relationships" id="285" r:id="R1dcda233b87a4364"/>
    <p:sldId xmlns:r="http://schemas.openxmlformats.org/officeDocument/2006/relationships" id="286" r:id="R00802531c26d438b"/>
    <p:sldId xmlns:r="http://schemas.openxmlformats.org/officeDocument/2006/relationships" id="287" r:id="Rc4dc196a5c6d487f"/>
    <p:sldId xmlns:r="http://schemas.openxmlformats.org/officeDocument/2006/relationships" id="288" r:id="Rddf3d93412234a96"/>
    <p:sldId xmlns:r="http://schemas.openxmlformats.org/officeDocument/2006/relationships" id="289" r:id="R11c5fc1cb3b4455c"/>
    <p:sldId xmlns:r="http://schemas.openxmlformats.org/officeDocument/2006/relationships" id="290" r:id="Rc66abf1a32164e34"/>
    <p:sldId xmlns:r="http://schemas.openxmlformats.org/officeDocument/2006/relationships" id="291" r:id="Rfe1ad195d7cf486b"/>
    <p:sldId xmlns:r="http://schemas.openxmlformats.org/officeDocument/2006/relationships" id="292" r:id="R95cb37dfc48c4e39"/>
    <p:sldId xmlns:r="http://schemas.openxmlformats.org/officeDocument/2006/relationships" id="293" r:id="Rcdee9c23ed4d4818"/>
    <p:sldId xmlns:r="http://schemas.openxmlformats.org/officeDocument/2006/relationships" id="294" r:id="R4426e0941d05434f"/>
    <p:sldId xmlns:r="http://schemas.openxmlformats.org/officeDocument/2006/relationships" id="295" r:id="R778e97ad89e44e6d"/>
    <p:sldId xmlns:r="http://schemas.openxmlformats.org/officeDocument/2006/relationships" id="296" r:id="R9aa5daa58ed84daf"/>
    <p:sldId xmlns:r="http://schemas.openxmlformats.org/officeDocument/2006/relationships" id="297" r:id="R033409c6abb040a8"/>
    <p:sldId xmlns:r="http://schemas.openxmlformats.org/officeDocument/2006/relationships" id="298" r:id="Rdf62916c3eb5486b"/>
    <p:sldId xmlns:r="http://schemas.openxmlformats.org/officeDocument/2006/relationships" id="299" r:id="R500d878830ca42f1"/>
    <p:sldId xmlns:r="http://schemas.openxmlformats.org/officeDocument/2006/relationships" id="300" r:id="R555e9fbabbfe4e83"/>
    <p:sldId xmlns:r="http://schemas.openxmlformats.org/officeDocument/2006/relationships" id="301" r:id="R3e500fd422554ec0"/>
    <p:sldId xmlns:r="http://schemas.openxmlformats.org/officeDocument/2006/relationships" id="302" r:id="Rc67cbf56f3f34326"/>
    <p:sldId xmlns:r="http://schemas.openxmlformats.org/officeDocument/2006/relationships" id="303" r:id="R9ae5461427074291"/>
    <p:sldId xmlns:r="http://schemas.openxmlformats.org/officeDocument/2006/relationships" id="304" r:id="Re110b867163e464c"/>
    <p:sldId xmlns:r="http://schemas.openxmlformats.org/officeDocument/2006/relationships" id="305" r:id="R8c4743f5da7e49cb"/>
    <p:sldId xmlns:r="http://schemas.openxmlformats.org/officeDocument/2006/relationships" id="306" r:id="Ra5ca632278604049"/>
    <p:sldId xmlns:r="http://schemas.openxmlformats.org/officeDocument/2006/relationships" id="307" r:id="R2e61bbd32a5641a8"/>
    <p:sldId xmlns:r="http://schemas.openxmlformats.org/officeDocument/2006/relationships" id="308" r:id="R1f743f83b88f4849"/>
    <p:sldId xmlns:r="http://schemas.openxmlformats.org/officeDocument/2006/relationships" id="309" r:id="R1732a920dd814e1d"/>
    <p:sldId xmlns:r="http://schemas.openxmlformats.org/officeDocument/2006/relationships" id="310" r:id="Re03f089c96f449c4"/>
    <p:sldId xmlns:r="http://schemas.openxmlformats.org/officeDocument/2006/relationships" id="311" r:id="R3a72976f74a147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3f958b62694fe3" /><Relationship Type="http://schemas.openxmlformats.org/officeDocument/2006/relationships/theme" Target="/ppt/theme/theme1.xml" Id="R21da8c38cb144b50" /><Relationship Type="http://schemas.openxmlformats.org/officeDocument/2006/relationships/notesMaster" Target="/ppt/notesMasters/notesMaster1.xml" Id="Refe5431e6f9c4409" /><Relationship Type="http://schemas.openxmlformats.org/officeDocument/2006/relationships/presProps" Target="/ppt/presProps.xml" Id="R977fc5dc0a4346a9" /><Relationship Type="http://schemas.openxmlformats.org/officeDocument/2006/relationships/viewProps" Target="/ppt/viewProps.xml" Id="R26dc456446fa4140" /><Relationship Type="http://schemas.openxmlformats.org/officeDocument/2006/relationships/tableStyles" Target="/ppt/tableStyles.xml" Id="Rb75d08022b0b43bf" /><Relationship Type="http://schemas.openxmlformats.org/officeDocument/2006/relationships/slide" Target="/ppt/slides/slide1.xml" Id="Rba7037af77984a24" /><Relationship Type="http://schemas.openxmlformats.org/officeDocument/2006/relationships/slide" Target="/ppt/slides/slide2.xml" Id="Rc50f9d473299437a" /><Relationship Type="http://schemas.openxmlformats.org/officeDocument/2006/relationships/slide" Target="/ppt/slides/slide3.xml" Id="R0c4892db4eb3439b" /><Relationship Type="http://schemas.openxmlformats.org/officeDocument/2006/relationships/slide" Target="/ppt/slides/slide4.xml" Id="R342cfe6a8d814e57" /><Relationship Type="http://schemas.openxmlformats.org/officeDocument/2006/relationships/slide" Target="/ppt/slides/slide5.xml" Id="R19376f5fb84f4dfa" /><Relationship Type="http://schemas.openxmlformats.org/officeDocument/2006/relationships/slide" Target="/ppt/slides/slide6.xml" Id="R470c8f70c5e04fc6" /><Relationship Type="http://schemas.openxmlformats.org/officeDocument/2006/relationships/slide" Target="/ppt/slides/slide7.xml" Id="Rb8f6c6d718184bb3" /><Relationship Type="http://schemas.openxmlformats.org/officeDocument/2006/relationships/slide" Target="/ppt/slides/slide8.xml" Id="R6fbaf075bae74b9c" /><Relationship Type="http://schemas.openxmlformats.org/officeDocument/2006/relationships/slide" Target="/ppt/slides/slide9.xml" Id="Rdcbbc09f47474d79" /><Relationship Type="http://schemas.openxmlformats.org/officeDocument/2006/relationships/slide" Target="/ppt/slides/slide10.xml" Id="R543552c17d484b35" /><Relationship Type="http://schemas.openxmlformats.org/officeDocument/2006/relationships/slide" Target="/ppt/slides/slide11.xml" Id="Rebb50463c76e4921" /><Relationship Type="http://schemas.openxmlformats.org/officeDocument/2006/relationships/slide" Target="/ppt/slides/slide12.xml" Id="R45d9b37e17794f85" /><Relationship Type="http://schemas.openxmlformats.org/officeDocument/2006/relationships/slide" Target="/ppt/slides/slide13.xml" Id="R4ae61d0adbdc4cea" /><Relationship Type="http://schemas.openxmlformats.org/officeDocument/2006/relationships/slide" Target="/ppt/slides/slide14.xml" Id="R6ad94fd8347a4dab" /><Relationship Type="http://schemas.openxmlformats.org/officeDocument/2006/relationships/slide" Target="/ppt/slides/slide15.xml" Id="R7ca9a9ceeb3045d3" /><Relationship Type="http://schemas.openxmlformats.org/officeDocument/2006/relationships/slide" Target="/ppt/slides/slide16.xml" Id="R3f2dea66e30b4e13" /><Relationship Type="http://schemas.openxmlformats.org/officeDocument/2006/relationships/slide" Target="/ppt/slides/slide17.xml" Id="Rfb49366d28d4411c" /><Relationship Type="http://schemas.openxmlformats.org/officeDocument/2006/relationships/slide" Target="/ppt/slides/slide18.xml" Id="R8d614a089db64435" /><Relationship Type="http://schemas.openxmlformats.org/officeDocument/2006/relationships/slide" Target="/ppt/slides/slide19.xml" Id="Rbdcc5180812c44d4" /><Relationship Type="http://schemas.openxmlformats.org/officeDocument/2006/relationships/slide" Target="/ppt/slides/slide20.xml" Id="R6a610c112eb44062" /><Relationship Type="http://schemas.openxmlformats.org/officeDocument/2006/relationships/slide" Target="/ppt/slides/slide21.xml" Id="R4566f6a379d743e9" /><Relationship Type="http://schemas.openxmlformats.org/officeDocument/2006/relationships/slide" Target="/ppt/slides/slide22.xml" Id="R1acdea70799541c1" /><Relationship Type="http://schemas.openxmlformats.org/officeDocument/2006/relationships/slide" Target="/ppt/slides/slide23.xml" Id="Raba7cbf5d86d45d6" /><Relationship Type="http://schemas.openxmlformats.org/officeDocument/2006/relationships/slide" Target="/ppt/slides/slide24.xml" Id="R133df1bf1f6746f0" /><Relationship Type="http://schemas.openxmlformats.org/officeDocument/2006/relationships/slide" Target="/ppt/slides/slide25.xml" Id="Rf81364065809491d" /><Relationship Type="http://schemas.openxmlformats.org/officeDocument/2006/relationships/slide" Target="/ppt/slides/slide26.xml" Id="R3c5352e9becb4e18" /><Relationship Type="http://schemas.openxmlformats.org/officeDocument/2006/relationships/slide" Target="/ppt/slides/slide27.xml" Id="R3b3c22f0a2f94bf8" /><Relationship Type="http://schemas.openxmlformats.org/officeDocument/2006/relationships/slide" Target="/ppt/slides/slide28.xml" Id="R86df74fa8ce24b58" /><Relationship Type="http://schemas.openxmlformats.org/officeDocument/2006/relationships/slide" Target="/ppt/slides/slide29.xml" Id="R11ddf5d8c4304732" /><Relationship Type="http://schemas.openxmlformats.org/officeDocument/2006/relationships/slide" Target="/ppt/slides/slide30.xml" Id="R1dcda233b87a4364" /><Relationship Type="http://schemas.openxmlformats.org/officeDocument/2006/relationships/slide" Target="/ppt/slides/slide31.xml" Id="R00802531c26d438b" /><Relationship Type="http://schemas.openxmlformats.org/officeDocument/2006/relationships/slide" Target="/ppt/slides/slide32.xml" Id="Rc4dc196a5c6d487f" /><Relationship Type="http://schemas.openxmlformats.org/officeDocument/2006/relationships/slide" Target="/ppt/slides/slide33.xml" Id="Rddf3d93412234a96" /><Relationship Type="http://schemas.openxmlformats.org/officeDocument/2006/relationships/slide" Target="/ppt/slides/slide34.xml" Id="R11c5fc1cb3b4455c" /><Relationship Type="http://schemas.openxmlformats.org/officeDocument/2006/relationships/slide" Target="/ppt/slides/slide35.xml" Id="Rc66abf1a32164e34" /><Relationship Type="http://schemas.openxmlformats.org/officeDocument/2006/relationships/slide" Target="/ppt/slides/slide36.xml" Id="Rfe1ad195d7cf486b" /><Relationship Type="http://schemas.openxmlformats.org/officeDocument/2006/relationships/slide" Target="/ppt/slides/slide37.xml" Id="R95cb37dfc48c4e39" /><Relationship Type="http://schemas.openxmlformats.org/officeDocument/2006/relationships/slide" Target="/ppt/slides/slide38.xml" Id="Rcdee9c23ed4d4818" /><Relationship Type="http://schemas.openxmlformats.org/officeDocument/2006/relationships/slide" Target="/ppt/slides/slide39.xml" Id="R4426e0941d05434f" /><Relationship Type="http://schemas.openxmlformats.org/officeDocument/2006/relationships/slide" Target="/ppt/slides/slide40.xml" Id="R778e97ad89e44e6d" /><Relationship Type="http://schemas.openxmlformats.org/officeDocument/2006/relationships/slide" Target="/ppt/slides/slide41.xml" Id="R9aa5daa58ed84daf" /><Relationship Type="http://schemas.openxmlformats.org/officeDocument/2006/relationships/slide" Target="/ppt/slides/slide42.xml" Id="R033409c6abb040a8" /><Relationship Type="http://schemas.openxmlformats.org/officeDocument/2006/relationships/slide" Target="/ppt/slides/slide43.xml" Id="Rdf62916c3eb5486b" /><Relationship Type="http://schemas.openxmlformats.org/officeDocument/2006/relationships/slide" Target="/ppt/slides/slide44.xml" Id="R500d878830ca42f1" /><Relationship Type="http://schemas.openxmlformats.org/officeDocument/2006/relationships/slide" Target="/ppt/slides/slide45.xml" Id="R555e9fbabbfe4e83" /><Relationship Type="http://schemas.openxmlformats.org/officeDocument/2006/relationships/slide" Target="/ppt/slides/slide46.xml" Id="R3e500fd422554ec0" /><Relationship Type="http://schemas.openxmlformats.org/officeDocument/2006/relationships/slide" Target="/ppt/slides/slide47.xml" Id="Rc67cbf56f3f34326" /><Relationship Type="http://schemas.openxmlformats.org/officeDocument/2006/relationships/slide" Target="/ppt/slides/slide48.xml" Id="R9ae5461427074291" /><Relationship Type="http://schemas.openxmlformats.org/officeDocument/2006/relationships/slide" Target="/ppt/slides/slide49.xml" Id="Re110b867163e464c" /><Relationship Type="http://schemas.openxmlformats.org/officeDocument/2006/relationships/slide" Target="/ppt/slides/slide50.xml" Id="R8c4743f5da7e49cb" /><Relationship Type="http://schemas.openxmlformats.org/officeDocument/2006/relationships/slide" Target="/ppt/slides/slide51.xml" Id="Ra5ca632278604049" /><Relationship Type="http://schemas.openxmlformats.org/officeDocument/2006/relationships/slide" Target="/ppt/slides/slide52.xml" Id="R2e61bbd32a5641a8" /><Relationship Type="http://schemas.openxmlformats.org/officeDocument/2006/relationships/slide" Target="/ppt/slides/slide53.xml" Id="R1f743f83b88f4849" /><Relationship Type="http://schemas.openxmlformats.org/officeDocument/2006/relationships/slide" Target="/ppt/slides/slide54.xml" Id="R1732a920dd814e1d" /><Relationship Type="http://schemas.openxmlformats.org/officeDocument/2006/relationships/slide" Target="/ppt/slides/slide55.xml" Id="Re03f089c96f449c4" /><Relationship Type="http://schemas.openxmlformats.org/officeDocument/2006/relationships/slide" Target="/ppt/slides/slide56.xml" Id="R3a72976f74a147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5007acac7e849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1a448643684c93" /><Relationship Type="http://schemas.openxmlformats.org/officeDocument/2006/relationships/notesMaster" Target="/ppt/notesMasters/notesMaster1.xml" Id="R0685902688fb43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9b21ec2dee4bcd" /><Relationship Type="http://schemas.openxmlformats.org/officeDocument/2006/relationships/notesMaster" Target="/ppt/notesMasters/notesMaster1.xml" Id="R0589d20aab234e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041999e7df42ca" /><Relationship Type="http://schemas.openxmlformats.org/officeDocument/2006/relationships/notesMaster" Target="/ppt/notesMasters/notesMaster1.xml" Id="Re1ec2dec2ba243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70d451c88641a6" /><Relationship Type="http://schemas.openxmlformats.org/officeDocument/2006/relationships/notesMaster" Target="/ppt/notesMasters/notesMaster1.xml" Id="R44129fc538b242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def282de534520" /><Relationship Type="http://schemas.openxmlformats.org/officeDocument/2006/relationships/notesMaster" Target="/ppt/notesMasters/notesMaster1.xml" Id="Rc256bdeca3c642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182f88f55c4b4f" /><Relationship Type="http://schemas.openxmlformats.org/officeDocument/2006/relationships/notesMaster" Target="/ppt/notesMasters/notesMaster1.xml" Id="Ra1a8544347ab46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e465eb52b74f1a" /><Relationship Type="http://schemas.openxmlformats.org/officeDocument/2006/relationships/notesMaster" Target="/ppt/notesMasters/notesMaster1.xml" Id="R449474c9be854b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aea784326649bd" /><Relationship Type="http://schemas.openxmlformats.org/officeDocument/2006/relationships/notesMaster" Target="/ppt/notesMasters/notesMaster1.xml" Id="R55ea58770b7a40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bee2c6a9774af5" /><Relationship Type="http://schemas.openxmlformats.org/officeDocument/2006/relationships/notesMaster" Target="/ppt/notesMasters/notesMaster1.xml" Id="Rb3532e0e79f042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9894d9a05a4bd0" /><Relationship Type="http://schemas.openxmlformats.org/officeDocument/2006/relationships/notesMaster" Target="/ppt/notesMasters/notesMaster1.xml" Id="Radd2da5ca7bd48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52a10eab7941cb" /><Relationship Type="http://schemas.openxmlformats.org/officeDocument/2006/relationships/notesMaster" Target="/ppt/notesMasters/notesMaster1.xml" Id="R5a3a41cb9d6744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e9f49f460b48dd" /><Relationship Type="http://schemas.openxmlformats.org/officeDocument/2006/relationships/notesMaster" Target="/ppt/notesMasters/notesMaster1.xml" Id="R71a510b379d144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67054c6a824ac8" /><Relationship Type="http://schemas.openxmlformats.org/officeDocument/2006/relationships/notesMaster" Target="/ppt/notesMasters/notesMaster1.xml" Id="Reda0f8a1e87f43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4c6d441cb94e87" /><Relationship Type="http://schemas.openxmlformats.org/officeDocument/2006/relationships/notesMaster" Target="/ppt/notesMasters/notesMaster1.xml" Id="Re45ee9f6414c47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44fe1e14474c0b" /><Relationship Type="http://schemas.openxmlformats.org/officeDocument/2006/relationships/notesMaster" Target="/ppt/notesMasters/notesMaster1.xml" Id="R33fbaeb2432f47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81b1257e414a1f" /><Relationship Type="http://schemas.openxmlformats.org/officeDocument/2006/relationships/notesMaster" Target="/ppt/notesMasters/notesMaster1.xml" Id="R79f3259b7c334f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e92d69a1444dd1" /><Relationship Type="http://schemas.openxmlformats.org/officeDocument/2006/relationships/notesMaster" Target="/ppt/notesMasters/notesMaster1.xml" Id="R2ff274aacb9b4b2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cbe5b39699442a" /><Relationship Type="http://schemas.openxmlformats.org/officeDocument/2006/relationships/notesMaster" Target="/ppt/notesMasters/notesMaster1.xml" Id="R42bfadf60d5249a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6a7ef712b474876" /><Relationship Type="http://schemas.openxmlformats.org/officeDocument/2006/relationships/notesMaster" Target="/ppt/notesMasters/notesMaster1.xml" Id="Rb604fc9a272546f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361e5a880b43dd" /><Relationship Type="http://schemas.openxmlformats.org/officeDocument/2006/relationships/notesMaster" Target="/ppt/notesMasters/notesMaster1.xml" Id="Rcf9211221b6143b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dd68465772342ed" /><Relationship Type="http://schemas.openxmlformats.org/officeDocument/2006/relationships/notesMaster" Target="/ppt/notesMasters/notesMaster1.xml" Id="R3a3d4ec22f0e425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55ca7ab3213460e" /><Relationship Type="http://schemas.openxmlformats.org/officeDocument/2006/relationships/notesMaster" Target="/ppt/notesMasters/notesMaster1.xml" Id="Red3d03c2a9f24f7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0a32aa3891448cf" /><Relationship Type="http://schemas.openxmlformats.org/officeDocument/2006/relationships/notesMaster" Target="/ppt/notesMasters/notesMaster1.xml" Id="R7a43bfe11a0645b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d294257183847d3" /><Relationship Type="http://schemas.openxmlformats.org/officeDocument/2006/relationships/notesMaster" Target="/ppt/notesMasters/notesMaster1.xml" Id="R609521e2eed4490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00692e2d53147a3" /><Relationship Type="http://schemas.openxmlformats.org/officeDocument/2006/relationships/notesMaster" Target="/ppt/notesMasters/notesMaster1.xml" Id="Rae8328b8b87c4a7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8ae9d4e2eb84e9d" /><Relationship Type="http://schemas.openxmlformats.org/officeDocument/2006/relationships/notesMaster" Target="/ppt/notesMasters/notesMaster1.xml" Id="R73c1f9cacec0475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ff926aca76c4c51" /><Relationship Type="http://schemas.openxmlformats.org/officeDocument/2006/relationships/notesMaster" Target="/ppt/notesMasters/notesMaster1.xml" Id="R1e4ec3504baa428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f4fb10d2dfa46af" /><Relationship Type="http://schemas.openxmlformats.org/officeDocument/2006/relationships/notesMaster" Target="/ppt/notesMasters/notesMaster1.xml" Id="Re3c687a167e24fa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c72782db3984875" /><Relationship Type="http://schemas.openxmlformats.org/officeDocument/2006/relationships/notesMaster" Target="/ppt/notesMasters/notesMaster1.xml" Id="R41be2b9fdfc14b7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8b9c84bee674420" /><Relationship Type="http://schemas.openxmlformats.org/officeDocument/2006/relationships/notesMaster" Target="/ppt/notesMasters/notesMaster1.xml" Id="R6037f4033e204b5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4aeb98a90f14715" /><Relationship Type="http://schemas.openxmlformats.org/officeDocument/2006/relationships/notesMaster" Target="/ppt/notesMasters/notesMaster1.xml" Id="Rc1e748667695418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e17f8716c234608" /><Relationship Type="http://schemas.openxmlformats.org/officeDocument/2006/relationships/notesMaster" Target="/ppt/notesMasters/notesMaster1.xml" Id="R95052bec5c774f8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3004c74ba924f5a" /><Relationship Type="http://schemas.openxmlformats.org/officeDocument/2006/relationships/notesMaster" Target="/ppt/notesMasters/notesMaster1.xml" Id="R089f7f001f94413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c91057da3334251" /><Relationship Type="http://schemas.openxmlformats.org/officeDocument/2006/relationships/notesMaster" Target="/ppt/notesMasters/notesMaster1.xml" Id="R237ec4863d734b7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1dc97daaee4457f" /><Relationship Type="http://schemas.openxmlformats.org/officeDocument/2006/relationships/notesMaster" Target="/ppt/notesMasters/notesMaster1.xml" Id="Radabb3db105344e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63a25f0885448aa" /><Relationship Type="http://schemas.openxmlformats.org/officeDocument/2006/relationships/notesMaster" Target="/ppt/notesMasters/notesMaster1.xml" Id="Re7988021c80343a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a8c47bfb38d4aa2" /><Relationship Type="http://schemas.openxmlformats.org/officeDocument/2006/relationships/notesMaster" Target="/ppt/notesMasters/notesMaster1.xml" Id="R346eda249b5741e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8a1ec538874445c" /><Relationship Type="http://schemas.openxmlformats.org/officeDocument/2006/relationships/notesMaster" Target="/ppt/notesMasters/notesMaster1.xml" Id="Rbc450e5429d34d7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4687828ef9a43d5" /><Relationship Type="http://schemas.openxmlformats.org/officeDocument/2006/relationships/notesMaster" Target="/ppt/notesMasters/notesMaster1.xml" Id="Ra734605563e9497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bf87fea1f2d48c3" /><Relationship Type="http://schemas.openxmlformats.org/officeDocument/2006/relationships/notesMaster" Target="/ppt/notesMasters/notesMaster1.xml" Id="Re31f82a4e49f40a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14e30e72d3646ea" /><Relationship Type="http://schemas.openxmlformats.org/officeDocument/2006/relationships/notesMaster" Target="/ppt/notesMasters/notesMaster1.xml" Id="Rb9f91a46621c46f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360f00ed3da4abe" /><Relationship Type="http://schemas.openxmlformats.org/officeDocument/2006/relationships/notesMaster" Target="/ppt/notesMasters/notesMaster1.xml" Id="R201f792ab8514f9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7e063c2baa74e93" /><Relationship Type="http://schemas.openxmlformats.org/officeDocument/2006/relationships/notesMaster" Target="/ppt/notesMasters/notesMaster1.xml" Id="R1a115d187feb4c5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6422348546c48ea" /><Relationship Type="http://schemas.openxmlformats.org/officeDocument/2006/relationships/notesMaster" Target="/ppt/notesMasters/notesMaster1.xml" Id="R51d80719451242b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90e1bebcda445c2" /><Relationship Type="http://schemas.openxmlformats.org/officeDocument/2006/relationships/notesMaster" Target="/ppt/notesMasters/notesMaster1.xml" Id="Rad3b5eaeb0cd459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9d2af1667d742ea" /><Relationship Type="http://schemas.openxmlformats.org/officeDocument/2006/relationships/notesMaster" Target="/ppt/notesMasters/notesMaster1.xml" Id="Rda6cd3d6f62b4d1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a770c6bfb024cfb" /><Relationship Type="http://schemas.openxmlformats.org/officeDocument/2006/relationships/notesMaster" Target="/ppt/notesMasters/notesMaster1.xml" Id="R4550d1d272e6433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676d5244c054f6a" /><Relationship Type="http://schemas.openxmlformats.org/officeDocument/2006/relationships/notesMaster" Target="/ppt/notesMasters/notesMaster1.xml" Id="Rdaac073d4261494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c9f5aaefd094621" /><Relationship Type="http://schemas.openxmlformats.org/officeDocument/2006/relationships/notesMaster" Target="/ppt/notesMasters/notesMaster1.xml" Id="R1fe8149620314ee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26779cb76a04779" /><Relationship Type="http://schemas.openxmlformats.org/officeDocument/2006/relationships/notesMaster" Target="/ppt/notesMasters/notesMaster1.xml" Id="R4c90708efa82473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60e4677286b4665" /><Relationship Type="http://schemas.openxmlformats.org/officeDocument/2006/relationships/notesMaster" Target="/ppt/notesMasters/notesMaster1.xml" Id="R3993fd269ec8446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3a3574a70b34a34" /><Relationship Type="http://schemas.openxmlformats.org/officeDocument/2006/relationships/notesMaster" Target="/ppt/notesMasters/notesMaster1.xml" Id="R1aaaa302d9a3405a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83f8388cac84eac" /><Relationship Type="http://schemas.openxmlformats.org/officeDocument/2006/relationships/notesMaster" Target="/ppt/notesMasters/notesMaster1.xml" Id="Rdb45ee64fde6455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5b7ff3d41534a52" /><Relationship Type="http://schemas.openxmlformats.org/officeDocument/2006/relationships/notesMaster" Target="/ppt/notesMasters/notesMaster1.xml" Id="R46fd57ce4e35412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d740250fe4064c26" /><Relationship Type="http://schemas.openxmlformats.org/officeDocument/2006/relationships/notesMaster" Target="/ppt/notesMasters/notesMaster1.xml" Id="Rd70772003c514e3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47f3c6a6b30146bc" /><Relationship Type="http://schemas.openxmlformats.org/officeDocument/2006/relationships/notesMaster" Target="/ppt/notesMasters/notesMaster1.xml" Id="R51dadf4686e043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本页目的：承接数字员工部署蓝图，把企业系统、身份权限、数据回写和运营看板接成持续优化闭环。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企业系统集成与数据闭环运营”。这一页要训练的不是记住一个系统集成术语，而是让FDE在企业现场能判断：数字员工要接入哪些系统、读取哪些字段、写回哪些结果、留下哪些日志、进入哪个运营看板。请先记住本页核心句：承接数字员工部署蓝图，把企业系统、身份权限、数据回写和运营看板接成持续优化闭环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系统版图；字段映射；事件触发；身份权限；日志观测；运营闭环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第5章要把第4章的数字员工部署蓝图推进到企业系统和数据运营。开场必须立清边界：本章不是单纯讲API，也不是技术架构炫技，而是训练FDE把系统接入、字段映射、身份权限、日志观测和运营复盘做成可交付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系统版图要用客户真实软件环境讲。销售场景可能有表单、企微、CRM、SCRM、BI和飞书/企微群；客服场景可能有官网、工单、知识库、企微和质检系统。FDE要问：哪个系统是事实源，哪个系统负责写回，哪个系统只是入口，哪个系统提供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【收束，约30秒】所以这一页最后要带走的不是“Chapter 05”这个标签，而是一个动作：下次客户说“数字员工已经能跑了”时，你要继续问它接入哪些系统、字段如何映射、谁授权、怎么回写、如何监控、如何复盘。明确本章边界后，我们先进入系统集成心法。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互动问题：请学员用一句话说明本页如何影响系统集成和数据闭环。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过渡语：明确本章边界后，我们先进入系统集成心法。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本页目的：本章训练FDE把数字员工从试点流程推进到企业系统和运营体系。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8课时学习路径”。这一页要训练的不是记住一个系统集成术语，而是让FDE在企业现场能判断：数字员工要接入哪些系统、读取哪些字段、写回哪些结果、留下哪些日志、进入哪个运营看板。请先记住本页核心句：本章训练FDE把数字员工从试点流程推进到企业系统和运营体系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集成契约；系统心法；数据模型；身份安全；事件触发；观测评估；成本SLA；平台工作坊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第5章要把第4章的数字员工部署蓝图推进到企业系统和数据运营。开场必须立清边界：本章不是单纯讲API，也不是技术架构炫技，而是训练FDE把系统接入、字段映射、身份权限、日志观测和运营复盘做成可交付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系统是谁，字段是什么，权限谁批，事件怎么来，日志在哪里，看板看什么，如何复盘。这样学员会形成系统集成与数据闭环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本章地图”这个标签，而是一个动作：下次客户说“数字员工已经能跑了”时，你要继续问它接入哪些系统、字段如何映射、谁授权、怎么回写、如何监控、如何复盘。明确本章边界后，我们先进入系统集成心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互动问题：请学员用一句话说明本页如何影响系统集成和数据闭环。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过渡语：明确本章边界后，我们先进入系统集成心法。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本页目的：第4章解决数字员工怎么工作，第5章解决它如何接入企业系统并持续运营。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从部署蓝图到系统闭环”。这一页要训练的不是记住一个系统集成术语，而是让FDE在企业现场能判断：数字员工要接入哪些系统、读取哪些字段、写回哪些结果、留下哪些日志、进入哪个运营看板。请先记住本页核心句：第4章解决数字员工怎么工作，第5章解决它如何接入企业系统并持续运营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岗位蓝图；系统接入；字段映射；事件触发；数据回写；运营复盘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第5章要把第4章的数字员工部署蓝图推进到企业系统和数据运营。开场必须立清边界：本章不是单纯讲API，也不是技术架构炫技，而是训练FDE把系统接入、字段映射、身份权限、日志观测和运营复盘做成可交付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系统版图要用客户真实软件环境讲。销售场景可能有表单、企微、CRM、SCRM、BI和飞书/企微群；客服场景可能有官网、工单、知识库、企微和质检系统。FDE要问：哪个系统是事实源，哪个系统负责写回，哪个系统只是入口，哪个系统提供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承接第4章”这个标签，而是一个动作：下次客户说“数字员工已经能跑了”时，你要继续问它接入哪些系统、字段如何映射、谁授权、怎么回写、如何监控、如何复盘。明确本章边界后，我们先进入系统集成心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互动问题：请学员用一句话说明本页如何影响系统集成和数据闭环。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过渡语：明确本章边界后，我们先进入系统集成心法。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本页目的：试点卡住通常不是模型问题，而是系统接入、数据质量、身份权限和运营责任没有闭环。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为什么很多数字员工试点无法规模化”。这一页要训练的不是记住一个系统集成术语，而是让FDE在企业现场能判断：数字员工要接入哪些系统、读取哪些字段、写回哪些结果、留下哪些日志、进入哪个运营看板。请先记住本页核心句：试点卡住通常不是模型问题，而是系统接入、数据质量、身份权限和运营责任没有闭环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数据手工导；字段对不上；权限审批慢；事件靠人触发；日志不可查；指标不复盘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第5章要把第4章的数字员工部署蓝图推进到企业系统和数据运营。开场必须立清边界：本章不是单纯讲API，也不是技术架构炫技，而是训练FDE把系统接入、字段映射、身份权限、日志观测和运营复盘做成可交付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系统是谁，字段是什么，权限谁批，事件怎么来，日志在哪里，看板看什么，如何复盘。这样学员会形成系统集成与数据闭环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失败案例”这个标签，而是一个动作：下次客户说“数字员工已经能跑了”时，你要继续问它接入哪些系统、字段如何映射、谁授权、怎么回写、如何监控、如何复盘。明确本章边界后，我们先进入系统集成心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互动问题：请学员用一句话说明本页如何影响系统集成和数据闭环。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过渡语：明确本章边界后，我们先进入系统集成心法。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本页目的：数字员工上线后必须把结果写回系统、形成日志、进入看板、驱动复盘和迭代。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没有数据闭环，就没有持续变好的数字员工”。这一页要训练的不是记住一个系统集成术语，而是让FDE在企业现场能判断：数字员工要接入哪些系统、读取哪些字段、写回哪些结果、留下哪些日志、进入哪个运营看板。请先记住本页核心句：数字员工上线后必须把结果写回系统、形成日志、进入看板、驱动复盘和迭代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写回；日志；看板；复盘；迭代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第5章要把第4章的数字员工部署蓝图推进到企业系统和数据运营。开场必须立清边界：本章不是单纯讲API，也不是技术架构炫技，而是训练FDE把系统接入、字段映射、身份权限、日志观测和运营复盘做成可交付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字段映射要讲得具体。客户ID、线索状态、负责人、跟进记录、成交阶段这些字段，在表单、企微和CRM里可能口径不同。FDE要让学员知道：字段映射不是技术细节，而是业务口径统一。口径不统一，AI写回越快，数据越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本章核心句”这个标签，而是一个动作：下次客户说“数字员工已经能跑了”时，你要继续问它接入哪些系统、字段如何映射、谁授权、怎么回写、如何监控、如何复盘。明确本章边界后，我们先进入系统集成心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互动问题：请学员用一句话说明本页如何影响系统集成和数据闭环。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过渡语：明确本章边界后，我们先进入系统集成心法。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本页目的：先看清企业系统版图，再设计数字员工接入边界。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系统集成心法”。这一页要训练的不是记住一个系统集成术语，而是让FDE在企业现场能判断：数字员工要接入哪些系统、读取哪些字段、写回哪些结果、留下哪些日志、进入哪个运营看板。请先记住本页核心句：先看清企业系统版图，再设计数字员工接入边界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系统；边界；成熟度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系统集成心法是本章地基。很多试点失败不是因为Agent不会，而是企业系统版图没有看清：数据在哪、Owner是谁、能不能读写、多久同步、出了问题谁负责。FDE要先看系统边界，再谈自动化深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系统版图要用客户真实软件环境讲。销售场景可能有表单、企微、CRM、SCRM、BI和飞书/企微群；客服场景可能有官网、工单、知识库、企微和质检系统。FDE要问：哪个系统是事实源，哪个系统负责写回，哪个系统只是入口，哪个系统提供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系统集成的核心是事实源。一个企业可能有多个系统记录客户信息，但必须判断哪个系统是主数据源，哪个系统只是入口或副本。数字员工必须围绕事实源行动，否则会把错误数据自动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【常见误区，约1分钟】不要把系统越多当作能力越强。系统越多，权限、字段、同步和运维成本越高。第一版只接闭环必需系统，才有机会快速上线。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1”这个标签，而是一个动作：下次客户说“数字员工已经能跑了”时，你要继续问它接入哪些系统、字段如何映射、谁授权、怎么回写、如何监控、如何复盘。系统版图清楚后，我们继续做数据模型和字段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互动问题：请学员画出一个数字员工会接触的系统版图，并标出事实源系统。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过渡语：系统版图清楚后，我们继续做数据模型和字段映射。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本页目的：FDE要知道数字员工通常会接触CRM、ERP、OA、HR、工单、企微和数据平台。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企业常见系统版图”。这一页要训练的不是记住一个系统集成术语，而是让FDE在企业现场能判断：数字员工要接入哪些系统、读取哪些字段、写回哪些结果、留下哪些日志、进入哪个运营看板。请先记住本页核心句：FDE要知道数字员工通常会接触CRM、ERP、OA、HR、工单、企微和数据平台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CRM：客户与销售；ERP：订单与库存；OA：审批与流程；HR：组织与账号；工单：服务闭环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系统集成心法是本章地基。很多试点失败不是因为Agent不会，而是企业系统版图没有看清：数据在哪、Owner是谁、能不能读写、多久同步、出了问题谁负责。FDE要先看系统边界，再谈自动化深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系统版图要用客户真实软件环境讲。销售场景可能有表单、企微、CRM、SCRM、BI和飞书/企微群；客服场景可能有官网、工单、知识库、企微和质检系统。FDE要问：哪个系统是事实源，哪个系统负责写回，哪个系统只是入口，哪个系统提供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系统集成的核心是事实源。一个企业可能有多个系统记录客户信息，但必须判断哪个系统是主数据源，哪个系统只是入口或副本。数字员工必须围绕事实源行动，否则会把错误数据自动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【常见误区，约1分钟】不要把系统越多当作能力越强。系统越多，权限、字段、同步和运维成本越高。第一版只接闭环必需系统，才有机会快速上线。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系统版图”这个标签，而是一个动作：下次客户说“数字员工已经能跑了”时，你要继续问它接入哪些系统、字段如何映射、谁授权、怎么回写、如何监控、如何复盘。系统版图清楚后，我们继续做数据模型和字段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互动问题：请学员画出一个数字员工会接触的系统版图，并标出事实源系统。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过渡语：系统版图清楚后，我们继续做数据模型和字段映射。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本页目的：第一版只接MVP闭环必需系统，避免范围膨胀和权限拖延。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集成不是把所有系统都接上”。这一页要训练的不是记住一个系统集成术语，而是让FDE在企业现场能判断：数字员工要接入哪些系统、读取哪些字段、写回哪些结果、留下哪些日志、进入哪个运营看板。请先记住本页核心句：第一版只接MVP闭环必需系统，避免范围膨胀和权限拖延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范围过大；权限拖延；接口不稳；维护无人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系统集成心法是本章地基。很多试点失败不是因为Agent不会，而是企业系统版图没有看清：数据在哪、Owner是谁、能不能读写、多久同步、出了问题谁负责。FDE要先看系统边界，再谈自动化深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系统版图要用客户真实软件环境讲。销售场景可能有表单、企微、CRM、SCRM、BI和飞书/企微群；客服场景可能有官网、工单、知识库、企微和质检系统。FDE要问：哪个系统是事实源，哪个系统负责写回，哪个系统只是入口，哪个系统提供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系统集成的核心是事实源。一个企业可能有多个系统记录客户信息，但必须判断哪个系统是主数据源，哪个系统只是入口或副本。数字员工必须围绕事实源行动，否则会把错误数据自动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【常见误区，约1分钟】不要把系统越多当作能力越强。系统越多，权限、字段、同步和运维成本越高。第一版只接闭环必需系统，才有机会快速上线。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误区”这个标签，而是一个动作：下次客户说“数字员工已经能跑了”时，你要继续问它接入哪些系统、字段如何映射、谁授权、怎么回写、如何监控、如何复盘。系统版图清楚后，我们继续做数据模型和字段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互动问题：请学员画出一个数字员工会接触的系统版图，并标出事实源系统。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过渡语：系统版图清楚后，我们继续做数据模型和字段映射。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本页目的：从人工导入到事件驱动，成熟度决定数字员工能自动化到什么程度。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企业系统集成四级成熟度”。这一页要训练的不是记住一个系统集成术语，而是让FDE在企业现场能判断：数字员工要接入哪些系统、读取哪些字段、写回哪些结果、留下哪些日志、进入哪个运营看板。请先记住本页核心句：从人工导入到事件驱动，成熟度决定数字员工能自动化到什么程度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【概念展开，约1分30秒】屏幕上的关键词是：L1人工导入导出；L2半自动同步；L3 API读写；L4事件驱动；L5数据运营闭环；FDE判断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系统集成心法是本章地基。很多试点失败不是因为Agent不会，而是企业系统版图没有看清：数据在哪、Owner是谁、能不能读写、多久同步、出了问题谁负责。FDE要先看系统边界，再谈自动化深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系统版图要用客户真实软件环境讲。销售场景可能有表单、企微、CRM、SCRM、BI和飞书/企微群；客服场景可能有官网、工单、知识库、企微和质检系统。FDE要问：哪个系统是事实源，哪个系统负责写回，哪个系统只是入口，哪个系统提供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系统集成的核心是事实源。一个企业可能有多个系统记录客户信息，但必须判断哪个系统是主数据源，哪个系统只是入口或副本。数字员工必须围绕事实源行动，否则会把错误数据自动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【常见误区，约1分钟】不要把系统越多当作能力越强。系统越多，权限、字段、同步和运维成本越高。第一版只接闭环必需系统，才有机会快速上线。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成熟度”这个标签，而是一个动作：下次客户说“数字员工已经能跑了”时，你要继续问它接入哪些系统、字段如何映射、谁授权、怎么回写、如何监控、如何复盘。系统版图清楚后，我们继续做数据模型和字段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互动问题：请学员画出一个数字员工会接触的系统版图，并标出事实源系统。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过渡语：系统版图清楚后，我们继续做数据模型和字段映射。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本页目的：每个接入系统都要写清Owner、接口、字段、权限、频率、日志和SLA。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系统集成契约”。这一页要训练的不是记住一个系统集成术语，而是让FDE在企业现场能判断：数字员工要接入哪些系统、读取哪些字段、写回哪些结果、留下哪些日志、进入哪个运营看板。请先记住本页核心句：每个接入系统都要写清Owner、接口、字段、权限、频率、日志和SLA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系统Owner；接口方式；读写字段；权限审批；同步频率；日志留存；SLA要求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系统集成心法是本章地基。很多试点失败不是因为Agent不会，而是企业系统版图没有看清：数据在哪、Owner是谁、能不能读写、多久同步、出了问题谁负责。FDE要先看系统边界，再谈自动化深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系统版图要用客户真实软件环境讲。销售场景可能有表单、企微、CRM、SCRM、BI和飞书/企微群；客服场景可能有官网、工单、知识库、企微和质检系统。FDE要问：哪个系统是事实源，哪个系统负责写回，哪个系统只是入口，哪个系统提供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系统集成的核心是事实源。一个企业可能有多个系统记录客户信息，但必须判断哪个系统是主数据源，哪个系统只是入口或副本。数字员工必须围绕事实源行动，否则会把错误数据自动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【常见误区，约1分钟】不要把系统越多当作能力越强。系统越多，权限、字段、同步和运维成本越高。第一版只接闭环必需系统，才有机会快速上线。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契约”这个标签，而是一个动作：下次客户说“数字员工已经能跑了”时，你要继续问它接入哪些系统、字段如何映射、谁授权、怎么回写、如何监控、如何复盘。系统版图清楚后，我们继续做数据模型和字段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互动问题：请学员画出一个数字员工会接触的系统版图，并标出事实源系统。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过渡语：系统版图清楚后，我们继续做数据模型和字段映射。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本页目的：学员把第4章数字员工部署包映射到企业系统版图。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画出数字员工系统版图”。这一页要训练的不是记住一个系统集成术语，而是让FDE在企业现场能判断：数字员工要接入哪些系统、读取哪些字段、写回哪些结果、留下哪些日志、进入哪个运营看板。请先记住本页核心句：学员把第4章数字员工部署包映射到企业系统版图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列系统；标Owner；标读写；标权限；标风险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系统集成心法是本章地基。很多试点失败不是因为Agent不会，而是企业系统版图没有看清：数据在哪、Owner是谁、能不能读写、多久同步、出了问题谁负责。FDE要先看系统边界，再谈自动化深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系统版图要用客户真实软件环境讲。销售场景可能有表单、企微、CRM、SCRM、BI和飞书/企微群；客服场景可能有官网、工单、知识库、企微和质检系统。FDE要问：哪个系统是事实源，哪个系统负责写回，哪个系统只是入口，哪个系统提供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这一页如果有练习，不要让学员泛泛讨论。先给30秒个人写，再给2分钟小组互相追问，最后请一组用60秒汇报。讲师点评时只追问三件事：第一，系统边界是否清楚；第二，字段和权限是否有证据；第三，回写和运营指标是否闭环。这样课堂才是集成训练，不是概念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系统集成的核心是事实源。一个企业可能有多个系统记录客户信息，但必须判断哪个系统是主数据源，哪个系统只是入口或副本。数字员工必须围绕事实源行动，否则会把错误数据自动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【常见误区，约1分钟】不要把系统越多当作能力越强。系统越多，权限、字段、同步和运维成本越高。第一版只接闭环必需系统，才有机会快速上线。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练习”这个标签，而是一个动作：下次客户说“数字员工已经能跑了”时，你要继续问它接入哪些系统、字段如何映射、谁授权、怎么回写、如何监控、如何复盘。系统版图清楚后，我们继续做数据模型和字段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互动问题：请学员画出一个数字员工会接触的系统版图，并标出事实源系统。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过渡语：系统版图清楚后，我们继续做数据模型和字段映射。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本页目的：数据闭环从对象模型和字段口径开始。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数据模型与字段映射”。这一页要训练的不是记住一个系统集成术语，而是让FDE在企业现场能判断：数字员工要接入哪些系统、读取哪些字段、写回哪些结果、留下哪些日志、进入哪个运营看板。请先记住本页核心句：数据闭环从对象模型和字段口径开始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对象；字段；质量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【为什么这样讲，约2分钟】数据模型决定数字员工是否能稳定判断和写回。字段名相同不代表业务含义相同，系统里有数据不代表可用。FDE要把对象、字段、主键、枚举、转换和校验讲清楚。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字段映射要讲得具体。客户ID、线索状态、负责人、跟进记录、成交阶段这些字段，在表单、企微和CRM里可能口径不同。FDE要让学员知道：字段映射不是技术细节，而是业务口径统一。口径不统一，AI写回越快，数据越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字段映射不是表格工作，而是业务口径治理。比如“客户状态”在市场系统里可能代表报名状态，在CRM里代表商机阶段，在客服系统里代表服务状态。FDE要让这些口径在数字员工流程里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【常见误区，约1分钟】不要相信“字段都有”。字段有值不代表值准确，准确不代表实时，实时不代表有权限给AI用。数据质量要逐项检查完整性、唯一性、一致性、及时性、准确性和可追溯。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2”这个标签，而是一个动作：下次客户说“数字员工已经能跑了”时，你要继续问它接入哪些系统、字段如何映射、谁授权、怎么回写、如何监控、如何复盘。字段口径清楚后，必须设计身份权限和安全边界。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互动问题：请学员选择一个业务对象，写出主键、核心字段、来源系统和校验规则。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过渡语：字段口径清楚后，必须设计身份权限和安全边界。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本页目的：先定义客户、线索、订单、工单、员工、产品等核心对象。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业务对象模型”。这一页要训练的不是记住一个系统集成术语，而是让FDE在企业现场能判断：数字员工要接入哪些系统、读取哪些字段、写回哪些结果、留下哪些日志、进入哪个运营看板。请先记住本页核心句：先定义客户、线索、订单、工单、员工、产品等核心对象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客户：主体；线索：机会；订单：交易；工单：服务；员工：责任人；产品：交付物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【为什么这样讲，约2分钟】数据模型决定数字员工是否能稳定判断和写回。字段名相同不代表业务含义相同，系统里有数据不代表可用。FDE要把对象、字段、主键、枚举、转换和校验讲清楚。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字段映射要讲得具体。客户ID、线索状态、负责人、跟进记录、成交阶段这些字段，在表单、企微和CRM里可能口径不同。FDE要让学员知道：字段映射不是技术细节，而是业务口径统一。口径不统一，AI写回越快，数据越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字段映射不是表格工作，而是业务口径治理。比如“客户状态”在市场系统里可能代表报名状态，在CRM里代表商机阶段，在客服系统里代表服务状态。FDE要让这些口径在数字员工流程里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【常见误区，约1分钟】不要相信“字段都有”。字段有值不代表值准确，准确不代表实时，实时不代表有权限给AI用。数据质量要逐项检查完整性、唯一性、一致性、及时性、准确性和可追溯。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对象”这个标签，而是一个动作：下次客户说“数字员工已经能跑了”时，你要继续问它接入哪些系统、字段如何映射、谁授权、怎么回写、如何监控、如何复盘。字段口径清楚后，必须设计身份权限和安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互动问题：请学员选择一个业务对象，写出主键、核心字段、来源系统和校验规则。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过渡语：字段口径清楚后，必须设计身份权限和安全边界。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本页目的：同一个字段在不同系统里可能含义不同，必须建立数据字典。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字段不是列名，而是业务口径”。这一页要训练的不是记住一个系统集成术语，而是让FDE在企业现场能判断：数字员工要接入哪些系统、读取哪些字段、写回哪些结果、留下哪些日志、进入哪个运营看板。请先记住本页核心句：同一个字段在不同系统里可能含义不同，必须建立数据字典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字段名；业务含义；来源系统；更新频率；Owner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【为什么这样讲，约2分钟】数据模型决定数字员工是否能稳定判断和写回。字段名相同不代表业务含义相同，系统里有数据不代表可用。FDE要把对象、字段、主键、枚举、转换和校验讲清楚。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字段映射要讲得具体。客户ID、线索状态、负责人、跟进记录、成交阶段这些字段，在表单、企微和CRM里可能口径不同。FDE要让学员知道：字段映射不是技术细节，而是业务口径统一。口径不统一，AI写回越快，数据越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字段映射不是表格工作，而是业务口径治理。比如“客户状态”在市场系统里可能代表报名状态，在CRM里代表商机阶段，在客服系统里代表服务状态。FDE要让这些口径在数字员工流程里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【常见误区，约1分钟】不要相信“字段都有”。字段有值不代表值准确，准确不代表实时，实时不代表有权限给AI用。数据质量要逐项检查完整性、唯一性、一致性、及时性、准确性和可追溯。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字段”这个标签，而是一个动作：下次客户说“数字员工已经能跑了”时，你要继续问它接入哪些系统、字段如何映射、谁授权、怎么回写、如何监控、如何复盘。字段口径清楚后，必须设计身份权限和安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互动问题：请学员选择一个业务对象，写出主键、核心字段、来源系统和校验规则。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过渡语：字段口径清楚后，必须设计身份权限和安全边界。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本页目的：AI读写系统前必须知道源字段、目标字段、转换规则和校验规则。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字段映射表”。这一页要训练的不是记住一个系统集成术语，而是让FDE在企业现场能判断：数字员工要接入哪些系统、读取哪些字段、写回哪些结果、留下哪些日志、进入哪个运营看板。请先记住本页核心句：AI读写系统前必须知道源字段、目标字段、转换规则和校验规则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客户ID→统一主键；线索状态→阶段枚举；跟进记录→文本+时间；销售负责人→员工ID；意向等级→评分规则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【为什么这样讲，约2分钟】数据模型决定数字员工是否能稳定判断和写回。字段名相同不代表业务含义相同，系统里有数据不代表可用。FDE要把对象、字段、主键、枚举、转换和校验讲清楚。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字段映射要讲得具体。客户ID、线索状态、负责人、跟进记录、成交阶段这些字段，在表单、企微和CRM里可能口径不同。FDE要让学员知道：字段映射不是技术细节，而是业务口径统一。口径不统一，AI写回越快，数据越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字段映射不是表格工作，而是业务口径治理。比如“客户状态”在市场系统里可能代表报名状态，在CRM里代表商机阶段，在客服系统里代表服务状态。FDE要让这些口径在数字员工流程里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【常见误区，约1分钟】不要相信“字段都有”。字段有值不代表值准确，准确不代表实时，实时不代表有权限给AI用。数据质量要逐项检查完整性、唯一性、一致性、及时性、准确性和可追溯。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映射”这个标签，而是一个动作：下次客户说“数字员工已经能跑了”时，你要继续问它接入哪些系统、字段如何映射、谁授权、怎么回写、如何监控、如何复盘。字段口径清楚后，必须设计身份权限和安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互动问题：请学员选择一个业务对象，写出主键、核心字段、来源系统和校验规则。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过渡语：字段口径清楚后，必须设计身份权限和安全边界。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本页目的：数据质量决定数字员工能否稳定判断和回写。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数据质量六项检查”。这一页要训练的不是记住一个系统集成术语，而是让FDE在企业现场能判断：数字员工要接入哪些系统、读取哪些字段、写回哪些结果、留下哪些日志、进入哪个运营看板。请先记住本页核心句：数据质量决定数字员工能否稳定判断和回写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完整性；唯一性；一致性；及时性；准确性；可追溯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【为什么这样讲，约2分钟】数据模型决定数字员工是否能稳定判断和写回。字段名相同不代表业务含义相同，系统里有数据不代表可用。FDE要把对象、字段、主键、枚举、转换和校验讲清楚。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字段映射要讲得具体。客户ID、线索状态、负责人、跟进记录、成交阶段这些字段，在表单、企微和CRM里可能口径不同。FDE要让学员知道：字段映射不是技术细节，而是业务口径统一。口径不统一，AI写回越快，数据越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字段映射不是表格工作，而是业务口径治理。比如“客户状态”在市场系统里可能代表报名状态，在CRM里代表商机阶段，在客服系统里代表服务状态。FDE要让这些口径在数字员工流程里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【常见误区，约1分钟】不要相信“字段都有”。字段有值不代表值准确，准确不代表实时，实时不代表有权限给AI用。数据质量要逐项检查完整性、唯一性、一致性、及时性、准确性和可追溯。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质量”这个标签，而是一个动作：下次客户说“数字员工已经能跑了”时，你要继续问它接入哪些系统、字段如何映射、谁授权、怎么回写、如何监控、如何复盘。字段口径清楚后，必须设计身份权限和安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互动问题：请学员选择一个业务对象，写出主键、核心字段、来源系统和校验规则。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过渡语：字段口径清楚后，必须设计身份权限和安全边界。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本页目的：用销售线索数字员工演示客户、线索、跟进、负责人和状态字段映射。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CRM字段映射案例”。这一页要训练的不是记住一个系统集成术语，而是让FDE在企业现场能判断：数字员工要接入哪些系统、读取哪些字段、写回哪些结果、留下哪些日志、进入哪个运营看板。请先记住本页核心句：用销售线索数字员工演示客户、线索、跟进、负责人和状态字段映射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表单线索；企微客户；CRM客户；销售负责人；跟进记录；转化状态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【为什么这样讲，约2分钟】数据模型决定数字员工是否能稳定判断和写回。字段名相同不代表业务含义相同，系统里有数据不代表可用。FDE要把对象、字段、主键、枚举、转换和校验讲清楚。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字段映射要讲得具体。客户ID、线索状态、负责人、跟进记录、成交阶段这些字段，在表单、企微和CRM里可能口径不同。FDE要让学员知道：字段映射不是技术细节，而是业务口径统一。口径不统一，AI写回越快，数据越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字段映射不是表格工作，而是业务口径治理。比如“客户状态”在市场系统里可能代表报名状态，在CRM里代表商机阶段，在客服系统里代表服务状态。FDE要让这些口径在数字员工流程里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【常见误区，约1分钟】不要相信“字段都有”。字段有值不代表值准确，准确不代表实时，实时不代表有权限给AI用。数据质量要逐项检查完整性、唯一性、一致性、及时性、准确性和可追溯。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案例”这个标签，而是一个动作：下次客户说“数字员工已经能跑了”时，你要继续问它接入哪些系统、字段如何映射、谁授权、怎么回写、如何监控、如何复盘。字段口径清楚后，必须设计身份权限和安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互动问题：请学员选择一个业务对象，写出主键、核心字段、来源系统和校验规则。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过渡语：字段口径清楚后，必须设计身份权限和安全边界。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本页目的：每组为一个数字员工流程设计核心对象和字段映射。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完成字段映射与数据字典”。这一页要训练的不是记住一个系统集成术语，而是让FDE在企业现场能判断：数字员工要接入哪些系统、读取哪些字段、写回哪些结果、留下哪些日志、进入哪个运营看板。请先记住本页核心句：每组为一个数字员工流程设计核心对象和字段映射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列对象；列字段；标来源；写转换；写校验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【为什么这样讲，约2分钟】数据模型决定数字员工是否能稳定判断和写回。字段名相同不代表业务含义相同，系统里有数据不代表可用。FDE要把对象、字段、主键、枚举、转换和校验讲清楚。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字段映射要讲得具体。客户ID、线索状态、负责人、跟进记录、成交阶段这些字段，在表单、企微和CRM里可能口径不同。FDE要让学员知道：字段映射不是技术细节，而是业务口径统一。口径不统一，AI写回越快，数据越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这一页如果有练习，不要让学员泛泛讨论。先给30秒个人写，再给2分钟小组互相追问，最后请一组用60秒汇报。讲师点评时只追问三件事：第一，系统边界是否清楚；第二，字段和权限是否有证据；第三，回写和运营指标是否闭环。这样课堂才是集成训练，不是概念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字段映射不是表格工作，而是业务口径治理。比如“客户状态”在市场系统里可能代表报名状态，在CRM里代表商机阶段，在客服系统里代表服务状态。FDE要让这些口径在数字员工流程里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【常见误区，约1分钟】不要相信“字段都有”。字段有值不代表值准确，准确不代表实时，实时不代表有权限给AI用。数据质量要逐项检查完整性、唯一性、一致性、及时性、准确性和可追溯。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练习”这个标签，而是一个动作：下次客户说“数字员工已经能跑了”时，你要继续问它接入哪些系统、字段如何映射、谁授权、怎么回写、如何监控、如何复盘。字段口径清楚后，必须设计身份权限和安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互动问题：请学员选择一个业务对象，写出主键、核心字段、来源系统和校验规则。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过渡语：字段口径清楚后，必须设计身份权限和安全边界。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本页目的：系统接入先过身份、权限和合规关。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身份权限与安全边界”。这一页要训练的不是记住一个系统集成术语，而是让FDE在企业现场能判断：数字员工要接入哪些系统、读取哪些字段、写回哪些结果、留下哪些日志、进入哪个运营看板。请先记住本页核心句：系统接入先过身份、权限和合规关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身份；权限；审计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【为什么这样讲，约2分钟】企业系统接入首先过身份和权限关。数字员工不能以一个万能账号到处读写，而要按用户、角色、租户、场景和动作做最小授权，并把每次读取和写回留在审计链里。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【怎么讲，约2分钟】身份权限要用最小授权讲。数字员工不能拿一个超级管理员账号操作所有系统，而要根据当前用户、组织、角色、数据范围和动作权限决定能看什么、能写什么。每次读写都要留审计链。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【概念加深，约1分钟】身份权限决定数字员工以谁的名义工作。它是替用户操作，还是以服务账号操作？能看哪些客户？能写哪些字段？每个问题都影响合规和责任。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【常见误区，约1分钟】不要用一个万能账号解决权限问题。万能账号演示方便，但生产风险最大。企业部署必须最小授权、按角色隔离、按动作审计。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3”这个标签，而是一个动作：下次客户说“数字员工已经能跑了”时，你要继续问它接入哪些系统、字段如何映射、谁授权、怎么回写、如何监控、如何复盘。身份权限明确后，我们把数字员工接入事件触发和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互动问题：请学员为一个角色设计能读、能写、能审批和禁止访问的数据范围。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过渡语：身份权限明确后，我们把数字员工接入事件触发和业务流程。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本页目的：数字员工必须知道当前用户是谁、属于哪个组织、拥有哪些角色。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统一身份与SSO”。这一页要训练的不是记住一个系统集成术语，而是让FDE在企业现场能判断：数字员工要接入哪些系统、读取哪些字段、写回哪些结果、留下哪些日志、进入哪个运营看板。请先记住本页核心句：数字员工必须知道当前用户是谁、属于哪个组织、拥有哪些角色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用户身份；组织架构；岗位角色；租户边界；会话来源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【为什么这样讲，约2分钟】企业系统接入首先过身份和权限关。数字员工不能以一个万能账号到处读写，而要按用户、角色、租户、场景和动作做最小授权，并把每次读取和写回留在审计链里。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【怎么讲，约2分钟】身份权限要用最小授权讲。数字员工不能拿一个超级管理员账号操作所有系统，而要根据当前用户、组织、角色、数据范围和动作权限决定能看什么、能写什么。每次读写都要留审计链。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【概念加深，约1分钟】身份权限决定数字员工以谁的名义工作。它是替用户操作，还是以服务账号操作？能看哪些客户？能写哪些字段？每个问题都影响合规和责任。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【常见误区，约1分钟】不要用一个万能账号解决权限问题。万能账号演示方便，但生产风险最大。企业部署必须最小授权、按角色隔离、按动作审计。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身份”这个标签，而是一个动作：下次客户说“数字员工已经能跑了”时，你要继续问它接入哪些系统、字段如何映射、谁授权、怎么回写、如何监控、如何复盘。身份权限明确后，我们把数字员工接入事件触发和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互动问题：请学员为一个角色设计能读、能写、能审批和禁止访问的数据范围。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过渡语：身份权限明确后，我们把数字员工接入事件触发和业务流程。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本页目的：按角色、属性、场景和动作共同决定AI能读写什么。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讲师逐字稿：【开场，约40秒】各位看这一页，标题是“RBAC / ABAC 权限模型”。这一页要训练的不是记住一个系统集成术语，而是让FDE在企业现场能判断：数字员工要接入哪些系统、读取哪些字段、写回哪些结果、留下哪些日志、进入哪个运营看板。请先记住本页核心句：按角色、属性、场景和动作共同决定AI能读写什么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角色权限；数据范围；动作权限；场景条件；审批状态；最小授权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【为什么这样讲，约2分钟】企业系统接入首先过身份和权限关。数字员工不能以一个万能账号到处读写，而要按用户、角色、租户、场景和动作做最小授权，并把每次读取和写回留在审计链里。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【怎么讲，约2分钟】身份权限要用最小授权讲。数字员工不能拿一个超级管理员账号操作所有系统，而要根据当前用户、组织、角色、数据范围和动作权限决定能看什么、能写什么。每次读写都要留审计链。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【概念加深，约1分钟】身份权限决定数字员工以谁的名义工作。它是替用户操作，还是以服务账号操作？能看哪些客户？能写哪些字段？每个问题都影响合规和责任。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【常见误区，约1分钟】不要用一个万能账号解决权限问题。万能账号演示方便，但生产风险最大。企业部署必须最小授权、按角色隔离、按动作审计。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权限”这个标签，而是一个动作：下次客户说“数字员工已经能跑了”时，你要继续问它接入哪些系统、字段如何映射、谁授权、怎么回写、如何监控、如何复盘。身份权限明确后，我们把数字员工接入事件触发和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互动问题：请学员为一个角色设计能读、能写、能审批和禁止访问的数据范围。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过渡语：身份权限明确后，我们把数字员工接入事件触发和业务流程。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本页目的：客户、合同、财务、人事、研发资料必须分级处理。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敏感数据分级与最小权限”。这一页要训练的不是记住一个系统集成术语，而是让FDE在企业现场能判断：数字员工要接入哪些系统、读取哪些字段、写回哪些结果、留下哪些日志、进入哪个运营看板。请先记住本页核心句：客户、合同、财务、人事、研发资料必须分级处理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公开；内部；敏感；高敏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【为什么这样讲，约2分钟】企业系统接入首先过身份和权限关。数字员工不能以一个万能账号到处读写，而要按用户、角色、租户、场景和动作做最小授权，并把每次读取和写回留在审计链里。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字段映射要讲得具体。客户ID、线索状态、负责人、跟进记录、成交阶段这些字段，在表单、企微和CRM里可能口径不同。FDE要让学员知道：字段映射不是技术细节，而是业务口径统一。口径不统一，AI写回越快，数据越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【概念加深，约1分钟】身份权限决定数字员工以谁的名义工作。它是替用户操作，还是以服务账号操作？能看哪些客户？能写哪些字段？每个问题都影响合规和责任。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【常见误区，约1分钟】不要用一个万能账号解决权限问题。万能账号演示方便，但生产风险最大。企业部署必须最小授权、按角色隔离、按动作审计。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数据安全”这个标签，而是一个动作：下次客户说“数字员工已经能跑了”时，你要继续问它接入哪些系统、字段如何映射、谁授权、怎么回写、如何监控、如何复盘。身份权限明确后，我们把数字员工接入事件触发和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互动问题：请学员为一个角色设计能读、能写、能审批和禁止访问的数据范围。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过渡语：身份权限明确后，我们把数字员工接入事件触发和业务流程。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本页目的：能不用明文就不用明文，能本地处理就不出域。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脱敏、隔离与出域控制”。这一页要训练的不是记住一个系统集成术语，而是让FDE在企业现场能判断：数字员工要接入哪些系统、读取哪些字段、写回哪些结果、留下哪些日志、进入哪个运营看板。请先记住本页核心句：能不用明文就不用明文，能本地处理就不出域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字段脱敏；日志脱敏；租户隔离；数据出域；保留周期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【为什么这样讲，约2分钟】企业系统接入首先过身份和权限关。数字员工不能以一个万能账号到处读写，而要按用户、角色、租户、场景和动作做最小授权，并把每次读取和写回留在审计链里。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系统是谁，字段是什么，权限谁批，事件怎么来，日志在哪里，看板看什么，如何复盘。这样学员会形成系统集成与数据闭环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【概念加深，约1分钟】身份权限决定数字员工以谁的名义工作。它是替用户操作，还是以服务账号操作？能看哪些客户？能写哪些字段？每个问题都影响合规和责任。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【常见误区，约1分钟】不要用一个万能账号解决权限问题。万能账号演示方便，但生产风险最大。企业部署必须最小授权、按角色隔离、按动作审计。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脱敏”这个标签，而是一个动作：下次客户说“数字员工已经能跑了”时，你要继续问它接入哪些系统、字段如何映射、谁授权、怎么回写、如何监控、如何复盘。身份权限明确后，我们把数字员工接入事件触发和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互动问题：请学员为一个角色设计能读、能写、能审批和禁止访问的数据范围。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过渡语：身份权限明确后，我们把数字员工接入事件触发和业务流程。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本页目的：每次读取、生成、调用、写回和审批都要可追踪。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审计链设计”。这一页要训练的不是记住一个系统集成术语，而是让FDE在企业现场能判断：数字员工要接入哪些系统、读取哪些字段、写回哪些结果、留下哪些日志、进入哪个运营看板。请先记住本页核心句：每次读取、生成、调用、写回和审批都要可追踪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谁触发→身份；看什么→数据范围；做什么→工具动作；谁批准→审批人；结果→写回位置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【为什么这样讲，约2分钟】企业系统接入首先过身份和权限关。数字员工不能以一个万能账号到处读写，而要按用户、角色、租户、场景和动作做最小授权，并把每次读取和写回留在审计链里。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【怎么讲，约2分钟】身份权限要用最小授权讲。数字员工不能拿一个超级管理员账号操作所有系统，而要根据当前用户、组织、角色、数据范围和动作权限决定能看什么、能写什么。每次读写都要留审计链。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【概念加深，约1分钟】身份权限决定数字员工以谁的名义工作。它是替用户操作，还是以服务账号操作？能看哪些客户？能写哪些字段？每个问题都影响合规和责任。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【常见误区，约1分钟】不要用一个万能账号解决权限问题。万能账号演示方便，但生产风险最大。企业部署必须最小授权、按角色隔离、按动作审计。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审计”这个标签，而是一个动作：下次客户说“数字员工已经能跑了”时，你要继续问它接入哪些系统、字段如何映射、谁授权、怎么回写、如何监控、如何复盘。身份权限明确后，我们把数字员工接入事件触发和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互动问题：请学员为一个角色设计能读、能写、能审批和禁止访问的数据范围。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过渡语：身份权限明确后，我们把数字员工接入事件触发和业务流程。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本页目的：学员为一个数字员工写出角色、数据范围、动作权限和日志要求。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设计权限矩阵和审计链”。这一页要训练的不是记住一个系统集成术语，而是让FDE在企业现场能判断：数字员工要接入哪些系统、读取哪些字段、写回哪些结果、留下哪些日志、进入哪个运营看板。请先记住本页核心句：学员为一个数字员工写出角色、数据范围、动作权限和日志要求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列角色；标数据范围；标动作权限；写审批；写审计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【为什么这样讲，约2分钟】企业系统接入首先过身份和权限关。数字员工不能以一个万能账号到处读写，而要按用户、角色、租户、场景和动作做最小授权，并把每次读取和写回留在审计链里。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【怎么讲，约2分钟】身份权限要用最小授权讲。数字员工不能拿一个超级管理员账号操作所有系统，而要根据当前用户、组织、角色、数据范围和动作权限决定能看什么、能写什么。每次读写都要留审计链。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【概念加深，约1分钟】身份权限决定数字员工以谁的名义工作。它是替用户操作，还是以服务账号操作？能看哪些客户？能写哪些字段？每个问题都影响合规和责任。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【常见误区，约1分钟】不要用一个万能账号解决权限问题。万能账号演示方便，但生产风险最大。企业部署必须最小授权、按角色隔离、按动作审计。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练习”这个标签，而是一个动作：下次客户说“数字员工已经能跑了”时，你要继续问它接入哪些系统、字段如何映射、谁授权、怎么回写、如何监控、如何复盘。身份权限明确后，我们把数字员工接入事件触发和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互动问题：请学员为一个角色设计能读、能写、能审批和禁止访问的数据范围。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过渡语：身份权限明确后，我们把数字员工接入事件触发和业务流程。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本页目的：让数字员工从被动聊天进入业务事件流。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事件驱动与流程触发”。这一页要训练的不是记住一个系统集成术语，而是让FDE在企业现场能判断：数字员工要接入哪些系统、读取哪些字段、写回哪些结果、留下哪些日志、进入哪个运营看板。请先记住本页核心句：让数字员工从被动聊天进入业务事件流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事件；队列；回写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【为什么这样讲，约2分钟】事件驱动让数字员工从被动聊天进入业务流。企微消息、CRM状态、工单变化、OA审批、定时任务都可以触发流程，但事件系统必须处理重复、乱序、超时和失败补偿。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事件触发要从被动问答升级为业务流。比如工单创建、线索状态变化、OA审批通过、库存低于阈值，都可以触发数字员工。讲师要提醒：事件系统必须处理重复、乱序、超时和失败补偿，不然自动化会制造混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【概念加深，约1分钟】事件驱动让数字员工离开聊天框，进入业务系统。它不是等人问，而是在业务状态变化时主动响应。事件触发越清楚，自动化越可靠。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【常见误区，约1分钟】事件不是收到一次就一定处理一次。生产系统要处理重复事件、乱序事件、延迟事件和失败事件。没有幂等和补偿，事件驱动很容易变成事故驱动。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4”这个标签，而是一个动作：下次客户说“数字员工已经能跑了”时，你要继续问它接入哪些系统、字段如何映射、谁授权、怎么回写、如何监控、如何复盘。事件闭环设计好之后，我们进入日志观测、评估和运营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互动问题：请学员设计一个事件触发流程，并说明重复事件如何处理。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过渡语：事件闭环设计好之后，我们进入日志观测、评估和运营复盘。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本页目的：系统事件触发数字员工，数字员工处理后把结果写回系统。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事件驱动流程”。这一页要训练的不是记住一个系统集成术语，而是让FDE在企业现场能判断：数字员工要接入哪些系统、读取哪些字段、写回哪些结果、留下哪些日志、进入哪个运营看板。请先记住本页核心句：系统事件触发数字员工，数字员工处理后把结果写回系统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事件产生；消息队列；身份校验；上下文加载；工具执行；结果回写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【为什么这样讲，约2分钟】事件驱动让数字员工从被动聊天进入业务流。企微消息、CRM状态、工单变化、OA审批、定时任务都可以触发流程，但事件系统必须处理重复、乱序、超时和失败补偿。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事件触发要从被动问答升级为业务流。比如工单创建、线索状态变化、OA审批通过、库存低于阈值，都可以触发数字员工。讲师要提醒：事件系统必须处理重复、乱序、超时和失败补偿，不然自动化会制造混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【概念加深，约1分钟】事件驱动让数字员工离开聊天框，进入业务系统。它不是等人问，而是在业务状态变化时主动响应。事件触发越清楚，自动化越可靠。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【常见误区，约1分钟】事件不是收到一次就一定处理一次。生产系统要处理重复事件、乱序事件、延迟事件和失败事件。没有幂等和补偿，事件驱动很容易变成事故驱动。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事件流”这个标签，而是一个动作：下次客户说“数字员工已经能跑了”时，你要继续问它接入哪些系统、字段如何映射、谁授权、怎么回写、如何监控、如何复盘。事件闭环设计好之后，我们进入日志观测、评估和运营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互动问题：请学员设计一个事件触发流程，并说明重复事件如何处理。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过渡语：事件闭环设计好之后，我们进入日志观测、评估和运营复盘。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本页目的：触发可以来自企微消息、CRM状态、工单变更、OA审批、定时任务和异常预警。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常见触发源”。这一页要训练的不是记住一个系统集成术语，而是让FDE在企业现场能判断：数字员工要接入哪些系统、读取哪些字段、写回哪些结果、留下哪些日志、进入哪个运营看板。请先记住本页核心句：触发可以来自企微消息、CRM状态、工单变更、OA审批、定时任务和异常预警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企微消息；CRM状态；工单变更；OA审批；定时任务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【为什么这样讲，约2分钟】事件驱动让数字员工从被动聊天进入业务流。企微消息、CRM状态、工单变化、OA审批、定时任务都可以触发流程，但事件系统必须处理重复、乱序、超时和失败补偿。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事件触发要从被动问答升级为业务流。比如工单创建、线索状态变化、OA审批通过、库存低于阈值，都可以触发数字员工。讲师要提醒：事件系统必须处理重复、乱序、超时和失败补偿，不然自动化会制造混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【概念加深，约1分钟】事件驱动让数字员工离开聊天框，进入业务系统。它不是等人问，而是在业务状态变化时主动响应。事件触发越清楚，自动化越可靠。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【常见误区，约1分钟】事件不是收到一次就一定处理一次。生产系统要处理重复事件、乱序事件、延迟事件和失败事件。没有幂等和补偿，事件驱动很容易变成事故驱动。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触发源”这个标签，而是一个动作：下次客户说“数字员工已经能跑了”时，你要继续问它接入哪些系统、字段如何映射、谁授权、怎么回写、如何监控、如何复盘。事件闭环设计好之后，我们进入日志观测、评估和运营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互动问题：请学员设计一个事件触发流程，并说明重复事件如何处理。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过渡语：事件闭环设计好之后，我们进入日志观测、评估和运营复盘。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本页目的：不同任务对实时性、成本和可靠性的要求不同。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同步、异步与批处理”。这一页要训练的不是记住一个系统集成术语，而是让FDE在企业现场能判断：数字员工要接入哪些系统、读取哪些字段、写回哪些结果、留下哪些日志、进入哪个运营看板。请先记住本页核心句：不同任务对实时性、成本和可靠性的要求不同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同步：即时反馈；异步：可靠处理；批处理：低成本；Webhook：事件触发；队列：削峰；补偿：失败恢复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【为什么这样讲，约2分钟】事件驱动让数字员工从被动聊天进入业务流。企微消息、CRM状态、工单变化、OA审批、定时任务都可以触发流程，但事件系统必须处理重复、乱序、超时和失败补偿。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事件触发要从被动问答升级为业务流。比如工单创建、线索状态变化、OA审批通过、库存低于阈值，都可以触发数字员工。讲师要提醒：事件系统必须处理重复、乱序、超时和失败补偿，不然自动化会制造混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【概念加深，约1分钟】事件驱动让数字员工离开聊天框，进入业务系统。它不是等人问，而是在业务状态变化时主动响应。事件触发越清楚，自动化越可靠。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【常见误区，约1分钟】事件不是收到一次就一定处理一次。生产系统要处理重复事件、乱序事件、延迟事件和失败事件。没有幂等和补偿，事件驱动很容易变成事故驱动。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同步”这个标签，而是一个动作：下次客户说“数字员工已经能跑了”时，你要继续问它接入哪些系统、字段如何映射、谁授权、怎么回写、如何监控、如何复盘。事件闭环设计好之后，我们进入日志观测、评估和运营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互动问题：请学员设计一个事件触发流程，并说明重复事件如何处理。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过渡语：事件闭环设计好之后，我们进入日志观测、评估和运营复盘。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本页目的：客服工单进入后，数字员工分类、查知识、生成建议、转人工或回写结果。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工单自动分派与回写”。这一页要训练的不是记住一个系统集成术语，而是让FDE在企业现场能判断：数字员工要接入哪些系统、读取哪些字段、写回哪些结果、留下哪些日志、进入哪个运营看板。请先记住本页核心句：客服工单进入后，数字员工分类、查知识、生成建议、转人工或回写结果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工单创建；自动分类；知识检索；回复草稿；人工确认；状态回写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【为什么这样讲，约2分钟】事件驱动让数字员工从被动聊天进入业务流。企微消息、CRM状态、工单变化、OA审批、定时任务都可以触发流程，但事件系统必须处理重复、乱序、超时和失败补偿。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系统是谁，字段是什么，权限谁批，事件怎么来，日志在哪里，看板看什么，如何复盘。这样学员会形成系统集成与数据闭环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【概念加深，约1分钟】事件驱动让数字员工离开聊天框，进入业务系统。它不是等人问，而是在业务状态变化时主动响应。事件触发越清楚，自动化越可靠。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【常见误区，约1分钟】事件不是收到一次就一定处理一次。生产系统要处理重复事件、乱序事件、延迟事件和失败事件。没有幂等和补偿，事件驱动很容易变成事故驱动。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案例”这个标签，而是一个动作：下次客户说“数字员工已经能跑了”时，你要继续问它接入哪些系统、字段如何映射、谁授权、怎么回写、如何监控、如何复盘。事件闭环设计好之后，我们进入日志观测、评估和运营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互动问题：请学员设计一个事件触发流程，并说明重复事件如何处理。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过渡语：事件闭环设计好之后，我们进入日志观测、评估和运营复盘。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本页目的：事件系统必须处理重复、乱序、超时和失败恢复。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事件幂等与补偿机制”。这一页要训练的不是记住一个系统集成术语，而是让FDE在企业现场能判断：数字员工要接入哪些系统、读取哪些字段、写回哪些结果、留下哪些日志、进入哪个运营看板。请先记住本页核心句：事件系统必须处理重复、乱序、超时和失败恢复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重复事件→幂等Key；乱序事件→状态检查；超时事件→重试；失败事件→补偿；死信队列→人工处理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【为什么这样讲，约2分钟】事件驱动让数字员工从被动聊天进入业务流。企微消息、CRM状态、工单变化、OA审批、定时任务都可以触发流程，但事件系统必须处理重复、乱序、超时和失败补偿。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事件触发要从被动问答升级为业务流。比如工单创建、线索状态变化、OA审批通过、库存低于阈值，都可以触发数字员工。讲师要提醒：事件系统必须处理重复、乱序、超时和失败补偿，不然自动化会制造混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【概念加深，约1分钟】事件驱动让数字员工离开聊天框，进入业务系统。它不是等人问，而是在业务状态变化时主动响应。事件触发越清楚，自动化越可靠。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【常见误区，约1分钟】事件不是收到一次就一定处理一次。生产系统要处理重复事件、乱序事件、延迟事件和失败事件。没有幂等和补偿，事件驱动很容易变成事故驱动。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幂等”这个标签，而是一个动作：下次客户说“数字员工已经能跑了”时，你要继续问它接入哪些系统、字段如何映射、谁授权、怎么回写、如何监控、如何复盘。事件闭环设计好之后，我们进入日志观测、评估和运营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互动问题：请学员设计一个事件触发流程，并说明重复事件如何处理。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过渡语：事件闭环设计好之后，我们进入日志观测、评估和运营复盘。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本页目的：每组选择一个触发源，设计事件、处理、回写和失败补偿。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设计一个事件驱动闭环”。这一页要训练的不是记住一个系统集成术语，而是让FDE在企业现场能判断：数字员工要接入哪些系统、读取哪些字段、写回哪些结果、留下哪些日志、进入哪个运营看板。请先记住本页核心句：每组选择一个触发源，设计事件、处理、回写和失败补偿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选触发源；写事件字段；写处理步骤；写回写；写补偿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【为什么这样讲，约2分钟】事件驱动让数字员工从被动聊天进入业务流。企微消息、CRM状态、工单变化、OA审批、定时任务都可以触发流程，但事件系统必须处理重复、乱序、超时和失败补偿。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事件触发要从被动问答升级为业务流。比如工单创建、线索状态变化、OA审批通过、库存低于阈值，都可以触发数字员工。讲师要提醒：事件系统必须处理重复、乱序、超时和失败补偿，不然自动化会制造混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这一页如果有练习，不要让学员泛泛讨论。先给30秒个人写，再给2分钟小组互相追问，最后请一组用60秒汇报。讲师点评时只追问三件事：第一，系统边界是否清楚；第二，字段和权限是否有证据；第三，回写和运营指标是否闭环。这样课堂才是集成训练，不是概念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【概念加深，约1分钟】事件驱动让数字员工离开聊天框，进入业务系统。它不是等人问，而是在业务状态变化时主动响应。事件触发越清楚，自动化越可靠。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【常见误区，约1分钟】事件不是收到一次就一定处理一次。生产系统要处理重复事件、乱序事件、延迟事件和失败事件。没有幂等和补偿，事件驱动很容易变成事故驱动。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练习”这个标签，而是一个动作：下次客户说“数字员工已经能跑了”时，你要继续问它接入哪些系统、字段如何映射、谁授权、怎么回写、如何监控、如何复盘。事件闭环设计好之后，我们进入日志观测、评估和运营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互动问题：请学员设计一个事件触发流程，并说明重复事件如何处理。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过渡语：事件闭环设计好之后，我们进入日志观测、评估和运营复盘。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本页目的：上线后能不能变好，取决于能不能看见真实运行。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日志观测与评估运营”。这一页要训练的不是记住一个系统集成术语，而是让FDE在企业现场能判断：数字员工要接入哪些系统、读取哪些字段、写回哪些结果、留下哪些日志、进入哪个运营看板。请先记住本页核心句：上线后能不能变好，取决于能不能看见真实运行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日志；指标；评估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【为什么这样讲，约2分钟】上线后能不能持续变好，取决于能不能看见真实运行。日志、指标、评估、告警和复盘是数字员工运营的基础。没有观测，就没有优化；没有复盘，就没有复制。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【怎么讲，约2分钟】观测运营要讲成业务资产。日志不是给工程师看的杂项，而是判断数字员工是否有效、是否安全、是否值得扩大的证据。FDE要让学员把日志转成看板，把失败样本转成改进任务。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【概念加深，约1分钟】观测运营把数字员工从项目交付变成持续服务。日志是证据，指标是方向，告警是安全网，复盘是进化机制。没有这些，数字员工上线后会慢慢失控或失效。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【常见误区，约1分钟】不要只看调用次数。调用多不代表有价值，真正要看任务完成率、采纳率、错误率、接管率、成本和业务指标变化。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5”这个标签，而是一个动作：下次客户说“数字员工已经能跑了”时，你要继续问它接入哪些系统、字段如何映射、谁授权、怎么回写、如何监控、如何复盘。运营看板建立后，还要控制成本、性能和SLA。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互动问题：请学员设计三项质量指标、两项业务指标和一个告警阈值。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过渡语：运营看板建立后，还要控制成本、性能和SLA。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本页目的：日志记录触发、上下文、工具、输出、人审和结果。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运行日志不是技术细节，是运营资产”。这一页要训练的不是记住一个系统集成术语，而是让FDE在企业现场能判断：数字员工要接入哪些系统、读取哪些字段、写回哪些结果、留下哪些日志、进入哪个运营看板。请先记住本页核心句：日志记录触发、上下文、工具、输出、人审和结果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触发日志；上下文日志；工具日志；输出日志；人审日志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【为什么这样讲，约2分钟】上线后能不能持续变好，取决于能不能看见真实运行。日志、指标、评估、告警和复盘是数字员工运营的基础。没有观测，就没有优化；没有复盘，就没有复制。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【怎么讲，约2分钟】观测运营要讲成业务资产。日志不是给工程师看的杂项，而是判断数字员工是否有效、是否安全、是否值得扩大的证据。FDE要让学员把日志转成看板，把失败样本转成改进任务。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【概念加深，约1分钟】观测运营把数字员工从项目交付变成持续服务。日志是证据，指标是方向，告警是安全网，复盘是进化机制。没有这些，数字员工上线后会慢慢失控或失效。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【常见误区，约1分钟】不要只看调用次数。调用多不代表有价值，真正要看任务完成率、采纳率、错误率、接管率、成本和业务指标变化。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日志”这个标签，而是一个动作：下次客户说“数字员工已经能跑了”时，你要继续问它接入哪些系统、字段如何映射、谁授权、怎么回写、如何监控、如何复盘。运营看板建立后，还要控制成本、性能和SL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互动问题：请学员设计三项质量指标、两项业务指标和一个告警阈值。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过渡语：运营看板建立后，还要控制成本、性能和SLA。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本页目的：同时观察业务价值、质量、风险、成本和体验。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数字员工运营指标”。这一页要训练的不是记住一个系统集成术语，而是让FDE在企业现场能判断：数字员工要接入哪些系统、读取哪些字段、写回哪些结果、留下哪些日志、进入哪个运营看板。请先记住本页核心句：同时观察业务价值、质量、风险、成本和体验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完成率：闭环；采纳率：有效；接管率：边界；错误率：质量；成本：调用；满意度：体验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【为什么这样讲，约2分钟】上线后能不能持续变好，取决于能不能看见真实运行。日志、指标、评估、告警和复盘是数字员工运营的基础。没有观测，就没有优化；没有复盘，就没有复制。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系统是谁，字段是什么，权限谁批，事件怎么来，日志在哪里，看板看什么，如何复盘。这样学员会形成系统集成与数据闭环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【概念加深，约1分钟】观测运营把数字员工从项目交付变成持续服务。日志是证据，指标是方向，告警是安全网，复盘是进化机制。没有这些，数字员工上线后会慢慢失控或失效。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【常见误区，约1分钟】不要只看调用次数。调用多不代表有价值，真正要看任务完成率、采纳率、错误率、接管率、成本和业务指标变化。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指标”这个标签，而是一个动作：下次客户说“数字员工已经能跑了”时，你要继续问它接入哪些系统、字段如何映射、谁授权、怎么回写、如何监控、如何复盘。运营看板建立后，还要控制成本、性能和SL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互动问题：请学员设计三项质量指标、两项业务指标和一个告警阈值。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过渡语：运营看板建立后，还要控制成本、性能和SLA。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本页目的：离线测试集防回归，线上指标看真实价值。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线上评估与离线评估”。这一页要训练的不是记住一个系统集成术语，而是让FDE在企业现场能判断：数字员工要接入哪些系统、读取哪些字段、写回哪些结果、留下哪些日志、进入哪个运营看板。请先记住本页核心句：离线测试集防回归，线上指标看真实价值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离线测试→版本发布前；线上抽检→真实样本；人工评分→质量标注；用户反馈→体验；业务指标→价值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【为什么这样讲，约2分钟】上线后能不能持续变好，取决于能不能看见真实运行。日志、指标、评估、告警和复盘是数字员工运营的基础。没有观测，就没有优化；没有复盘，就没有复制。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【怎么讲，约2分钟】观测运营要讲成业务资产。日志不是给工程师看的杂项，而是判断数字员工是否有效、是否安全、是否值得扩大的证据。FDE要让学员把日志转成看板，把失败样本转成改进任务。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【概念加深，约1分钟】观测运营把数字员工从项目交付变成持续服务。日志是证据，指标是方向，告警是安全网，复盘是进化机制。没有这些，数字员工上线后会慢慢失控或失效。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【常见误区，约1分钟】不要只看调用次数。调用多不代表有价值，真正要看任务完成率、采纳率、错误率、接管率、成本和业务指标变化。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评估”这个标签，而是一个动作：下次客户说“数字员工已经能跑了”时，你要继续问它接入哪些系统、字段如何映射、谁授权、怎么回写、如何监控、如何复盘。运营看板建立后，还要控制成本、性能和SL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互动问题：请学员设计三项质量指标、两项业务指标和一个告警阈值。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过渡语：运营看板建立后，还要控制成本、性能和SLA。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本页目的：把错误、成本、延迟、越权、工具失败和用户投诉分级处理。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异常告警分级”。这一页要训练的不是记住一个系统集成术语，而是让FDE在企业现场能判断：数字员工要接入哪些系统、读取哪些字段、写回哪些结果、留下哪些日志、进入哪个运营看板。请先记住本页核心句：把错误、成本、延迟、越权、工具失败和用户投诉分级处理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P0事故；P1高风险；P2质量问题；P3体验问题；成本异常；延迟异常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【为什么这样讲，约2分钟】上线后能不能持续变好，取决于能不能看见真实运行。日志、指标、评估、告警和复盘是数字员工运营的基础。没有观测，就没有优化；没有复盘，就没有复制。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系统是谁，字段是什么，权限谁批，事件怎么来，日志在哪里，看板看什么，如何复盘。这样学员会形成系统集成与数据闭环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【概念加深，约1分钟】观测运营把数字员工从项目交付变成持续服务。日志是证据，指标是方向，告警是安全网，复盘是进化机制。没有这些，数字员工上线后会慢慢失控或失效。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【常见误区，约1分钟】不要只看调用次数。调用多不代表有价值，真正要看任务完成率、采纳率、错误率、接管率、成本和业务指标变化。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告警”这个标签，而是一个动作：下次客户说“数字员工已经能跑了”时，你要继续问它接入哪些系统、字段如何映射、谁授权、怎么回写、如何监控、如何复盘。运营看板建立后，还要控制成本、性能和SL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互动问题：请学员设计三项质量指标、两项业务指标和一个告警阈值。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过渡语：运营看板建立后，还要控制成本、性能和SLA。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本页目的：业务流程、数据字段、政策和用户行为变化都会让数字员工退化。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流程漂移与数据漂移”。这一页要训练的不是记住一个系统集成术语，而是让FDE在企业现场能判断：数字员工要接入哪些系统、读取哪些字段、写回哪些结果、留下哪些日志、进入哪个运营看板。请先记住本页核心句：业务流程、数据字段、政策和用户行为变化都会让数字员工退化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流程变了；字段变了；政策变了；用户变了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【为什么这样讲，约2分钟】上线后能不能持续变好，取决于能不能看见真实运行。日志、指标、评估、告警和复盘是数字员工运营的基础。没有观测，就没有优化；没有复盘，就没有复制。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字段映射要讲得具体。客户ID、线索状态、负责人、跟进记录、成交阶段这些字段，在表单、企微和CRM里可能口径不同。FDE要让学员知道：字段映射不是技术细节，而是业务口径统一。口径不统一，AI写回越快，数据越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【概念加深，约1分钟】观测运营把数字员工从项目交付变成持续服务。日志是证据，指标是方向，告警是安全网，复盘是进化机制。没有这些，数字员工上线后会慢慢失控或失效。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【常见误区，约1分钟】不要只看调用次数。调用多不代表有价值，真正要看任务完成率、采纳率、错误率、接管率、成本和业务指标变化。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漂移”这个标签，而是一个动作：下次客户说“数字员工已经能跑了”时，你要继续问它接入哪些系统、字段如何映射、谁授权、怎么回写、如何监控、如何复盘。运营看板建立后，还要控制成本、性能和SL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互动问题：请学员设计三项质量指标、两项业务指标和一个告警阈值。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过渡语：运营看板建立后，还要控制成本、性能和SLA。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本页目的：FDE要组织业务、技术、运营围绕数据做改进。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每周运营复盘会”。这一页要训练的不是记住一个系统集成术语，而是让FDE在企业现场能判断：数字员工要接入哪些系统、读取哪些字段、写回哪些结果、留下哪些日志、进入哪个运营看板。请先记住本页核心句：FDE要组织业务、技术、运营围绕数据做改进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看指标；看失败样本；看接管原因；更新知识；调工具；定下周动作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【为什么这样讲，约2分钟】上线后能不能持续变好，取决于能不能看见真实运行。日志、指标、评估、告警和复盘是数字员工运营的基础。没有观测，就没有优化；没有复盘，就没有复制。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【怎么讲，约2分钟】观测运营要讲成业务资产。日志不是给工程师看的杂项，而是判断数字员工是否有效、是否安全、是否值得扩大的证据。FDE要让学员把日志转成看板，把失败样本转成改进任务。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【概念加深，约1分钟】观测运营把数字员工从项目交付变成持续服务。日志是证据，指标是方向，告警是安全网，复盘是进化机制。没有这些，数字员工上线后会慢慢失控或失效。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【常见误区，约1分钟】不要只看调用次数。调用多不代表有价值，真正要看任务完成率、采纳率、错误率、接管率、成本和业务指标变化。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复盘”这个标签，而是一个动作：下次客户说“数字员工已经能跑了”时，你要继续问它接入哪些系统、字段如何映射、谁授权、怎么回写、如何监控、如何复盘。运营看板建立后，还要控制成本、性能和SL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互动问题：请学员设计三项质量指标、两项业务指标和一个告警阈值。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过渡语：运营看板建立后，还要控制成本、性能和SLA。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本页目的：每组为数字员工设计一张上线运营看板。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设计运营看板和复盘机制”。这一页要训练的不是记住一个系统集成术语，而是让FDE在企业现场能判断：数字员工要接入哪些系统、读取哪些字段、写回哪些结果、留下哪些日志、进入哪个运营看板。请先记住本页核心句：每组为数字员工设计一张上线运营看板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选指标；定阈值；定告警；定复盘；定Owner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【为什么这样讲，约2分钟】上线后能不能持续变好，取决于能不能看见真实运行。日志、指标、评估、告警和复盘是数字员工运营的基础。没有观测，就没有优化；没有复盘，就没有复制。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【怎么讲，约2分钟】观测运营要讲成业务资产。日志不是给工程师看的杂项，而是判断数字员工是否有效、是否安全、是否值得扩大的证据。FDE要让学员把日志转成看板，把失败样本转成改进任务。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【概念加深，约1分钟】观测运营把数字员工从项目交付变成持续服务。日志是证据，指标是方向，告警是安全网，复盘是进化机制。没有这些，数字员工上线后会慢慢失控或失效。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【常见误区，约1分钟】不要只看调用次数。调用多不代表有价值，真正要看任务完成率、采纳率、错误率、接管率、成本和业务指标变化。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练习”这个标签，而是一个动作：下次客户说“数字员工已经能跑了”时，你要继续问它接入哪些系统、字段如何映射、谁授权、怎么回写、如何监控、如何复盘。运营看板建立后，还要控制成本、性能和SL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互动问题：请学员设计三项质量指标、两项业务指标和一个告警阈值。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过渡语：运营看板建立后，还要控制成本、性能和SLA。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本页目的：企业部署必须同时控制体验、成本、稳定性和服务等级。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成本性能与SLA运维”。这一页要训练的不是记住一个系统集成术语，而是让FDE在企业现场能判断：数字员工要接入哪些系统、读取哪些字段、写回哪些结果、留下哪些日志、进入哪个运营看板。请先记住本页核心句：企业部署必须同时控制体验、成本、稳定性和服务等级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成本；性能；SLA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【为什么这样讲，约1分30秒】企业部署不能只追求效果，还要控制延迟、成本、并发和服务等级。FDE要让学员理解：模型路由、缓存、降级、限流和人工兜底都是交付方案的一部分。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成本和SLA要用交付语言讲。客户不只关心答案好不好，还关心响应多快、一天能处理多少、调用成本多少、系统慢了怎么办、模型贵了怎么办。FDE要能设计模型路由、缓存、限流、降级和人工兜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【概念加深，约1分钟】AI系统的成本不只是Token。还包括检索、存储、工具调用、人工审核、运维监控、失败重试和客户等待成本。FDE要用总成本视角设计方案。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【常见误区，约1分钟】不要所有任务都用最强模型。低风险分类、简单抽取、高频查询可以用轻量模型或规则；复杂推理和高价值任务才使用强模型，并保留人审。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6”这个标签，而是一个动作：下次客户说“数字员工已经能跑了”时，你要继续问它接入哪些系统、字段如何映射、谁授权、怎么回写、如何监控、如何复盘。成本与SLA讲完后，我们把方法映射到Claude、OpenAI、腾讯和WEI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互动问题：请学员为一个数字员工写出延迟目标、成本阈值和降级策略。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过渡语：成本与SLA讲完后，我们把方法映射到Claude、OpenAI、腾讯和WEI体系。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本页目的：总成本包括模型调用、检索、工具、存储、人工审核和运维。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AI成本不是只看Token”。这一页要训练的不是记住一个系统集成术语，而是让FDE在企业现场能判断：数字员工要接入哪些系统、读取哪些字段、写回哪些结果、留下哪些日志、进入哪个运营看板。请先记住本页核心句：总成本包括模型调用、检索、工具、存储、人工审核和运维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模型调用；检索；工具；存储；人工审核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【为什么这样讲，约1分30秒】企业部署不能只追求效果，还要控制延迟、成本、并发和服务等级。FDE要让学员理解：模型路由、缓存、降级、限流和人工兜底都是交付方案的一部分。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成本和SLA要用交付语言讲。客户不只关心答案好不好，还关心响应多快、一天能处理多少、调用成本多少、系统慢了怎么办、模型贵了怎么办。FDE要能设计模型路由、缓存、限流、降级和人工兜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【概念加深，约1分钟】AI系统的成本不只是Token。还包括检索、存储、工具调用、人工审核、运维监控、失败重试和客户等待成本。FDE要用总成本视角设计方案。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【常见误区，约1分钟】不要所有任务都用最强模型。低风险分类、简单抽取、高频查询可以用轻量模型或规则；复杂推理和高价值任务才使用强模型，并保留人审。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成本”这个标签，而是一个动作：下次客户说“数字员工已经能跑了”时，你要继续问它接入哪些系统、字段如何映射、谁授权、怎么回写、如何监控、如何复盘。成本与SLA讲完后，我们把方法映射到Claude、OpenAI、腾讯和WEI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互动问题：请学员为一个数字员工写出延迟目标、成本阈值和降级策略。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过渡语：成本与SLA讲完后，我们把方法映射到Claude、OpenAI、腾讯和WEI体系。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本页目的：不同任务允许的延迟不同，不能用同一套体验标准。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延迟与体验设计”。这一页要训练的不是记住一个系统集成术语，而是让FDE在企业现场能判断：数字员工要接入哪些系统、读取哪些字段、写回哪些结果、留下哪些日志、进入哪个运营看板。请先记住本页核心句：不同任务允许的延迟不同，不能用同一套体验标准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即时问答；后台处理；批量任务；审批流程；长文分析；异步通知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【为什么这样讲，约1分30秒】企业部署不能只追求效果，还要控制延迟、成本、并发和服务等级。FDE要让学员理解：模型路由、缓存、降级、限流和人工兜底都是交付方案的一部分。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系统是谁，字段是什么，权限谁批，事件怎么来，日志在哪里，看板看什么，如何复盘。这样学员会形成系统集成与数据闭环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【概念加深，约1分钟】AI系统的成本不只是Token。还包括检索、存储、工具调用、人工审核、运维监控、失败重试和客户等待成本。FDE要用总成本视角设计方案。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【常见误区，约1分钟】不要所有任务都用最强模型。低风险分类、简单抽取、高频查询可以用轻量模型或规则；复杂推理和高价值任务才使用强模型，并保留人审。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性能”这个标签，而是一个动作：下次客户说“数字员工已经能跑了”时，你要继续问它接入哪些系统、字段如何映射、谁授权、怎么回写、如何监控、如何复盘。成本与SLA讲完后，我们把方法映射到Claude、OpenAI、腾讯和WEI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互动问题：请学员为一个数字员工写出延迟目标、成本阈值和降级策略。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过渡语：成本与SLA讲完后，我们把方法映射到Claude、OpenAI、腾讯和WEI体系。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本页目的：生产系统要准备慢、错、断、贵四类情况。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SLA、降级与熔断”。这一页要训练的不是记住一个系统集成术语，而是让FDE在企业现场能判断：数字员工要接入哪些系统、读取哪些字段、写回哪些结果、留下哪些日志、进入哪个运营看板。请先记住本页核心句：生产系统要准备慢、错、断、贵四类情况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慢：降级；错：回滚；断：熔断；贵：限流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【为什么这样讲，约1分30秒】企业部署不能只追求效果，还要控制延迟、成本、并发和服务等级。FDE要让学员理解：模型路由、缓存、降级、限流和人工兜底都是交付方案的一部分。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成本和SLA要用交付语言讲。客户不只关心答案好不好，还关心响应多快、一天能处理多少、调用成本多少、系统慢了怎么办、模型贵了怎么办。FDE要能设计模型路由、缓存、限流、降级和人工兜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【概念加深，约1分钟】AI系统的成本不只是Token。还包括检索、存储、工具调用、人工审核、运维监控、失败重试和客户等待成本。FDE要用总成本视角设计方案。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【常见误区，约1分钟】不要所有任务都用最强模型。低风险分类、简单抽取、高频查询可以用轻量模型或规则；复杂推理和高价值任务才使用强模型，并保留人审。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SLA”这个标签，而是一个动作：下次客户说“数字员工已经能跑了”时，你要继续问它接入哪些系统、字段如何映射、谁授权、怎么回写、如何监控、如何复盘。成本与SLA讲完后，我们把方法映射到Claude、OpenAI、腾讯和WEI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互动问题：请学员为一个数字员工写出延迟目标、成本阈值和降级策略。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过渡语：成本与SLA讲完后，我们把方法映射到Claude、OpenAI、腾讯和WEI体系。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本页目的：按任务风险、复杂度、成本和时效选择模型和缓存。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模型路由与缓存策略”。这一页要训练的不是记住一个系统集成术语，而是让FDE在企业现场能判断：数字员工要接入哪些系统、读取哪些字段、写回哪些结果、留下哪些日志、进入哪个运营看板。请先记住本页核心句：按任务风险、复杂度、成本和时效选择模型和缓存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低风险→轻量模型；复杂推理→强模型；稳定上下文→缓存；实时状态→工具查；高风险→人审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【为什么这样讲，约1分30秒】企业部署不能只追求效果，还要控制延迟、成本、并发和服务等级。FDE要让学员理解：模型路由、缓存、降级、限流和人工兜底都是交付方案的一部分。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成本和SLA要用交付语言讲。客户不只关心答案好不好，还关心响应多快、一天能处理多少、调用成本多少、系统慢了怎么办、模型贵了怎么办。FDE要能设计模型路由、缓存、限流、降级和人工兜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【概念加深，约1分钟】AI系统的成本不只是Token。还包括检索、存储、工具调用、人工审核、运维监控、失败重试和客户等待成本。FDE要用总成本视角设计方案。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【常见误区，约1分钟】不要所有任务都用最强模型。低风险分类、简单抽取、高频查询可以用轻量模型或规则；复杂推理和高价值任务才使用强模型，并保留人审。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路由”这个标签，而是一个动作：下次客户说“数字员工已经能跑了”时，你要继续问它接入哪些系统、字段如何映射、谁授权、怎么回写、如何监控、如何复盘。成本与SLA讲完后，我们把方法映射到Claude、OpenAI、腾讯和WEI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互动问题：请学员为一个数字员工写出延迟目标、成本阈值和降级策略。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过渡语：成本与SLA讲完后，我们把方法映射到Claude、OpenAI、腾讯和WEI体系。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本页目的：上线后要考虑峰值任务、限流、排队和人工兜底。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并发、限流与排队”。这一页要训练的不是记住一个系统集成术语，而是让FDE在企业现场能判断：数字员工要接入哪些系统、读取哪些字段、写回哪些结果、留下哪些日志、进入哪个运营看板。请先记住本页核心句：上线后要考虑峰值任务、限流、排队和人工兜底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峰值预测；并发限制；任务队列；超时告警；人工兜底；容量扩展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【为什么这样讲，约1分30秒】企业部署不能只追求效果，还要控制延迟、成本、并发和服务等级。FDE要让学员理解：模型路由、缓存、降级、限流和人工兜底都是交付方案的一部分。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成本和SLA要用交付语言讲。客户不只关心答案好不好，还关心响应多快、一天能处理多少、调用成本多少、系统慢了怎么办、模型贵了怎么办。FDE要能设计模型路由、缓存、限流、降级和人工兜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【概念加深，约1分钟】AI系统的成本不只是Token。还包括检索、存储、工具调用、人工审核、运维监控、失败重试和客户等待成本。FDE要用总成本视角设计方案。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【常见误区，约1分钟】不要所有任务都用最强模型。低风险分类、简单抽取、高频查询可以用轻量模型或规则；复杂推理和高价值任务才使用强模型，并保留人审。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容量”这个标签，而是一个动作：下次客户说“数字员工已经能跑了”时，你要继续问它接入哪些系统、字段如何映射、谁授权、怎么回写、如何监控、如何复盘。成本与SLA讲完后，我们把方法映射到Claude、OpenAI、腾讯和WEI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互动问题：请学员为一个数字员工写出延迟目标、成本阈值和降级策略。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过渡语：成本与SLA讲完后，我们把方法映射到Claude、OpenAI、腾讯和WEI体系。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本页目的：学员为一个数字员工写出延迟目标、成本阈值、降级策略和告警规则。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设计SLA与成本控制方案”。这一页要训练的不是记住一个系统集成术语，而是让FDE在企业现场能判断：数字员工要接入哪些系统、读取哪些字段、写回哪些结果、留下哪些日志、进入哪个运营看板。请先记住本页核心句：学员为一个数字员工写出延迟目标、成本阈值、降级策略和告警规则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延迟目标；成本阈值；模型路由；缓存策略；降级动作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【为什么这样讲，约1分30秒】企业部署不能只追求效果，还要控制延迟、成本、并发和服务等级。FDE要让学员理解：模型路由、缓存、降级、限流和人工兜底都是交付方案的一部分。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成本和SLA要用交付语言讲。客户不只关心答案好不好，还关心响应多快、一天能处理多少、调用成本多少、系统慢了怎么办、模型贵了怎么办。FDE要能设计模型路由、缓存、限流、降级和人工兜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【概念加深，约1分钟】AI系统的成本不只是Token。还包括检索、存储、工具调用、人工审核、运维监控、失败重试和客户等待成本。FDE要用总成本视角设计方案。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【常见误区，约1分钟】不要所有任务都用最强模型。低风险分类、简单抽取、高频查询可以用轻量模型或规则；复杂推理和高价值任务才使用强模型，并保留人审。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练习”这个标签，而是一个动作：下次客户说“数字员工已经能跑了”时，你要继续问它接入哪些系统、字段如何映射、谁授权、怎么回写、如何监控、如何复盘。成本与SLA讲完后，我们把方法映射到Claude、OpenAI、腾讯和WEI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互动问题：请学员为一个数字员工写出延迟目标、成本阈值和降级策略。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过渡语：成本与SLA讲完后，我们把方法映射到Claude、OpenAI、腾讯和WEI体系。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本页目的：把系统集成抽象落到Claude、OpenAI、腾讯和WEI交付体系。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平台实践与集成工作坊”。这一页要训练的不是记住一个系统集成术语，而是让FDE在企业现场能判断：数字员工要接入哪些系统、读取哪些字段、写回哪些结果、留下哪些日志、进入哪个运营看板。请先记住本页核心句：把系统集成抽象落到Claude、OpenAI、腾讯和WEI交付体系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平台；交付；运营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WEI生态能力都会更新，抽象不变：系统、对象、字段、身份、事件、日志、看板。工作坊要证明学员能交付系统集成与运营闭环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系统版图要用客户真实软件环境讲。销售场景可能有表单、企微、CRM、SCRM、BI和飞书/企微群；客服场景可能有官网、工单、知识库、企微和质检系统。FDE要问：哪个系统是事实源，哪个系统负责写回，哪个系统只是入口，哪个系统提供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平台实践要用同一张系统集成图映射：Claude可强调MCP与工具连接，OpenAI可强调Agents、Tools、Tracing和Evals，腾讯可强调ADP、CloudBase、企微和企业云，WEI体系可强调模型聚合、数字员工代养和运营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【常见误区，约1分钟】不要让学员认为系统集成必须先大规模私有化。很多第一版闭环可以通过轻量API、Webhook、表格、企微和半自动同步跑起来，关键是边界清楚、指标清楚、可持续优化。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7”这个标签，而是一个动作：下次客户说“数字员工已经能跑了”时，你要继续问它接入哪些系统、字段如何映射、谁授权、怎么回写、如何监控、如何复盘。下一章会进一步进入企业AI项目交付管理、客户成功和商业化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互动问题：请学员说明同一个集成闭环如何落到Claude、OpenAI、腾讯和WEI BOT。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过渡语：下一章会进一步进入企业AI项目交付管理、客户成功和商业化复制。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本页目的：Claude可通过工具使用和MCP式连接思路接入外部系统。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Claude体系：MCP、工具使用与企业连接”。这一页要训练的不是记住一个系统集成术语，而是让FDE在企业现场能判断：数字员工要接入哪些系统、读取哪些字段、写回哪些结果、留下哪些日志、进入哪个运营看板。请先记住本页核心句：Claude可通过工具使用和MCP式连接思路接入外部系统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【概念展开，约1分30秒】屏幕上的关键词是：MCP；Tool use；长上下文；Prompt缓存；人工确认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WEI生态能力都会更新，抽象不变：系统、对象、字段、身份、事件、日志、看板。工作坊要证明学员能交付系统集成与运营闭环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【怎么讲，约2分钟】平台对照要避免站队。Claude的MCP和工具使用、OpenAI的Agents和Tracing、腾讯的ADP与CloudBase、WEI BOT的数字员工代养，都可以承载系统集成闭环。FDE要能把同一份系统集成方案迁移到不同平台。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平台实践要用同一张系统集成图映射：Claude可强调MCP与工具连接，OpenAI可强调Agents、Tools、Tracing和Evals，腾讯可强调ADP、CloudBase、企微和企业云，WEI体系可强调模型聚合、数字员工代养和运营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【常见误区，约1分钟】不要让学员认为系统集成必须先大规模私有化。很多第一版闭环可以通过轻量API、Webhook、表格、企微和半自动同步跑起来，关键是边界清楚、指标清楚、可持续优化。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Claude”这个标签，而是一个动作：下次客户说“数字员工已经能跑了”时，你要继续问它接入哪些系统、字段如何映射、谁授权、怎么回写、如何监控、如何复盘。下一章会进一步进入企业AI项目交付管理、客户成功和商业化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互动问题：请学员说明同一个集成闭环如何落到Claude、OpenAI、腾讯和WEI BOT。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过渡语：下一章会进一步进入企业AI项目交付管理、客户成功和商业化复制。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本页目的：OpenAI生态适合工具化Agent、运行追踪、评估和可观测性。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OpenAI体系：Agents、Tools、Tracing与评估”。这一页要训练的不是记住一个系统集成术语，而是让FDE在企业现场能判断：数字员工要接入哪些系统、读取哪些字段、写回哪些结果、留下哪些日志、进入哪个运营看板。请先记住本页核心句：OpenAI生态适合工具化Agent、运行追踪、评估和可观测性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【概念展开，约1分30秒】屏幕上的关键词是：Agents；Tools；Tracing；Evals；File Search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WEI生态能力都会更新，抽象不变：系统、对象、字段、身份、事件、日志、看板。工作坊要证明学员能交付系统集成与运营闭环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【怎么讲，约2分钟】观测运营要讲成业务资产。日志不是给工程师看的杂项，而是判断数字员工是否有效、是否安全、是否值得扩大的证据。FDE要让学员把日志转成看板，把失败样本转成改进任务。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平台实践要用同一张系统集成图映射：Claude可强调MCP与工具连接，OpenAI可强调Agents、Tools、Tracing和Evals，腾讯可强调ADP、CloudBase、企微和企业云，WEI体系可强调模型聚合、数字员工代养和运营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【常见误区，约1分钟】不要让学员认为系统集成必须先大规模私有化。很多第一版闭环可以通过轻量API、Webhook、表格、企微和半自动同步跑起来，关键是边界清楚、指标清楚、可持续优化。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OpenAI”这个标签，而是一个动作：下次客户说“数字员工已经能跑了”时，你要继续问它接入哪些系统、字段如何映射、谁授权、怎么回写、如何监控、如何复盘。下一章会进一步进入企业AI项目交付管理、客户成功和商业化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互动问题：请学员说明同一个集成闭环如何落到Claude、OpenAI、腾讯和WEI BOT。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过渡语：下一章会进一步进入企业AI项目交付管理、客户成功和商业化复制。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本页目的：腾讯生态贴近国内企业系统、应用开发、知识库和企微入口。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腾讯体系：ADP、CloudBase、企微与企业云”。这一页要训练的不是记住一个系统集成术语，而是让FDE在企业现场能判断：数字员工要接入哪些系统、读取哪些字段、写回哪些结果、留下哪些日志、进入哪个运营看板。请先记住本页核心句：腾讯生态贴近国内企业系统、应用开发、知识库和企微入口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ADP；CloudBase；企微；知识库；工作流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WEI生态能力都会更新，抽象不变：系统、对象、字段、身份、事件、日志、看板。工作坊要证明学员能交付系统集成与运营闭环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【怎么讲，约2分钟】平台对照要避免站队。Claude的MCP和工具使用、OpenAI的Agents和Tracing、腾讯的ADP与CloudBase、WEI BOT的数字员工代养，都可以承载系统集成闭环。FDE要能把同一份系统集成方案迁移到不同平台。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平台实践要用同一张系统集成图映射：Claude可强调MCP与工具连接，OpenAI可强调Agents、Tools、Tracing和Evals，腾讯可强调ADP、CloudBase、企微和企业云，WEI体系可强调模型聚合、数字员工代养和运营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【常见误区，约1分钟】不要让学员认为系统集成必须先大规模私有化。很多第一版闭环可以通过轻量API、Webhook、表格、企微和半自动同步跑起来，关键是边界清楚、指标清楚、可持续优化。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腾讯”这个标签，而是一个动作：下次客户说“数字员工已经能跑了”时，你要继续问它接入哪些系统、字段如何映射、谁授权、怎么回写、如何监控、如何复盘。下一章会进一步进入企业AI项目交付管理、客户成功和商业化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互动问题：请学员说明同一个集成闭环如何落到Claude、OpenAI、腾讯和WEI BOT。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过渡语：下一章会进一步进入企业AI项目交付管理、客户成功和商业化复制。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本页目的：WEI体系可把模型算力、数字员工代养、咨询交付和孵化运营合成闭环。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WEI数字员工运营闭环”。这一页要训练的不是记住一个系统集成术语，而是让FDE在企业现场能判断：数字员工要接入哪些系统、读取哪些字段、写回哪些结果、留下哪些日志、进入哪个运营看板。请先记住本页核心句：WEI体系可把模型算力、数字员工代养、咨询交付和孵化运营合成闭环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【概念展开，约1分30秒】屏幕上的关键词是：WEI API；WEI BOT；WEI CONSULTING；WEI SPACE；WEI CAPITAL；OPC模板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WEI生态能力都会更新，抽象不变：系统、对象、字段、身份、事件、日志、看板。工作坊要证明学员能交付系统集成与运营闭环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【怎么讲，约2分钟】平台对照要避免站队。Claude的MCP和工具使用、OpenAI的Agents和Tracing、腾讯的ADP与CloudBase、WEI BOT的数字员工代养，都可以承载系统集成闭环。FDE要能把同一份系统集成方案迁移到不同平台。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平台实践要用同一张系统集成图映射：Claude可强调MCP与工具连接，OpenAI可强调Agents、Tools、Tracing和Evals，腾讯可强调ADP、CloudBase、企微和企业云，WEI体系可强调模型聚合、数字员工代养和运营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【常见误区，约1分钟】不要让学员认为系统集成必须先大规模私有化。很多第一版闭环可以通过轻量API、Webhook、表格、企微和半自动同步跑起来，关键是边界清楚、指标清楚、可持续优化。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WEI”这个标签，而是一个动作：下次客户说“数字员工已经能跑了”时，你要继续问它接入哪些系统、字段如何映射、谁授权、怎么回写、如何监控、如何复盘。下一章会进一步进入企业AI项目交付管理、客户成功和商业化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互动问题：请学员说明同一个集成闭环如何落到Claude、OpenAI、腾讯和WEI BOT。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过渡语：下一章会进一步进入企业AI项目交付管理、客户成功和商业化复制。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本页目的：把企微、表单、CRM、知识库、运营看板和WEI BOT连接成完整闭环。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销售数字员工系统集成蓝图”。这一页要训练的不是记住一个系统集成术语，而是让FDE在企业现场能判断：数字员工要接入哪些系统、读取哪些字段、写回哪些结果、留下哪些日志、进入哪个运营看板。请先记住本页核心句：把企微、表单、CRM、知识库、运营看板和WEI BOT连接成完整闭环。接下来我会把它落到系统版图、数据模型、身份权限、事件触发和运营闭环上。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【概念展开，约1分30秒】屏幕上的关键词是：企微入口；表单线索；CRM读写；知识库；运营看板；WEI BOT代养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WEI生态能力都会更新，抽象不变：系统、对象、字段、身份、事件、日志、看板。工作坊要证明学员能交付系统集成与运营闭环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系统版图要用客户真实软件环境讲。销售场景可能有表单、企微、CRM、SCRM、BI和飞书/企微群；客服场景可能有官网、工单、知识库、企微和质检系统。FDE要问：哪个系统是事实源，哪个系统负责写回，哪个系统只是入口，哪个系统提供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平台实践要用同一张系统集成图映射：Claude可强调MCP与工具连接，OpenAI可强调Agents、Tools、Tracing和Evals，腾讯可强调ADP、CloudBase、企微和企业云，WEI体系可强调模型聚合、数字员工代养和运营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【常见误区，约1分钟】不要让学员认为系统集成必须先大规模私有化。很多第一版闭环可以通过轻量API、Webhook、表格、企微和半自动同步跑起来，关键是边界清楚、指标清楚、可持续优化。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案例”这个标签，而是一个动作：下次客户说“数字员工已经能跑了”时，你要继续问它接入哪些系统、字段如何映射、谁授权、怎么回写、如何监控、如何复盘。下一章会进一步进入企业AI项目交付管理、客户成功和商业化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互动问题：请学员说明同一个集成闭环如何落到Claude、OpenAI、腾讯和WEI BOT。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过渡语：下一章会进一步进入企业AI项目交付管理、客户成功和商业化复制。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本页目的：交付包要让客户、技术、运营和WEI团队都能接手。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DE系统集成交付包”。这一页要训练的不是记住一个系统集成术语，而是让FDE在企业现场能判断：数字员工要接入哪些系统、读取哪些字段、写回哪些结果、留下哪些日志、进入哪个运营看板。请先记住本页核心句：交付包要让客户、技术、运营和WEI团队都能接手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系统版图；字段映射；权限矩阵；事件流程；观测看板；SLA方案；复盘机制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WEI生态能力都会更新，抽象不变：系统、对象、字段、身份、事件、日志、看板。工作坊要证明学员能交付系统集成与运营闭环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系统版图要用客户真实软件环境讲。销售场景可能有表单、企微、CRM、SCRM、BI和飞书/企微群；客服场景可能有官网、工单、知识库、企微和质检系统。FDE要问：哪个系统是事实源，哪个系统负责写回，哪个系统只是入口，哪个系统提供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平台实践要用同一张系统集成图映射：Claude可强调MCP与工具连接，OpenAI可强调Agents、Tools、Tracing和Evals，腾讯可强调ADP、CloudBase、企微和企业云，WEI体系可强调模型聚合、数字员工代养和运营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【常见误区，约1分钟】不要让学员认为系统集成必须先大规模私有化。很多第一版闭环可以通过轻量API、Webhook、表格、企微和半自动同步跑起来，关键是边界清楚、指标清楚、可持续优化。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交付”这个标签，而是一个动作：下次客户说“数字员工已经能跑了”时，你要继续问它接入哪些系统、字段如何映射、谁授权、怎么回写、如何监控、如何复盘。下一章会进一步进入企业AI项目交付管理、客户成功和商业化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互动问题：请学员说明同一个集成闭环如何落到Claude、OpenAI、腾讯和WEI BOT。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过渡语：下一章会进一步进入企业AI项目交付管理、客户成功和商业化复制。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本页目的：每组把第4章数字员工部署包升级为系统集成与数据闭环方案。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产出系统集成与运营闭环方案”。这一页要训练的不是记住一个系统集成术语，而是让FDE在企业现场能判断：数字员工要接入哪些系统、读取哪些字段、写回哪些结果、留下哪些日志、进入哪个运营看板。请先记住本页核心句：每组把第4章数字员工部署包升级为系统集成与数据闭环方案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系统版图；字段映射；事件触发；权限审计；运营看板；SLA成本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WEI生态能力都会更新，抽象不变：系统、对象、字段、身份、事件、日志、看板。工作坊要证明学员能交付系统集成与运营闭环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系统版图要用客户真实软件环境讲。销售场景可能有表单、企微、CRM、SCRM、BI和飞书/企微群；客服场景可能有官网、工单、知识库、企微和质检系统。FDE要问：哪个系统是事实源，哪个系统负责写回，哪个系统只是入口，哪个系统提供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继续用销售数字员工。第4章我们已经设计了线索跟进流程，第5章要问系统闭环：线索来自表单还是企微？客户ID如何统一？CRM里哪个字段代表线索阶段？AI生成的跟进建议写回哪个对象？销售确认动作如何记录？主管看板看响应时长、采纳率还是转化率？这样一问，数字员工才从试点工具变成可运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系统、对象、字段、身份、事件、日志、看板。然后告诉学员：以后做任何数字员工系统集成，都先问这七个问题。接哪个系统？操作哪个业务对象？读写哪些字段？以谁的身份执行？什么事件触发？日志在哪里？运营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平台实践要用同一张系统集成图映射：Claude可强调MCP与工具连接，OpenAI可强调Agents、Tools、Tracing和Evals，腾讯可强调ADP、CloudBase、企微和企业云，WEI体系可强调模型聚合、数字员工代养和运营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【常见误区，约1分钟】不要让学员认为系统集成必须先大规模私有化。很多第一版闭环可以通过轻量API、Webhook、表格、企微和半自动同步跑起来，关键是边界清楚、指标清楚、可持续优化。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输出错了，是模型问题、字段映射问题、权限问题、事件重复问题，还是系统数据过期问题？请学员至少说出四种可能。这个追问能训练他们从系统视角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【落地提醒，约1分钟】系统集成要避免一开始就追求全量接入。第一版围绕MVP闭环，只接必须系统、必须字段、必须事件和必须看板。先跑通一个可观测闭环，再逐步扩展系统范围。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把所有系统都接上，而是先围绕销售线索数字员工，接入企微、表单和CRM的核心字段，完成触发、判断、回写和复盘闭环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工作坊”这个标签，而是一个动作：下次客户说“数字员工已经能跑了”时，你要继续问它接入哪些系统、字段如何映射、谁授权、怎么回写、如何监控、如何复盘。下一章会进一步进入企业AI项目交付管理、客户成功和商业化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互动问题：请学员说明同一个集成闭环如何落到Claude、OpenAI、腾讯和WEI BOT。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过渡语：下一章会进一步进入企业AI项目交付管理、客户成功和商业化复制。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本页目的：FDE真正的价值，是让AI部署持续产生业务数据、持续优化、持续复制。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从数字员工试点到企业运营闭环”。这一页要训练的不是记住一个系统集成术语，而是让FDE在企业现场能判断：数字员工要接入哪些系统、读取哪些字段、写回哪些结果、留下哪些日志、进入哪个运营看板。请先记住本页核心句：FDE真正的价值，是让AI部署持续产生业务数据、持续优化、持续复制。接下来我会把它落到系统版图、数据模型、身份权限、事件触发和运营闭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接入；回写；观测；优化。讲这些词时，不要像念清单一样念过去。FDE要把每个词翻译成系统集成动作：哪个系统是数据源，哪个字段是主键，什么事件触发流程，谁有权限读写，结果写回哪里，日志如何留存，指标如何进入运营复盘。只有这样，学员才会理解系统集成不是接API，而是建设数据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WEI生态能力都会更新，抽象不变：系统、对象、字段、身份、事件、日志、看板。工作坊要证明学员能交付系统集成与运营闭环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系统是谁，字段是什么，权限谁批，事件怎么来，日志在哪里，看板看什么，如何复盘。这样学员会形成系统集成与数据闭环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平台实践要用同一张系统集成图映射：Claude可强调MCP与工具连接，OpenAI可强调Agents、Tools、Tracing和Evals，腾讯可强调ADP、CloudBase、企微和企业云，WEI体系可强调模型聚合、数字员工代养和运营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【常见误区，约1分钟】不要让学员认为系统集成必须先大规模私有化。很多第一版闭环可以通过轻量API、Webhook、表格、企微和半自动同步跑起来，关键是边界清楚、指标清楚、可持续优化。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试点走向规模化时，最容易暴露的是系统和数据问题。个人工具可以靠手工复制粘贴，试点可以靠Excel导入导出，但企业级数字员工必须接入事实源系统、统一字段口径、按权限读写、把结果回写并进入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接CRM就好了”，说明还停在接口层。你要追问：CRM里哪个对象，哪个字段，谁有权限，写回后是否触发流程，失败如何补偿，日志谁看，指标如何复盘。能回答这些问题，才进入系统集成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本章收束”这个标签，而是一个动作：下次客户说“数字员工已经能跑了”时，你要继续问它接入哪些系统、字段如何映射、谁授权、怎么回写、如何监控、如何复盘。下一章会进一步进入企业AI项目交付管理、客户成功和商业化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互动问题：请学员说明同一个集成闭环如何落到Claude、OpenAI、腾讯和WEI BOT。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过渡语：下一章会进一步进入企业AI项目交付管理、客户成功和商业化复制。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f25f513184fd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eaeb8f153c84ee6" /><Relationship Type="http://schemas.openxmlformats.org/officeDocument/2006/relationships/slideLayout" Target="/ppt/slideLayouts/slideLayout2.xml" Id="Ra5e5ed4acf254a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e5ed4acf254a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52a0cad8ef4ec4" /><Relationship Type="http://schemas.openxmlformats.org/officeDocument/2006/relationships/notesSlide" Target="/ppt/notesSlides/notesSlide1.xml" Id="Ree0f223a149a44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51baa590cc45f4" /><Relationship Type="http://schemas.openxmlformats.org/officeDocument/2006/relationships/notesSlide" Target="/ppt/notesSlides/notesSlide2.xml" Id="R4c468f62562a4a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1d69e8a6c7474e" /><Relationship Type="http://schemas.openxmlformats.org/officeDocument/2006/relationships/notesSlide" Target="/ppt/notesSlides/notesSlide3.xml" Id="Raeb9c75fca2245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bbca10212546cb" /><Relationship Type="http://schemas.openxmlformats.org/officeDocument/2006/relationships/notesSlide" Target="/ppt/notesSlides/notesSlide4.xml" Id="Rabf4d5bfff7b4c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9c74432b514577" /><Relationship Type="http://schemas.openxmlformats.org/officeDocument/2006/relationships/notesSlide" Target="/ppt/notesSlides/notesSlide5.xml" Id="R9f0394acb8234f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cbc798536c49b2" /><Relationship Type="http://schemas.openxmlformats.org/officeDocument/2006/relationships/notesSlide" Target="/ppt/notesSlides/notesSlide6.xml" Id="R497d8f3af75a42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8fe156cfe248ba" /><Relationship Type="http://schemas.openxmlformats.org/officeDocument/2006/relationships/notesSlide" Target="/ppt/notesSlides/notesSlide7.xml" Id="Reb4de3a032664a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6a6bf915924291" /><Relationship Type="http://schemas.openxmlformats.org/officeDocument/2006/relationships/notesSlide" Target="/ppt/notesSlides/notesSlide8.xml" Id="R2abcd5d58c8840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49b2faa79e4e20" /><Relationship Type="http://schemas.openxmlformats.org/officeDocument/2006/relationships/notesSlide" Target="/ppt/notesSlides/notesSlide9.xml" Id="Rcf63883f5f6747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73c8e6553945d6" /><Relationship Type="http://schemas.openxmlformats.org/officeDocument/2006/relationships/notesSlide" Target="/ppt/notesSlides/notesSlide10.xml" Id="Re684db42fdaf4c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50d7115c6c44fd" /><Relationship Type="http://schemas.openxmlformats.org/officeDocument/2006/relationships/notesSlide" Target="/ppt/notesSlides/notesSlide11.xml" Id="R1cc953db2e4f46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f2109959c047cd" /><Relationship Type="http://schemas.openxmlformats.org/officeDocument/2006/relationships/notesSlide" Target="/ppt/notesSlides/notesSlide12.xml" Id="R5f33fed7639949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9c1811e874473c" /><Relationship Type="http://schemas.openxmlformats.org/officeDocument/2006/relationships/notesSlide" Target="/ppt/notesSlides/notesSlide13.xml" Id="Rb283f4dc5d6347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5e7bf5b313464a" /><Relationship Type="http://schemas.openxmlformats.org/officeDocument/2006/relationships/notesSlide" Target="/ppt/notesSlides/notesSlide14.xml" Id="R24b9c4e9486342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7901421d684d11" /><Relationship Type="http://schemas.openxmlformats.org/officeDocument/2006/relationships/notesSlide" Target="/ppt/notesSlides/notesSlide15.xml" Id="R58334e471c2d41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2f148a5e8f4f04" /><Relationship Type="http://schemas.openxmlformats.org/officeDocument/2006/relationships/notesSlide" Target="/ppt/notesSlides/notesSlide16.xml" Id="Rc773859a394f41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7f9c3250a24990" /><Relationship Type="http://schemas.openxmlformats.org/officeDocument/2006/relationships/notesSlide" Target="/ppt/notesSlides/notesSlide17.xml" Id="R4fc02afe35fe408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48d1e2d66a4078" /><Relationship Type="http://schemas.openxmlformats.org/officeDocument/2006/relationships/notesSlide" Target="/ppt/notesSlides/notesSlide18.xml" Id="R689f2115af68494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1364cc4cc449b0" /><Relationship Type="http://schemas.openxmlformats.org/officeDocument/2006/relationships/notesSlide" Target="/ppt/notesSlides/notesSlide19.xml" Id="Rd784cd67d52341d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823d50aad846e2" /><Relationship Type="http://schemas.openxmlformats.org/officeDocument/2006/relationships/notesSlide" Target="/ppt/notesSlides/notesSlide20.xml" Id="R9853fc7e045c4d3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80e83cd66f42e8" /><Relationship Type="http://schemas.openxmlformats.org/officeDocument/2006/relationships/notesSlide" Target="/ppt/notesSlides/notesSlide21.xml" Id="R002cc47ee8de43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5a6004f65f44e9" /><Relationship Type="http://schemas.openxmlformats.org/officeDocument/2006/relationships/notesSlide" Target="/ppt/notesSlides/notesSlide22.xml" Id="Rf9f7804e85cd4a1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29aea366a349bd" /><Relationship Type="http://schemas.openxmlformats.org/officeDocument/2006/relationships/notesSlide" Target="/ppt/notesSlides/notesSlide23.xml" Id="Rea1833b5173748b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7edbeed1e24393" /><Relationship Type="http://schemas.openxmlformats.org/officeDocument/2006/relationships/notesSlide" Target="/ppt/notesSlides/notesSlide24.xml" Id="R8397b0b81188466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23868bc9bf46b2" /><Relationship Type="http://schemas.openxmlformats.org/officeDocument/2006/relationships/notesSlide" Target="/ppt/notesSlides/notesSlide25.xml" Id="Rcb83f2c19878420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f20d0f434f49f4" /><Relationship Type="http://schemas.openxmlformats.org/officeDocument/2006/relationships/notesSlide" Target="/ppt/notesSlides/notesSlide26.xml" Id="R433b168fe33645f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ad28531397461a" /><Relationship Type="http://schemas.openxmlformats.org/officeDocument/2006/relationships/notesSlide" Target="/ppt/notesSlides/notesSlide27.xml" Id="Rf71693fdcf33407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2899bc3d7c47ef" /><Relationship Type="http://schemas.openxmlformats.org/officeDocument/2006/relationships/notesSlide" Target="/ppt/notesSlides/notesSlide28.xml" Id="R6e317b8fd44e433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d0bbbad638441e" /><Relationship Type="http://schemas.openxmlformats.org/officeDocument/2006/relationships/notesSlide" Target="/ppt/notesSlides/notesSlide29.xml" Id="R15c8097b07bc490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c464f61fa24bd3" /><Relationship Type="http://schemas.openxmlformats.org/officeDocument/2006/relationships/notesSlide" Target="/ppt/notesSlides/notesSlide30.xml" Id="R11f6c9b0420d4c2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d0718edea24763" /><Relationship Type="http://schemas.openxmlformats.org/officeDocument/2006/relationships/notesSlide" Target="/ppt/notesSlides/notesSlide31.xml" Id="R482f97abe53f485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5716acc4fa4a3a" /><Relationship Type="http://schemas.openxmlformats.org/officeDocument/2006/relationships/notesSlide" Target="/ppt/notesSlides/notesSlide32.xml" Id="R656ecda8d4364dd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251c93059b45df" /><Relationship Type="http://schemas.openxmlformats.org/officeDocument/2006/relationships/notesSlide" Target="/ppt/notesSlides/notesSlide33.xml" Id="Rca354aa336194b5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a6e932759e44b9" /><Relationship Type="http://schemas.openxmlformats.org/officeDocument/2006/relationships/notesSlide" Target="/ppt/notesSlides/notesSlide34.xml" Id="R42b17e48c7b3401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6a648df5084ffc" /><Relationship Type="http://schemas.openxmlformats.org/officeDocument/2006/relationships/notesSlide" Target="/ppt/notesSlides/notesSlide35.xml" Id="R3724fdf1e5b8417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d21bcd61e64f48" /><Relationship Type="http://schemas.openxmlformats.org/officeDocument/2006/relationships/notesSlide" Target="/ppt/notesSlides/notesSlide36.xml" Id="Rce66acba88574d4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04db52f4f945ea" /><Relationship Type="http://schemas.openxmlformats.org/officeDocument/2006/relationships/notesSlide" Target="/ppt/notesSlides/notesSlide37.xml" Id="R71671014833e48f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d16c623ac546b8" /><Relationship Type="http://schemas.openxmlformats.org/officeDocument/2006/relationships/notesSlide" Target="/ppt/notesSlides/notesSlide38.xml" Id="Rb47802f07ede424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b3fa97d6fd4656" /><Relationship Type="http://schemas.openxmlformats.org/officeDocument/2006/relationships/notesSlide" Target="/ppt/notesSlides/notesSlide39.xml" Id="Rb5f10511b3154f7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c2a896bfb7465b" /><Relationship Type="http://schemas.openxmlformats.org/officeDocument/2006/relationships/notesSlide" Target="/ppt/notesSlides/notesSlide40.xml" Id="Rcc073217704a4ae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80abb819f34264" /><Relationship Type="http://schemas.openxmlformats.org/officeDocument/2006/relationships/notesSlide" Target="/ppt/notesSlides/notesSlide41.xml" Id="Rbb8ddc6f7b2946e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d78cb3f7b34a2e" /><Relationship Type="http://schemas.openxmlformats.org/officeDocument/2006/relationships/notesSlide" Target="/ppt/notesSlides/notesSlide42.xml" Id="R141e2eaa68fd45b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fe15aa3de747a0" /><Relationship Type="http://schemas.openxmlformats.org/officeDocument/2006/relationships/notesSlide" Target="/ppt/notesSlides/notesSlide43.xml" Id="R7f91f6974a58446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e81a2fce2640e5" /><Relationship Type="http://schemas.openxmlformats.org/officeDocument/2006/relationships/notesSlide" Target="/ppt/notesSlides/notesSlide44.xml" Id="R5bcffab683a044e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7c264a24a943e7" /><Relationship Type="http://schemas.openxmlformats.org/officeDocument/2006/relationships/notesSlide" Target="/ppt/notesSlides/notesSlide45.xml" Id="R44fac95e569c4fe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568c057d044a6a" /><Relationship Type="http://schemas.openxmlformats.org/officeDocument/2006/relationships/notesSlide" Target="/ppt/notesSlides/notesSlide46.xml" Id="R50038ec84882495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4bc055ac76421e" /><Relationship Type="http://schemas.openxmlformats.org/officeDocument/2006/relationships/notesSlide" Target="/ppt/notesSlides/notesSlide47.xml" Id="R254f0f4e5ab64fb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fc1e4b23bf4e54" /><Relationship Type="http://schemas.openxmlformats.org/officeDocument/2006/relationships/notesSlide" Target="/ppt/notesSlides/notesSlide48.xml" Id="Rda64722a46aa4b9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88023d30c34a75" /><Relationship Type="http://schemas.openxmlformats.org/officeDocument/2006/relationships/notesSlide" Target="/ppt/notesSlides/notesSlide49.xml" Id="Rb1c953494bc94cd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4636df07434e97" /><Relationship Type="http://schemas.openxmlformats.org/officeDocument/2006/relationships/notesSlide" Target="/ppt/notesSlides/notesSlide50.xml" Id="R477f51442725474d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5dbdbfde0e4536" /><Relationship Type="http://schemas.openxmlformats.org/officeDocument/2006/relationships/notesSlide" Target="/ppt/notesSlides/notesSlide51.xml" Id="R0fef3efdf6d14a0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f3aebd87224a46" /><Relationship Type="http://schemas.openxmlformats.org/officeDocument/2006/relationships/notesSlide" Target="/ppt/notesSlides/notesSlide52.xml" Id="R8b1cf1df170c437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9aab26f2e9476a" /><Relationship Type="http://schemas.openxmlformats.org/officeDocument/2006/relationships/notesSlide" Target="/ppt/notesSlides/notesSlide53.xml" Id="Rec66f2da654d4f6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8fe1eb5fa747b3" /><Relationship Type="http://schemas.openxmlformats.org/officeDocument/2006/relationships/notesSlide" Target="/ppt/notesSlides/notesSlide54.xml" Id="Raa11280267f14556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ff7aaed54d4207" /><Relationship Type="http://schemas.openxmlformats.org/officeDocument/2006/relationships/notesSlide" Target="/ppt/notesSlides/notesSlide55.xml" Id="Rd6ccab83654c44b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f0a2c0932f4401" /><Relationship Type="http://schemas.openxmlformats.org/officeDocument/2006/relationships/notesSlide" Target="/ppt/notesSlides/notesSlide56.xml" Id="Rd7c5afc3de9d4f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BF234C-372D-4280-BDF0-BB23B906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B262D-6D20-4DF4-A2DB-AFACA5B2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BC709-5266-4A41-8608-8453A0C0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3756F-76C1-46C3-82A7-5FDE1426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2286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Chapter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3C269-2B73-4591-A580-D869AEE6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239000" cy="1257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企业系统集成与数据闭环运营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1EFC2-0A9C-4DCE-8333-CD539444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676275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rPr>
              <a:t>承接数字员工部署蓝图，把企业系统、身份权限、数据回写和运营看板接成持续优化闭环。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FC69E-FC26-40FC-9B97-75A920C7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1430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2867A-51FE-4D18-A8CC-A6731904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27635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系统版图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8F3E6-E28D-4AE5-95E6-24A0BBD7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0FE02-9CF5-4772-B9A6-4E051DE9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5740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字段映射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34997-DC52-4E28-ABD1-230A803D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5B1F1-C7FB-47E3-A239-EF64E5C6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3845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事件触发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F30EF-D219-4A63-9628-471B79FB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96ED8-26EA-4531-86F4-A8C41D15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身份权限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18F52-9F70-4B89-A121-382E215B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672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6B928-2A52-4A19-8335-1422483B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0055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日志观测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A8BF2-13BA-4FC6-8EAC-60173BBE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482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10FD4-A68C-4EBB-AC2C-5F8D85A4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8160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运营闭环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DB710E-FA8F-45FC-A960-EE571B4B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4953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课程课本 + 逐页讲师稿 + 商务大字号PPT</a:t>
            </a:r>
          </a:p>
        </p:txBody>
      </p:sp>
    </p:spTree>
    <p:extLst>
      <p:ext uri="{BB962C8B-B14F-4D97-AF65-F5344CB8AC3E}">
        <p14:creationId xmlns:p14="http://schemas.microsoft.com/office/powerpoint/2010/main" val="9183495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9150EE-E2DB-4352-9627-60258DF4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E404B-72BF-4FAF-90A4-82AF991E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F088C-85CD-4D6B-A793-2EC8B041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7F743-A008-4957-99D6-103D457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本章地图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7FDED-EC65-4720-939B-A81042DD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8课时学习路径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8F368-C137-4914-9259-3A358F50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本章训练FDE把数字员工从试点流程推进到企业系统和运营体系。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B0EB2-B23D-414F-8086-B4059A76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853FD-DB49-4055-BB9D-B3321424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BD8D7-7395-4451-A1F7-DEC2035E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61266-1F13-4120-BF4E-6D097133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DFE57-A64B-4DE8-9B86-9B131B29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45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8891C-EA79-46BE-9056-C11D3FD5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07FB9-5B26-4E67-8F21-4E94EFBC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050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集成契约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131F6-A7BA-4542-A058-BDEF25FF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5309D-5837-403F-A60C-8EF4575B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3469D-F3C1-497D-AF7F-7BC0D1D8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051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74EDE-D312-4594-AAA4-0291DFAD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622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系统心法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03DEE-ECC1-49B3-86E7-B23728D9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9604A-5968-4C0A-8A8B-58E8BF7C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6A6C4-89B1-4F5E-B175-5BD3A637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CAF4B8-D42D-4DFC-81F6-70B91654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194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881BA4-11EB-4168-8366-1D28A66B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34C5A-C205-46B4-B217-33C47600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A56B19-F25C-477E-A862-58125CEA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195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31215E-22CA-4B20-AEE4-7C91BE5D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766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身份安全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30CB5C-EE89-48DA-9674-1F6A50B3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3FDB1-A7EF-4741-9D5C-B090C693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F42880-78AD-48A8-AA4C-B2A873A8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767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0C8D8C-A20F-4F87-9C98-89A41DCA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事件触发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186600-73F1-4ED0-B13C-8C61E6BA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44469E-4183-4ABC-A689-FF01B51D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005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C01E27-7F91-46C3-AE32-53DCF496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339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18FFC1-8584-4D38-B222-BD4E3316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观测评估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C089BB-3E73-4271-AB5E-082A6598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61EEAE-D189-402C-B11A-BB5D0B15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444205-F05E-4A8F-984C-7E74061A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911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F83A8D-FECB-4FE7-9285-E7088241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482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成本SLA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239391-4C8E-4378-AEC1-AAF8DB4B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CCCE7F-3E0D-4A6E-B1DA-8C83A3A0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3350B3-0B73-4176-A95A-4D35CEE1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48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178A4B-6BD5-4D80-B137-6D01B0DB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054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平台工作坊</a:t>
            </a:r>
          </a:p>
        </p:txBody>
      </p:sp>
    </p:spTree>
    <p:extLst>
      <p:ext uri="{BB962C8B-B14F-4D97-AF65-F5344CB8AC3E}">
        <p14:creationId xmlns:p14="http://schemas.microsoft.com/office/powerpoint/2010/main" val="301921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2C17FA-4888-4D58-BBE3-6E2C4D75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CD00B-29E2-415E-93EC-8DD72BEF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3D9EF-0F5E-4DAB-BF5E-8A4E7E00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493B7-EB0D-4D0F-B128-2C6BE1F8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承接第4章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FD73D-C01C-4FB6-AD8D-A5F032BE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从部署蓝图到系统闭环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82CB4-B706-48B2-A961-C2375A33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第4章解决数字员工怎么工作，第5章解决它如何接入企业系统并持续运营。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52EE9-8DCB-481A-96B3-43591CEB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E70A9-BE72-4DCB-8A55-BD2E058F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D58D9-E67A-46C6-AD8F-F03E67D7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CF817-E2C9-4DC9-B63A-C866A0FD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C601A-4A49-4735-93D6-3104F951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岗位蓝图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AEC1A-FE34-45D9-8D4F-53280D9B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BDDFB-7773-437C-9A3E-106D5158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CEE96-D5BC-43A6-A5F2-93D818E9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系统接入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9A1D3-8E7C-4A9D-9824-87C46040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4C9D3-08C9-4BA2-ABB4-03FC1A43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9C938-9589-4713-8CB2-D422A2F4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字段映射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4777F-85DC-42E8-96DC-FCF47700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8DE3E-9162-4781-9BF9-543B554F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055A30-4E49-40AA-B576-7E757D5B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事件触发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9A4856-F2B4-4066-8699-C51F001D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B728C0-A42F-4803-BAEA-F65CC8A0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3BD285-5999-4B6A-A35C-31E424AD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数据回写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D2E56C-1F97-4F36-A6EB-53B08407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698DA-80B8-410F-9159-4120EA99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0478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64B064-DD3B-4397-8554-76F7D741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运营复盘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6C4DB3-4515-4979-97C7-B359611A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14BADD-D528-4936-9E4D-34DAD8B2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FDE判断：是否有清晰系统、字段、权限、事件、回写和运营复盘。</a:t>
            </a:r>
          </a:p>
        </p:txBody>
      </p:sp>
    </p:spTree>
    <p:extLst>
      <p:ext uri="{BB962C8B-B14F-4D97-AF65-F5344CB8AC3E}">
        <p14:creationId xmlns:p14="http://schemas.microsoft.com/office/powerpoint/2010/main" val="13487157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5A8893-4359-4C22-B3AE-5F6F29D1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B4284-9DC7-480F-B0E4-E46F0037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5ED0E-DB87-46BC-8B60-359495D5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81F4D-50B0-4891-ADAE-009B0F2D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失败案例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15F79-847B-40EE-93D7-961BFA7A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为什么很多数字员工试点无法规模化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2E6EA-A0D4-453F-931D-203206CF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试点卡住通常不是模型问题，而是系统接入、数据质量、身份权限和运营责任没有闭环。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FD580-30FB-44D9-938E-9EB8E67B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2F639-4FB9-4EFE-87EA-EBEE9EC3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E4AD9-83F6-4932-9CDB-80548C46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F6698-B776-4AD1-B6B6-E3A4EC37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系统事实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BC8F7-8D1F-46D1-9CF2-197EF68E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运营含义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6D0B3-74D6-47A4-8EB8-490D7B6C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8E8F5-5754-4826-8EB9-33DBA725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数据手工导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352BD-63EC-4729-9853-15628B7C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2BB58-1E63-4F7D-96F4-674C280B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字段对不上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5ED72-3311-4FAD-A9EA-DC4E7A58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C3C59-8F09-4048-9116-2C0D9A64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权限审批慢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3CB84-B811-41EC-AE7D-7883074F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9021B-4E06-4D96-A7EE-47421B5B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事件靠人触发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D1F9A3-751C-4D6A-ABBF-492F2567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165FEC-CB8C-4FD8-A009-E66633A4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日志不可查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1DFD8-0CDC-413C-BF04-5747ABEE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92172D-E71B-4839-A968-2502BAB7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指标不复盘</a:t>
            </a:r>
          </a:p>
        </p:txBody>
      </p:sp>
    </p:spTree>
    <p:extLst>
      <p:ext uri="{BB962C8B-B14F-4D97-AF65-F5344CB8AC3E}">
        <p14:creationId xmlns:p14="http://schemas.microsoft.com/office/powerpoint/2010/main" val="452013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672321-B82F-4853-8049-E6878C3F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E07F0-857F-4AAD-957C-820B303F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E30D5-E1B6-4A9C-B11E-5120DF58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58E75-FD99-4F87-91B6-AF21A1BD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本章核心句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E2C85-2126-43C3-B593-708C8D5B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没有数据闭环，就没有持续变好的数字员工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A2FFD-B69C-439F-95E0-1CD5B4F5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数字员工上线后必须把结果写回系统、形成日志、进入看板、驱动复盘和迭代。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8D490-0D2B-46AA-853E-AEE78FD1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6EF24-91CF-480E-BCA3-30A73006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FD9CC-F58B-433C-AB60-AD192D5F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2BE2F-D985-413C-92E5-F6E069E3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98298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651E9-9905-41DE-8CE5-7A177111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7810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368"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5D48C-7288-4C01-BDCE-E606D48C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57500"/>
            <a:ext cx="78105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没有数据闭环，就没有持续变好的数字员工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6AAC0-A769-46C2-B7E3-7A16BA2C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2850"/>
            <a:ext cx="7239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数字员工上线后必须把结果写回系统、形成日志、进入看板、驱动复盘和迭代。</a:t>
            </a:r>
          </a:p>
        </p:txBody>
      </p:sp>
    </p:spTree>
    <p:extLst>
      <p:ext uri="{BB962C8B-B14F-4D97-AF65-F5344CB8AC3E}">
        <p14:creationId xmlns:p14="http://schemas.microsoft.com/office/powerpoint/2010/main" val="19268278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ABFEB9-2D42-40C3-982B-8AAA2B1E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AF4C6-794E-4393-8C57-CCC90686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0676B-22EB-4B6B-B5CF-AEBDF355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66C42-B97F-48A8-9D91-F3EFB84C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系统集成心法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D9C16-4E02-4553-998A-3DA7CB5D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先看清企业系统版图，再设计数字员工接入边界。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95442-5E87-49A0-99B7-E80C9635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0DA25-08D0-415E-9E46-4F617D98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CB265-E3A7-49D4-B908-E7B92755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6E68F-7567-45AA-AE20-90D17C24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442CF-CC14-4277-9465-BE23E789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36D83-7B4A-4CFF-B413-C423CDC0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成熟度</a:t>
            </a:r>
          </a:p>
        </p:txBody>
      </p:sp>
    </p:spTree>
    <p:extLst>
      <p:ext uri="{BB962C8B-B14F-4D97-AF65-F5344CB8AC3E}">
        <p14:creationId xmlns:p14="http://schemas.microsoft.com/office/powerpoint/2010/main" val="15081344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CC3A38-C748-47CF-8A0A-6690E813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19801-5FCE-42CC-BE38-5F54F090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DAA62-F974-40DD-A50A-BBD0C0D2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C88F1-968B-498A-BBCD-CFA69B02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系统版图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73A24-1E12-4703-8A71-ABE79970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企业常见系统版图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0E3CF-712A-46B8-8C1C-371BFE02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FDE要知道数字员工通常会接触CRM、ERP、OA、HR、工单、企微和数据平台。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F24B5-5B89-4A86-903C-1B6E4540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3FDCE-0264-4DA4-9AC1-33C1F0FF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57C59-DE65-4EDD-B662-CDB93DE6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系统心法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090AA-79AB-4FBD-8CF4-34DC4168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F196B-80F4-4AF8-9016-666A4962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1CB88-D82E-4B0B-B9B3-F531F289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743F3-1C57-470E-A244-70396C9F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CRM：客户与销售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A46B3-03AE-48EC-AF35-2F3DDE3E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E65F1-F608-4D2F-9FAE-30925CDE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E6234-EB3A-4ABE-A990-0E452EF8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42B99-77DC-4896-95ED-2FB6148A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ERP：订单与库存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6E7D6E-CD1E-4175-B383-E87789C2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D8AD9-A0B9-45A2-AB17-4CE88BAE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9CC414-4D07-407C-A129-4C4E89BC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BAD920-3F7F-42B1-AD4E-08B5AB48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OA：审批与流程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BCA38-763C-4DA7-B30C-2DBBC61D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E1FFA-0145-4FBC-8860-34F4B073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0360E6-B03D-4F86-9046-79263E75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FB48BD-A9D3-44DF-9632-BDF49ADD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HR：组织与账号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B066E6-FFF4-4C31-BC97-6B246E4C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AC1995-290B-4C64-90B5-E99C2574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8DE5C3-5F6D-45CE-8015-86C82D5F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C0AF-8FDF-4DE3-A908-7208C5CE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工单：服务闭环</a:t>
            </a:r>
          </a:p>
        </p:txBody>
      </p:sp>
    </p:spTree>
    <p:extLst>
      <p:ext uri="{BB962C8B-B14F-4D97-AF65-F5344CB8AC3E}">
        <p14:creationId xmlns:p14="http://schemas.microsoft.com/office/powerpoint/2010/main" val="3740222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B81C2A-0F80-4272-8A74-EF810B24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BE2F8-C7CC-4D9F-947D-A39C8FC0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0B125-8670-40E6-8D44-EEC6ED98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6EEEF-B020-4CE4-9340-FD363BC4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4A57F-336D-4D4C-8EF7-F0806583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集成不是把所有系统都接上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AFA7A-A4F5-4E86-9B52-79F1EDE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第一版只接MVP闭环必需系统，避免范围膨胀和权限拖延。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A29AB-B374-4CCB-868D-4091F93F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26F89-B29F-4DA2-BEBA-E08FCB46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F3A7F-CE58-422B-9AEA-026A7BA2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系统心法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93B2E-96F3-4661-AE50-FF45522E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D79EF-9FFC-4578-A0E5-1A6DE567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范围过大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9C4F7-F355-4E79-93CA-E99AEC40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1981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497D8-D161-4556-A56C-516C59C5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861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权限拖延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68CEF-FC30-46BF-9B92-B5A7023A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981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F7CA7-A119-4506-8D79-5A67F11A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接口不稳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1456B-922B-413F-8A12-F8CC88A3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981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D4285-DA57-4B06-B160-1AFBD131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维护无人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00884-20F3-4C55-8FA8-98C02B09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34000"/>
            <a:ext cx="81534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越往右，越需要明确规则、日志、审批和回滚。</a:t>
            </a:r>
          </a:p>
        </p:txBody>
      </p:sp>
    </p:spTree>
    <p:extLst>
      <p:ext uri="{BB962C8B-B14F-4D97-AF65-F5344CB8AC3E}">
        <p14:creationId xmlns:p14="http://schemas.microsoft.com/office/powerpoint/2010/main" val="19452501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8494B9-B737-469F-9FD0-57DF5366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8A268-E699-4CC5-9DA1-A09745A9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E92E9-67FB-476B-8188-7C7A9878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CC4D5-DA8A-4DBE-A496-FCE9295C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成熟度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B262D-6359-4EFB-A6EE-4E340E4E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企业系统集成四级成熟度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0B239-DE21-426D-BEEA-B4E86018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从人工导入到事件驱动，成熟度决定数字员工能自动化到什么程度。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BFAC6-C2F4-4B96-9822-53B03598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A8CAB-E0DC-47F1-A610-FE127E57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D5DCD-7EA7-4BF3-99CD-31D87B42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系统心法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53509-2D90-42B6-9B88-6E8125D6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52FE5-9086-4532-83B6-A753105D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L1人工导入导出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5B538-4FAC-4344-8646-F66BCC89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2D073-1B48-4186-87D3-014ABA2D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L2半自动同步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3F02E-828F-40E0-8277-707D61C5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A872C-CF05-49DA-B5AB-5C4563EC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L3 API读写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D1E60-E845-417E-B304-EFDAF369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19972-D485-4E60-9007-5B065350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L4事件驱动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E7303-64C0-4D6B-A1F8-AB4CCE6F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FC8E2-1F31-4A62-81F1-7211B68E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L5数据运营闭环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089E5-9511-4B4C-B7B9-B5909776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67565-7059-4BF8-A9F4-6B9F05C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FDE判断</a:t>
            </a:r>
          </a:p>
        </p:txBody>
      </p:sp>
    </p:spTree>
    <p:extLst>
      <p:ext uri="{BB962C8B-B14F-4D97-AF65-F5344CB8AC3E}">
        <p14:creationId xmlns:p14="http://schemas.microsoft.com/office/powerpoint/2010/main" val="16927851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AEF8CB-E01C-42A1-AF0E-206C52F1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E0011-93AB-4BAD-AA13-6EF45EF0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DB2A7-B4AE-4B42-A0FF-30CD517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DD3B2-9BE1-4697-8CFC-191D9765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契约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BEB23-B4ED-4BC8-BBA5-B4DAD6F6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系统集成契约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54C41-F63C-40C6-8B3D-22748972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每个接入系统都要写清Owner、接口、字段、权限、频率、日志和SLA。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314AC-9763-4BF8-8D0D-6A318A65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0EFD2-174A-4E87-9E8B-C0A98D29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2D54E-7E06-45D5-B937-83B2E9E1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系统心法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DDD58-673F-494F-A143-DE294CFD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D4139-DE12-4E42-B15D-E0025404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134FF-07F6-43DF-8888-9095D312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62200"/>
            <a:ext cx="5715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讲师追问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AE745-E527-42E9-8B87-EDCC7AB3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5062A-E8A9-4D6C-BF91-599AF4C0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72BA3-EF9C-4355-8F06-5219FA2F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717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谁批准接入、谁维护字段、谁负责故障和运营复盘？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F32E23-0089-4E27-AC9D-1268E297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5582C-05E9-465F-87A6-17469000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接口方式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18D72-5B57-472C-A6F8-027D371C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670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API、Webhook、批处理、RPA还是人工导入？第一版用哪个？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0AFF79-7C93-4C29-92CA-CE597C66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8AD38-9FFE-4837-80DD-4B9773A6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读写字段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E50C2-914F-4087-B871-DE20432A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623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哪些字段只读，哪些字段可写，写回后由谁确认？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A5C0E-28C5-405C-9B50-928EBC9C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959705-0910-48BA-A4BB-75FB90E3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权限审批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2BDFE3-EEBE-4F0D-9BB1-1AF2382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576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账号、角色、数据范围、审批链和审计字段是否明确？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BE3F3-9794-4AA8-A8DF-CD56A02B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15E320-3AEF-460C-80F4-C43C8965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同步频率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AA76C6-ECF9-42A2-9CD4-938A3AD0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529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实时、准实时、批处理还是手动同步？延迟影响什么业务？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03E5BC-AEB3-41D6-B6C4-817D25FE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FDCD82-2BEC-49C6-9B34-2BEEAE7B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578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日志留存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43A7CF-5D77-489F-8046-52F15170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482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触发、上下文、工具、输出、人审、写回和错误码留多久？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53AEEB-9FD9-41F2-865A-678C83E2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5A5FA0-1E55-4816-A6B3-15559C38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SLA要求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B33DCF-A573-4FAB-BB73-3E0A5912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435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延迟、可用性、成本、降级、熔断和人工兜底怎么设计？</a:t>
            </a:r>
          </a:p>
        </p:txBody>
      </p:sp>
    </p:spTree>
    <p:extLst>
      <p:ext uri="{BB962C8B-B14F-4D97-AF65-F5344CB8AC3E}">
        <p14:creationId xmlns:p14="http://schemas.microsoft.com/office/powerpoint/2010/main" val="20534376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0E27CE-33D7-456B-83A6-98E176C1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F5D72-5835-4E46-9A18-54B1A7D9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D41C1-0738-46AE-A2E4-C262A19D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A25EE-D486-434C-8ECC-5B31A0DB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E4402-EEF8-458C-8AC9-96D3BFDA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画出数字员工系统版图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9695D-2A1D-43CF-9F57-7ADED8FA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学员把第4章数字员工部署包映射到企业系统版图。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3A296-9AD2-47A2-8105-659BB262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0A482-60E3-4AF4-8486-114589EC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FF814-F0DC-4440-A49B-152F9711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系统心法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EEBD5-D5EF-49B3-8905-5A781879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13462-485A-406F-84DE-312E9605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C618A-8E7D-4BDC-85A2-A88724B6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8F01B-3A85-4812-93AF-8674D879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讲师示范后，学员用真实企业流程产出可交付材料。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056DF-BDAA-486F-A90A-95C6183C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28AE6-FA18-47C2-8EFA-3A88741B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0AC44A-7383-416F-8F28-545F7F71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列系统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57646-F940-401A-8274-2ACB6169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6EF9CE-EF6F-4963-B032-ECEFD06C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32D43-FF5C-4ECD-998F-71D59571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C247C-7FB5-4AC0-BFA8-3BCD9C67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3A7228-C1CB-4154-8BCC-A468B7F0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1AE799-42A0-4AFD-B247-FE7EC20F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标读写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EDA164-096D-45BE-A818-98178894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5A004-2265-4772-9B71-135117FD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64B9A5-5257-42AE-81DB-77669F91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标权限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FFD6D6-FED4-49DA-A4CA-161E3CE1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825C3A-B8E8-4E3F-8030-DD1C2237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E79DE3-08FD-4873-83FC-D7D7A63A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标风险</a:t>
            </a:r>
          </a:p>
        </p:txBody>
      </p:sp>
    </p:spTree>
    <p:extLst>
      <p:ext uri="{BB962C8B-B14F-4D97-AF65-F5344CB8AC3E}">
        <p14:creationId xmlns:p14="http://schemas.microsoft.com/office/powerpoint/2010/main" val="166670002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D53943-5E57-4F86-8774-AFEA15A6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0EC6B-5DF0-4370-A18F-0EE4FF4D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D0503-BA02-4899-9402-A7954A53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D49A4-5565-4360-B775-4558E937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数据模型与字段映射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11438-5844-4779-9FB9-8C51ED6F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数据闭环从对象模型和字段口径开始。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389DD-6DCB-4216-BFD2-9E273D8E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BB7FA-91A2-4483-88E3-08E913ED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6E774-91BA-499C-99DB-D2FC8F32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354AF-18B1-4BF2-98BF-7D526D81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2DEED-9E0C-4A61-A91C-E44A35E4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A9C77-23F1-4466-93A8-EC4133C1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</p:spTree>
    <p:extLst>
      <p:ext uri="{BB962C8B-B14F-4D97-AF65-F5344CB8AC3E}">
        <p14:creationId xmlns:p14="http://schemas.microsoft.com/office/powerpoint/2010/main" val="108704043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774254-6BE1-47B6-9B7E-1550ED4A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BC9F4-1774-48E6-A6FF-4C7A8C84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78F1E-7070-4E0E-B7B9-1870FDAD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A98D2-B9DA-4333-949B-73D7CF91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BC166-FF41-4D12-AF7C-41823896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业务对象模型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7BFDA-01F6-454F-BCF4-1534E2E8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先定义客户、线索、订单、工单、员工、产品等核心对象。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9FFBF-E852-4588-936E-C03A1E09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7092B-D788-41E9-8962-C786763D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E8704-D6E2-4AF1-8A19-EA7922CF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A3A7F-890C-4D81-A0B6-D778A076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D8FB6-740E-4CB3-AD34-C66F7077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42C08-6351-43FC-BB17-B59D928F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客户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B7C8C-FCFA-492A-A80C-52F35BF5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F2590-0937-434F-9197-0109C057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4AD4B-F6E1-4C82-B4FE-6525A703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BA3CC-FA85-4DED-B14B-7120DF2F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线索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E348F-5B99-4879-BC93-1A64482F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E411E-D98B-46A1-8D54-8BAC740F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1D30C-8137-4935-A29F-A83EA1E9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82677-6A44-4E6E-970B-298641CB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F4D2FE-1E1C-4682-A352-63ED8F48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10D4D2-CA6D-4F94-B687-715E1412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81CBB-30CD-4065-9438-D84401F3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FE1330-B91B-441B-AC13-4F821513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工单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98AE5-86E9-4D91-B626-A0E4CB56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426CB1-27E3-477E-8B2A-684718BF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114F83-80F4-4CF0-9C9D-FAB6B358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11062C-81B1-44A1-BFC3-2B1FCFCD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员工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0CD7A5-5A43-48D3-9842-03D76E56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责任人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19179E-E4DE-4881-A19E-EAEF3C1F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2CF709-58E0-4DC0-A10C-FE0D60FF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2EB885-00BA-412E-A1F1-91E1C9A3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6296C0-D9A3-41B9-A2D8-F2217BFA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</p:spTree>
    <p:extLst>
      <p:ext uri="{BB962C8B-B14F-4D97-AF65-F5344CB8AC3E}">
        <p14:creationId xmlns:p14="http://schemas.microsoft.com/office/powerpoint/2010/main" val="100331576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A7CEDE-7BE3-4A59-942C-184942D1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49283-5FC1-42D7-B40C-6B402F85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543B4-F1B1-4E6A-9ED1-2029A42A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91D54-510F-49E5-924B-5306DB72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64DFF-FA8E-4EAF-ACE5-07C9A031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字段不是列名，而是业务口径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BE1BD-A53F-4764-BE18-1E1A68D3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同一个字段在不同系统里可能含义不同，必须建立数据字典。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0169C-717C-4EA9-A276-089AC234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B5732-CAF2-4B76-8612-DCE0FA90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77ABC-6135-45BB-AD0A-2DEBB3B8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42830-35BE-4D2A-B389-1D851007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50D46-3812-4DFB-89E4-79FE97A1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4E17C-E6A4-44CA-BDDE-C02B9B27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17B04-526F-4327-881B-B73B9AAA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字段名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E0FCC-95BF-41ED-8F05-8FA0C28A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974D9-0AEB-4F71-B7E9-B201C012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276E2-959D-4C63-9B3A-FB3F038F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00E80-CA37-4291-ACDB-6EAF2E53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业务含义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FA888-B3F5-40E9-9C11-79458EF5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FFC4D-6E2C-47A9-A096-7EE2C946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16768-680B-4069-B118-751FA906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A17448-85A7-45F9-A19F-C1789ACE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来源系统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EF31A-25EB-4E79-B38A-79BD6D06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AB9D93-788B-4C78-A79D-F6776D5D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2FD47-49A5-4CC4-84A7-4C74BBE1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23354B-D64D-4D00-8251-97F67E7B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更新频率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934A0D-7692-453A-A690-B4468070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D4F36B-3639-406C-8F61-BA875923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2832A3-3744-4739-AFF6-39D2211C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53A5CC-FBC1-4BF1-9B0B-FDC8F8F3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</p:spTree>
    <p:extLst>
      <p:ext uri="{BB962C8B-B14F-4D97-AF65-F5344CB8AC3E}">
        <p14:creationId xmlns:p14="http://schemas.microsoft.com/office/powerpoint/2010/main" val="12526541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69383F-CF60-4184-B70D-E2E98FB6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1DBB7-B20A-42B1-80D2-B2E055C5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44C1B-8E33-405F-8145-94E14322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61112-4B74-49C5-9839-D632D363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映射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446FF-B9EA-4CC6-8879-0664C129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字段映射表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F226B-A4F4-431F-9E78-B0F033C0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AI读写系统前必须知道源字段、目标字段、转换规则和校验规则。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26043-8785-40E9-BF3E-339A5823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9D8ED-4B30-4F6D-BC6D-2F37A8C3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66DA0-6893-4A7F-AEDB-DC1A761C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A2423-E5D7-439F-B2EB-824C6D05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50675-A331-4D3B-9B3E-216D9567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3143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C3F18-85EC-4EB8-9E01-E51872FB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590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219C9-69BB-484B-AB4E-BE0EFBD0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7FAC2-A000-48C5-BAAE-9C8D7CDA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客户ID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5DB5D-646F-445F-8A8B-8D60BB7D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717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统一主键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DD413-AB97-4DE0-80F1-4C96DBD9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8AE35-892C-4E7D-B6CC-597AA34D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线索状态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10B69-B39C-495A-859F-9B7D86E4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阶段枚举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8C6A7-C8ED-4B43-851A-E12EE635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8A0F0-5E26-4E25-B222-8873A0A8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528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跟进记录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9C9C08-9AD6-4B00-B3EB-DBCA5F77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528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文本+时间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78C040-26D6-44C0-AD13-B6487832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6FE266-1185-4B85-9F48-A1204C7C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销售负责人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BBC762-9F7B-4681-A4E6-EE022577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434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员工ID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1BEF8-5738-4BEE-960A-B9DDC410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C52645-316F-4D45-87F5-FF32CFDB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339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意向等级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AA42CC-E164-49C3-B3B2-B2786A63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339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评分规则</a:t>
            </a:r>
          </a:p>
        </p:txBody>
      </p:sp>
    </p:spTree>
    <p:extLst>
      <p:ext uri="{BB962C8B-B14F-4D97-AF65-F5344CB8AC3E}">
        <p14:creationId xmlns:p14="http://schemas.microsoft.com/office/powerpoint/2010/main" val="127171979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624D17-6E8E-40A0-99E3-3C01397F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34C85-F8A9-4CBE-9606-E5262016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F3AF3-596D-4791-894A-BB0B0A94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4EC68-A7A6-4E3C-B107-26569D86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BDFFC-FEEB-4623-AEDC-F5C65D9E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数据质量六项检查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B210A-9A87-4DA1-963A-BF2F4D7D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数据质量决定数字员工能否稳定判断和回写。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117E9-7F7E-4155-9234-DBAF025F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8F817-ABDE-460F-B13C-5501EFF7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3248C-51E7-4B45-9C5D-0413AD15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BEAED-ACA7-4E80-93A8-0883D7EB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E3C15-54CB-4FC5-849E-97002B55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完整性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30B5C-DBE2-418F-A074-CDAFE988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CEE3E-2490-4345-984E-C898D693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唯一性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CD717-DB46-4ADF-92FD-FD096E1E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01478-65C0-4844-A615-3B83F7DC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一致性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A65E7-2C12-41A4-A811-7D12C4CB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51CCB-0024-4570-A6EE-CD0ED331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及时性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DC289-2C38-4A3B-9DCD-19ED04C0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2D6B6-B10A-4B84-BABD-9CE0520B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准确性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FEB32-EA47-44B7-B58D-E8501896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2998B-8148-447D-A463-66D04D00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</p:spTree>
    <p:extLst>
      <p:ext uri="{BB962C8B-B14F-4D97-AF65-F5344CB8AC3E}">
        <p14:creationId xmlns:p14="http://schemas.microsoft.com/office/powerpoint/2010/main" val="70998221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263093-FCEF-451C-AAAD-7AFA932A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70A80-BB22-40E0-9DD1-73401272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35A86-4A4F-47EA-8D48-1E511D0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7419D-0C91-494A-9DDE-58DFED85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8EBDC-9CD8-4DAE-896E-B9E0F422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CRM字段映射案例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8004F-F548-4CED-85FA-B8369B96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用销售线索数字员工演示客户、线索、跟进、负责人和状态字段映射。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95BE2-F64E-4F46-A67C-BBD168F1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638D5-EA9B-4E4C-AB6D-66AD8F2F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3C9FB-F2AD-466F-92CB-5422674E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7A607-AEBF-4A88-BE66-4391E85C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系统事实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2290F-2A57-4D35-9849-AF425550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运营含义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4C086-10CB-454B-AAE1-C65AF63F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93895-F481-417F-B55E-732D6145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表单线索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7BC15-72FF-4800-8A47-676E5635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D8D5F-C50B-4836-BE2D-6090B014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企微客户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BD76E-DF5F-4902-9AB6-770CFFFE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E3FBB-AECE-4807-AC76-B8517573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CRM客户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4F285-6454-4C76-81AE-1A6D2C2B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E5919-B030-48C3-AD7D-04B27064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销售负责人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172564-E4BF-4907-A73D-010710CE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9CC8A-9E88-44EB-BF1D-FCD09481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跟进记录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69A3D-13F7-4F91-BF6B-3451B0AE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93C170-D24A-4DF4-9219-7CE0A332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转化状态</a:t>
            </a:r>
          </a:p>
        </p:txBody>
      </p:sp>
    </p:spTree>
    <p:extLst>
      <p:ext uri="{BB962C8B-B14F-4D97-AF65-F5344CB8AC3E}">
        <p14:creationId xmlns:p14="http://schemas.microsoft.com/office/powerpoint/2010/main" val="12864709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1F335D-6659-4151-9C4C-81330D0D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C98AF-1199-4CA5-B683-1E84A713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BDEBD-A80C-49F6-8A57-097BA82B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D2FAB-FE4A-44EB-B579-006402EC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CA8A6-B310-4B4F-8E10-BA9F7356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完成字段映射与数据字典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FF861-562F-4E0B-A841-A4F17A65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每组为一个数字员工流程设计核心对象和字段映射。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AB0CE-47BB-4213-A4CB-772E20AE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E0E00-4A79-44EA-828D-99E8310E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24C51-72A8-4140-806E-F246E7E7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D161C-9096-4DD4-9936-ADB0587D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BF8C5-8717-4CD2-9A13-72BC4379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80F31-DE68-4308-8979-331B4816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5EFB8-8767-4A60-BB47-A4377D82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讲师示范后，学员用真实企业流程产出可交付材料。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78E74-3118-4242-8DE8-22441277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CB7A2-A79D-4B0E-8E78-09F04C96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A6B98-8837-4A9D-A736-4A735E1B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列对象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64955-9DB1-4975-9D2F-C1EA3702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53832-7365-46EB-8AB5-41409F14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D2C1A-0F62-4239-8E36-ABF107D4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列字段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5732D-5D9B-46F5-8A50-7E88C063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7A5F22-DB63-4F04-B39B-B7D6F05C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93200-DBAF-447D-8A9D-85661CD8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标来源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7FE8EC-01CF-424A-8D72-D3839061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933471-630C-46FC-98DA-11CBF8B1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AFE5A5-9E52-45CB-8CEB-81A81E15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写转换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F68A4C-10DD-4161-83EE-EADEE305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361CF9-6DDB-424B-A5C0-50521B17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116C49-2EB0-4DF6-8F1F-ADC73975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写校验</a:t>
            </a:r>
          </a:p>
        </p:txBody>
      </p:sp>
    </p:spTree>
    <p:extLst>
      <p:ext uri="{BB962C8B-B14F-4D97-AF65-F5344CB8AC3E}">
        <p14:creationId xmlns:p14="http://schemas.microsoft.com/office/powerpoint/2010/main" val="40277924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342422-AA54-45A7-8952-739A2966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70F03-73C1-4A88-8F25-67C08A04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04EDC-6671-4996-BC6D-78380CF1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450D7-057C-4430-9CF3-3F5B6E0F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身份权限与安全边界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2953B-814D-452E-92CB-7AE84DB3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系统接入先过身份、权限和合规关。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15475-5ED1-4B03-A6DD-09B67ECD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95E18-8D92-48AB-AC3D-1F300915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D3436-5FDC-4F11-AF59-97A81BED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53484-02C0-4DDD-B187-39F0EFF5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CF689-219B-4669-8862-83B7301E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9E693-6867-42D9-B8C0-A379DBFF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</p:spTree>
    <p:extLst>
      <p:ext uri="{BB962C8B-B14F-4D97-AF65-F5344CB8AC3E}">
        <p14:creationId xmlns:p14="http://schemas.microsoft.com/office/powerpoint/2010/main" val="190614626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874201-60D9-41A7-817A-19DB44D9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09464-0330-4C1B-A9B3-8186081D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41283-38BD-47BA-940D-C30B0E6C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4910C-472F-4C35-915C-7CF5147C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身份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F54AC-48CF-4ABC-ADB6-EBD98DEA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统一身份与SSO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EC4BC-6472-429D-9C7D-909733D0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数字员工必须知道当前用户是谁、属于哪个组织、拥有哪些角色。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818B8-5768-4BD9-BA05-CD15CCF4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5880D-9366-4479-9823-E659285D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87FE2-1376-429C-8017-F26C0E60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身份安全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237F5-8B56-4E95-B47A-AC9A87FE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1740D-62C3-41DE-8CD6-D2605E9E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D5B00-73BA-4ACD-BBF9-0701FCF6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C5FCE-964C-4596-A4C6-D0119657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用户身份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B7563-FF88-4A5C-9CE8-94CA5DF2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8CB18-BA30-42E7-A651-7E19FD54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CD819-DF92-459F-A5F9-3784F3FE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6F539-2D93-4F77-8702-4AF9F5D0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组织架构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B2523-5DC9-4C46-8459-0F2B3261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8912E6-C365-45DE-B54A-4C771B4D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A1FD8-D7FB-4417-A2AE-279B851B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74E713-4E1F-43BF-BC06-1971A190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岗位角色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83178-CC85-448F-BBD1-21E6CB2C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AE6B2E-ED85-4104-933F-1628FDDF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FA19B2-7B63-497E-8D2E-B0330E64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10ADB1-A4FF-45C3-8632-DC1DF8CE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租户边界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AE37BB-A89F-4204-A260-EF269036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772223-9EB8-48E0-BD09-524F212A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D0AA24-7CA3-4782-8BD5-1CAAC7EE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CCA6EF-B4E3-4C39-81A0-74D2D491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会话来源</a:t>
            </a:r>
          </a:p>
        </p:txBody>
      </p:sp>
    </p:spTree>
    <p:extLst>
      <p:ext uri="{BB962C8B-B14F-4D97-AF65-F5344CB8AC3E}">
        <p14:creationId xmlns:p14="http://schemas.microsoft.com/office/powerpoint/2010/main" val="72410304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7D398E-D9B4-4E4D-B270-2F1AB123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C45F4-4273-4FF6-94D6-9FA9A598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06C02-4E81-4123-9A32-B0CA2A47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E7AE6-8032-4166-B66F-DE798849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97417-F625-4FF7-9C43-AF24C4F0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RBAC / ABAC 权限模型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42CCB-A822-4DAB-8C6B-41D2F654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按角色、属性、场景和动作共同决定AI能读写什么。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56155-42D8-4F60-A664-95AD9723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37890-981C-446B-8CAB-52E1F649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8DE07-7D9C-48FB-BDDB-672692D5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身份安全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FF2FC-A324-4453-9CB6-F90300B8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F82FD-7C0F-49EA-9158-6E9369C8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角色权限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A3BD9-5305-4AD9-BC0B-F5B11131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711EE-6845-4EFF-96D3-65E41204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6508D-F1B7-4BF4-A8C3-3A1D37FB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F8CF4-D0A1-451E-9E7F-9A6ACF59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动作权限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5F045-F731-48B6-B93A-7971DABA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8A6D4-DF71-425A-AD85-ACF6109D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场景条件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27FF3-BCAD-4338-B584-D1DBC0F3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D2AF4-BD9E-423A-86D9-9EEB7528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审批状态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917F6-B9B1-4528-A370-27C1739B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DA0BC4-777D-453E-BD54-BEBFAECD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最小授权</a:t>
            </a:r>
          </a:p>
        </p:txBody>
      </p:sp>
    </p:spTree>
    <p:extLst>
      <p:ext uri="{BB962C8B-B14F-4D97-AF65-F5344CB8AC3E}">
        <p14:creationId xmlns:p14="http://schemas.microsoft.com/office/powerpoint/2010/main" val="46993754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DC7239-653F-497F-843B-4FF7A069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2F842-90F4-4A61-AF09-4483CA08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F9DC5-303C-4DBB-8031-0C91F8AE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C5DEB-FFB0-41F5-BE32-4FE37DD1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数据安全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49C01-069A-4FEE-A1A5-072A9823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敏感数据分级与最小权限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209AB-BF2C-456A-9846-9007E1F0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客户、合同、财务、人事、研发资料必须分级处理。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AD93E-15F2-49C6-BBDB-72DC01A2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FDA19-29E8-4C46-ADBC-7B6F6536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35BEA-4FD9-4CBF-935D-0E46FFA4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身份安全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31AE9-96F1-4441-92E9-4169264E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C006F-0A58-4531-88A8-B338EBE8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公开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CF29A-7ED1-4CA8-8E93-203DB242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1981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1BB4B-8F8C-40DE-8439-9973671F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861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内部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C5D82-CF2D-4FA5-97A0-EDF2964B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981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AF22E-53BA-46FD-8CFC-B3DBF7D9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敏感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441E6-EE56-489B-9BBE-8F8D0511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981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C2B31-F28A-4E99-A6DC-3A0CA02D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高敏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3268A-0502-461C-93C7-F340472A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34000"/>
            <a:ext cx="81534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越往右，越需要明确规则、日志、审批和回滚。</a:t>
            </a:r>
          </a:p>
        </p:txBody>
      </p:sp>
    </p:spTree>
    <p:extLst>
      <p:ext uri="{BB962C8B-B14F-4D97-AF65-F5344CB8AC3E}">
        <p14:creationId xmlns:p14="http://schemas.microsoft.com/office/powerpoint/2010/main" val="144168211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C54966-1322-4185-A6F1-0D977A98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29770-4C5A-4C57-9166-218964E6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FDB28-B34C-475B-9948-434F1A92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A37C2-14AB-4B01-920B-102639BF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脱敏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672AB-AC31-4FF0-8E54-E128C928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脱敏、隔离与出域控制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787BF-2862-4E9D-90C3-BBD43E95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能不用明文就不用明文，能本地处理就不出域。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39039-0F51-4C8B-BE21-0BBCB398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42DB8-EA03-46BE-B574-9B72DC73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64119-8BEE-46ED-ADEF-EF95A24F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身份安全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E1E27-2F80-4A91-A815-C649E193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51DDA-4CCF-4892-A1D5-88529A39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EB0CD-7C95-499C-87E9-81D793BD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6C47B-71F4-4353-8B74-C5FB0BDA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字段脱敏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2721C-96F2-4D04-A467-66B9B344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8FA95-0F1F-41B1-839D-041C430C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BA8F2-AF4E-494C-9321-871639D0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97588-DBF7-44A8-B3CC-A10820E4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日志脱敏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39576-2723-46B2-8C4E-A05CE09F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1A97A-0C01-4E40-BEEA-811427D3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7BCA60-FECA-4F19-A075-CB134C5F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842DB5-CCE7-4891-ACB5-E862C422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租户隔离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E8840-025F-4129-B3FF-6E8B63D1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FA782-73F5-42A8-BC9E-83EC77FD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1F3CC0-DD2F-4774-8ECF-A8422261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FE35D0-AE85-43CD-85F6-CD9F2685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数据出域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727C09-E9AF-4286-84A6-6E31D59D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599111-38A5-4EB9-BD31-41EDF939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CB31D-FC44-4B75-AB33-80B5629C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450D20-A600-4D3B-BC4F-23BF9158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保留周期</a:t>
            </a:r>
          </a:p>
        </p:txBody>
      </p:sp>
    </p:spTree>
    <p:extLst>
      <p:ext uri="{BB962C8B-B14F-4D97-AF65-F5344CB8AC3E}">
        <p14:creationId xmlns:p14="http://schemas.microsoft.com/office/powerpoint/2010/main" val="59851694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4765E0-234A-4126-8AD0-5DD27B76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972B7-CAE9-46DB-9F9F-D1FCEC45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56989-0E04-45E2-A03E-D6ECD8DD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0DA0B-A8D7-4101-B8F2-664BF0B6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674B4-F52D-4D36-98E1-1728444F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审计链设计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CD9E7-96EB-4CA2-9FE3-AAED15AF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每次读取、生成、调用、写回和审批都要可追踪。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04775-AF21-4DD7-A63D-771F0CEA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6C4C2-E99A-434E-8976-0E909378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295E4-621C-4A60-8FA0-37B469E2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身份安全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5D73B-BC3E-483D-B8DC-FA1FA98E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29FF0-D045-40B3-BBCC-43BC77CF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3143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1F995-744D-4BCF-B5D8-547B98A4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590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37F61-8E34-4F6B-A66A-DF51BE15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C3E60-BD81-496F-91E9-A6C86B12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谁触发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7AC36-CFAF-4C50-B89B-A19DCC54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717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身份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3DF7A-3351-41D4-97D9-6FDC0BC2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4F38A-5907-42EB-9824-40501CC3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看什么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85C04-A02F-414C-AFC2-4D772848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数据范围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72267D-107F-4982-9F3B-4CCEA013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711EE-5DB6-474F-B4DB-004B4311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528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做什么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7CF1F9-1EF7-40A7-8F6E-2D8D80DB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528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工具动作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316182-950C-4561-B686-B3A4AB47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8E59B-7019-460F-B5D0-CFFCEA09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谁批准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50D723-99EC-4679-A32F-2C8AB8DD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434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审批人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4FCB25-E934-4C2A-A0F2-3F93BBD5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1A4267-9AD0-4ED5-A877-702EF1CA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339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0F052-4F12-42EE-BF08-A5BC933C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339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写回位置</a:t>
            </a:r>
          </a:p>
        </p:txBody>
      </p:sp>
    </p:spTree>
    <p:extLst>
      <p:ext uri="{BB962C8B-B14F-4D97-AF65-F5344CB8AC3E}">
        <p14:creationId xmlns:p14="http://schemas.microsoft.com/office/powerpoint/2010/main" val="66341366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60BE3E-2A92-4CCE-BE1E-563F8B0B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B8005-FCE8-468F-9CB3-2D472C73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DB219-0C83-4378-B8F4-0E71D117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7EC40-700C-435B-A73B-F9819262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71837-5BDF-4321-AA89-CDDB7C2C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设计权限矩阵和审计链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C2F10-9532-4CC2-B247-15F63CF3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学员为一个数字员工写出角色、数据范围、动作权限和日志要求。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EF5E4-8B15-4621-B377-2D0CA6D7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437BD-2BF3-47FA-AFD2-2D2DEB85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CAF2F-7501-4021-9E19-086C2AB6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身份安全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33F7E-4292-4026-BF63-24D3A900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33026-9712-4890-9B62-A2F6E376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9F50A-0AC3-497E-8A77-B870EFA1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9分钟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6066C-380E-41F2-8B3F-F2114FCA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讲师示范后，学员用真实企业流程产出可交付材料。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892F5-B09E-442D-AD82-F4665B7D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699FB-8CE0-48B7-B3F4-8A25CFEF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D49C7-DE9B-4517-ABFD-B79C85A0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列角色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55A4DF-AF82-4490-B90F-BA9E96BF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5F779-4E4D-4F40-B839-35532380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46E32-06F2-4EA5-AB49-ECF0F91A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标数据范围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FCF51-7E90-4746-AEDC-7EC33E2F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AAF85-CCAE-4C28-8747-C360B1BA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7FB1E6-4B6B-4A33-A78F-D9BC4E26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标动作权限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D09C53-42B3-4349-BE68-0F93818C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9F6541-39CF-4B00-B809-1D76E93D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AD332F-F584-4FEA-86DF-F626E4F3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写审批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DCA9F3-EBE2-4ED9-8CE0-14454CFA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E92EDA-C596-40D8-8F40-DDB3C14E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A1D86D-9141-4916-BB60-BF456ABE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写审计</a:t>
            </a:r>
          </a:p>
        </p:txBody>
      </p:sp>
    </p:spTree>
    <p:extLst>
      <p:ext uri="{BB962C8B-B14F-4D97-AF65-F5344CB8AC3E}">
        <p14:creationId xmlns:p14="http://schemas.microsoft.com/office/powerpoint/2010/main" val="108740288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157288-EDB3-42C8-BDD3-7B6E8404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C75F5-0070-4277-AA3B-FA407261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EA4C8-2110-4763-949B-1035B7FC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D7F87-DAE0-4F52-8A47-68AC6DAF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事件驱动与流程触发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0A93D-8B24-4282-B574-12EC8F72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让数字员工从被动聊天进入业务事件流。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AF913-D235-4851-B93F-455F8D64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EDA56-F4AB-408B-8A34-373F3833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D0298-14F3-4083-ADBB-E46FD01B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1D699-3F69-4E67-8E3C-8246378E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队列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5DFD2-F50F-4EA5-A3AA-97348540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BDF55-6E1D-4A05-A8FE-E55E4356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回写</a:t>
            </a:r>
          </a:p>
        </p:txBody>
      </p:sp>
    </p:spTree>
    <p:extLst>
      <p:ext uri="{BB962C8B-B14F-4D97-AF65-F5344CB8AC3E}">
        <p14:creationId xmlns:p14="http://schemas.microsoft.com/office/powerpoint/2010/main" val="122267657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70A9F3-E4E2-4452-A3C6-294938C0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B3061-D2BC-4CF9-A5E5-B2D88D2C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39300-917E-4DA2-ADBE-FE42A4AA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86E8F-4F02-43A0-B0BF-2D4FD2B4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事件流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CF7AD-A4AF-431B-8B64-FB56EF22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事件驱动流程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84B17-FF62-4781-98E5-C8CA8C1F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系统事件触发数字员工，数字员工处理后把结果写回系统。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E7235-8D59-417E-BBFA-2A7D9C38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5DD42-EC02-4EAA-BF3A-76B8AA75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E5461-6560-46DC-B5D9-DF097560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事件触发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85F28-3B1C-4F55-AAF1-9792222A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93971-C3B9-4C56-95AA-846EF084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事件产生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3669E-4DBC-4BD3-9018-9905236D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0A011-0B06-404F-AB6C-57A2FAE6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769B8-417D-4842-9CD7-7E9386FB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消息队列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9F22A-3AF0-490C-B5D9-07D29ACF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622DE-9EC1-44C0-B016-95C7E7B4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00299-E302-4923-91E4-1F066457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身份校验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69C01-6114-4315-BEBA-BBE7CD66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12E6D-19A1-4726-8FA7-A9975827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2A7382-7EAA-460A-8418-01596C46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上下文加载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5B3EC-1D17-49EA-89A3-C6E80DE6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31CA7-4E69-4205-A2E4-22C6636A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E8F0E1-C679-4F10-AF96-72DB5121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B8C66-6A16-4C19-8CA3-FF9EFAEA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B0660F-C3CF-4864-95D9-27A694E3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0478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BCE8FC-F85F-4762-9D9F-EE75C6CB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结果回写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924725-757C-435C-AADE-20EA8AF9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100B0F-BF84-4CC1-8118-B8321263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FDE判断：是否有清晰系统、字段、权限、事件、回写和运营复盘。</a:t>
            </a:r>
          </a:p>
        </p:txBody>
      </p:sp>
    </p:spTree>
    <p:extLst>
      <p:ext uri="{BB962C8B-B14F-4D97-AF65-F5344CB8AC3E}">
        <p14:creationId xmlns:p14="http://schemas.microsoft.com/office/powerpoint/2010/main" val="187897646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830117-C3AA-4932-A9BE-1C88AC2F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3065F-48FA-414D-8D61-71BCFCD0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0CDAB-F429-4CB3-8A29-7D79E4D6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01142-9341-4E5D-AAB2-7A6BDA42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触发源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6B97C-1068-49C4-89C1-836107F1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常见触发源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283A3-3F90-48BE-94CC-B7855840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触发可以来自企微消息、CRM状态、工单变更、OA审批、定时任务和异常预警。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A49DE-8FAB-4A97-9AC1-45C6D451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0D3AA-04D9-4492-8025-040BCC0E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4FC6C-9C0A-4DCA-B1E9-8DC37488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事件触发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95479-5F29-4F8D-97FD-6B0016E2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9C5CF-BC01-4839-9F02-9286CCE0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76DF1-6FEB-4653-99C5-3E937A30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214D4-3E67-4F82-AC5B-E41261DF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企微消息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17258-D77D-4748-9D86-BB2450B2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D91F5-440C-44EA-83AC-7C4A35F4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B16CD-EECD-40FA-BA54-511930E1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87E11-2D57-4DF6-9FA8-C8787AAB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CRM状态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89B7E-FA3B-443A-8A71-A4A2DF63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E504F-2BFD-46F2-987E-57415FD3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518F0-7B4F-4560-A2B9-7744D8E2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0EA01-5E40-42C4-A763-6C2155C2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工单变更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09B5C0-76C7-412A-AA97-8D3D03B3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A1763B-6D59-4128-93B8-86020315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AED14D-D9D3-4E57-8196-AADB2888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5F5E0C-0D55-4F30-BD2F-36D08142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OA审批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E01205-C926-4EC6-B659-2E75A99B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E5AAF0-CBF0-4335-8E11-4DCC14BF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17EE2B-419B-469B-B402-BCA86CD6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A48342-2FA2-4EA4-853B-19DE9023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定时任务</a:t>
            </a:r>
          </a:p>
        </p:txBody>
      </p:sp>
    </p:spTree>
    <p:extLst>
      <p:ext uri="{BB962C8B-B14F-4D97-AF65-F5344CB8AC3E}">
        <p14:creationId xmlns:p14="http://schemas.microsoft.com/office/powerpoint/2010/main" val="81998084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324CD5-3599-46D3-8869-705F8C34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D2339-52AD-45EF-9616-A7EDAB7A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F7FDD-9957-4888-B6DB-81B163DF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CFB9E-CDE2-4609-934B-4935FE52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同步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521F6-65EB-43C9-B889-F7D7C80B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同步、异步与批处理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766C5-299A-4F9F-AB92-0D9032CC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不同任务对实时性、成本和可靠性的要求不同。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F7263-A586-4D68-BCC0-395F34C1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4B677-D782-4CDD-8082-0A264B14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7B0D6-51A6-4D28-A04A-81524DC5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事件触发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FD9A7-3706-4604-AB4C-0A63D3BA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2CBF8-0DF4-4E60-B0A1-59010CBE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同步：即时反馈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36929-1017-4730-B138-559E7572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8D12E-1D6A-4422-AED9-E03656DC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异步：可靠处理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F2BA6-C93C-4A91-98AC-4B5A7532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1CFC0-6327-4CC0-B715-91DAE7C8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批处理：低成本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51A63-B2A2-42C1-854C-C68C44BB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3BD2C-A20D-4B4B-9AD7-B3C4926A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Webhook：事件触发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5998E-4103-4D3A-A550-372F4F83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2DC668-3FF9-4D49-927E-A3AC8127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队列：削峰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8F4471-CE77-4166-8569-AA062024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D1174-11EF-49F4-846C-189A0DD6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补偿：失败恢复</a:t>
            </a:r>
          </a:p>
        </p:txBody>
      </p:sp>
    </p:spTree>
    <p:extLst>
      <p:ext uri="{BB962C8B-B14F-4D97-AF65-F5344CB8AC3E}">
        <p14:creationId xmlns:p14="http://schemas.microsoft.com/office/powerpoint/2010/main" val="122122603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63C28A-700C-4A6D-A277-A42A8300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8A77A-A4EA-4FD5-91B6-AD10112B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C9FF6-83C6-4276-8440-EADEDBFB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C4CAB-375A-4A4C-B72D-67D3AF73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3C2FA-2B0E-4E57-BCF9-5EA26B81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工单自动分派与回写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7FECE-756F-4A24-83AE-E24B612C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客服工单进入后，数字员工分类、查知识、生成建议、转人工或回写结果。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DCA56-AD7A-499E-9C9B-32444690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E4100-22DF-4191-B3B5-AC141BAA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786DF-25B8-4B97-9778-A17D8C53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事件触发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1F0AA-54B1-4520-AFD7-05E28712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系统事实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64074-797A-4301-9B91-CFE84805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运营含义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714B4-CE95-4B89-8775-2EA0DC53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50178-6160-4762-B423-84D98B0D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工单创建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336E3-E530-43C6-8650-B4E48CD4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D2E92-533E-42F1-83F8-F687634D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自动分类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43B81-D4D1-4548-B426-F8AB90A9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0194F-4B3A-47DF-B8CC-03FC05A8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知识检索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A6288-4FCE-45BA-B5FD-64321BFF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DD0F8-F4BE-4E2F-A7C3-95658F60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回复草稿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1CAF2-F0D8-4D0E-AF29-697011D0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645F6-2C4F-4FB9-8E99-384FB605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16D0C-0B9B-4BAC-95AC-2A8474A9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2929AE-36A5-4A6D-AC13-8746853A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状态回写</a:t>
            </a:r>
          </a:p>
        </p:txBody>
      </p:sp>
    </p:spTree>
    <p:extLst>
      <p:ext uri="{BB962C8B-B14F-4D97-AF65-F5344CB8AC3E}">
        <p14:creationId xmlns:p14="http://schemas.microsoft.com/office/powerpoint/2010/main" val="103520295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DA0826-4AFE-476F-9B9B-F6394784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7F1D0-009E-4189-9C80-5C94316A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EA292-C69C-47D7-A1A1-A36F221B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B9CE2-00CF-437E-A08D-2C595283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幂等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134AB-B1AA-46FB-B7E9-590BC9A3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事件幂等与补偿机制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64D8C-1D78-421A-9B88-AD6BE2DD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事件系统必须处理重复、乱序、超时和失败恢复。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C5921-4F68-4739-A9D1-6C96A66E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69401-AEF2-4A97-AE29-BA2440B5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31785-AAAD-4BB8-8CDF-DD424C5F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事件触发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9BDB0-4B9B-45AA-A297-49972771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52807-AC68-43FB-9A3B-951EC894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3143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1B942-D782-43B2-9597-8032FDA0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590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99C11-D934-4A47-B6ED-3A5D0636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225D4-1EFB-4F36-B8CF-BB13A171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重复事件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FA454-A928-43AD-8A6F-F617D0F2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717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幂等Key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76833-B9A9-4BDA-AAEB-8E9481A1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8A4EA-B9E9-4ABF-8AA0-2326DF6B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乱序事件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0C220-CC7E-4AFD-9D6F-317D791C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状态检查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0B9DFF-4EE6-41EC-AF66-0635E32B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394BC9-69A3-407C-91B6-9BBE4CF1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528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超时事件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C15A7-7997-40FC-81CC-CB818E09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528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重试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8568B-4072-43BD-9221-DC5EDE9C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58D0D3-6D95-4A74-A4EB-9DFD1C24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失败事件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5C582C-AADD-421E-AEBC-49B996A0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434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补偿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46AC22-BAC1-4CCE-B345-DABCBC57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ABF90A-FE34-44FB-8479-AC36B2BE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339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死信队列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0F3ED7-99E5-43B1-AED7-40F2D4D2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339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人工处理</a:t>
            </a:r>
          </a:p>
        </p:txBody>
      </p:sp>
    </p:spTree>
    <p:extLst>
      <p:ext uri="{BB962C8B-B14F-4D97-AF65-F5344CB8AC3E}">
        <p14:creationId xmlns:p14="http://schemas.microsoft.com/office/powerpoint/2010/main" val="1654438703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31EFC6-F6A5-4F48-B584-1D7BBE0C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9E267-BD5D-4FF9-8BEB-FB4C8802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1C9EE-0D50-478F-B061-E0472213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4AA10-C107-4B76-B315-7C40D28B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49A72-B5DC-49DE-900B-BAE88E96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设计一个事件驱动闭环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671EC-3C36-4301-AFAB-B88D08B9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每组选择一个触发源，设计事件、处理、回写和失败补偿。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E97D8-7EAF-4CB9-9D9D-3F2B4DFC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6C639-C188-4592-A104-EF755702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BD5EC-EE01-4F24-8907-5B9DED77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事件触发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2F34A-3831-4F71-B422-605E62A6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A924A-01EA-4228-9F20-F20591F1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F9ED4-686C-41B7-AD83-B0498D2B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7A2D5-2F9D-4490-89C5-011F5590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讲师示范后，学员用真实企业流程产出可交付材料。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F222C-257C-4C6A-A808-82C482F9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E252E-EF91-4BA4-839E-2D0514ED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29BFD-00ED-45EF-A12C-24749868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选触发源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06CE2-5F98-435F-98D9-3E33D247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D1491-8ADC-48FF-AA3E-E480AFB7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07BAC7-B18E-4336-8D43-C6C7F17E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写事件字段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6F4F5-40C5-467E-8E5D-C8DA48BC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09538-F91C-4D97-AC8F-D975BB18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F4918-271A-4ED1-9BBA-E3FCE296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写处理步骤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D57030-18CA-4B4B-956C-679879D5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32DD9-59DD-40EC-A6A0-239B62B9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F19E8C-51D1-4E38-A2F4-23E279AA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写回写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FA1BE6-E373-484E-A9BB-B96BEF83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93C62C-F7D2-416E-87E6-41EF47EC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C47CA1-AB9A-49ED-AAEB-1E73FD8C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写补偿</a:t>
            </a:r>
          </a:p>
        </p:txBody>
      </p:sp>
    </p:spTree>
    <p:extLst>
      <p:ext uri="{BB962C8B-B14F-4D97-AF65-F5344CB8AC3E}">
        <p14:creationId xmlns:p14="http://schemas.microsoft.com/office/powerpoint/2010/main" val="1609838336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FB0447-F47E-42DF-86EE-5235A414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2935F-DBA4-4983-9A29-56D649A2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CFC4D-0BEE-4DB1-B7D0-032AF3CF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DC5F6-F99C-43DE-9D30-D9CAF7CD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日志观测与评估运营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533A1-5BF0-4EEB-B302-821D7EF6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上线后能不能变好，取决于能不能看见真实运行。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A1A2F-2337-499B-B9CF-46A20CBA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A08F2-3EBD-48EE-8B60-59ED49AE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B36A0-677B-44AA-BAE5-1AF9CC3B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61FAA-5E3B-4642-BE6A-6436777F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0CC85-CBBF-44A7-9EFE-970FF967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2D2CC-B9CF-4D84-8C9C-19539668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</p:spTree>
    <p:extLst>
      <p:ext uri="{BB962C8B-B14F-4D97-AF65-F5344CB8AC3E}">
        <p14:creationId xmlns:p14="http://schemas.microsoft.com/office/powerpoint/2010/main" val="97994958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3FAD1B-4EAF-4DD0-B86A-78DC0F91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EED1F-1308-47B7-AB06-CCCD470A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F102D-EC85-4489-B065-B4F69201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5DBA6-2D96-40F5-9456-2FFC71AF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日志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5DE57-1CB5-47CB-9A03-D46318C4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运行日志不是技术细节，是运营资产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1AC99-5AB4-4B98-BA02-5CCF1181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日志记录触发、上下文、工具、输出、人审和结果。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06230-3C09-47CF-9174-6F325D79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2B4A9-B409-43E5-AB23-75442994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7BCF1-9D09-473A-9F12-80548A12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观测运营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557B6-1611-47CA-B406-974AFA01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B10CF-85FF-4B43-831B-3A9D3D01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EE33B-F0A3-4C19-AB43-54F7AEDF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4A520-0993-418F-B67C-A7A9E63C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触发日志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FDC13-8E19-4009-9D0B-C3E57BC6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1D495-EB8B-4683-A95B-757370F8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4687E-953D-4264-A326-87699CBA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13465-43EE-4A7B-B86A-B27CAFA3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上下文日志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1053CE-BB28-4F32-AB45-7ECE6641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EDB4B1-140E-46F3-B02D-A9934FB9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42DEA1-5B88-4AFF-ACD8-9BB1EF38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C85C9D-36F6-4E84-B1B0-AB63AD1B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工具日志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A7E37A-72B4-426A-B36D-EFC0D4A3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57A2EC-4039-45D9-8821-CFDB4059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6A6931-0410-43E9-B97D-C70874EA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9415E5-7379-434C-9AF4-DACBC1F6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输出日志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3678A8-FFE5-40AB-B295-899C2029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967EAE-ADC8-4DE5-A727-A1747EA9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117AB6-7A2B-49F4-BE42-757468E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23334E-D759-454A-A893-1C99D453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人审日志</a:t>
            </a:r>
          </a:p>
        </p:txBody>
      </p:sp>
    </p:spTree>
    <p:extLst>
      <p:ext uri="{BB962C8B-B14F-4D97-AF65-F5344CB8AC3E}">
        <p14:creationId xmlns:p14="http://schemas.microsoft.com/office/powerpoint/2010/main" val="107317394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D04C39-3540-428B-9C26-C0256EB1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E9A86-5D95-4C0F-B3EF-21A7A50A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D9204-4ACF-4057-B4E1-02C6C668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55460-19EF-45AE-AFC5-097EE1F7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86E58-F5A3-48F3-8C5C-A3E2AA46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数字员工运营指标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303EE-084B-4F49-8ACD-2CA2EA43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同时观察业务价值、质量、风险、成本和体验。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68B73-838F-4CE0-84FB-2DC68705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B7975-4C6C-4348-929E-4E945B5E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DB6B5-9972-4345-AB4E-6076A267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观测运营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49B93-468F-42B8-9FEA-AAB66E91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8F082-19E0-4B16-94CA-2544EC41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87B81-F9C5-430B-BFF4-1D9C1FB5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完成率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FF555-216A-4361-9A9B-1F80A832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F01B3-5B63-4FB0-9730-9C3BF89A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4626D-B11B-4F85-B551-86881895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FEB97-86F0-45B4-97BB-4BA615A0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采纳率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F191D-2079-415F-AAF7-23A36057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有效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B07E4E-8A89-42B1-82FD-EA56DC23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75915-5B3A-4A6B-ACF0-92054B05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0B4020-9CBD-49B1-B608-3E3C6468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接管率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ED96B-CBEF-43E2-9009-6418BA2E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0A00E3-977D-495A-970F-FC545AF5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851353-FA7C-4C3B-8C0B-DA996660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206D8F-7324-44D5-BC17-3B7A1F7E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错误率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7CD3E2-136B-41B4-8664-72495A56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186805-F9AB-4A0E-95CD-7427CA20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915CBD-10BE-4FA6-80D8-892992CC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91D387-6C5A-4417-9AE4-DD03FB42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128730-E124-4044-88F4-78B77A10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F49F3E-BD34-46FF-9354-3217A69E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B72ED5-9C52-4B95-8969-059B26CB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83F6F4-B966-42C2-84ED-4CDB16AA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满意度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E313AC-8C8D-4538-BEFF-134289A3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体验</a:t>
            </a:r>
          </a:p>
        </p:txBody>
      </p:sp>
    </p:spTree>
    <p:extLst>
      <p:ext uri="{BB962C8B-B14F-4D97-AF65-F5344CB8AC3E}">
        <p14:creationId xmlns:p14="http://schemas.microsoft.com/office/powerpoint/2010/main" val="1110931854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C73EB2-F772-45D6-B976-682C84AF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0E66A-678D-4265-9C67-E3893997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7EAED-6922-47F1-AAEF-20FFC47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16DBA-7B4C-4628-9CC7-5FD19E27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1EB3F-B90C-46C7-88AD-97D0ECDF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线上评估与离线评估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EFB10-E12F-4AA2-900C-72FB6A3B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离线测试集防回归，线上指标看真实价值。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2DBCF-DF04-42D7-A3DB-8F748119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C613B-1563-499F-A8FB-EF05B154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E484F-C4C3-430D-A1A8-C3126637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观测运营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91278-56DF-4A9D-A57C-63CF18EF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511EF-1B4E-4173-B051-7596771C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3143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C6B19-B19F-438B-A39C-8B5FD0BA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590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DC465-213E-4A06-8A63-C78638B2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F0964-3C1D-46B4-9A7E-1E4D7BAF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离线测试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E4831-7780-42C6-92DE-142EEB99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717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版本发布前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873D4-5A6D-41A1-9124-B923E683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DC295-DD5B-49DA-8607-97515E4F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线上抽检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5D51C-1EE8-4482-A87B-5BE728E0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真实样本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36AD36-72E4-49B2-AF36-F075BD11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FFC32B-9977-412C-951D-D0C1A08D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528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人工评分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6C7F77-B9A5-433F-AAB1-1BB6D00C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528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质量标注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7EDFC-47E7-4391-A9B0-DD06631A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A6B37-DD5C-492E-8B09-244FE64E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CB88AD-F5CD-4F05-BFEB-C6A0348C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434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体验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EC4EDB-5A6D-4E18-883A-0D7951AD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D20F87-AF48-461A-BD92-D32C6E57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339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业务指标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23D009-6636-4B59-91CF-E2B5F244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339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</p:spTree>
    <p:extLst>
      <p:ext uri="{BB962C8B-B14F-4D97-AF65-F5344CB8AC3E}">
        <p14:creationId xmlns:p14="http://schemas.microsoft.com/office/powerpoint/2010/main" val="66951826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7B7FFE-1F8B-485F-B589-C1782FD3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4C727-E203-4776-B5E2-9F6E61CC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3BCF0-8EEC-462E-A50A-40FC9AA1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7F747-51B6-47B6-935D-7D0E450E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告警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F2DD5-BD09-4E9D-A72D-870BC729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异常告警分级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892D5-BD0E-48F9-9D70-C9C09C92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把错误、成本、延迟、越权、工具失败和用户投诉分级处理。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1E8DA-8FFB-4D58-A0CF-39DF3A06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8BEA7-CCA6-4171-A697-F86423A6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B920C-D692-49E3-AE0E-5527E317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观测运营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6AD6C-945A-48DB-8DE0-E1B9B008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A3B18-63BE-46BB-94BE-EFCE39AD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P0事故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9A2B3-8E0C-46DB-B7B3-0614F33B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C141A-ADD5-42AF-AF1E-5269ED94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6E921-80EF-4CE6-B609-9ED72591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P1高风险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6B186-0E8D-4CE5-92C1-CEDA6F68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68EDAF-532F-4C6B-B952-095A0840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F4A96B-EB5D-4392-9698-81F1DE0E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P2质量问题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4D70F9-E425-4B94-A0B9-264F7A5F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D47B0-FA8B-4020-8E94-4F2EB96D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C82D4-8C10-44D0-BE2D-B327B53A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P3体验问题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749C6F-4B7B-423B-BF25-8BE2EC16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FEFCDF-FE39-48EC-801D-9268B7A7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B5DDB-6FDF-41FD-AD77-B0CFE1D5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成本异常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CCABF5-C5A8-44F3-865F-8C35CB36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51DE97-7B02-4C61-AA39-4E732A2D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956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49CE78-7899-41FA-9653-44064EF3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480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延迟异常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DBD2F1-955E-4EE8-95A1-521DC76F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8E585D-DDD5-4A87-82F2-42E2B055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67350"/>
            <a:ext cx="74676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告警必须能落到Owner、SOP和复盘动作。</a:t>
            </a:r>
          </a:p>
        </p:txBody>
      </p:sp>
    </p:spTree>
    <p:extLst>
      <p:ext uri="{BB962C8B-B14F-4D97-AF65-F5344CB8AC3E}">
        <p14:creationId xmlns:p14="http://schemas.microsoft.com/office/powerpoint/2010/main" val="2115426614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FCC41D-E85A-4528-B1FC-296A7158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10892-9F40-44BC-8782-FFD8CA63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136E3-C1C4-46AA-962E-AB1A634D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F6F95-D641-4022-ADE9-DA3ACF0E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漂移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4D62F-C26C-4896-8FF5-58A08D27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流程漂移与数据漂移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82226-A622-47A1-AD05-BB238352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业务流程、数据字段、政策和用户行为变化都会让数字员工退化。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6A827-9E89-436C-9FEA-D37D1E32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19850-7757-4403-8260-734E79C5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0B52F-5C57-4222-9374-8A5171B3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观测运营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61ED0-BFA2-4D26-B2FE-16DA6001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65D71-2B33-4974-9ED5-3C112D7B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流程变了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0D0ED-0AAB-4F62-96C8-3C2A93B7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1981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B62A2-CAF9-4DFC-A937-DEF99437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861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字段变了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A68A1-1DB0-446B-AC83-E429DA45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981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BA588-872C-4788-AC85-541D71B3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政策变了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F09CC-4547-41A6-AD89-440E0663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981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B5B65-1AFF-4B03-8F50-1514DDC5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用户变了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B6B23-49C5-4AF7-98E9-0D27AD0B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34000"/>
            <a:ext cx="81534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越往右，越需要明确规则、日志、审批和回滚。</a:t>
            </a:r>
          </a:p>
        </p:txBody>
      </p:sp>
    </p:spTree>
    <p:extLst>
      <p:ext uri="{BB962C8B-B14F-4D97-AF65-F5344CB8AC3E}">
        <p14:creationId xmlns:p14="http://schemas.microsoft.com/office/powerpoint/2010/main" val="1455865629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D1177E-132C-46BA-A31B-CCEFB097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AFFFB-8D0A-4256-A8C4-326D1A67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45B84-E12A-4ED2-BE0B-9C7B8CCD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ED1EE-8458-4431-A2D9-92C1E140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FED01-0D73-4658-B8E1-8FA48F1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每周运营复盘会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C86CD-6815-4A29-A246-8203323D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FDE要组织业务、技术、运营围绕数据做改进。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4346E-4992-4DDB-86E1-CAE03856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07A80-2D64-43C5-BBE2-6CC187DA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E27F8-722B-4B02-B074-55C9C8A8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观测运营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2DF3D-CA2B-4EC7-BB52-BA7CC63D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系统事实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2BFB0-D00D-4060-AA80-D652DE6E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运营含义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C8E92-A63A-4388-9D69-0A44A8BA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A81F7-EE16-4514-8E31-3B838724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908B8-AB16-4B8A-BADC-B0768CBD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D7063-7F97-4C68-A197-9C4E76FA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看失败样本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DA294-5BC4-4D1F-A937-42DAC145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75B87-FA7F-423F-B6B5-A3428972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看接管原因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C7BE07-467E-42EE-805C-2784E2E0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E5D1B-E2E2-4225-8582-639A3DD2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更新知识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E58017-DBF2-4226-9FE7-1CFD1E96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56300-61DC-4769-BAE5-59487F09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调工具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B66B83-42CC-4504-88DA-8D112E47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107215-F331-446C-92E1-1271AFD6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定下周动作</a:t>
            </a:r>
          </a:p>
        </p:txBody>
      </p:sp>
    </p:spTree>
    <p:extLst>
      <p:ext uri="{BB962C8B-B14F-4D97-AF65-F5344CB8AC3E}">
        <p14:creationId xmlns:p14="http://schemas.microsoft.com/office/powerpoint/2010/main" val="899983418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EF0060-18C3-409D-964A-3FEB2214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6D824-7D24-4218-A4FE-455C29F1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ADEC4-A314-494E-AA2C-A28E357C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0A88C-25D6-4426-BE6A-80446C73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0AF84-D42B-4492-97DD-DF456DA2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设计运营看板和复盘机制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638D3-D00B-4D33-99C3-CDA31DE3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每组为数字员工设计一张上线运营看板。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64885-D01E-4CE3-AB50-2CCABB4A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B0328-09A5-4974-A85F-6D7FEF9A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D5C92-C04C-427C-8E83-696208A2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观测运营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70C00-5C56-4AC8-B473-EF7B680B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4C8E0-A75C-4A48-8450-6C6211CC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D4B58-B4B5-4B36-AAE1-23017B69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0F480-2E10-4339-AD25-5DB32357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讲师示范后，学员用真实企业流程产出可交付材料。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C56B1-FC25-4A12-BA8B-FA68C758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2C8EB-BE63-421D-A616-AA47AE85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3FFE5-F152-4466-8A18-76829B6D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选指标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75450-B19D-44EC-B7C8-EE14E0EB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FD420-9DDB-4B84-AF2C-22CF1501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3F4D7-59D1-4E4B-A9BA-06E98089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定阈值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1E3D3-BFEB-468E-82F1-D5D49DC0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7F115-EC1C-46DA-AA9C-61D7E15B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E9E1B2-3919-4696-82C3-C5C92853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定告警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47A30-B212-4433-8C44-F789282B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8DE096-1CAA-497D-AB8D-18FB5327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5426F-2264-4438-A9AA-67806E9A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定复盘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387200-89BE-4076-A587-C54B1D87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AC2BDE-4470-414B-8EB1-39D3825E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C56FDF-4168-4010-98E6-2ECDB47F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定Owner</a:t>
            </a:r>
          </a:p>
        </p:txBody>
      </p:sp>
    </p:spTree>
    <p:extLst>
      <p:ext uri="{BB962C8B-B14F-4D97-AF65-F5344CB8AC3E}">
        <p14:creationId xmlns:p14="http://schemas.microsoft.com/office/powerpoint/2010/main" val="959630516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E3C949-528D-4A93-B74F-2C574E66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13818-CCB3-4F8C-960D-D47CD945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6BC89-97F4-4D0C-8E1B-C0E6A797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Part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CAC6E-6F68-47D5-93A2-FB71B2FC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成本性能与SLA运维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B9687-51EE-4F61-BF96-BB305CE9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企业部署必须同时控制体验、成本、稳定性和服务等级。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2BA52-5260-4A5A-BE33-49556DA7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F8AD1-FB4F-44F8-80EE-39BF8872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0E205-9B9E-43CC-A2F8-A9FDD14D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547A2-47E3-419E-A5C0-AAACD1AA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20FEA-ED2E-4095-A4DD-36DF54A9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C19B4-C413-49A3-90B9-B43FE786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SLA</a:t>
            </a:r>
          </a:p>
        </p:txBody>
      </p:sp>
    </p:spTree>
    <p:extLst>
      <p:ext uri="{BB962C8B-B14F-4D97-AF65-F5344CB8AC3E}">
        <p14:creationId xmlns:p14="http://schemas.microsoft.com/office/powerpoint/2010/main" val="1703967185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826C92-6080-494C-8CD2-0BE2145B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8B706-F37D-449E-8489-8CFDB5D5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16FCB-5481-4F90-B609-5637CB74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5B14E-E869-41F6-99A5-51955B90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A950E-40FE-414C-8731-0F6257B4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AI成本不是只看Token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685E4-88A7-4B34-8ABA-D03BC773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总成本包括模型调用、检索、工具、存储、人工审核和运维。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0AD1C-A749-4812-A405-19219E76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454F6-560F-4332-841D-328C4CE6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A7BF1-1585-44A2-A078-2C3E81FF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成本SLA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5E138-CFDB-49C4-B7F6-C9CD28E3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BA280-B3A3-44BB-BFDC-EB2C6002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BCC4F-9BC2-43F2-ABDF-1FC86E70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8E225-4228-40AB-8F39-E1253BAC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模型调用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262B0-A38D-40D6-9E8C-C88B1FAE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038C4-F81D-4285-8FAA-728DB601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87E3D-DAF2-44EB-80F4-51AB2E39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36746-2F9E-495B-BE46-4CD6C2D5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99ECC-6E30-47EE-9879-5A54CBAD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693D24-07D7-43E2-BA29-E3A0BC64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3FB50-6BDA-4ABA-BEF5-AE926EA7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27C7C8-B89B-4CB2-B7A3-0F861E2D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088697-6A63-4CD2-BFA0-65C069B2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70A542-B317-44EC-BB1A-1484715C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A9F397-11D9-4EE3-9AF9-7186977A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97B028-266D-4CCA-B977-C829EAB1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存储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6CCD59-566F-47AD-BE20-8F946F24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2F7CDE-9BCF-496C-B58B-1E1B312B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D697F5-9CB9-49AD-9CD5-6DD908D2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B37597-48D6-4CBD-871E-A786F3FD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人工审核</a:t>
            </a:r>
          </a:p>
        </p:txBody>
      </p:sp>
    </p:spTree>
    <p:extLst>
      <p:ext uri="{BB962C8B-B14F-4D97-AF65-F5344CB8AC3E}">
        <p14:creationId xmlns:p14="http://schemas.microsoft.com/office/powerpoint/2010/main" val="485527168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1E352B-11BE-4CA0-8259-CA7B181F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49FBC-B334-4726-98DB-4DEE16B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C63B9-BC89-47D9-97D8-FA589A3D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A1927-6D58-4F4E-9585-B4BAC9B6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52E93-493C-4DB4-B570-F30BB21B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延迟与体验设计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1F21F-93E5-41CD-BB10-DE6DFEE9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不同任务允许的延迟不同，不能用同一套体验标准。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8B885-22C7-4F62-80E5-CADC765C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8DFBD-D1E7-4CFE-936C-DFF6209A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3665D-41EC-4610-8D05-EBBFE2C3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成本SLA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9A351-73A8-4757-8EED-923077F0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EE744-AE4E-4B90-8C99-A7E9ACD4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即时问答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ABFBB-3715-41BE-87B9-68954047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3886A-855F-4428-8709-8CF4827F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后台处理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22AE1-C097-43B9-9062-C9E060D6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83587-258C-40C4-B616-1F2A72BF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批量任务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37749-BB94-4D80-ACB7-9C8D3464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A9A2C-D895-4048-BE0A-05E89665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审批流程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54A2B-DE6D-4157-B8BC-9DF2198C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09CE3-7973-43AD-BDC9-CC45A8D3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长文分析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C4354-9036-499D-9CE4-48E8AFCA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F93FC-6C9B-468C-BC41-6F3B4415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异步通知</a:t>
            </a:r>
          </a:p>
        </p:txBody>
      </p:sp>
    </p:spTree>
    <p:extLst>
      <p:ext uri="{BB962C8B-B14F-4D97-AF65-F5344CB8AC3E}">
        <p14:creationId xmlns:p14="http://schemas.microsoft.com/office/powerpoint/2010/main" val="103222782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D2E263-C030-463D-BE46-3C935FEC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D2D40-693F-48C8-90A3-A4C73EEF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78003-6F86-48AE-9F8E-2AF54BFA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092E9-D45C-41C6-BF7A-4730CBBA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SLA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58CF7-1245-4A5C-A94F-35F2A678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SLA、降级与熔断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581DB-AB98-45B8-A85C-B8D6DD2A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生产系统要准备慢、错、断、贵四类情况。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EF5A5-316C-4145-89D2-2488F193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64C52-6609-481C-983B-4D293B85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FDD97-98FC-4699-A473-C6583ACC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成本SLA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CD308-2BE7-4A26-8A92-6FE65B67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89770-8AA3-4620-8457-17B11DE9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慢：降级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99420-E922-473D-9A63-0F122780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1981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D0CAA-DC54-4C99-800F-F3A1687E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861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错：回滚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39E06-DD30-4814-8205-FEF189A5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981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5F3CC-3E21-4AC2-8419-43763240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断：熔断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E83C8-5209-49AB-9974-9B4C4837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981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62296-15B9-44EC-9952-BCB1982C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贵：限流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917D58-CE0A-4A9B-85AF-E57184D7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34000"/>
            <a:ext cx="81534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越往右，越需要明确规则、日志、审批和回滚。</a:t>
            </a:r>
          </a:p>
        </p:txBody>
      </p:sp>
    </p:spTree>
    <p:extLst>
      <p:ext uri="{BB962C8B-B14F-4D97-AF65-F5344CB8AC3E}">
        <p14:creationId xmlns:p14="http://schemas.microsoft.com/office/powerpoint/2010/main" val="42041984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0851DB-3130-44D6-8BEA-B86CC6C5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5D7BC-3752-4AE3-B400-B7B51BE4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E1C74-FEAC-43CA-A1A2-88C85BA9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20443-0C16-4F75-87B2-70A3AD43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路由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4C45C-9064-4286-9AC3-882984EA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模型路由与缓存策略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73242-A8E8-45CD-8BBF-4B6F4BA6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按任务风险、复杂度、成本和时效选择模型和缓存。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A345A-EF5E-463D-9E01-3D6BF9E0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D78E1-140E-4606-A6C9-E38B0651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2E819-3EB7-4639-949C-01CC5FBF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成本SLA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604B3-D990-4DA6-B844-2E476EC6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CE0B2-1A8B-4F24-A34A-ECCA9393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3143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AC8FC-A261-49E7-9BF9-733F3DEB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590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3AF26-3FA8-4987-9F8C-9859282A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10DD1-73D1-4F2F-9281-01CB99CF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低风险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3FD4B-C967-4E44-A752-1500B1C7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717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轻量模型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23287-1018-4A9F-9E34-6C5FD3CA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66140-A816-4A19-BAA9-2F195FB6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复杂推理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F582D-A1A6-4AEA-8C8E-3F7011C7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强模型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6DD4BA-C2B0-4504-9F36-9C70930D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88697-90FB-44F2-B20B-5FD8BCC4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528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稳定上下文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28B7E-7C81-4F47-A040-188EC171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528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缓存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20A0C9-267B-4E73-9ACA-94A3AF6D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6C17F0-F004-46CC-88D4-68B9497B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实时状态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0CD95-BD1C-4151-877B-A7A75DDE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434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工具查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C57D57-375C-4A86-90D4-2407B9B6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213954-CD00-4704-93F4-E8379F80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339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E3FF26-A01B-4283-96B8-A730E391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339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人审</a:t>
            </a:r>
          </a:p>
        </p:txBody>
      </p:sp>
    </p:spTree>
    <p:extLst>
      <p:ext uri="{BB962C8B-B14F-4D97-AF65-F5344CB8AC3E}">
        <p14:creationId xmlns:p14="http://schemas.microsoft.com/office/powerpoint/2010/main" val="1352946590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E4A47C-D49F-41EE-B83F-2EEE750C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BB478-697A-42C1-A55E-4BDD0504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30A1D-B357-4D5D-B4C3-C02D503A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6EA65-7A8E-45B6-AF6D-361D679E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容量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309E4-C410-4998-9354-BB9E5237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并发、限流与排队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6FC4D-8BDB-4E7B-8EB1-8EDA41E3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上线后要考虑峰值任务、限流、排队和人工兜底。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9A6F4-AF88-48FE-8CD1-018E0630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B5177-6F3F-4EE8-81FF-5C560E86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91D94-5751-4BAB-97BA-AAADD211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成本SLA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3D30C-A926-4ACE-8906-A730AE5E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系统事实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43CA5-49FA-4E61-85EE-E98A9334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运营含义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1FA89-4297-4CED-9848-48C764E1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011FB-3F91-4B8C-9EB6-73E1B849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峰值预测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883F7-DDB5-403F-9565-98F87A95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77DBA-869C-430F-B3BC-77F73F66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并发限制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93B44-17C2-49A0-86F6-C6443047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060B4-9A88-470B-9B85-D5F94F80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任务队列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E5C6A-BDB1-4722-8986-61B995DD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04D1E-EE57-42EA-BE3B-FB7FC300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超时告警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FFFC6-D697-44C6-89F7-931ABBEA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C499F-D53A-4D78-8F34-76907E88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人工兜底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636FB4-3C04-4FE4-986A-F4F8CF09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F1AE5E-BFE8-4704-AF9B-F42B9F8E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容量扩展</a:t>
            </a:r>
          </a:p>
        </p:txBody>
      </p:sp>
    </p:spTree>
    <p:extLst>
      <p:ext uri="{BB962C8B-B14F-4D97-AF65-F5344CB8AC3E}">
        <p14:creationId xmlns:p14="http://schemas.microsoft.com/office/powerpoint/2010/main" val="166710656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3986FC-A091-42E3-999F-67135378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B18F5-04F6-4AE9-9CB9-65C72415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A9946-B692-4EE4-90BD-C9CFB61D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9BF64-08E0-42DD-B7E5-848E9091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61303-415B-4678-AA22-646937A1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设计SLA与成本控制方案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08AFE-59CA-49A4-8AD8-CDC5FAD0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学员为一个数字员工写出延迟目标、成本阈值、降级策略和告警规则。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E0935-2961-4960-A17E-D680B294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0F871-6B2A-4D0B-AF68-6B6DDC33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1128F-D979-48FB-8CD2-D5CAED47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成本SLA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26F24-744A-4193-AE17-3E7039C5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DA34A-01FE-4C8D-87B1-985A86A8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A3ED6-193F-4323-8D7F-EADA8D3E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9分钟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7A52E-5B90-464E-BB32-0AF09D0F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讲师示范后，学员用真实企业流程产出可交付材料。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CF13D-1343-46A4-ADBB-98B45F6D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7AE54-32BF-4543-A2F2-9B6F22DD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BF3B0-C2D7-4B50-A27F-50C5ECCA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延迟目标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5B3ED-DBEF-4568-9CB7-FC0144E0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0784D2-06D5-419F-A625-F6756EE0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8BB8FD-BC2C-492F-9960-6B1245D3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成本阈值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CF5DA7-3748-456C-8CEF-E574CC67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EDA7A2-62AE-4764-9643-987FECD9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1601F6-A346-44E0-B1E2-288F092C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模型路由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2B5FED-6DF4-41F7-8506-E10C16D0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94D349-89BE-4818-AEC0-FC7FAD7E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A6352-75C4-49A3-8215-F14B5455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缓存策略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3D81A8-394D-4DA3-A5AB-D287B96D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D86121-B327-4CA7-8582-AE2A371C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15B391-8DCC-4F40-AF5D-B654685F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降级动作</a:t>
            </a:r>
          </a:p>
        </p:txBody>
      </p:sp>
    </p:spTree>
    <p:extLst>
      <p:ext uri="{BB962C8B-B14F-4D97-AF65-F5344CB8AC3E}">
        <p14:creationId xmlns:p14="http://schemas.microsoft.com/office/powerpoint/2010/main" val="1306455592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AF2FA-8028-4B24-996E-0BFFD0D3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81552-3C55-4FC2-803B-BB696550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BE8C2-4B7E-4F34-B046-FA13F053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Part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0ECB8-C3FA-40D7-BFBD-058C0DA4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平台实践与集成工作坊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3FB2E-47FA-4862-A673-B5A6493E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把系统集成抽象落到Claude、OpenAI、腾讯和WEI交付体系。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40141-0628-4E7C-9F02-0BF685A2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4465D-8653-4D44-AB5C-576732AB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2930A-5F8D-4924-A2C1-9E65E1A8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963AC-093F-4169-976C-F9F95C2F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5F481-8468-4B05-A87E-5C631C09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3AC10-B615-43D4-8DE6-3EC009EF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</p:spTree>
    <p:extLst>
      <p:ext uri="{BB962C8B-B14F-4D97-AF65-F5344CB8AC3E}">
        <p14:creationId xmlns:p14="http://schemas.microsoft.com/office/powerpoint/2010/main" val="424209338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5AFD70-141D-4486-8CA7-B848B1F9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F3782-7207-4637-B340-BC4C3DBE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4D890-1C8B-4638-9514-6D7077C1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45265-C48D-4D00-8D7D-0807F997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A55B3-9DA3-414E-BA3D-AFFE0D67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Claude体系：MCP、工具使用与企业连接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8B374-5B42-4B41-8A88-7909F6D7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Claude可通过工具使用和MCP式连接思路接入外部系统。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2EA11-3AF6-4733-B0CF-B7641CE8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699E5-61B3-44D0-A957-92771037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C8541-7C4C-40BE-A76D-F94176CB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平台工作坊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260A0-FB06-4C4B-8A1C-4BFD6A58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9A1C1-3343-4F9E-B7EB-B3B21ED7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60522-C0FC-494B-BE10-D8B9A61B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EB8CB-06D8-4A3D-9328-D259DA85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6F1DF-5C3A-4C21-9FDE-3E2B2250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7CBA0-4DFC-433E-A94A-6A11A3B4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F8D08-1B0B-4481-B2B1-AF74D466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5C5E4-DA90-4290-9F1F-CCF1B07A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Tool 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3B861-BC77-4B0E-8D81-BEC8F724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D88FC-8166-485F-8065-641874D8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2FECC-E632-465A-B73B-4974487A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B39C5-44BD-4898-AC7B-709993BF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长上下文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2A4C23-BB66-410A-993E-B6C7E205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084A8B-08A5-4E01-B8A1-1E872298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9CDB30-A1A8-4B5F-8890-FE1B43CC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231A99-BC4E-439F-B4AB-0399E951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Prompt缓存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A151A5-9B42-4702-8230-019BE04D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541757-B67E-4EF3-A428-E9E143F6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BD23A9-D0BE-4DE3-B708-2318AFF6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D4EBD9-956B-42E9-8355-8757418D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</p:spTree>
    <p:extLst>
      <p:ext uri="{BB962C8B-B14F-4D97-AF65-F5344CB8AC3E}">
        <p14:creationId xmlns:p14="http://schemas.microsoft.com/office/powerpoint/2010/main" val="390009735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91AFB1-6F80-4F8D-AEF8-2B826CB2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66017-1DD9-424B-A48D-F44D31EC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8AA1D-CE24-436B-9ABE-63505C02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7574C-2C03-448E-B150-BD4A75C8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36AE9-E743-48E4-836B-070D1ED9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OpenAI体系：Agents、Tools、Tracing与评估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C874C-EFA8-45F0-B9D7-1195660D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OpenAI生态适合工具化Agent、运行追踪、评估和可观测性。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9D37A-2318-4B3C-A54D-A3E880A1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5A7AF-B6D7-4E86-81BC-4AA23BE9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48360-BEE2-4464-A491-922DB388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平台工作坊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BA35E-43B1-406F-BA74-BA635DF5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B37A0-5BA3-4772-9D3B-F090FCAA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DD2D7-7B74-4E5A-89B6-13263B5C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F8F65-8255-4DF9-8745-79B2B29C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A5415-8951-4857-B15A-606D05C6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C2A2F-3FFB-4F89-A595-76C5E65E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C2DD5-176A-4B42-A10B-C0B108E4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ADCAD-6BD6-43DB-A2BE-633B2102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4000D-C21D-4634-9D1D-82DDB5E8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5254B-5572-4CD5-837E-859B38E1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76812-8CC1-4CF8-9CAE-F27004C7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493A0-7D92-4DF6-A099-DDD1FF5B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Tracing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11EFF-4FB2-4122-8592-D36EC72F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ED3DB8-CFEC-424D-8D62-C9B10761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8D2718-51AA-444A-9967-262E2A17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C6A189-57EB-481A-8952-C35447C8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Evals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9AE109-9757-4DFD-9430-19646928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9D082A-85F9-4F2D-8F71-7430A7E9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CA0CE5-4920-4368-AB79-B7A2AF2E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986665-4F43-41B2-A653-39A11FBA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File Search</a:t>
            </a:r>
          </a:p>
        </p:txBody>
      </p:sp>
    </p:spTree>
    <p:extLst>
      <p:ext uri="{BB962C8B-B14F-4D97-AF65-F5344CB8AC3E}">
        <p14:creationId xmlns:p14="http://schemas.microsoft.com/office/powerpoint/2010/main" val="1698941909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D519A1-A9FD-4F03-8282-8B77B488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50045-7010-424F-BCDD-46FEF8A7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89778-5A2F-4737-B3C6-5D5612BC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7B054-3B2E-4231-80AE-368BAD47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腾讯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F4333-D78C-4A8B-9C54-F4D04294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腾讯体系：ADP、CloudBase、企微与企业云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44301-12EB-4FEE-B70D-6F1C57F4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腾讯生态贴近国内企业系统、应用开发、知识库和企微入口。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7DC04-07D7-4254-9F4B-2AE94849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51A2F-F049-4857-B638-AAE9B774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8B83A-F552-4A77-8BBC-D7C06B9A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平台工作坊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6386F-37E7-48BF-B975-59C58665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4C856-B438-44C0-8223-DA4EA00A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376A9-9291-40D6-BB5B-7A27F36C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6E6B9-5ED2-41D9-A7B0-5F14FE35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ADP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AAB2F-81AD-4B59-8036-22593115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8EDBA-A2EB-4B54-8B33-B36A858A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71E3E-AA5C-4862-A966-FBA8CE17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224C2-7C26-4361-A83E-474A8C7F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CloudBase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9A8CCD-7954-4E5C-8CC0-83B93B6C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8E72A-1F1B-4C0D-9A81-F023A57D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EA3819-D595-4783-BB6C-D7854C52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2C4E5-DEF0-48BA-8AE1-0DA024E6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DDF5AD-8FC4-4E7B-B433-90035CFE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8FD67-A1B3-4552-A927-E9C587D0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2C0342-9393-40A0-9567-FDAE6DAB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EEF29E-AB04-4DB6-A0F3-5EA7AA05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D0F93C-ACBC-40C7-9D61-CBAC09CF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68B8DF-ECBD-4479-A348-C0DA93E7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13A41E-F563-45D3-A7B4-581811F5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023D4A-1F34-4D57-9114-EDBEBBB1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工作流</a:t>
            </a:r>
          </a:p>
        </p:txBody>
      </p:sp>
    </p:spTree>
    <p:extLst>
      <p:ext uri="{BB962C8B-B14F-4D97-AF65-F5344CB8AC3E}">
        <p14:creationId xmlns:p14="http://schemas.microsoft.com/office/powerpoint/2010/main" val="1900539141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0FA908-E682-4EF6-8172-349890A2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2D361-2980-403A-9CEC-EFAE189A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FA823-62B1-4CA0-8649-BFB8E245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1E61A-CDB3-4C88-80AA-2E81DB4C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WEI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0A3D8-57D4-4530-BA56-2C202530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WEI数字员工运营闭环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8FE3F-8A75-4329-B46E-8EFF1A48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WEI体系可把模型算力、数字员工代养、咨询交付和孵化运营合成闭环。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9DDEA-C06B-44D6-9F45-6AFBF124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83A11-6873-4853-B956-9BD41ED9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50FC0-7258-40EC-AF4F-D70A5AC1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平台工作坊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13ED0-CFFF-47C2-9E63-9C3EF101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BA415-314A-4E48-9773-82893E6B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1F0AB-A82B-4967-BB16-2A3739A9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2491B-E3FE-4CD9-9A20-998203CC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BOT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3853F-F7E5-47C3-8840-4585E1E9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586D4-9B20-4A49-B19F-BE86208E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CONSULTING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09561-5DB5-4B6A-B115-D8A5E194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2C293-3030-44CF-B5CA-7CB57F68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E558F-81E1-42A9-BB3C-1C34C671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413C3-0F04-4ED5-8407-C0B0B2EB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CAPITAL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7FD2B-A0AA-47BA-A393-9D67FF44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3EF14-70B0-425A-973B-87BDB1D2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OPC模板</a:t>
            </a:r>
          </a:p>
        </p:txBody>
      </p:sp>
    </p:spTree>
    <p:extLst>
      <p:ext uri="{BB962C8B-B14F-4D97-AF65-F5344CB8AC3E}">
        <p14:creationId xmlns:p14="http://schemas.microsoft.com/office/powerpoint/2010/main" val="985201245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1BDFA1-73A3-4331-9AC3-C9FDA17B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99C1B-A763-46C6-9DFA-4A56A741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D284E-9C08-4990-8952-5EFD6DAB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3BBBA-4F7A-4E2F-9920-D326166B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4136E-B03A-4509-8924-0B787587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销售数字员工系统集成蓝图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3EC7C-DFAC-479E-9E94-41467648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把企微、表单、CRM、知识库、运营看板和WEI BOT连接成完整闭环。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2D745-B58E-49A4-B58E-DA07AE0F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EB4EF-0B47-466E-A572-51F817C4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71343-27D2-44C7-999D-47E7A642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平台工作坊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5C1DD-4AC9-4189-A8B3-13F72A77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系统事实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EBCE2-ADC9-4309-9B14-38E1520D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运营含义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1202C-179C-49ED-A522-6E2B83D5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AC484-4E69-4A77-8BD1-7937FE85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企微入口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EECE6-14C0-4286-816D-A4942ECA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19F98-80AF-4EE0-AE0C-3B32CE28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表单线索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96992-CD6F-40DE-A568-DB29108A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24E5C-EE2A-4268-92E3-FC5290DF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CRM读写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6218B-4BCA-4BAD-8D66-DAB133C4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C3F67-8018-45ED-9B05-9EAA328A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746B32-7CC1-4F6D-91F3-B17A38B4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A09F06-E58B-4F10-8784-93130C6D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运营看板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59670A-FB60-4E28-A08B-E1565E56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7F4452-64EE-45EF-B029-6BE4AF3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BOT代养</a:t>
            </a:r>
          </a:p>
        </p:txBody>
      </p:sp>
    </p:spTree>
    <p:extLst>
      <p:ext uri="{BB962C8B-B14F-4D97-AF65-F5344CB8AC3E}">
        <p14:creationId xmlns:p14="http://schemas.microsoft.com/office/powerpoint/2010/main" val="227089804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B59FC6-B804-4C5B-8D71-0B7F9681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607AC-8B78-4661-9514-B37066F1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8DB78-5D21-4E8C-842D-CC29DD90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0E79C-2E6E-463C-9D4C-94C70AA8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209C2-1013-41EB-8EDD-807BFCAE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FDE系统集成交付包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66685-D31F-401C-8432-878678CE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交付包要让客户、技术、运营和WEI团队都能接手。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6AEB2-1F91-4195-8927-DC202BDC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9AD2D-4F75-4416-88D1-C525CBDE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B20A8-D274-4CA5-959D-C86F2815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平台工作坊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36100-A5E3-4839-8722-4A4E371A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EE20E-1B4E-48ED-9071-718F038B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089BF-F2A6-4AE7-9A04-B85A4E28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62200"/>
            <a:ext cx="5715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讲师追问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CC9DC-E2F1-4E94-B7F3-F28AD724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6AEAA-CC94-45E7-A884-6EE0FF27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系统版图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F3955-AC96-4B1B-88CE-BCC93BC3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717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画出入口、业务系统、知识系统、数据系统和运营看板。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312A5-3854-49B8-A58E-0226D16D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CB41F-4672-4FE0-B382-4F258CA1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字段映射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EF7B4-A4A3-4247-BE07-03F3F7F9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670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列出对象、主键、枚举、转换、校验和异常处理。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3346B-2D71-4116-A82D-9D56A6E8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BE5D72-50A5-4AE7-B9A4-125BD212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权限矩阵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107E3-C8E6-46F0-9A67-3D0472DD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623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按身份、数据范围、动作权限、审批和审计拆解。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41BEFC-A5ED-4912-8273-76103675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0245D6-F8CA-4ACC-BA4C-8F5FF2E4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事件流程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97D38C-C043-4EF5-9891-D2FAEA83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576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说明触发源、事件字段、处理方式、幂等和补偿。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68A1D8-017F-46D2-B045-034EB67E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4C46D7-75FB-46F3-B649-428CC28B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观测看板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5F9AA9-6475-4C21-B39F-048C06D3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529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覆盖业务、质量、风险、成本和体验五类指标。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F0B16B-F133-41BC-8BBD-F4A8E619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E9A0C2-3C82-4F62-A5AD-B2BCDC0A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578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SLA方案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232D27-4CCF-4A83-9F42-6B5AEB02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482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写具体系统证据，不写抽象接入愿望。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40FD2-D80D-4A51-BCFC-417DBCE7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C1B0BD-140D-43EA-A113-FA24138E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复盘机制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D246C9-8128-48F3-A23D-2FB30A7C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435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定Owner、频率、样本、问题标签和下周动作。</a:t>
            </a:r>
          </a:p>
        </p:txBody>
      </p:sp>
    </p:spTree>
    <p:extLst>
      <p:ext uri="{BB962C8B-B14F-4D97-AF65-F5344CB8AC3E}">
        <p14:creationId xmlns:p14="http://schemas.microsoft.com/office/powerpoint/2010/main" val="1362343115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5635F3-8213-48A0-AA40-F2A82532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A5400-0438-4985-BCFB-7B9A1D37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21317-CEDD-4BEC-B749-C3A27EAF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9442F-904D-4D28-83C7-27C5A000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工作坊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AB9D8-5063-4417-9E7F-D3021E6A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产出系统集成与运营闭环方案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8DC7A-88D3-4B2B-88C4-F31EFEE2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每组把第4章数字员工部署包升级为系统集成与数据闭环方案。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69549-A97B-42BB-8DAE-4C1E4ED2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2491F-23F0-47CD-BCD7-A9FCA2CE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37F0F-133B-4DF6-A695-44C17C48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平台工作坊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3B198-4276-4543-A6C0-4EE558B3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86F19-BAE7-4914-B42F-376E7E88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CE6EE-F408-4B6F-A427-E596DD27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9分钟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E6C39-2C66-4DA5-B292-1743A6C0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讲师示范后，学员用真实企业流程产出可交付材料。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AF18B-B499-4DB4-A0A3-5ECFCA45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B77B3-8527-4B1E-9BC9-83EE29BE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C83EC-AB81-4E13-838E-DE53A79E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系统版图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6D792-3487-4CEC-BA71-F69352CA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0EBF2-BD10-49AC-AE5B-106AE189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C5BED-DF9A-46A8-A3FE-5CEA4942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字段映射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16387F-FB87-481C-B09E-81C9A22E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13DDF4-8635-4EAC-A215-F78842C1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CF70D-96A9-4371-9717-1791ED67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事件触发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715EEC-F362-46B0-809C-47D37063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7E32B-1D90-4DEF-A59F-F158976A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601864-6AA3-4E5F-A2D0-2F2B6C12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权限审计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F4A75-ED6C-45FA-B0A0-11B77351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2408FE-6779-47CE-A7C8-ED40F3C3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356A63-24DB-448C-B353-2BF03641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运营看板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6693BF-3E80-4A22-B9C8-FA0122F2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657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99F1BD-8566-4EDB-8292-2B36EF63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435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C36E47-F7A6-480C-90F0-DC859446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197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SLA成本</a:t>
            </a:r>
          </a:p>
        </p:txBody>
      </p:sp>
    </p:spTree>
    <p:extLst>
      <p:ext uri="{BB962C8B-B14F-4D97-AF65-F5344CB8AC3E}">
        <p14:creationId xmlns:p14="http://schemas.microsoft.com/office/powerpoint/2010/main" val="2014385224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31B284-012D-46CD-AB4D-997BDB3D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43793-7F45-459D-A849-630275E8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0805A-7194-4BC2-8B17-7F324755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"/>
            <a:ext cx="1905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本章收束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E3880-CE5B-426D-A97E-05652203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83820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从数字员工试点到企业运营闭环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C932D-3B59-4772-9ED2-C56B3528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7810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rPr>
              <a:t>FDE真正的价值，是让AI部署持续产生业务数据、持续优化、持续复制。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F99D5-E509-42C6-8AB3-BD9BDBE4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1250A-9833-4079-A89C-0EA00663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BF444-9E90-44DE-BF9D-DCA0D16D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5E1D0-1AFA-459D-A56E-6E0AADBA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27CDC-2296-46FE-BEA6-6DAE6245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979DB-C26F-4D34-A841-C54440C8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87D19-63C0-49F5-B208-702F3665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6A8DC-2A16-4255-BC41-20B603E0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</p:spTree>
    <p:extLst>
      <p:ext uri="{BB962C8B-B14F-4D97-AF65-F5344CB8AC3E}">
        <p14:creationId xmlns:p14="http://schemas.microsoft.com/office/powerpoint/2010/main" val="1246826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2026-05-16T03:31:08.2900000Z</dcterms:created>
  <dcterms:modified xsi:type="dcterms:W3CDTF">2026-05-16T03:31:08.2900000Z</dcterms:modified>
</coreProperties>
</file>