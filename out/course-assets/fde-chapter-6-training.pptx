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09aa7af95447ca" /><Relationship Type="http://schemas.openxmlformats.org/officeDocument/2006/relationships/extended-properties" Target="/docProps/app.xml" Id="Rd501fb5ef54c4e24" /><Relationship Type="http://schemas.openxmlformats.org/officeDocument/2006/relationships/officeDocument" Target="/ppt/presentation.xml" Id="R0e119b79c85e47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18e99be05d4003"/>
  </p:sldMasterIdLst>
  <p:notesMasterIdLst>
    <p:notesMasterId xmlns:r="http://schemas.openxmlformats.org/officeDocument/2006/relationships" r:id="R5389c62022e54e50"/>
  </p:notesMasterIdLst>
  <p:sldIdLst>
    <p:sldId xmlns:r="http://schemas.openxmlformats.org/officeDocument/2006/relationships" id="256" r:id="R79da1f95e8ab423b"/>
    <p:sldId xmlns:r="http://schemas.openxmlformats.org/officeDocument/2006/relationships" id="257" r:id="R16d33f29ad1945a2"/>
    <p:sldId xmlns:r="http://schemas.openxmlformats.org/officeDocument/2006/relationships" id="258" r:id="R613b55068a3f457c"/>
    <p:sldId xmlns:r="http://schemas.openxmlformats.org/officeDocument/2006/relationships" id="259" r:id="R553a873e00df4d7e"/>
    <p:sldId xmlns:r="http://schemas.openxmlformats.org/officeDocument/2006/relationships" id="260" r:id="Raee80aeab1014e7d"/>
    <p:sldId xmlns:r="http://schemas.openxmlformats.org/officeDocument/2006/relationships" id="261" r:id="R050e807a14db4b1c"/>
    <p:sldId xmlns:r="http://schemas.openxmlformats.org/officeDocument/2006/relationships" id="262" r:id="R2e1eb0b3b7e845a2"/>
    <p:sldId xmlns:r="http://schemas.openxmlformats.org/officeDocument/2006/relationships" id="263" r:id="R4455f88dd9f94ce2"/>
    <p:sldId xmlns:r="http://schemas.openxmlformats.org/officeDocument/2006/relationships" id="264" r:id="R82f463ae713b42a5"/>
    <p:sldId xmlns:r="http://schemas.openxmlformats.org/officeDocument/2006/relationships" id="265" r:id="R6fead13c18f14ba4"/>
    <p:sldId xmlns:r="http://schemas.openxmlformats.org/officeDocument/2006/relationships" id="266" r:id="R5f51bb26c48244b2"/>
    <p:sldId xmlns:r="http://schemas.openxmlformats.org/officeDocument/2006/relationships" id="267" r:id="Rc537a0115b354df4"/>
    <p:sldId xmlns:r="http://schemas.openxmlformats.org/officeDocument/2006/relationships" id="268" r:id="R4b34b4edc47a44b5"/>
    <p:sldId xmlns:r="http://schemas.openxmlformats.org/officeDocument/2006/relationships" id="269" r:id="Rcc523214612946e2"/>
    <p:sldId xmlns:r="http://schemas.openxmlformats.org/officeDocument/2006/relationships" id="270" r:id="R45a098274c1b4aef"/>
    <p:sldId xmlns:r="http://schemas.openxmlformats.org/officeDocument/2006/relationships" id="271" r:id="Rd16bd2d4fb3b452a"/>
    <p:sldId xmlns:r="http://schemas.openxmlformats.org/officeDocument/2006/relationships" id="272" r:id="Ra33553617fed48ed"/>
    <p:sldId xmlns:r="http://schemas.openxmlformats.org/officeDocument/2006/relationships" id="273" r:id="R47a1d4516b9b402b"/>
    <p:sldId xmlns:r="http://schemas.openxmlformats.org/officeDocument/2006/relationships" id="274" r:id="R65a2b5cc7bd9450f"/>
    <p:sldId xmlns:r="http://schemas.openxmlformats.org/officeDocument/2006/relationships" id="275" r:id="R2f661c5fa6e34ab2"/>
    <p:sldId xmlns:r="http://schemas.openxmlformats.org/officeDocument/2006/relationships" id="276" r:id="R926bdd26d2cf4ae2"/>
    <p:sldId xmlns:r="http://schemas.openxmlformats.org/officeDocument/2006/relationships" id="277" r:id="R5edfba9f91be4b56"/>
    <p:sldId xmlns:r="http://schemas.openxmlformats.org/officeDocument/2006/relationships" id="278" r:id="Ra0a6687413594650"/>
    <p:sldId xmlns:r="http://schemas.openxmlformats.org/officeDocument/2006/relationships" id="279" r:id="R66c9f4e8e55748d7"/>
    <p:sldId xmlns:r="http://schemas.openxmlformats.org/officeDocument/2006/relationships" id="280" r:id="R3d49495125664553"/>
    <p:sldId xmlns:r="http://schemas.openxmlformats.org/officeDocument/2006/relationships" id="281" r:id="Rb54fd17766e04ce3"/>
    <p:sldId xmlns:r="http://schemas.openxmlformats.org/officeDocument/2006/relationships" id="282" r:id="Rb34a5e11c01c47fb"/>
    <p:sldId xmlns:r="http://schemas.openxmlformats.org/officeDocument/2006/relationships" id="283" r:id="Rbbe1c11629634847"/>
    <p:sldId xmlns:r="http://schemas.openxmlformats.org/officeDocument/2006/relationships" id="284" r:id="R21c5c8974e3e4d8b"/>
    <p:sldId xmlns:r="http://schemas.openxmlformats.org/officeDocument/2006/relationships" id="285" r:id="R8111d9cfe20649db"/>
    <p:sldId xmlns:r="http://schemas.openxmlformats.org/officeDocument/2006/relationships" id="286" r:id="R0d8186abed254050"/>
    <p:sldId xmlns:r="http://schemas.openxmlformats.org/officeDocument/2006/relationships" id="287" r:id="Rd8381510535743f2"/>
    <p:sldId xmlns:r="http://schemas.openxmlformats.org/officeDocument/2006/relationships" id="288" r:id="R66f3e28f7b4f4393"/>
    <p:sldId xmlns:r="http://schemas.openxmlformats.org/officeDocument/2006/relationships" id="289" r:id="R983d28e799b24e60"/>
    <p:sldId xmlns:r="http://schemas.openxmlformats.org/officeDocument/2006/relationships" id="290" r:id="R0fa3e6439c48445c"/>
    <p:sldId xmlns:r="http://schemas.openxmlformats.org/officeDocument/2006/relationships" id="291" r:id="Rb38818a8bda04561"/>
    <p:sldId xmlns:r="http://schemas.openxmlformats.org/officeDocument/2006/relationships" id="292" r:id="R4bb755e1b288442d"/>
    <p:sldId xmlns:r="http://schemas.openxmlformats.org/officeDocument/2006/relationships" id="293" r:id="Raa1494e33ca84584"/>
    <p:sldId xmlns:r="http://schemas.openxmlformats.org/officeDocument/2006/relationships" id="294" r:id="Rb99fbc9416fd43bf"/>
    <p:sldId xmlns:r="http://schemas.openxmlformats.org/officeDocument/2006/relationships" id="295" r:id="Rf1b2cf1f714e4e58"/>
    <p:sldId xmlns:r="http://schemas.openxmlformats.org/officeDocument/2006/relationships" id="296" r:id="R10350c68b80941e7"/>
    <p:sldId xmlns:r="http://schemas.openxmlformats.org/officeDocument/2006/relationships" id="297" r:id="R5ec2d358768a443a"/>
    <p:sldId xmlns:r="http://schemas.openxmlformats.org/officeDocument/2006/relationships" id="298" r:id="R1200ac76f33846e2"/>
    <p:sldId xmlns:r="http://schemas.openxmlformats.org/officeDocument/2006/relationships" id="299" r:id="R97a5d25641c64997"/>
    <p:sldId xmlns:r="http://schemas.openxmlformats.org/officeDocument/2006/relationships" id="300" r:id="Rd061261dc5904709"/>
    <p:sldId xmlns:r="http://schemas.openxmlformats.org/officeDocument/2006/relationships" id="301" r:id="R1954a86427b74340"/>
    <p:sldId xmlns:r="http://schemas.openxmlformats.org/officeDocument/2006/relationships" id="302" r:id="R69275826a7fa4801"/>
    <p:sldId xmlns:r="http://schemas.openxmlformats.org/officeDocument/2006/relationships" id="303" r:id="Re4f5752c11fc4e50"/>
    <p:sldId xmlns:r="http://schemas.openxmlformats.org/officeDocument/2006/relationships" id="304" r:id="R3723494af5314413"/>
    <p:sldId xmlns:r="http://schemas.openxmlformats.org/officeDocument/2006/relationships" id="305" r:id="R38e5e30135e8466e"/>
    <p:sldId xmlns:r="http://schemas.openxmlformats.org/officeDocument/2006/relationships" id="306" r:id="R1a3ecc93a1a74d5e"/>
    <p:sldId xmlns:r="http://schemas.openxmlformats.org/officeDocument/2006/relationships" id="307" r:id="R16af4263b9284c8d"/>
    <p:sldId xmlns:r="http://schemas.openxmlformats.org/officeDocument/2006/relationships" id="308" r:id="R538ff53f9c494b1c"/>
    <p:sldId xmlns:r="http://schemas.openxmlformats.org/officeDocument/2006/relationships" id="309" r:id="R6acbf5d88a3b4c15"/>
    <p:sldId xmlns:r="http://schemas.openxmlformats.org/officeDocument/2006/relationships" id="310" r:id="R315cd316b13a46c9"/>
    <p:sldId xmlns:r="http://schemas.openxmlformats.org/officeDocument/2006/relationships" id="311" r:id="R5087b04767844b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8e99be05d4003" /><Relationship Type="http://schemas.openxmlformats.org/officeDocument/2006/relationships/theme" Target="/ppt/theme/theme1.xml" Id="R52cea59bf3e64ee6" /><Relationship Type="http://schemas.openxmlformats.org/officeDocument/2006/relationships/notesMaster" Target="/ppt/notesMasters/notesMaster1.xml" Id="R5389c62022e54e50" /><Relationship Type="http://schemas.openxmlformats.org/officeDocument/2006/relationships/presProps" Target="/ppt/presProps.xml" Id="R9adeb286cacb40d1" /><Relationship Type="http://schemas.openxmlformats.org/officeDocument/2006/relationships/viewProps" Target="/ppt/viewProps.xml" Id="Rf076915b3885496d" /><Relationship Type="http://schemas.openxmlformats.org/officeDocument/2006/relationships/tableStyles" Target="/ppt/tableStyles.xml" Id="R96f229b59dcb4cdc" /><Relationship Type="http://schemas.openxmlformats.org/officeDocument/2006/relationships/slide" Target="/ppt/slides/slide1.xml" Id="R79da1f95e8ab423b" /><Relationship Type="http://schemas.openxmlformats.org/officeDocument/2006/relationships/slide" Target="/ppt/slides/slide2.xml" Id="R16d33f29ad1945a2" /><Relationship Type="http://schemas.openxmlformats.org/officeDocument/2006/relationships/slide" Target="/ppt/slides/slide3.xml" Id="R613b55068a3f457c" /><Relationship Type="http://schemas.openxmlformats.org/officeDocument/2006/relationships/slide" Target="/ppt/slides/slide4.xml" Id="R553a873e00df4d7e" /><Relationship Type="http://schemas.openxmlformats.org/officeDocument/2006/relationships/slide" Target="/ppt/slides/slide5.xml" Id="Raee80aeab1014e7d" /><Relationship Type="http://schemas.openxmlformats.org/officeDocument/2006/relationships/slide" Target="/ppt/slides/slide6.xml" Id="R050e807a14db4b1c" /><Relationship Type="http://schemas.openxmlformats.org/officeDocument/2006/relationships/slide" Target="/ppt/slides/slide7.xml" Id="R2e1eb0b3b7e845a2" /><Relationship Type="http://schemas.openxmlformats.org/officeDocument/2006/relationships/slide" Target="/ppt/slides/slide8.xml" Id="R4455f88dd9f94ce2" /><Relationship Type="http://schemas.openxmlformats.org/officeDocument/2006/relationships/slide" Target="/ppt/slides/slide9.xml" Id="R82f463ae713b42a5" /><Relationship Type="http://schemas.openxmlformats.org/officeDocument/2006/relationships/slide" Target="/ppt/slides/slide10.xml" Id="R6fead13c18f14ba4" /><Relationship Type="http://schemas.openxmlformats.org/officeDocument/2006/relationships/slide" Target="/ppt/slides/slide11.xml" Id="R5f51bb26c48244b2" /><Relationship Type="http://schemas.openxmlformats.org/officeDocument/2006/relationships/slide" Target="/ppt/slides/slide12.xml" Id="Rc537a0115b354df4" /><Relationship Type="http://schemas.openxmlformats.org/officeDocument/2006/relationships/slide" Target="/ppt/slides/slide13.xml" Id="R4b34b4edc47a44b5" /><Relationship Type="http://schemas.openxmlformats.org/officeDocument/2006/relationships/slide" Target="/ppt/slides/slide14.xml" Id="Rcc523214612946e2" /><Relationship Type="http://schemas.openxmlformats.org/officeDocument/2006/relationships/slide" Target="/ppt/slides/slide15.xml" Id="R45a098274c1b4aef" /><Relationship Type="http://schemas.openxmlformats.org/officeDocument/2006/relationships/slide" Target="/ppt/slides/slide16.xml" Id="Rd16bd2d4fb3b452a" /><Relationship Type="http://schemas.openxmlformats.org/officeDocument/2006/relationships/slide" Target="/ppt/slides/slide17.xml" Id="Ra33553617fed48ed" /><Relationship Type="http://schemas.openxmlformats.org/officeDocument/2006/relationships/slide" Target="/ppt/slides/slide18.xml" Id="R47a1d4516b9b402b" /><Relationship Type="http://schemas.openxmlformats.org/officeDocument/2006/relationships/slide" Target="/ppt/slides/slide19.xml" Id="R65a2b5cc7bd9450f" /><Relationship Type="http://schemas.openxmlformats.org/officeDocument/2006/relationships/slide" Target="/ppt/slides/slide20.xml" Id="R2f661c5fa6e34ab2" /><Relationship Type="http://schemas.openxmlformats.org/officeDocument/2006/relationships/slide" Target="/ppt/slides/slide21.xml" Id="R926bdd26d2cf4ae2" /><Relationship Type="http://schemas.openxmlformats.org/officeDocument/2006/relationships/slide" Target="/ppt/slides/slide22.xml" Id="R5edfba9f91be4b56" /><Relationship Type="http://schemas.openxmlformats.org/officeDocument/2006/relationships/slide" Target="/ppt/slides/slide23.xml" Id="Ra0a6687413594650" /><Relationship Type="http://schemas.openxmlformats.org/officeDocument/2006/relationships/slide" Target="/ppt/slides/slide24.xml" Id="R66c9f4e8e55748d7" /><Relationship Type="http://schemas.openxmlformats.org/officeDocument/2006/relationships/slide" Target="/ppt/slides/slide25.xml" Id="R3d49495125664553" /><Relationship Type="http://schemas.openxmlformats.org/officeDocument/2006/relationships/slide" Target="/ppt/slides/slide26.xml" Id="Rb54fd17766e04ce3" /><Relationship Type="http://schemas.openxmlformats.org/officeDocument/2006/relationships/slide" Target="/ppt/slides/slide27.xml" Id="Rb34a5e11c01c47fb" /><Relationship Type="http://schemas.openxmlformats.org/officeDocument/2006/relationships/slide" Target="/ppt/slides/slide28.xml" Id="Rbbe1c11629634847" /><Relationship Type="http://schemas.openxmlformats.org/officeDocument/2006/relationships/slide" Target="/ppt/slides/slide29.xml" Id="R21c5c8974e3e4d8b" /><Relationship Type="http://schemas.openxmlformats.org/officeDocument/2006/relationships/slide" Target="/ppt/slides/slide30.xml" Id="R8111d9cfe20649db" /><Relationship Type="http://schemas.openxmlformats.org/officeDocument/2006/relationships/slide" Target="/ppt/slides/slide31.xml" Id="R0d8186abed254050" /><Relationship Type="http://schemas.openxmlformats.org/officeDocument/2006/relationships/slide" Target="/ppt/slides/slide32.xml" Id="Rd8381510535743f2" /><Relationship Type="http://schemas.openxmlformats.org/officeDocument/2006/relationships/slide" Target="/ppt/slides/slide33.xml" Id="R66f3e28f7b4f4393" /><Relationship Type="http://schemas.openxmlformats.org/officeDocument/2006/relationships/slide" Target="/ppt/slides/slide34.xml" Id="R983d28e799b24e60" /><Relationship Type="http://schemas.openxmlformats.org/officeDocument/2006/relationships/slide" Target="/ppt/slides/slide35.xml" Id="R0fa3e6439c48445c" /><Relationship Type="http://schemas.openxmlformats.org/officeDocument/2006/relationships/slide" Target="/ppt/slides/slide36.xml" Id="Rb38818a8bda04561" /><Relationship Type="http://schemas.openxmlformats.org/officeDocument/2006/relationships/slide" Target="/ppt/slides/slide37.xml" Id="R4bb755e1b288442d" /><Relationship Type="http://schemas.openxmlformats.org/officeDocument/2006/relationships/slide" Target="/ppt/slides/slide38.xml" Id="Raa1494e33ca84584" /><Relationship Type="http://schemas.openxmlformats.org/officeDocument/2006/relationships/slide" Target="/ppt/slides/slide39.xml" Id="Rb99fbc9416fd43bf" /><Relationship Type="http://schemas.openxmlformats.org/officeDocument/2006/relationships/slide" Target="/ppt/slides/slide40.xml" Id="Rf1b2cf1f714e4e58" /><Relationship Type="http://schemas.openxmlformats.org/officeDocument/2006/relationships/slide" Target="/ppt/slides/slide41.xml" Id="R10350c68b80941e7" /><Relationship Type="http://schemas.openxmlformats.org/officeDocument/2006/relationships/slide" Target="/ppt/slides/slide42.xml" Id="R5ec2d358768a443a" /><Relationship Type="http://schemas.openxmlformats.org/officeDocument/2006/relationships/slide" Target="/ppt/slides/slide43.xml" Id="R1200ac76f33846e2" /><Relationship Type="http://schemas.openxmlformats.org/officeDocument/2006/relationships/slide" Target="/ppt/slides/slide44.xml" Id="R97a5d25641c64997" /><Relationship Type="http://schemas.openxmlformats.org/officeDocument/2006/relationships/slide" Target="/ppt/slides/slide45.xml" Id="Rd061261dc5904709" /><Relationship Type="http://schemas.openxmlformats.org/officeDocument/2006/relationships/slide" Target="/ppt/slides/slide46.xml" Id="R1954a86427b74340" /><Relationship Type="http://schemas.openxmlformats.org/officeDocument/2006/relationships/slide" Target="/ppt/slides/slide47.xml" Id="R69275826a7fa4801" /><Relationship Type="http://schemas.openxmlformats.org/officeDocument/2006/relationships/slide" Target="/ppt/slides/slide48.xml" Id="Re4f5752c11fc4e50" /><Relationship Type="http://schemas.openxmlformats.org/officeDocument/2006/relationships/slide" Target="/ppt/slides/slide49.xml" Id="R3723494af5314413" /><Relationship Type="http://schemas.openxmlformats.org/officeDocument/2006/relationships/slide" Target="/ppt/slides/slide50.xml" Id="R38e5e30135e8466e" /><Relationship Type="http://schemas.openxmlformats.org/officeDocument/2006/relationships/slide" Target="/ppt/slides/slide51.xml" Id="R1a3ecc93a1a74d5e" /><Relationship Type="http://schemas.openxmlformats.org/officeDocument/2006/relationships/slide" Target="/ppt/slides/slide52.xml" Id="R16af4263b9284c8d" /><Relationship Type="http://schemas.openxmlformats.org/officeDocument/2006/relationships/slide" Target="/ppt/slides/slide53.xml" Id="R538ff53f9c494b1c" /><Relationship Type="http://schemas.openxmlformats.org/officeDocument/2006/relationships/slide" Target="/ppt/slides/slide54.xml" Id="R6acbf5d88a3b4c15" /><Relationship Type="http://schemas.openxmlformats.org/officeDocument/2006/relationships/slide" Target="/ppt/slides/slide55.xml" Id="R315cd316b13a46c9" /><Relationship Type="http://schemas.openxmlformats.org/officeDocument/2006/relationships/slide" Target="/ppt/slides/slide56.xml" Id="R5087b04767844b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6703fd282946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3b13b2254c46ff" /><Relationship Type="http://schemas.openxmlformats.org/officeDocument/2006/relationships/notesMaster" Target="/ppt/notesMasters/notesMaster1.xml" Id="R66e2089a67064d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76f1a46ad74c3f" /><Relationship Type="http://schemas.openxmlformats.org/officeDocument/2006/relationships/notesMaster" Target="/ppt/notesMasters/notesMaster1.xml" Id="R95a78f55995146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bbae6d3bd0437e" /><Relationship Type="http://schemas.openxmlformats.org/officeDocument/2006/relationships/notesMaster" Target="/ppt/notesMasters/notesMaster1.xml" Id="R42f491ffccf845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7c059fe3484faa" /><Relationship Type="http://schemas.openxmlformats.org/officeDocument/2006/relationships/notesMaster" Target="/ppt/notesMasters/notesMaster1.xml" Id="R754448feb6784e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a494567d914e67" /><Relationship Type="http://schemas.openxmlformats.org/officeDocument/2006/relationships/notesMaster" Target="/ppt/notesMasters/notesMaster1.xml" Id="R98ca03706f4149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15475b51de4490" /><Relationship Type="http://schemas.openxmlformats.org/officeDocument/2006/relationships/notesMaster" Target="/ppt/notesMasters/notesMaster1.xml" Id="R7763f2a8a20f4f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d06b87fc18414c" /><Relationship Type="http://schemas.openxmlformats.org/officeDocument/2006/relationships/notesMaster" Target="/ppt/notesMasters/notesMaster1.xml" Id="R60539c9350914e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d9d91166ea472e" /><Relationship Type="http://schemas.openxmlformats.org/officeDocument/2006/relationships/notesMaster" Target="/ppt/notesMasters/notesMaster1.xml" Id="R9b53ba145cd44d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153d3817c841f6" /><Relationship Type="http://schemas.openxmlformats.org/officeDocument/2006/relationships/notesMaster" Target="/ppt/notesMasters/notesMaster1.xml" Id="Rc310e4b93aa642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e28e4beb2c468f" /><Relationship Type="http://schemas.openxmlformats.org/officeDocument/2006/relationships/notesMaster" Target="/ppt/notesMasters/notesMaster1.xml" Id="R6170617041b74f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e8b726998f4feb" /><Relationship Type="http://schemas.openxmlformats.org/officeDocument/2006/relationships/notesMaster" Target="/ppt/notesMasters/notesMaster1.xml" Id="R06c45b5913fc48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cf57e09ae3435d" /><Relationship Type="http://schemas.openxmlformats.org/officeDocument/2006/relationships/notesMaster" Target="/ppt/notesMasters/notesMaster1.xml" Id="R31a90a4f2c184a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96b3d284af4067" /><Relationship Type="http://schemas.openxmlformats.org/officeDocument/2006/relationships/notesMaster" Target="/ppt/notesMasters/notesMaster1.xml" Id="Rb2c1e8f1a75643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2a8f392ab749e5" /><Relationship Type="http://schemas.openxmlformats.org/officeDocument/2006/relationships/notesMaster" Target="/ppt/notesMasters/notesMaster1.xml" Id="R64f6b4e2a8084b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fa491d83234407" /><Relationship Type="http://schemas.openxmlformats.org/officeDocument/2006/relationships/notesMaster" Target="/ppt/notesMasters/notesMaster1.xml" Id="R82842b82a2ce48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6390bb75994753" /><Relationship Type="http://schemas.openxmlformats.org/officeDocument/2006/relationships/notesMaster" Target="/ppt/notesMasters/notesMaster1.xml" Id="R0516daec33ed4f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5f3122a25a4b97" /><Relationship Type="http://schemas.openxmlformats.org/officeDocument/2006/relationships/notesMaster" Target="/ppt/notesMasters/notesMaster1.xml" Id="R188f80f857504d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82564285b24e54" /><Relationship Type="http://schemas.openxmlformats.org/officeDocument/2006/relationships/notesMaster" Target="/ppt/notesMasters/notesMaster1.xml" Id="Re551f6abdad144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af346b25e34846" /><Relationship Type="http://schemas.openxmlformats.org/officeDocument/2006/relationships/notesMaster" Target="/ppt/notesMasters/notesMaster1.xml" Id="R1cc1f297a9b346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2f9eff29534a49" /><Relationship Type="http://schemas.openxmlformats.org/officeDocument/2006/relationships/notesMaster" Target="/ppt/notesMasters/notesMaster1.xml" Id="R0b6708edb8cd44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798668831b4106" /><Relationship Type="http://schemas.openxmlformats.org/officeDocument/2006/relationships/notesMaster" Target="/ppt/notesMasters/notesMaster1.xml" Id="R49a48d3313c445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461c1ad9084fd4" /><Relationship Type="http://schemas.openxmlformats.org/officeDocument/2006/relationships/notesMaster" Target="/ppt/notesMasters/notesMaster1.xml" Id="Raf989d05c27f4bc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a3e90c009147a1" /><Relationship Type="http://schemas.openxmlformats.org/officeDocument/2006/relationships/notesMaster" Target="/ppt/notesMasters/notesMaster1.xml" Id="R0dd49f65d59242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89a4f06a5b4d5e" /><Relationship Type="http://schemas.openxmlformats.org/officeDocument/2006/relationships/notesMaster" Target="/ppt/notesMasters/notesMaster1.xml" Id="R0c20cadc32fb4a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8b5de8b25444e5" /><Relationship Type="http://schemas.openxmlformats.org/officeDocument/2006/relationships/notesMaster" Target="/ppt/notesMasters/notesMaster1.xml" Id="R2a46113a339742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704520f08e146f8" /><Relationship Type="http://schemas.openxmlformats.org/officeDocument/2006/relationships/notesMaster" Target="/ppt/notesMasters/notesMaster1.xml" Id="R1bdb411f80c14b1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b29a787ecd494c" /><Relationship Type="http://schemas.openxmlformats.org/officeDocument/2006/relationships/notesMaster" Target="/ppt/notesMasters/notesMaster1.xml" Id="Ra58eaa885f5f431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27aeb0e068945ec" /><Relationship Type="http://schemas.openxmlformats.org/officeDocument/2006/relationships/notesMaster" Target="/ppt/notesMasters/notesMaster1.xml" Id="R72748313d14d4c7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d8d61c9892e4a09" /><Relationship Type="http://schemas.openxmlformats.org/officeDocument/2006/relationships/notesMaster" Target="/ppt/notesMasters/notesMaster1.xml" Id="R6b53c09a8020469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21a078c4afd46d2" /><Relationship Type="http://schemas.openxmlformats.org/officeDocument/2006/relationships/notesMaster" Target="/ppt/notesMasters/notesMaster1.xml" Id="Rc3747f1b47ef41a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40df56f55834c60" /><Relationship Type="http://schemas.openxmlformats.org/officeDocument/2006/relationships/notesMaster" Target="/ppt/notesMasters/notesMaster1.xml" Id="R21070a42edf947f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5889960d6314edf" /><Relationship Type="http://schemas.openxmlformats.org/officeDocument/2006/relationships/notesMaster" Target="/ppt/notesMasters/notesMaster1.xml" Id="R45d5346cdafb47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ff4d6c774be46cc" /><Relationship Type="http://schemas.openxmlformats.org/officeDocument/2006/relationships/notesMaster" Target="/ppt/notesMasters/notesMaster1.xml" Id="R094ec3e4e6bb4dd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8a009a0d9c646b5" /><Relationship Type="http://schemas.openxmlformats.org/officeDocument/2006/relationships/notesMaster" Target="/ppt/notesMasters/notesMaster1.xml" Id="R2ede1dec658a4a5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2e8ea3760ce4cc2" /><Relationship Type="http://schemas.openxmlformats.org/officeDocument/2006/relationships/notesMaster" Target="/ppt/notesMasters/notesMaster1.xml" Id="R193b7136686b47d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db0a94c25c244fe" /><Relationship Type="http://schemas.openxmlformats.org/officeDocument/2006/relationships/notesMaster" Target="/ppt/notesMasters/notesMaster1.xml" Id="R8008832bec9f44f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cc1821a5bef4422" /><Relationship Type="http://schemas.openxmlformats.org/officeDocument/2006/relationships/notesMaster" Target="/ppt/notesMasters/notesMaster1.xml" Id="Ra0ad126543434ee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4306f27df4d4585" /><Relationship Type="http://schemas.openxmlformats.org/officeDocument/2006/relationships/notesMaster" Target="/ppt/notesMasters/notesMaster1.xml" Id="R3f3c0c4a1d0c433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a5b91c91d394bf4" /><Relationship Type="http://schemas.openxmlformats.org/officeDocument/2006/relationships/notesMaster" Target="/ppt/notesMasters/notesMaster1.xml" Id="R387f9b4f535f4a9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90c55923c8642d4" /><Relationship Type="http://schemas.openxmlformats.org/officeDocument/2006/relationships/notesMaster" Target="/ppt/notesMasters/notesMaster1.xml" Id="Rafbcf13b0f3e401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7dfbf674a4a45e2" /><Relationship Type="http://schemas.openxmlformats.org/officeDocument/2006/relationships/notesMaster" Target="/ppt/notesMasters/notesMaster1.xml" Id="R39466f0f0cfa4da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f57346b9dd34b34" /><Relationship Type="http://schemas.openxmlformats.org/officeDocument/2006/relationships/notesMaster" Target="/ppt/notesMasters/notesMaster1.xml" Id="R1b9d7d9e382648c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b8d0eaa521f4ce3" /><Relationship Type="http://schemas.openxmlformats.org/officeDocument/2006/relationships/notesMaster" Target="/ppt/notesMasters/notesMaster1.xml" Id="R582de2cfcfce423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6ca488ccb934582" /><Relationship Type="http://schemas.openxmlformats.org/officeDocument/2006/relationships/notesMaster" Target="/ppt/notesMasters/notesMaster1.xml" Id="Raf002f1196914bc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c31f1781e30493f" /><Relationship Type="http://schemas.openxmlformats.org/officeDocument/2006/relationships/notesMaster" Target="/ppt/notesMasters/notesMaster1.xml" Id="R5a16d2b9aadd4c0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e6d41b2c3b74b79" /><Relationship Type="http://schemas.openxmlformats.org/officeDocument/2006/relationships/notesMaster" Target="/ppt/notesMasters/notesMaster1.xml" Id="Re26b32a963b3497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ef71fd822984f81" /><Relationship Type="http://schemas.openxmlformats.org/officeDocument/2006/relationships/notesMaster" Target="/ppt/notesMasters/notesMaster1.xml" Id="Rd0b989ddbfcc414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b2cf25f30474102" /><Relationship Type="http://schemas.openxmlformats.org/officeDocument/2006/relationships/notesMaster" Target="/ppt/notesMasters/notesMaster1.xml" Id="Rd22330a68aa5405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27160e679f74164" /><Relationship Type="http://schemas.openxmlformats.org/officeDocument/2006/relationships/notesMaster" Target="/ppt/notesMasters/notesMaster1.xml" Id="Rf5fd674659a24a5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d2ea3ec50ab4214" /><Relationship Type="http://schemas.openxmlformats.org/officeDocument/2006/relationships/notesMaster" Target="/ppt/notesMasters/notesMaster1.xml" Id="R4c32d7d631ad492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b247e97708a4893" /><Relationship Type="http://schemas.openxmlformats.org/officeDocument/2006/relationships/notesMaster" Target="/ppt/notesMasters/notesMaster1.xml" Id="Rb4f0aa297bf14ee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40a36128b4542f1" /><Relationship Type="http://schemas.openxmlformats.org/officeDocument/2006/relationships/notesMaster" Target="/ppt/notesMasters/notesMaster1.xml" Id="R429494afde44402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52f65a2ce2e4d83" /><Relationship Type="http://schemas.openxmlformats.org/officeDocument/2006/relationships/notesMaster" Target="/ppt/notesMasters/notesMaster1.xml" Id="Redb697631ba744c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ebd739a95634f41" /><Relationship Type="http://schemas.openxmlformats.org/officeDocument/2006/relationships/notesMaster" Target="/ppt/notesMasters/notesMaster1.xml" Id="Refe3c1335825479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21decc435654011" /><Relationship Type="http://schemas.openxmlformats.org/officeDocument/2006/relationships/notesMaster" Target="/ppt/notesMasters/notesMaster1.xml" Id="R97e3412b51d0456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042267f771448bf" /><Relationship Type="http://schemas.openxmlformats.org/officeDocument/2006/relationships/notesMaster" Target="/ppt/notesMasters/notesMaster1.xml" Id="R978b6d03e8a7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本页目的：把前五章的诊断、上下文、Agent、系统集成能力，转成可验收、可续费、可复制的人才与项目交付体系。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AI项目交付管理与商业化复制”。本页不是为了让大家背概念，而是为了训练FDE在企业现场能把事情推进。请先记住本页核心句：把前五章的诊断、上下文、Agent、系统集成能力，转成可验收、可续费、可复制的人才与项目交付体系。屏幕上的关键词是：项目治理；范围验收；风险变更；客户成功；商业复制；人才分流。</a:t>
            </a:r>
          </a:p>
          <a:p xmlns:a="http://schemas.openxmlformats.org/drawingml/2006/main">
            <a:r>
              <a:t>【为什么这样讲，约1分30秒】这一段要把学员从“会做技术方案”的状态拉到“会交付项目”的状态。讲师要强调，企业AI项目失败时，很多问题不是模型能力，而是目标、范围、责任、验收、采用和复盘没有被管理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是全章总论。讲师要把前五章串起来：第1章让学员理解FDE角色与企业AI转型，第2章训练诊断和场景筛选，第3章训练上下文工程，第4章训练Agent流程和数字员工部署，第5章训练系统集成和数据闭环，第6章则把这些能力转成项目交付、客户成功、商业复制和人才分流。这样学员会知道，FDE不是学一个单点技能，而是进入真实企业AI部署链条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2分钟。时间紧时保留一个案例和一个追问；时间充裕时让学员把自己的项目填进模板。过渡语可以这样说：这一页讲完后，我们进入下一层：交付方法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企业AI项目交付管理与商业化复制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项目治理、范围验收、风险变更、客户成功、商业复制、人才分流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过渡语：这一页讲完后，我们进入下一层：交付方法。请记住，交付管理是一层一层把不确定性变成证据。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本页目的：本章训练FDE从会做方案，升级为能带项目、能交付结果、能复制商业模式。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8课时学习路径”。本页不是为了让大家背概念，而是为了训练FDE在企业现场能把事情推进。请先记住本页核心句：本章训练FDE从会做方案，升级为能带项目、能交付结果、能复制商业模式。。屏幕上的关键词是：交付闭环；交付方法；范围计划；实施治理；客户成功；商业复制；分流认证；路演评审。</a:t>
            </a:r>
          </a:p>
          <a:p xmlns:a="http://schemas.openxmlformats.org/drawingml/2006/main">
            <a:r>
              <a:t>【为什么这样讲，约1分30秒】这一段要把学员从“会做技术方案”的状态拉到“会交付项目”的状态。讲师要强调，企业AI项目失败时，很多问题不是模型能力，而是目标、范围、责任、验收、采用和复盘没有被管理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交付闭环、交付方法、范围计划、实施治理、客户成功、商业复制、分流认证、路演评审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3分钟。时间紧时保留一个案例和一个追问；时间充裕时让学员把自己的项目填进模板。过渡语可以这样说：这一页讲完后，我们进入下一层：交付方法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8课时学习路径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交付闭环、交付方法、范围计划、实施治理、客户成功、商业复制、分流认证、路演评审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过渡语：这一页讲完后，我们进入下一层：交付方法。请记住，交付管理是一层一层把不确定性变成证据。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本页目的：第5章解决系统与数据闭环，第6章解决项目如何按期、按质、按价值交付。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系统闭环到交付闭环”。本页不是为了让大家背概念，而是为了训练FDE在企业现场能把事情推进。请先记住本页核心句：第5章解决系统与数据闭环，第6章解决项目如何按期、按质、按价值交付。。屏幕上的关键词是：诊断方案；上下文；Agent部署；系统集成；运营看板；交付验收。</a:t>
            </a:r>
          </a:p>
          <a:p xmlns:a="http://schemas.openxmlformats.org/drawingml/2006/main">
            <a:r>
              <a:t>【为什么这样讲，约1分30秒】这一段要把学员从“会做技术方案”的状态拉到“会交付项目”的状态。讲师要强调，企业AI项目失败时，很多问题不是模型能力，而是目标、范围、责任、验收、采用和复盘没有被管理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【本页展开，约2分钟】本页关键词是诊断方案、上下文、Agent部署、系统集成、运营看板、交付验收。讲师要把这些词翻译成项目管理动作，追问谁负责、什么时候完成、用什么证据验收、失败后如何处理。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6分钟。时间紧时保留一个案例和一个追问；时间充裕时让学员把自己的项目填进模板。过渡语可以这样说：这一页讲完后，我们进入下一层：交付方法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从系统闭环到交付闭环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诊断方案、上下文、Agent部署、系统集成、运营看板、交付验收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过渡语：这一页讲完后，我们进入下一层：交付方法。请记住，交付管理是一层一层把不确定性变成证据。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本页目的：失败往往不是模型不够强，而是范围失控、责任不清、验收模糊、客户没人运营。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为什么AI项目会卡在试点之后”。本页不是为了让大家背概念，而是为了训练FDE在企业现场能把事情推进。请先记住本页核心句：失败往往不是模型不够强，而是范围失控、责任不清、验收模糊、客户没人运营。。屏幕上的关键词是：目标模糊；范围膨胀；Owner缺席；风险未管；验收争议；无人复盘。</a:t>
            </a:r>
          </a:p>
          <a:p xmlns:a="http://schemas.openxmlformats.org/drawingml/2006/main">
            <a:r>
              <a:t>【为什么这样讲，约1分30秒】这一段要把学员从“会做技术方案”的状态拉到“会交付项目”的状态。讲师要强调，企业AI项目失败时，很多问题不是模型能力，而是目标、范围、责任、验收、采用和复盘没有被管理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【本页展开，约2分钟】本页关键词是目标模糊、范围膨胀、Owner缺席、风险未管、验收争议、无人复盘。讲师要把这些词翻译成项目管理动作，追问谁负责、什么时候完成、用什么证据验收、失败后如何处理。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交付方法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为什么AI项目会卡在试点之后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目标模糊、范围膨胀、Owner缺席、风险未管、验收争议、无人复盘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过渡语：这一页讲完后，我们进入下一层：交付方法。请记住，交付管理是一层一层把不确定性变成证据。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本页目的：FDE训练营最终要产出能进团队、能就业、能创业、能讲课的人。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能交付，才有商业化；能复制，才有人才规模化”。本页不是为了让大家背概念，而是为了训练FDE在企业现场能把事情推进。请先记住本页核心句：FDE训练营最终要产出能进团队、能就业、能创业、能讲课的人。。屏幕上的关键词是：交付；验收；续费；复制；分流。</a:t>
            </a:r>
          </a:p>
          <a:p xmlns:a="http://schemas.openxmlformats.org/drawingml/2006/main">
            <a:r>
              <a:t>【为什么这样讲，约1分30秒】这一段要把学员从“会做技术方案”的状态拉到“会交付项目”的状态。讲师要强调，企业AI项目失败时，很多问题不是模型能力，而是目标、范围、责任、验收、采用和复盘没有被管理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是全章总论。讲师要把前五章串起来：第1章让学员理解FDE角色与企业AI转型，第2章训练诊断和场景筛选，第3章训练上下文工程，第4章训练Agent流程和数字员工部署，第5章训练系统集成和数据闭环，第6章则把这些能力转成项目交付、客户成功、商业复制和人才分流。这样学员会知道，FDE不是学一个单点技能，而是进入真实企业AI部署链条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4分钟。时间紧时保留一个案例和一个追问；时间充裕时让学员把自己的项目填进模板。过渡语可以这样说：这一页讲完后，我们进入下一层：交付方法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能交付，才有商业化；能复制，才有人才规模化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交付、验收、续费、复制、分流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过渡语：这一页讲完后，我们进入下一层：交付方法。请记住，交付管理是一层一层把不确定性变成证据。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本页目的：先建立项目语言，再谈技术执行。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交付方法论与项目治理”。本页不是为了让大家背概念，而是为了训练FDE在企业现场能把事情推进。请先记住本页核心句：先建立项目语言，再谈技术执行。。屏幕上的关键词是：方法；治理；责任。</a:t>
            </a:r>
          </a:p>
          <a:p xmlns:a="http://schemas.openxmlformats.org/drawingml/2006/main">
            <a:r>
              <a:t>【为什么这样讲，约1分30秒】这一段要建立FDE的项目语言。FDE不等同于传统项目经理，也不等同于纯技术顾问，而是把业务、AI、系统、运营和客户成功串起来的交付负责人。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【本页展开，约2分钟】本页关键词是方法、治理、责任。讲师要把这些词翻译成项目管理动作，追问谁负责、什么时候完成、用什么证据验收、失败后如何处理。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2分钟。时间紧时保留一个案例和一个追问；时间充裕时让学员把自己的项目填进模板。过渡语可以这样说：这一页讲完后，我们进入下一层：范围计划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FDE交付方法论与项目治理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方法、治理、责任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过渡语：这一页讲完后，我们进入下一层：范围计划。请记住，交付管理是一层一层把不确定性变成证据。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本页目的：诊断、方案、部署、运营、复制构成FDE项目主线。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五阶段交付法”。本页不是为了让大家背概念，而是为了训练FDE在企业现场能把事情推进。请先记住本页核心句：诊断、方案、部署、运营、复制构成FDE项目主线。。屏幕上的关键词是：诊断；方案；部署；运营；复制。</a:t>
            </a:r>
          </a:p>
          <a:p xmlns:a="http://schemas.openxmlformats.org/drawingml/2006/main">
            <a:r>
              <a:t>【为什么这样讲，约1分30秒】这一段要建立FDE的项目语言。FDE不等同于传统项目经理，也不等同于纯技术顾问，而是把业务、AI、系统、运营和客户成功串起来的交付负责人。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【本页展开，约2分钟】本页关键词是诊断、方案、部署、运营、复制。讲师要把这些词翻译成项目管理动作，追问谁负责、什么时候完成、用什么证据验收、失败后如何处理。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范围计划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FDE五阶段交付法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诊断、方案、部署、运营、复制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过渡语：这一页讲完后，我们进入下一层：范围计划。请记住，交付管理是一层一层把不确定性变成证据。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本页目的：项目章程让客户、FDE、技术和运营在同一张纸上对齐。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项目章程七要素”。本页不是为了让大家背概念，而是为了训练FDE在企业现场能把事情推进。请先记住本页核心句：项目章程让客户、FDE、技术和运营在同一张纸上对齐。。屏幕上的关键词是：业务目标；MVP范围；成功指标；关键干系人；约束假设；沟通节奏；验收方式。</a:t>
            </a:r>
          </a:p>
          <a:p xmlns:a="http://schemas.openxmlformats.org/drawingml/2006/main">
            <a:r>
              <a:t>【为什么这样讲，约1分30秒】这一段要建立FDE的项目语言。FDE不等同于传统项目经理，也不等同于纯技术顾问，而是把业务、AI、系统、运营和客户成功串起来的交付负责人。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项目章程要一页纸讲清楚目标、范围、指标、角色、节奏和验收。讲师可以拿真实客户项目举例：客户说“我要做AI客服”，章程要写成“本期只做售前咨询的自动分类和回复草稿，不自动承诺价格，不直接下单，验收看响应时长、采纳率和人工接管率”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范围计划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项目章程七要素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业务目标、MVP范围、成功指标、关键干系人、约束假设、沟通节奏、验收方式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过渡语：这一页讲完后，我们进入下一层：范围计划。请记住，交付管理是一层一层把不确定性变成证据。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本页目的：例会、风险会、验收会、复盘会都要服务于决策。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项目治理不是开会，而是做决策”。本页不是为了让大家背概念，而是为了训练FDE在企业现场能把事情推进。请先记住本页核心句：例会、风险会、验收会、复盘会都要服务于决策。。屏幕上的关键词是：周例会；风险会；方案评审；验收会；复盘会。</a:t>
            </a:r>
          </a:p>
          <a:p xmlns:a="http://schemas.openxmlformats.org/drawingml/2006/main">
            <a:r>
              <a:t>【为什么这样讲，约1分30秒】这一段要建立FDE的项目语言。FDE不等同于传统项目经理，也不等同于纯技术顾问，而是把业务、AI、系统、运营和客户成功串起来的交付负责人。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【本页展开，约2分钟】本页关键词是周例会、风险会、方案评审、验收会、复盘会。讲师要把这些词翻译成项目管理动作，追问谁负责、什么时候完成、用什么证据验收、失败后如何处理。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范围计划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项目治理不是开会，而是做决策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周例会、风险会、方案评审、验收会、复盘会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过渡语：这一页讲完后，我们进入下一层：范围计划。请记住，交付管理是一层一层把不确定性变成证据。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本页目的：Sponsor、业务Owner、FDE、IT安全、平台运营和客户成功各有责任。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项目RACI责任图”。本页不是为了让大家背概念，而是为了训练FDE在企业现场能把事情推进。请先记住本页核心句：Sponsor、业务Owner、FDE、IT安全、平台运营和客户成功各有责任。。屏幕上的关键词是：Sponsor；业务Owner；FDE；IT/安全；平台运营；客户成功。</a:t>
            </a:r>
          </a:p>
          <a:p xmlns:a="http://schemas.openxmlformats.org/drawingml/2006/main">
            <a:r>
              <a:t>【为什么这样讲，约1分30秒】这一段要建立FDE的项目语言。FDE不等同于传统项目经理，也不等同于纯技术顾问，而是把业务、AI、系统、运营和客户成功串起来的交付负责人。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【本页展开，约2分钟】RACI的关键不是把名字填进表格，而是明确谁负责结果、谁执行动作、谁提供咨询、谁需要知情。AI项目跨业务、IT、安全、运营和平台，如果RACI不清，问题就会在群里反复转圈。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范围计划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FDE项目RACI责任图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Sponsor、业务Owner、FDE、IT/安全、平台运营、客户成功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过渡语：这一页讲完后，我们进入下一层：范围计划。请记住，交付管理是一层一层把不确定性变成证据。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本页目的：交付文档要能支撑复盘、培训、验收和复制。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交付文档树”。本页不是为了让大家背概念，而是为了训练FDE在企业现场能把事情推进。请先记住本页核心句：交付文档要能支撑复盘、培训、验收和复制。。屏幕上的关键词是：项目章程→目标范围；方案蓝图→设计决策；系统包→接入资料；测试包→质量证据；运营包→复盘续费。</a:t>
            </a:r>
          </a:p>
          <a:p xmlns:a="http://schemas.openxmlformats.org/drawingml/2006/main">
            <a:r>
              <a:t>【为什么这样讲，约1分30秒】这一段要建立FDE的项目语言。FDE不等同于传统项目经理，也不等同于纯技术顾问，而是把业务、AI、系统、运营和客户成功串起来的交付负责人。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项目章程→目标范围、方案蓝图→设计决策、系统包→接入资料、测试包→质量证据、运营包→复盘续费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范围计划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FDE交付文档树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项目章程→目标范围、方案蓝图→设计决策、系统包→接入资料、测试包→质量证据、运营包→复盘续费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过渡语：这一页讲完后，我们进入下一层：范围计划。请记住，交付管理是一层一层把不确定性变成证据。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本页目的：学员选择一个企业AI场景，写出一页项目章程。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为一个AI项目写项目章程”。本页不是为了让大家背概念，而是为了训练FDE在企业现场能把事情推进。请先记住本页核心句：学员选择一个企业AI场景，写出一页项目章程。。屏幕上的关键词是：目标；范围；指标；Owner；风险；验收。</a:t>
            </a:r>
          </a:p>
          <a:p xmlns:a="http://schemas.openxmlformats.org/drawingml/2006/main">
            <a:r>
              <a:t>【为什么这样讲，约1分30秒】这一段要建立FDE的项目语言。FDE不等同于传统项目经理，也不等同于纯技术顾问，而是把业务、AI、系统、运营和客户成功串起来的交付负责人。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项目章程要一页纸讲清楚目标、范围、指标、角色、节奏和验收。讲师可以拿真实客户项目举例：客户说“我要做AI客服”，章程要写成“本期只做售前咨询的自动分类和回复草稿，不自动承诺价格，不直接下单，验收看响应时长、采纳率和人工接管率”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范围计划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为一个AI项目写项目章程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目标、范围、指标、Owner、风险、验收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互动问题：请学员现场填写模板，讲师抽两组点评：一个看证据是否足够，一个看范围是否可交付。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过渡语：这一页讲完后，我们进入下一层：范围计划。请记住，交付管理是一层一层把不确定性变成证据。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本页目的：把客户愿望转成可执行、可衡量、可验收的计划。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范围计划、里程碑与验收口径”。本页不是为了让大家背概念，而是为了训练FDE在企业现场能把事情推进。请先记住本页核心句：把客户愿望转成可执行、可衡量、可验收的计划。。屏幕上的关键词是：范围；计划；验收。</a:t>
            </a:r>
          </a:p>
          <a:p xmlns:a="http://schemas.openxmlformats.org/drawingml/2006/main">
            <a:r>
              <a:t>【为什么这样讲，约1分30秒】这一段要训练学员把客户的抽象期待拆成MVP范围、里程碑、沟通机制和验收口径。范围管理做不好，后面的技术能力越强，返工越多。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【本页展开，约2分钟】验收要有证据，不接受“感觉好用”。业务价值要有基线和上线后数据，质量要有测试集和抽检样本，风险要有审计链，采用要有真实使用记录，成本性能要有SLA数据。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【课堂互动，约1分钟】请学员把“好用”改写成三个可验收指标，要求有基线、目标和数据来源。</a:t>
            </a:r>
          </a:p>
          <a:p xmlns:a="http://schemas.openxmlformats.org/drawingml/2006/main">
            <a:r>
              <a:t>【落地提示，约1分钟】本页建议讲2分钟。时间紧时保留一个案例和一个追问；时间充裕时让学员把自己的项目填进模板。过渡语可以这样说：这一页讲完后，我们进入下一层：实施治理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范围计划、里程碑与验收口径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范围、计划、验收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【范围管理提醒，约1分钟】范围不是限制客户想象力，而是保护第一阶段成功。第一阶段成功了，客户才会愿意买第二阶段；第一阶段拖垮了，后面的想象都没有意义。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互动问题：请学员把“好用”改写成三个可验收指标，要求有基线、目标和数据来源。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过渡语：这一页讲完后，我们进入下一层：实施治理。请记住，交付管理是一层一层把不确定性变成证据。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本页目的：做什么、不做什么、以后再做什么，必须写清楚。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MVP范围三句话”。本页不是为了让大家背概念，而是为了训练FDE在企业现场能把事情推进。请先记住本页核心句：做什么、不做什么、以后再做什么，必须写清楚。。屏幕上的关键词是：本期必做；明确不做；下期候选；依赖条件；边界说明。</a:t>
            </a:r>
          </a:p>
          <a:p xmlns:a="http://schemas.openxmlformats.org/drawingml/2006/main">
            <a:r>
              <a:t>【为什么这样讲，约1分30秒】这一段要训练学员把客户的抽象期待拆成MVP范围、里程碑、沟通机制和验收口径。范围管理做不好，后面的技术能力越强，返工越多。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【本页展开，约2分钟】本页关键词是本期必做、明确不做、下期候选、依赖条件、边界说明。讲师要把这些词翻译成项目管理动作，追问谁负责、什么时候完成、用什么证据验收、失败后如何处理。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实施治理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MVP范围三句话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本期必做、明确不做、下期候选、依赖条件、边界说明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【范围管理提醒，约1分钟】范围不是限制客户想象力，而是保护第一阶段成功。第一阶段成功了，客户才会愿意买第二阶段；第一阶段拖垮了，后面的想象都没有意义。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过渡语：这一页讲完后，我们进入下一层：实施治理。请记住，交付管理是一层一层把不确定性变成证据。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本页目的：小项目可以按周推进，大项目也要拆成可验收的阶段。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四周交付里程碑样例”。本页不是为了让大家背概念，而是为了训练FDE在企业现场能把事情推进。请先记住本页核心句：小项目可以按周推进，大项目也要拆成可验收的阶段。。屏幕上的关键词是：W1诊断；W2方案；W3灰度；W4验收；W5运营。</a:t>
            </a:r>
          </a:p>
          <a:p xmlns:a="http://schemas.openxmlformats.org/drawingml/2006/main">
            <a:r>
              <a:t>【为什么这样讲，约1分30秒】这一段要训练学员把客户的抽象期待拆成MVP范围、里程碑、沟通机制和验收口径。范围管理做不好，后面的技术能力越强，返工越多。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【本页展开，约2分钟】本页关键词是W1诊断、W2方案、W3灰度、W4验收、W5运营。讲师要把这些词翻译成项目管理动作，追问谁负责、什么时候完成、用什么证据验收、失败后如何处理。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实施治理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四周交付里程碑样例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W1诊断、W2方案、W3灰度、W4验收、W5运营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【范围管理提醒，约1分钟】范围不是限制客户想象力，而是保护第一阶段成功。第一阶段成功了，客户才会愿意买第二阶段；第一阶段拖垮了，后面的想象都没有意义。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过渡语：这一页讲完后，我们进入下一层：实施治理。请记住，交付管理是一层一层把不确定性变成证据。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本页目的：不同对象需要不同沟通颗粒度，不能所有信息都扔到一个群。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项目沟通机制”。本页不是为了让大家背概念，而是为了训练FDE在企业现场能把事情推进。请先记住本页核心句：不同对象需要不同沟通颗粒度，不能所有信息都扔到一个群。。屏幕上的关键词是：Sponsor简报；Owner周会；IT工单；用户培训；运营复盘；风险升级。</a:t>
            </a:r>
          </a:p>
          <a:p xmlns:a="http://schemas.openxmlformats.org/drawingml/2006/main">
            <a:r>
              <a:t>【为什么这样讲，约1分30秒】这一段要训练学员把客户的抽象期待拆成MVP范围、里程碑、沟通机制和验收口径。范围管理做不好，后面的技术能力越强，返工越多。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【本页展开，约2分钟】本页关键词是Sponsor简报、Owner周会、IT工单、用户培训、运营复盘、风险升级。讲师要把这些词翻译成项目管理动作，追问谁负责、什么时候完成、用什么证据验收、失败后如何处理。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实施治理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项目沟通机制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Sponsor简报、Owner周会、IT工单、用户培训、运营复盘、风险升级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【范围管理提醒，约1分钟】范围不是限制客户想象力，而是保护第一阶段成功。第一阶段成功了，客户才会愿意买第二阶段；第一阶段拖垮了，后面的想象都没有意义。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过渡语：这一页讲完后，我们进入下一层：实施治理。请记住，交付管理是一层一层把不确定性变成证据。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本页目的：验收不能只看演示，要看业务、质量、风险、成本和采用。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验收标准五类证据”。本页不是为了让大家背概念，而是为了训练FDE在企业现场能把事情推进。请先记住本页核心句：验收不能只看演示，要看业务、质量、风险、成本和采用。。屏幕上的关键词是：业务价值→指标改善；质量效果→测试通过；风险控制→审计留痕；成本性能→SLA达标；采用情况→真实使用。</a:t>
            </a:r>
          </a:p>
          <a:p xmlns:a="http://schemas.openxmlformats.org/drawingml/2006/main">
            <a:r>
              <a:t>【为什么这样讲，约1分30秒】这一段要训练学员把客户的抽象期待拆成MVP范围、里程碑、沟通机制和验收口径。范围管理做不好，后面的技术能力越强，返工越多。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【本页展开，约2分钟】验收要有证据，不接受“感觉好用”。业务价值要有基线和上线后数据，质量要有测试集和抽检样本，风险要有审计链，采用要有真实使用记录，成本性能要有SLA数据。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【课堂互动，约1分钟】请学员把“好用”改写成三个可验收指标，要求有基线、目标和数据来源。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实施治理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验收标准五类证据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业务价值→指标改善、质量效果→测试通过、风险控制→审计留痕、成本性能→SLA达标、采用情况→真实使用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【范围管理提醒，约1分钟】范围不是限制客户想象力，而是保护第一阶段成功。第一阶段成功了，客户才会愿意买第二阶段；第一阶段拖垮了，后面的想象都没有意义。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互动问题：请学员把“好用”改写成三个可验收指标，要求有基线、目标和数据来源。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过渡语：这一页讲完后，我们进入下一层：实施治理。请记住，交付管理是一层一层把不确定性变成证据。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本页目的：用销售场景示范如何把“有效”拆成可验收指标。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销售数字员工验收口径”。本页不是为了让大家背概念，而是为了训练FDE在企业现场能把事情推进。请先记住本页核心句：用销售场景示范如何把“有效”拆成可验收指标。。屏幕上的关键词是：响应时长；线索分级准确率；跟进采纳率；CRM回写率；人工接管率；转化贡献。</a:t>
            </a:r>
          </a:p>
          <a:p xmlns:a="http://schemas.openxmlformats.org/drawingml/2006/main">
            <a:r>
              <a:t>【为什么这样讲，约1分30秒】这一段要训练学员把客户的抽象期待拆成MVP范围、里程碑、沟通机制和验收口径。范围管理做不好，后面的技术能力越强，返工越多。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【本页展开，约2分钟】验收要有证据，不接受“感觉好用”。业务价值要有基线和上线后数据，质量要有测试集和抽检样本，风险要有审计链，采用要有真实使用记录，成本性能要有SLA数据。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【课堂互动，约1分钟】请学员把“好用”改写成三个可验收指标，要求有基线、目标和数据来源。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实施治理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销售数字员工验收口径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响应时长、线索分级准确率、跟进采纳率、CRM回写率、人工接管率、转化贡献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【范围管理提醒，约1分钟】范围不是限制客户想象力，而是保护第一阶段成功。第一阶段成功了，客户才会愿意买第二阶段；第一阶段拖垮了，后面的想象都没有意义。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互动问题：请学员把“好用”改写成三个可验收指标，要求有基线、目标和数据来源。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过渡语：这一页讲完后，我们进入下一层：实施治理。请记住，交付管理是一层一层把不确定性变成证据。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本页目的：每组把一个场景拆成阶段、产物、Owner和验收证据。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写出项目里程碑与验收表”。本页不是为了让大家背概念，而是为了训练FDE在企业现场能把事情推进。请先记住本页核心句：每组把一个场景拆成阶段、产物、Owner和验收证据。。屏幕上的关键词是：里程碑；交付物；Owner；验收证据；风险。</a:t>
            </a:r>
          </a:p>
          <a:p xmlns:a="http://schemas.openxmlformats.org/drawingml/2006/main">
            <a:r>
              <a:t>【为什么这样讲，约1分30秒】这一段要训练学员把客户的抽象期待拆成MVP范围、里程碑、沟通机制和验收口径。范围管理做不好，后面的技术能力越强，返工越多。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【本页展开，约2分钟】验收要有证据，不接受“感觉好用”。业务价值要有基线和上线后数据，质量要有测试集和抽检样本，风险要有审计链，采用要有真实使用记录，成本性能要有SLA数据。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【课堂互动，约1分钟】请学员把“好用”改写成三个可验收指标，要求有基线、目标和数据来源。</a:t>
            </a:r>
          </a:p>
          <a:p xmlns:a="http://schemas.openxmlformats.org/drawingml/2006/main">
            <a:r>
              <a:t>【落地提示，约1分钟】本页建议讲10分钟。时间紧时保留一个案例和一个追问；时间充裕时让学员把自己的项目填进模板。过渡语可以这样说：这一页讲完后，我们进入下一层：实施治理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写出项目里程碑与验收表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里程碑、交付物、Owner、验收证据、风险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【范围管理提醒，约1分钟】范围不是限制客户想象力，而是保护第一阶段成功。第一阶段成功了，客户才会愿意买第二阶段；第一阶段拖垮了，后面的想象都没有意义。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互动问题：请学员现场填写模板，讲师抽两组点评：一个看证据是否足够，一个看范围是否可交付。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过渡语：这一页讲完后，我们进入下一层：实施治理。请记住，交付管理是一层一层把不确定性变成证据。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本页目的：项目现场最大的能力，是把不确定性管住。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实施治理、风险变更与质量门”。本页不是为了让大家背概念，而是为了训练FDE在企业现场能把事情推进。请先记住本页核心句：项目现场最大的能力，是把不确定性管住。。屏幕上的关键词是：风险；变更；质量。</a:t>
            </a:r>
          </a:p>
          <a:p xmlns:a="http://schemas.openxmlformats.org/drawingml/2006/main">
            <a:r>
              <a:t>【为什么这样讲，约1分30秒】这一段要让学员意识到不确定性是AI项目常态。风险台账、变更单、测试计划、质量门、上线Runbook和回滚机制，是企业敢上线的基础。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风险和变更是AI项目的日常。讲师要把风险讲成管理动作：发现风险、定级、指定Owner、设置截止时间、定义升级路径、记录结果。变更也一样，任何范围、字段、系统、模型或验收标准变化，都要评估影响后再执行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【课堂互动，约1分钟】请学员说出一个他们见过的AI项目风险，并把它写成Owner、等级、截止时间和应对动作。</a:t>
            </a:r>
          </a:p>
          <a:p xmlns:a="http://schemas.openxmlformats.org/drawingml/2006/main">
            <a:r>
              <a:t>【落地提示，约1分钟】本页建议讲2分钟。时间紧时保留一个案例和一个追问；时间充裕时让学员把自己的项目填进模板。过渡语可以这样说：这一页讲完后，我们进入下一层：客户成功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实施治理、风险变更与质量门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风险、变更、质量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【风险治理提醒，约1分钟】风险、变更、测试、质量门和回滚不是为了增加流程，而是为了让客户敢让AI进入真实业务。越是高价值场景，越要让治理机制先跑起来。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互动问题：请学员说出一个他们见过的AI项目风险，并把它写成Owner、等级、截止时间和应对动作。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过渡语：这一页讲完后，我们进入下一层：客户成功。请记住，交付管理是一层一层把不确定性变成证据。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本页目的：风险要提前识别、分级、Owner化和复盘。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AI项目六类风险”。本页不是为了让大家背概念，而是为了训练FDE在企业现场能把事情推进。请先记住本页核心句：风险要提前识别、分级、Owner化和复盘。。屏幕上的关键词是：业务风险；数据风险；系统风险；安全合规；采用风险；商业风险。</a:t>
            </a:r>
          </a:p>
          <a:p xmlns:a="http://schemas.openxmlformats.org/drawingml/2006/main">
            <a:r>
              <a:t>【为什么这样讲，约1分30秒】这一段要让学员意识到不确定性是AI项目常态。风险台账、变更单、测试计划、质量门、上线Runbook和回滚机制，是企业敢上线的基础。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风险和变更是AI项目的日常。讲师要把风险讲成管理动作：发现风险、定级、指定Owner、设置截止时间、定义升级路径、记录结果。变更也一样，任何范围、字段、系统、模型或验收标准变化，都要评估影响后再执行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【课堂互动，约1分钟】请学员说出一个他们见过的AI项目风险，并把它写成Owner、等级、截止时间和应对动作。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客户成功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AI项目六类风险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业务风险、数据风险、系统风险、安全合规、采用风险、商业风险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【风险治理提醒，约1分钟】风险、变更、测试、质量门和回滚不是为了增加流程，而是为了让客户敢让AI进入真实业务。越是高价值场景，越要让治理机制先跑起来。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互动问题：请学员说出一个他们见过的AI项目风险，并把它写成Owner、等级、截止时间和应对动作。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过渡语：这一页讲完后，我们进入下一层：客户成功。请记住，交付管理是一层一层把不确定性变成证据。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本页目的：不是所有问题都找老板，但高风险必须快速升级。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风险分级与升级路径”。本页不是为了让大家背概念，而是为了训练FDE在企业现场能把事情推进。请先记住本页核心句：不是所有问题都找老板，但高风险必须快速升级。。屏幕上的关键词是：P0事故；P1阻塞；P2质量；P3体验。</a:t>
            </a:r>
          </a:p>
          <a:p xmlns:a="http://schemas.openxmlformats.org/drawingml/2006/main">
            <a:r>
              <a:t>【为什么这样讲，约1分30秒】这一段要让学员意识到不确定性是AI项目常态。风险台账、变更单、测试计划、质量门、上线Runbook和回滚机制，是企业敢上线的基础。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风险和变更是AI项目的日常。讲师要把风险讲成管理动作：发现风险、定级、指定Owner、设置截止时间、定义升级路径、记录结果。变更也一样，任何范围、字段、系统、模型或验收标准变化，都要评估影响后再执行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【课堂互动，约1分钟】请学员说出一个他们见过的AI项目风险，并把它写成Owner、等级、截止时间和应对动作。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客户成功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风险分级与升级路径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P0事故、P1阻塞、P2质量、P3体验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【风险治理提醒，约1分钟】风险、变更、测试、质量门和回滚不是为了增加流程，而是为了让客户敢让AI进入真实业务。越是高价值场景，越要让治理机制先跑起来。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互动问题：请学员说出一个他们见过的AI项目风险，并把它写成Owner、等级、截止时间和应对动作。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过渡语：这一页讲完后，我们进入下一层：客户成功。请记住，交付管理是一层一层把不确定性变成证据。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本页目的：范围、字段、系统、模型、验收标准变化都要进入变更流程。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变更管理流程”。本页不是为了让大家背概念，而是为了训练FDE在企业现场能把事情推进。请先记住本页核心句：范围、字段、系统、模型、验收标准变化都要进入变更流程。。屏幕上的关键词是：提出变更；影响评估；方案调整；审批确认；排期执行；记录复盘。</a:t>
            </a:r>
          </a:p>
          <a:p xmlns:a="http://schemas.openxmlformats.org/drawingml/2006/main">
            <a:r>
              <a:t>【为什么这样讲，约1分30秒】这一段要让学员意识到不确定性是AI项目常态。风险台账、变更单、测试计划、质量门、上线Runbook和回滚机制，是企业敢上线的基础。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风险和变更是AI项目的日常。讲师要把风险讲成管理动作：发现风险、定级、指定Owner、设置截止时间、定义升级路径、记录结果。变更也一样，任何范围、字段、系统、模型或验收标准变化，都要评估影响后再执行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客户成功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变更管理流程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提出变更、影响评估、方案调整、审批确认、排期执行、记录复盘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【风险治理提醒，约1分钟】风险、变更、测试、质量门和回滚不是为了增加流程，而是为了让客户敢让AI进入真实业务。越是高价值场景，越要让治理机制先跑起来。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过渡语：这一页讲完后，我们进入下一层：客户成功。请记住，交付管理是一层一层把不确定性变成证据。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本页目的：每个阶段都要有进入条件和退出条件。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五个质量门”。本页不是为了让大家背概念，而是为了训练FDE在企业现场能把事情推进。请先记住本页核心句：每个阶段都要有进入条件和退出条件。。屏幕上的关键词是：G0立项；G1方案；G2灰度；G3验收；G4复制；证据归档。</a:t>
            </a:r>
          </a:p>
          <a:p xmlns:a="http://schemas.openxmlformats.org/drawingml/2006/main">
            <a:r>
              <a:t>【为什么这样讲，约1分30秒】这一段要让学员意识到不确定性是AI项目常态。风险台账、变更单、测试计划、质量门、上线Runbook和回滚机制，是企业敢上线的基础。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风险和变更是AI项目的日常。讲师要把风险讲成管理动作：发现风险、定级、指定Owner、设置截止时间、定义升级路径、记录结果。变更也一样，任何范围、字段、系统、模型或验收标准变化，都要评估影响后再执行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客户成功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五个质量门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G0立项、G1方案、G2灰度、G3验收、G4复制、证据归档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【风险治理提醒，约1分钟】风险、变更、测试、质量门和回滚不是为了增加流程，而是为了让客户敢让AI进入真实业务。越是高价值场景，越要让治理机制先跑起来。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过渡语：这一页讲完后，我们进入下一层：客户成功。请记住，交付管理是一层一层把不确定性变成证据。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本页目的：测试要覆盖离线评估、真实样本、UAT和异常场景。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测试与评估计划”。本页不是为了让大家背概念，而是为了训练FDE在企业现场能把事情推进。请先记住本页核心句：测试要覆盖离线评估、真实样本、UAT和异常场景。。屏幕上的关键词是：离线评估→防回归；真实样本→看价值；UAT→看可用；异常测试→看边界；灰度监控→看稳定。</a:t>
            </a:r>
          </a:p>
          <a:p xmlns:a="http://schemas.openxmlformats.org/drawingml/2006/main">
            <a:r>
              <a:t>【为什么这样讲，约1分30秒】这一段要让学员意识到不确定性是AI项目常态。风险台账、变更单、测试计划、质量门、上线Runbook和回滚机制，是企业敢上线的基础。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离线评估→防回归、真实样本→看价值、UAT→看可用、异常测试→看边界、灰度监控→看稳定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客户成功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测试与评估计划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离线评估→防回归、真实样本→看价值、UAT→看可用、异常测试→看边界、灰度监控→看稳定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【风险治理提醒，约1分钟】风险、变更、测试、质量门和回滚不是为了增加流程，而是为了让客户敢让AI进入真实业务。越是高价值场景，越要让治理机制先跑起来。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过渡语：这一页讲完后，我们进入下一层：客户成功。请记住，交付管理是一层一层把不确定性变成证据。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本页目的：上线不是按按钮，而是一套检查、监控、回滚和通知机制。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上线Runbook与回滚”。本页不是为了让大家背概念，而是为了训练FDE在企业现场能把事情推进。请先记住本页核心句：上线不是按按钮，而是一套检查、监控、回滚和通知机制。。屏幕上的关键词是：上线检查；灰度名单；监控指标；回滚条件；通知模板。</a:t>
            </a:r>
          </a:p>
          <a:p xmlns:a="http://schemas.openxmlformats.org/drawingml/2006/main">
            <a:r>
              <a:t>【为什么这样讲，约1分30秒】这一段要让学员意识到不确定性是AI项目常态。风险台账、变更单、测试计划、质量门、上线Runbook和回滚机制，是企业敢上线的基础。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风险和变更是AI项目的日常。讲师要把风险讲成管理动作：发现风险、定级、指定Owner、设置截止时间、定义升级路径、记录结果。变更也一样，任何范围、字段、系统、模型或验收标准变化，都要评估影响后再执行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客户成功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上线Runbook与回滚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上线检查、灰度名单、监控指标、回滚条件、通知模板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【风险治理提醒，约1分钟】风险、变更、测试、质量门和回滚不是为了增加流程，而是为了让客户敢让AI进入真实业务。越是高价值场景，越要让治理机制先跑起来。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过渡语：这一页讲完后，我们进入下一层：客户成功。请记住，交付管理是一层一层把不确定性变成证据。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本页目的：学员为自己的项目建立风险台账、变更单和质量门清单。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设计风险台账与质量门”。本页不是为了让大家背概念，而是为了训练FDE在企业现场能把事情推进。请先记住本页核心句：学员为自己的项目建立风险台账、变更单和质量门清单。。屏幕上的关键词是：风险台账；变更单；质量门；回滚条件；复盘记录。</a:t>
            </a:r>
          </a:p>
          <a:p xmlns:a="http://schemas.openxmlformats.org/drawingml/2006/main">
            <a:r>
              <a:t>【为什么这样讲，约1分30秒】这一段要让学员意识到不确定性是AI项目常态。风险台账、变更单、测试计划、质量门、上线Runbook和回滚机制，是企业敢上线的基础。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风险和变更是AI项目的日常。讲师要把风险讲成管理动作：发现风险、定级、指定Owner、设置截止时间、定义升级路径、记录结果。变更也一样，任何范围、字段、系统、模型或验收标准变化，都要评估影响后再执行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【课堂互动，约1分钟】请学员说出一个他们见过的AI项目风险，并把它写成Owner、等级、截止时间和应对动作。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客户成功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设计风险台账与质量门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风险台账、变更单、质量门、回滚条件、复盘记录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【风险治理提醒，约1分钟】风险、变更、测试、质量门和回滚不是为了增加流程，而是为了让客户敢让AI进入真实业务。越是高价值场景，越要让治理机制先跑起来。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互动问题：请学员现场填写模板，讲师抽两组点评：一个看证据是否足够，一个看范围是否可交付。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过渡语：这一页讲完后，我们进入下一层：客户成功。请记住，交付管理是一层一层把不确定性变成证据。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本页目的：交付结束不是项目结束，而是客户成功开始。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客户成功、价值证明与续费运营”。本页不是为了让大家背概念，而是为了训练FDE在企业现场能把事情推进。请先记住本页核心句：交付结束不是项目结束，而是客户成功开始。。屏幕上的关键词是：采用；价值；续费。</a:t>
            </a:r>
          </a:p>
          <a:p xmlns:a="http://schemas.openxmlformats.org/drawingml/2006/main">
            <a:r>
              <a:t>【为什么这样讲，约1分30秒】这一段要把交付从“项目完成”推进到“客户持续使用并证明价值”。FDE要能组织培训、看板、复盘、价值报告和续费扩展，而不只是交完文件。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【本页展开，约2分钟】验收要有证据，不接受“感觉好用”。业务价值要有基线和上线后数据，质量要有测试集和抽检样本，风险要有审计链，采用要有真实使用记录，成本性能要有SLA数据。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2分钟。时间紧时保留一个案例和一个追问；时间充裕时让学员把自己的项目填进模板。过渡语可以这样说：这一页讲完后，我们进入下一层：商业复制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客户成功、价值证明与续费运营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采用、价值、续费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【客户成功提醒，约1分钟】客户成功不能等验收后才想。FDE从立项开始就要设计上线后谁用、怎么培训、看什么数据、失败样本怎么回收、每周谁复盘、下个月怎么证明价值。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过渡语：这一页讲完后，我们进入下一层：商业复制。请记住，交付管理是一层一层把不确定性变成证据。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本页目的：没有真实用户采用，所有演示都只是样片。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客户成功从真实使用开始”。本页不是为了让大家背概念，而是为了训练FDE在企业现场能把事情推进。请先记住本页核心句：没有真实用户采用，所有演示都只是样片。。屏幕上的关键词是：种子用户；关键用户；业务主管；IT支持；运营Owner。</a:t>
            </a:r>
          </a:p>
          <a:p xmlns:a="http://schemas.openxmlformats.org/drawingml/2006/main">
            <a:r>
              <a:t>【为什么这样讲，约1分30秒】这一段要把交付从“项目完成”推进到“客户持续使用并证明价值”。FDE要能组织培训、看板、复盘、价值报告和续费扩展，而不只是交完文件。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【本页展开，约2分钟】客户成功不是销售部的售后，而是交付价值的持续证明。FDE要把种子用户培养、运营看板、复盘会、失败样本、价值报告和下一阶段路线串起来。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商业复制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客户成功从真实使用开始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种子用户、关键用户、业务主管、IT支持、运营Owner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【客户成功提醒，约1分钟】客户成功不能等验收后才想。FDE从立项开始就要设计上线后谁用、怎么培训、看什么数据、失败样本怎么回收、每周谁复盘、下个月怎么证明价值。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过渡语：这一页讲完后，我们进入下一层：商业复制。请记住，交付管理是一层一层把不确定性变成证据。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本页目的：管理层、Owner、一线、IT安全需要不同培训内容。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客户培训四层对象”。本页不是为了让大家背概念，而是为了训练FDE在企业现场能把事情推进。请先记住本页核心句：管理层、Owner、一线、IT安全需要不同培训内容。。屏幕上的关键词是：管理层；业务Owner；一线用户；IT/安全；运营人员；讲师候选。</a:t>
            </a:r>
          </a:p>
          <a:p xmlns:a="http://schemas.openxmlformats.org/drawingml/2006/main">
            <a:r>
              <a:t>【为什么这样讲，约1分30秒】这一段要把交付从“项目完成”推进到“客户持续使用并证明价值”。FDE要能组织培训、看板、复盘、价值报告和续费扩展，而不只是交完文件。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【本页展开，约2分钟】客户成功不是销售部的售后，而是交付价值的持续证明。FDE要把种子用户培养、运营看板、复盘会、失败样本、价值报告和下一阶段路线串起来。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商业复制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客户培训四层对象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管理层、业务Owner、一线用户、IT/安全、运营人员、讲师候选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【客户成功提醒，约1分钟】客户成功不能等验收后才想。FDE从立项开始就要设计上线后谁用、怎么培训、看什么数据、失败样本怎么回收、每周谁复盘、下个月怎么证明价值。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过渡语：这一页讲完后，我们进入下一层：商业复制。请记住，交付管理是一层一层把不确定性变成证据。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本页目的：价值证明要同时看效率、质量、收入、风险和体验。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价值证明指标树”。本页不是为了让大家背概念，而是为了训练FDE在企业现场能把事情推进。请先记住本页核心句：价值证明要同时看效率、质量、收入、风险和体验。。屏幕上的关键词是：效率：节省时间；质量：减少错误；收入：转化贡献；风险：合规留痕；体验：满意度；成本：单次费用。</a:t>
            </a:r>
          </a:p>
          <a:p xmlns:a="http://schemas.openxmlformats.org/drawingml/2006/main">
            <a:r>
              <a:t>【为什么这样讲，约1分30秒】这一段要把交付从“项目完成”推进到“客户持续使用并证明价值”。FDE要能组织培训、看板、复盘、价值报告和续费扩展，而不只是交完文件。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【本页展开，约2分钟】验收要有证据，不接受“感觉好用”。业务价值要有基线和上线后数据，质量要有测试集和抽检样本，风险要有审计链，采用要有真实使用记录，成本性能要有SLA数据。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商业复制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价值证明指标树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效率：节省时间、质量：减少错误、收入：转化贡献、风险：合规留痕、体验：满意度、成本：单次费用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【客户成功提醒，约1分钟】客户成功不能等验收后才想。FDE从立项开始就要设计上线后谁用、怎么培训、看什么数据、失败样本怎么回收、每周谁复盘、下个月怎么证明价值。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过渡语：这一页讲完后，我们进入下一层：商业复制。请记住，交付管理是一层一层把不确定性变成证据。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本页目的：价值报告要有基线、上线后数据、样本证据和下一步动作。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交付价值报告”。本页不是为了让大家背概念，而是为了训练FDE在企业现场能把事情推进。请先记住本页核心句：价值报告要有基线、上线后数据、样本证据和下一步动作。。屏幕上的关键词是：基线→上线前；结果→上线后；样本→可审计；ROI→可解释；动作→可续费。</a:t>
            </a:r>
          </a:p>
          <a:p xmlns:a="http://schemas.openxmlformats.org/drawingml/2006/main">
            <a:r>
              <a:t>【为什么这样讲，约1分30秒】这一段要把交付从“项目完成”推进到“客户持续使用并证明价值”。FDE要能组织培训、看板、复盘、价值报告和续费扩展，而不只是交完文件。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【本页展开，约2分钟】验收要有证据，不接受“感觉好用”。业务价值要有基线和上线后数据，质量要有测试集和抽检样本，风险要有审计链，采用要有真实使用记录，成本性能要有SLA数据。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商业复制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交付价值报告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基线→上线前、结果→上线后、样本→可审计、ROI→可解释、动作→可续费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【客户成功提醒，约1分钟】客户成功不能等验收后才想。FDE从立项开始就要设计上线后谁用、怎么培训、看什么数据、失败样本怎么回收、每周谁复盘、下个月怎么证明价值。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过渡语：这一页讲完后，我们进入下一层：商业复制。请记住，交付管理是一层一层把不确定性变成证据。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本页目的：复盘会要从“汇报工作”变成“驱动扩展”。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月度/QBR复盘会”。本页不是为了让大家背概念，而是为了训练FDE在企业现场能把事情推进。请先记住本页核心句：复盘会要从“汇报工作”变成“驱动扩展”。。屏幕上的关键词是：看指标；看失败样本；看新增需求；看风险；看扩展机会；定下期计划。</a:t>
            </a:r>
          </a:p>
          <a:p xmlns:a="http://schemas.openxmlformats.org/drawingml/2006/main">
            <a:r>
              <a:t>【为什么这样讲，约1分30秒】这一段要把交付从“项目完成”推进到“客户持续使用并证明价值”。FDE要能组织培训、看板、复盘、价值报告和续费扩展，而不只是交完文件。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【本页展开，约2分钟】客户成功不是销售部的售后，而是交付价值的持续证明。FDE要把种子用户培养、运营看板、复盘会、失败样本、价值报告和下一阶段路线串起来。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商业复制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月度/QBR复盘会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看指标、看失败样本、看新增需求、看风险、看扩展机会、定下期计划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【客户成功提醒，约1分钟】客户成功不能等验收后才想。FDE从立项开始就要设计上线后谁用、怎么培训、看什么数据、失败样本怎么回收、每周谁复盘、下个月怎么证明价值。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过渡语：这一页讲完后，我们进入下一层：商业复制。请记住，交付管理是一层一层把不确定性变成证据。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本页目的：当价值、使用、风险和下一阶段路线清楚时，续费自然有理由。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续费不是销售动作，是价值证明动作”。本页不是为了让大家背概念，而是为了训练FDE在企业现场能把事情推进。请先记住本页核心句：当价值、使用、风险和下一阶段路线清楚时，续费自然有理由。。屏幕上的关键词是：价值不足；使用不足；风险未控；路线不清。</a:t>
            </a:r>
          </a:p>
          <a:p xmlns:a="http://schemas.openxmlformats.org/drawingml/2006/main">
            <a:r>
              <a:t>【为什么这样讲，约1分30秒】这一段要把交付从“项目完成”推进到“客户持续使用并证明价值”。FDE要能组织培训、看板、复盘、价值报告和续费扩展，而不只是交完文件。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【本页展开，约2分钟】验收要有证据，不接受“感觉好用”。业务价值要有基线和上线后数据，质量要有测试集和抽检样本，风险要有审计链，采用要有真实使用记录，成本性能要有SLA数据。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商业复制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续费不是销售动作，是价值证明动作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价值不足、使用不足、风险未控、路线不清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【客户成功提醒，约1分钟】客户成功不能等验收后才想。FDE从立项开始就要设计上线后谁用、怎么培训、看什么数据、失败样本怎么回收、每周谁复盘、下个月怎么证明价值。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过渡语：这一页讲完后，我们进入下一层：商业复制。请记住，交付管理是一层一层把不确定性变成证据。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本页目的：每组为项目写出上线后30天客户成功计划。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设计客户成功计划”。本页不是为了让大家背概念，而是为了训练FDE在企业现场能把事情推进。请先记住本页核心句：每组为项目写出上线后30天客户成功计划。。屏幕上的关键词是：用户培训；运营看板；复盘节奏；价值报告；续费扩展。</a:t>
            </a:r>
          </a:p>
          <a:p xmlns:a="http://schemas.openxmlformats.org/drawingml/2006/main">
            <a:r>
              <a:t>【为什么这样讲，约1分30秒】这一段要把交付从“项目完成”推进到“客户持续使用并证明价值”。FDE要能组织培训、看板、复盘、价值报告和续费扩展，而不只是交完文件。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【本页展开，约2分钟】客户成功不是销售部的售后，而是交付价值的持续证明。FDE要把种子用户培养、运营看板、复盘会、失败样本、价值报告和下一阶段路线串起来。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9分钟。时间紧时保留一个案例和一个追问；时间充裕时让学员把自己的项目填进模板。过渡语可以这样说：这一页讲完后，我们进入下一层：商业复制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设计客户成功计划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用户培训、运营看板、复盘节奏、价值报告、续费扩展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【客户成功提醒，约1分钟】客户成功不能等验收后才想。FDE从立项开始就要设计上线后谁用、怎么培训、看什么数据、失败样本怎么回收、每周谁复盘、下个月怎么证明价值。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互动问题：请学员现场填写模板，讲师抽两组点评：一个看证据是否足够，一个看范围是否可交付。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过渡语：这一页讲完后，我们进入下一层：商业复制。请记住，交付管理是一层一层把不确定性变成证据。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本页目的：把一次交付沉淀成可复制的产品和生意。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商业化复制、OPC合作与行业模板”。本页不是为了让大家背概念，而是为了训练FDE在企业现场能把事情推进。请先记住本页核心句：把一次交付沉淀成可复制的产品和生意。。屏幕上的关键词是：产品化；模板化；OPC。</a:t>
            </a:r>
          </a:p>
          <a:p xmlns:a="http://schemas.openxmlformats.org/drawingml/2006/main">
            <a:r>
              <a:t>【为什么这样讲，约1分30秒】这一段要连接WEI SPACE生态。一个项目如果能沉淀模板，就能变成行业产品、OPC合作机会、培训案例和孵化项目。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【本页展开，约2分钟】商业复制要讲WEI生态逻辑：WEI API提供模型算力，WEI BOT承接数字员工代养，WEI CONSULTING做结果型咨询，WEI SPACE提供训练与孵化，WEI CAPITAL连接种子投资和产业接力。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2分钟。时间紧时保留一个案例和一个追问；时间充裕时让学员把自己的项目填进模板。过渡语可以这样说：这一页讲完后，我们进入下一层：分流认证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商业化复制、OPC合作与行业模板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产品化、模板化、OPC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【商业化提醒，约1分钟】这一页还要提醒创业型学员：OPC不是一个人什么都做，而是一个人掌握获客、诊断、方案和交付组织能力，同时借助WEI API、WEI BOT、WEI CONSULTING、WEI SPACE和WEI CAPITAL形成杠杆。能把项目沉淀成模板，才有复制和孵化价值。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过渡语：这一页讲完后，我们进入下一层：分流认证。请记住，交付管理是一层一层把不确定性变成证据。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本页目的：咨询、部署、代养、培训和孵化都可以形成产品包。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服务产品化”。本页不是为了让大家背概念，而是为了训练FDE在企业现场能把事情推进。请先记住本页核心句：咨询、部署、代养、培训和孵化都可以形成产品包。。屏幕上的关键词是：AI诊断包；数字员工部署包；WEI BOT代养；运营复盘包；行业模板包。</a:t>
            </a:r>
          </a:p>
          <a:p xmlns:a="http://schemas.openxmlformats.org/drawingml/2006/main">
            <a:r>
              <a:t>【为什么这样讲，约1分30秒】这一段要连接WEI SPACE生态。一个项目如果能沉淀模板，就能变成行业产品、OPC合作机会、培训案例和孵化项目。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【本页展开，约2分钟】商业复制要讲WEI生态逻辑：WEI API提供模型算力，WEI BOT承接数字员工代养，WEI CONSULTING做结果型咨询，WEI SPACE提供训练与孵化，WEI CAPITAL连接种子投资和产业接力。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分流认证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FDE服务产品化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AI诊断包、数字员工部署包、WEI BOT代养、运营复盘包、行业模板包，讲师要逐个追问：这个动作由谁完成，完成后留下什么材料，客户怎么验收，失败后怎么升级，能不能复用到下一个项目。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【商业化提醒，约1分钟】这一页还要提醒创业型学员：OPC不是一个人什么都做，而是一个人掌握获客、诊断、方案和交付组织能力，同时借助WEI API、WEI BOT、WEI CONSULTING、WEI SPACE和WEI CAPITAL形成杠杆。能把项目沉淀成模板，才有复制和孵化价值。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过渡语：这一页讲完后，我们进入下一层：分流认证。请记住，交付管理是一层一层把不确定性变成证据。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本页目的：定价不能只按人天，要锚定价值、复杂度、风险和复用性。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交付定价与价值锚点”。本页不是为了让大家背概念，而是为了训练FDE在企业现场能把事情推进。请先记住本页核心句：定价不能只按人天，要锚定价值、复杂度、风险和复用性。。屏幕上的关键词是：诊断费；部署费；代养费；成功费；培训费；孵化权益。</a:t>
            </a:r>
          </a:p>
          <a:p xmlns:a="http://schemas.openxmlformats.org/drawingml/2006/main">
            <a:r>
              <a:t>【为什么这样讲，约1分30秒】这一段要连接WEI SPACE生态。一个项目如果能沉淀模板，就能变成行业产品、OPC合作机会、培训案例和孵化项目。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【本页展开，约2分钟】本页关键词是诊断费、部署费、代养费、成功费、培训费、孵化权益。讲师要把这些词翻译成项目管理动作，追问谁负责、什么时候完成、用什么证据验收、失败后如何处理。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分流认证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交付定价与价值锚点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诊断费、部署费、代养费、成功费、培训费、孵化权益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【商业化提醒，约1分钟】这一页还要提醒创业型学员：OPC不是一个人什么都做，而是一个人掌握获客、诊断、方案和交付组织能力，同时借助WEI API、WEI BOT、WEI CONSULTING、WEI SPACE和WEI CAPITAL形成杠杆。能把项目沉淀成模板，才有复制和孵化价值。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过渡语：这一页讲完后，我们进入下一层：分流认证。请记住，交付管理是一层一层把不确定性变成证据。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本页目的：从项目复盘中抽取行业模板，再用于下一次更快交付。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行业模板沉淀流程”。本页不是为了让大家背概念，而是为了训练FDE在企业现场能把事情推进。请先记住本页核心句：从项目复盘中抽取行业模板，再用于下一次更快交付。。屏幕上的关键词是：项目复盘；共性抽取；模板封装；案例验证；讲师训练；市场复制。</a:t>
            </a:r>
          </a:p>
          <a:p xmlns:a="http://schemas.openxmlformats.org/drawingml/2006/main">
            <a:r>
              <a:t>【为什么这样讲，约1分30秒】这一段要连接WEI SPACE生态。一个项目如果能沉淀模板，就能变成行业产品、OPC合作机会、培训案例和孵化项目。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【本页展开，约2分钟】商业复制要讲WEI生态逻辑：WEI API提供模型算力，WEI BOT承接数字员工代养，WEI CONSULTING做结果型咨询，WEI SPACE提供训练与孵化，WEI CAPITAL连接种子投资和产业接力。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分流认证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行业模板沉淀流程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项目复盘、共性抽取、模板封装、案例验证、讲师训练、市场复制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【商业化提醒，约1分钟】这一页还要提醒创业型学员：OPC不是一个人什么都做，而是一个人掌握获客、诊断、方案和交付组织能力，同时借助WEI API、WEI BOT、WEI CONSULTING、WEI SPACE和WEI CAPITAL形成杠杆。能把项目沉淀成模板，才有复制和孵化价值。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过渡语：这一页讲完后，我们进入下一层：分流认证。请记住，交付管理是一层一层把不确定性变成证据。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本页目的：优秀创业型学员可以成为WEI生态的轻交付、轻销售、轻运营节点。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OPC一人公司合作模型”。本页不是为了让大家背概念，而是为了训练FDE在企业现场能把事情推进。请先记住本页核心句：优秀创业型学员可以成为WEI生态的轻交付、轻销售、轻运营节点。。屏幕上的关键词是：获客；诊断；交付；代养；复购。</a:t>
            </a:r>
          </a:p>
          <a:p xmlns:a="http://schemas.openxmlformats.org/drawingml/2006/main">
            <a:r>
              <a:t>【为什么这样讲，约1分30秒】这一段要连接WEI SPACE生态。一个项目如果能沉淀模板，就能变成行业产品、OPC合作机会、培训案例和孵化项目。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【本页展开，约2分钟】商业复制要讲WEI生态逻辑：WEI API提供模型算力，WEI BOT承接数字员工代养，WEI CONSULTING做结果型咨询，WEI SPACE提供训练与孵化，WEI CAPITAL连接种子投资和产业接力。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分流认证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OPC一人公司合作模型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获客、诊断、交付、代养、复购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【商业化提醒，约1分钟】这一页还要提醒创业型学员：OPC不是一个人什么都做，而是一个人掌握获客、诊断、方案和交付组织能力，同时借助WEI API、WEI BOT、WEI CONSULTING、WEI SPACE和WEI CAPITAL形成杠杆。能把项目沉淀成模板，才有复制和孵化价值。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过渡语：这一页讲完后，我们进入下一层：分流认证。请记住，交付管理是一层一层把不确定性变成证据。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本页目的：高潜力项目可进入孵化器，连接算力、数字员工、咨询、资本和产业资源。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讲师逐字稿：【开场，约40秒】各位看这一页，标题是“WEI SPACE孵化路径”。本页不是为了让大家背概念，而是为了训练FDE在企业现场能把事情推进。请先记住本页核心句：高潜力项目可进入孵化器，连接算力、数字员工、咨询、资本和产业资源。。屏幕上的关键词是：WEI API；WEI BOT；WEI CONSULTING；WEI SPACE；WEI CAPITAL；产业场景。</a:t>
            </a:r>
          </a:p>
          <a:p xmlns:a="http://schemas.openxmlformats.org/drawingml/2006/main">
            <a:r>
              <a:t>【为什么这样讲，约1分30秒】这一段要连接WEI SPACE生态。一个项目如果能沉淀模板，就能变成行业产品、OPC合作机会、培训案例和孵化项目。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【本页展开，约2分钟】商业复制要讲WEI生态逻辑：WEI API提供模型算力，WEI BOT承接数字员工代养，WEI CONSULTING做结果型咨询，WEI SPACE提供训练与孵化，WEI CAPITAL连接种子投资和产业接力。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讲完后，我们进入下一层：分流认证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【逐字讲法补充，约2分钟】这里建议讲师不要急着翻页，而是把“WEI SPACE孵化路径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WEI API、WEI BOT、WEI CONSULTING、WEI SPACE、WEI CAPITAL、产业场景，讲师要逐个追问：这个动作由谁完成，完成后留下什么材料，客户怎么验收，失败后怎么升级，能不能复用到下一个项目。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【商业化提醒，约1分钟】这一页还要提醒创业型学员：OPC不是一个人什么都做，而是一个人掌握获客、诊断、方案和交付组织能力，同时借助WEI API、WEI BOT、WEI CONSULTING、WEI SPACE和WEI CAPITAL形成杠杆。能把项目沉淀成模板，才有复制和孵化价值。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过渡语：这一页讲完后，我们进入下一层：分流认证。请记住，交付管理是一层一层把不确定性变成证据。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本页目的：学员把自己的项目复盘为可售卖、可培训、可复制的模板。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把一个项目封装成行业模板”。本页不是为了让大家背概念，而是为了训练FDE在企业现场能把事情推进。请先记住本页核心句：学员把自己的项目复盘为可售卖、可培训、可复制的模板。。屏幕上的关键词是：目标客户；标准场景；交付步骤；价格包；复用资产。</a:t>
            </a:r>
          </a:p>
          <a:p xmlns:a="http://schemas.openxmlformats.org/drawingml/2006/main">
            <a:r>
              <a:t>【为什么这样讲，约1分30秒】这一段要连接WEI SPACE生态。一个项目如果能沉淀模板，就能变成行业产品、OPC合作机会、培训案例和孵化项目。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【本页展开，约2分钟】商业复制要讲WEI生态逻辑：WEI API提供模型算力，WEI BOT承接数字员工代养，WEI CONSULTING做结果型咨询，WEI SPACE提供训练与孵化，WEI CAPITAL连接种子投资和产业接力。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9分钟。时间紧时保留一个案例和一个追问；时间充裕时让学员把自己的项目填进模板。过渡语可以这样说：这一页讲完后，我们进入下一层：分流认证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把一个项目封装成行业模板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目标客户、标准场景、交付步骤、价格包、复用资产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【商业化提醒，约1分钟】这一页还要提醒创业型学员：OPC不是一个人什么都做，而是一个人掌握获客、诊断、方案和交付组织能力，同时借助WEI API、WEI BOT、WEI CONSULTING、WEI SPACE和WEI CAPITAL形成杠杆。能把项目沉淀成模板，才有复制和孵化价值。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互动问题：请学员现场填写模板，讲师抽两组点评：一个看证据是否足够，一个看范围是否可交付。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过渡语：这一页讲完后，我们进入下一层：分流认证。请记住，交付管理是一层一层把不确定性变成证据。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本页目的：训练营不是只发证，而是完成岗位和商业路径分流。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人才分流、认证路径与讲师培养”。本页不是为了让大家背概念，而是为了训练FDE在企业现场能把事情推进。请先记住本页核心句：训练营不是只发证，而是完成岗位和商业路径分流。。屏幕上的关键词是：分流；认证；讲师。</a:t>
            </a:r>
          </a:p>
          <a:p xmlns:a="http://schemas.openxmlformats.org/drawingml/2006/main">
            <a:r>
              <a:t>【为什么这样讲，约1分30秒】这一段要回应训练营的人才目标：交付团队、企业就业、OPC创业、培训讲师和青少年讲师。认证不是终点，而是分流和信任机制。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人才分流要看作品和能力，不只看考试分数。能独立交付并控风险的人适合进交付团队；理解业务但工程较弱的人适合企业就业；有获客和产品意识的人适合OPC；表达和点评能力强的人适合讲师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【课堂互动，约1分钟】请学员判断自己更适合交付、就业、OPC还是讲师方向，并说出一个证据。</a:t>
            </a:r>
          </a:p>
          <a:p xmlns:a="http://schemas.openxmlformats.org/drawingml/2006/main">
            <a:r>
              <a:t>【落地提示，约1分钟】本页建议讲2分钟。时间紧时保留一个案例和一个追问；时间充裕时让学员把自己的项目填进模板。过渡语可以这样说：这一页讲完后，我们进入下一层：路演评审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人才分流、认证路径与讲师培养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分流、认证、讲师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【分流提醒，约1分钟】这一页要把学员的焦虑转成路径。不是每个人都要成为全栈FDE，交付型、就业型、创业型、讲师型都可以有价值。关键是用作品集证明自己，而不是用一句“我会AI”证明自己。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互动问题：请学员判断自己更适合交付、就业、OPC还是讲师方向，并说出一个证据。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过渡语：这一页讲完后，我们进入下一层：路演评审。请记住，交付管理是一层一层把不确定性变成证据。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本页目的：优秀进交付团队，一般推荐就业，创业者做OPC，表达强者做讲师。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人才四类出口”。本页不是为了让大家背概念，而是为了训练FDE在企业现场能把事情推进。请先记住本页核心句：优秀进交付团队，一般推荐就业，创业者做OPC，表达强者做讲师。。屏幕上的关键词是：FDE交付团队；企业就业；OPC创业；培训讲师；青少年讲师；孵化项目。</a:t>
            </a:r>
          </a:p>
          <a:p xmlns:a="http://schemas.openxmlformats.org/drawingml/2006/main">
            <a:r>
              <a:t>【为什么这样讲，约1分30秒】这一段要回应训练营的人才目标：交付团队、企业就业、OPC创业、培训讲师和青少年讲师。认证不是终点，而是分流和信任机制。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FDE交付团队、企业就业、OPC创业、培训讲师、青少年讲师、孵化项目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6分钟。时间紧时保留一个案例和一个追问；时间充裕时让学员把自己的项目填进模板。过渡语可以这样说：这一页讲完后，我们进入下一层：路演评审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FDE人才四类出口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FDE交付团队、企业就业、OPC创业、培训讲师、青少年讲师、孵化项目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【分流提醒，约1分钟】这一页要把学员的焦虑转成路径。不是每个人都要成为全栈FDE，交付型、就业型、创业型、讲师型都可以有价值。关键是用作品集证明自己，而不是用一句“我会AI”证明自己。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过渡语：这一页讲完后，我们进入下一层：路演评审。请记住，交付管理是一层一层把不确定性变成证据。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本页目的：用能力雷达判断学员适合哪条路径。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能力画像”。本页不是为了让大家背概念，而是为了训练FDE在企业现场能把事情推进。请先记住本页核心句：用能力雷达判断学员适合哪条路径。。屏幕上的关键词是：业务诊断；上下文工程；Agent部署；系统集成；项目交付；表达教学。</a:t>
            </a:r>
          </a:p>
          <a:p xmlns:a="http://schemas.openxmlformats.org/drawingml/2006/main">
            <a:r>
              <a:t>【为什么这样讲，约1分30秒】这一段要回应训练营的人才目标：交付团队、企业就业、OPC创业、培训讲师和青少年讲师。认证不是终点，而是分流和信任机制。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人才分流要看作品和能力，不只看考试分数。能独立交付并控风险的人适合进交付团队；理解业务但工程较弱的人适合企业就业；有获客和产品意识的人适合OPC；表达和点评能力强的人适合讲师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【课堂互动，约1分钟】请学员判断自己更适合交付、就业、OPC还是讲师方向，并说出一个证据。</a:t>
            </a:r>
          </a:p>
          <a:p xmlns:a="http://schemas.openxmlformats.org/drawingml/2006/main">
            <a:r>
              <a:t>【落地提示，约1分钟】本页建议讲6分钟。时间紧时保留一个案例和一个追问；时间充裕时让学员把自己的项目填进模板。过渡语可以这样说：这一页讲完后，我们进入下一层：路演评审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FDE能力画像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业务诊断、上下文工程、Agent部署、系统集成、项目交付、表达教学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【分流提醒，约1分钟】这一页要把学员的焦虑转成路径。不是每个人都要成为全栈FDE，交付型、就业型、创业型、讲师型都可以有价值。关键是用作品集证明自己，而不是用一句“我会AI”证明自己。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互动问题：请学员判断自己更适合交付、就业、OPC还是讲师方向，并说出一个证据。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过渡语：这一页讲完后，我们进入下一层：路演评审。请记住，交付管理是一层一层把不确定性变成证据。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本页目的：WEI认证作为主线，兼容Claude、OpenAI、腾讯云及国内大模型工具链。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认证体系兼容路径”。本页不是为了让大家背概念，而是为了训练FDE在企业现场能把事情推进。请先记住本页核心句：WEI认证作为主线，兼容Claude、OpenAI、腾讯云及国内大模型工具链。。屏幕上的关键词是：WEI-FDE；CCA-F参考；OpenAI工程实践；腾讯ADP/云开发；国内模型工具。</a:t>
            </a:r>
          </a:p>
          <a:p xmlns:a="http://schemas.openxmlformats.org/drawingml/2006/main">
            <a:r>
              <a:t>【为什么这样讲，约1分30秒】这一段要回应训练营的人才目标：交付团队、企业就业、OPC创业、培训讲师和青少年讲师。认证不是终点，而是分流和信任机制。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人才分流要看作品和能力，不只看考试分数。能独立交付并控风险的人适合进交付团队；理解业务但工程较弱的人适合企业就业；有获客和产品意识的人适合OPC；表达和点评能力强的人适合讲师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6分钟。时间紧时保留一个案例和一个追问；时间充裕时让学员把自己的项目填进模板。过渡语可以这样说：这一页讲完后，我们进入下一层：路演评审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认证体系兼容路径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WEI-FDE、CCA-F参考、OpenAI工程实践、腾讯ADP/云开发、国内模型工具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【分流提醒，约1分钟】这一页要把学员的焦虑转成路径。不是每个人都要成为全栈FDE，交付型、就业型、创业型、讲师型都可以有价值。关键是用作品集证明自己，而不是用一句“我会AI”证明自己。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过渡语：这一页讲完后，我们进入下一层：路演评审。请记住，交付管理是一层一层把不确定性变成证据。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本页目的：考核要看真实交付材料，而不是只看选择题。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WEI-FDE认证考核结构”。本页不是为了让大家背概念，而是为了训练FDE在企业现场能把事情推进。请先记住本页核心句：考核要看真实交付材料，而不是只看选择题。。屏幕上的关键词是：理论测验→基础概念；方案作业→设计能力；项目路演→表达能力；交付包→实操能力；面试评估→分流建议。</a:t>
            </a:r>
          </a:p>
          <a:p xmlns:a="http://schemas.openxmlformats.org/drawingml/2006/main">
            <a:r>
              <a:t>【为什么这样讲，约1分30秒】这一段要回应训练营的人才目标：交付团队、企业就业、OPC创业、培训讲师和青少年讲师。认证不是终点，而是分流和信任机制。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人才分流要看作品和能力，不只看考试分数。能独立交付并控风险的人适合进交付团队；理解业务但工程较弱的人适合企业就业；有获客和产品意识的人适合OPC；表达和点评能力强的人适合讲师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路演评审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WEI-FDE认证考核结构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理论测验→基础概念、方案作业→设计能力、项目路演→表达能力、交付包→实操能力、面试评估→分流建议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【分流提醒，约1分钟】这一页要把学员的焦虑转成路径。不是每个人都要成为全栈FDE，交付型、就业型、创业型、讲师型都可以有价值。关键是用作品集证明自己，而不是用一句“我会AI”证明自己。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过渡语：这一页讲完后，我们进入下一层：路演评审。请记住，交付管理是一层一层把不确定性变成证据。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本页目的：讲师要比逐字稿懂得更多，并能把复杂知识讲成案例。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讲师候选人筛选标准”。本页不是为了让大家背概念，而是为了训练FDE在企业现场能把事情推进。请先记住本页核心句：讲师要比逐字稿懂得更多，并能把复杂知识讲成案例。。屏幕上的关键词是：表达清晰；案例丰富；控场稳定；作业点评；商业意识。</a:t>
            </a:r>
          </a:p>
          <a:p xmlns:a="http://schemas.openxmlformats.org/drawingml/2006/main">
            <a:r>
              <a:t>【为什么这样讲，约1分30秒】这一段要回应训练营的人才目标：交付团队、企业就业、OPC创业、培训讲师和青少年讲师。认证不是终点，而是分流和信任机制。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人才分流要看作品和能力，不只看考试分数。能独立交付并控风险的人适合进交付团队；理解业务但工程较弱的人适合企业就业；有获客和产品意识的人适合OPC；表达和点评能力强的人适合讲师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6分钟。时间紧时保留一个案例和一个追问；时间充裕时让学员把自己的项目填进模板。过渡语可以这样说：这一页讲完后，我们进入下一层：路演评审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讲师候选人筛选标准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表达清晰、案例丰富、控场稳定、作业点评、商业意识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【分流提醒，约1分钟】这一页要把学员的焦虑转成路径。不是每个人都要成为全栈FDE，交付型、就业型、创业型、讲师型都可以有价值。关键是用作品集证明自己，而不是用一句“我会AI”证明自己。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过渡语：这一页讲完后，我们进入下一层：路演评审。请记住，交付管理是一层一层把不确定性变成证据。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本页目的：学员选择目标路径，并写出90天行动计划。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填写个人发展路径卡”。本页不是为了让大家背概念，而是为了训练FDE在企业现场能把事情推进。请先记住本页核心句：学员选择目标路径，并写出90天行动计划。。屏幕上的关键词是：目标路径；能力短板；作品集；认证计划；资源需求。</a:t>
            </a:r>
          </a:p>
          <a:p xmlns:a="http://schemas.openxmlformats.org/drawingml/2006/main">
            <a:r>
              <a:t>【为什么这样讲，约1分30秒】这一段要回应训练营的人才目标：交付团队、企业就业、OPC创业、培训讲师和青少年讲师。认证不是终点，而是分流和信任机制。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【本页展开，约2分钟】本页关键词是目标路径、能力短板、作品集、认证计划、资源需求。讲师要把这些词翻译成项目管理动作，追问谁负责、什么时候完成、用什么证据验收、失败后如何处理。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讲完后，我们进入下一层：路演评审。请记住，交付管理是一层一层把不确定性变成证据。</a:t>
            </a:r>
          </a:p>
          <a:p xmlns:a="http://schemas.openxmlformats.org/drawingml/2006/main">
            <a:r>
              <a:t>【逐字讲法补充，约2分钟】这里建议讲师不要急着翻页，而是把“填写个人发展路径卡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目标路径、能力短板、作品集、认证计划、资源需求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>【分流提醒，约1分钟】这一页要把学员的焦虑转成路径。不是每个人都要成为全栈FDE，交付型、就业型、创业型、讲师型都可以有价值。关键是用作品集证明自己，而不是用一句“我会AI”证明自己。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互动问题：请学员现场填写模板，讲师抽两组点评：一个看证据是否足够，一个看范围是否可交付。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过渡语：这一页讲完后，我们进入下一层：路演评审。请记住，交付管理是一层一层把不确定性变成证据。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本页目的：用最终交付物完成筛选、推荐和孵化。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综合路演、交付包评审与行动计划”。本页不是为了让大家背概念，而是为了训练FDE在企业现场能把事情推进。请先记住本页核心句：用最终交付物完成筛选、推荐和孵化。。屏幕上的关键词是：路演；评审；行动。</a:t>
            </a:r>
          </a:p>
          <a:p xmlns:a="http://schemas.openxmlformats.org/drawingml/2006/main">
            <a:r>
              <a:t>【为什么这样讲，约1分30秒】这一段是训练营闭环。学员通过交付包、路演、评分和90天行动计划，把学习成果变成可被推荐、录用、合作或孵化的证据。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【本页展开，约2分钟】路演不是表演，是把项目证据压缩给评委和客户。讲师要要求学员讲清客户问题、AI方案、交付证据、价值数据、风险控制和商业路径。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2分钟。时间紧时保留一个案例和一个追问；时间充裕时让学员把自己的项目填进模板。过渡语可以这样说：这一页之后，本章进入最后收束：把交付包、路演结果和90天计划转化为真实岗位、项目和商业机会。</a:t>
            </a:r>
          </a:p>
          <a:p xmlns:a="http://schemas.openxmlformats.org/drawingml/2006/main">
            <a:r>
              <a:t>【逐字讲法补充，约2分钟】这里建议讲师不要急着翻页，而是把“综合路演、交付包评审与行动计划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路演、评审、行动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过渡语：这一页之后，本章进入最后收束：把交付包、路演结果和90天计划转化为真实岗位、项目和商业机会。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本页目的：交付包要让客户、WEI团队和外部企业都能看懂并接手。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最终交付包清单”。本页不是为了让大家背概念，而是为了训练FDE在企业现场能把事情推进。请先记住本页核心句：交付包要让客户、WEI团队和外部企业都能看懂并接手。。屏幕上的关键词是：项目章程；诊断报告；上下文方案；Agent蓝图；系统集成包；运营看板；客户成功计划。</a:t>
            </a:r>
          </a:p>
          <a:p xmlns:a="http://schemas.openxmlformats.org/drawingml/2006/main">
            <a:r>
              <a:t>【为什么这样讲，约1分30秒】这一段是训练营闭环。学员通过交付包、路演、评分和90天行动计划，把学习成果变成可被推荐、录用、合作或孵化的证据。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项目章程、诊断报告、上下文方案、Agent蓝图、系统集成包、运营看板、客户成功计划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6分钟。时间紧时保留一个案例和一个追问；时间充裕时让学员把自己的项目填进模板。过渡语可以这样说：这一页之后，本章进入最后收束：把交付包、路演结果和90天计划转化为真实岗位、项目和商业机会。</a:t>
            </a:r>
          </a:p>
          <a:p xmlns:a="http://schemas.openxmlformats.org/drawingml/2006/main">
            <a:r>
              <a:t>【逐字讲法补充，约2分钟】这里建议讲师不要急着翻页，而是把“最终交付包清单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项目章程、诊断报告、上下文方案、Agent蓝图、系统集成包、运营看板、客户成功计划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过渡语：这一页之后，本章进入最后收束：把交付包、路演结果和90天计划转化为真实岗位、项目和商业机会。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本页目的：路演要讲问题、方案、证据、价值、风险和下一步。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10分钟项目路演结构”。本页不是为了让大家背概念，而是为了训练FDE在企业现场能把事情推进。请先记住本页核心句：路演要讲问题、方案、证据、价值、风险和下一步。。屏幕上的关键词是：客户问题；AI方案；交付证据；价值数据；风险控制；商业路径。</a:t>
            </a:r>
          </a:p>
          <a:p xmlns:a="http://schemas.openxmlformats.org/drawingml/2006/main">
            <a:r>
              <a:t>【为什么这样讲，约1分30秒】这一段是训练营闭环。学员通过交付包、路演、评分和90天行动计划，把学习成果变成可被推荐、录用、合作或孵化的证据。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【本页展开，约2分钟】路演不是表演，是把项目证据压缩给评委和客户。讲师要要求学员讲清客户问题、AI方案、交付证据、价值数据、风险控制和商业路径。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6分钟。时间紧时保留一个案例和一个追问；时间充裕时让学员把自己的项目填进模板。过渡语可以这样说：这一页之后，本章进入最后收束：把交付包、路演结果和90天计划转化为真实岗位、项目和商业机会。</a:t>
            </a:r>
          </a:p>
          <a:p xmlns:a="http://schemas.openxmlformats.org/drawingml/2006/main">
            <a:r>
              <a:t>【逐字讲法补充，约2分钟】这里建议讲师不要急着翻页，而是把“10分钟项目路演结构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客户问题、AI方案、交付证据、价值数据、风险控制、商业路径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过渡语：这一页之后，本章进入最后收束：把交付包、路演结果和90天计划转化为真实岗位、项目和商业机会。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本页目的：评分既看技术完成度，也看业务价值和可复制性。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终评评分维度”。本页不是为了让大家背概念，而是为了训练FDE在企业现场能把事情推进。请先记住本页核心句：评分既看技术完成度，也看业务价值和可复制性。。屏幕上的关键词是：业务价值：30%；交付完整：25%；系统闭环：20%；表达呈现：15%；商业复制：10%。</a:t>
            </a:r>
          </a:p>
          <a:p xmlns:a="http://schemas.openxmlformats.org/drawingml/2006/main">
            <a:r>
              <a:t>【为什么这样讲，约1分30秒】这一段是训练营闭环。学员通过交付包、路演、评分和90天行动计划，把学习成果变成可被推荐、录用、合作或孵化的证据。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【本页展开，约2分钟】路演不是表演，是把项目证据压缩给评委和客户。讲师要要求学员讲清客户问题、AI方案、交付证据、价值数据、风险控制和商业路径。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6分钟。时间紧时保留一个案例和一个追问；时间充裕时让学员把自己的项目填进模板。过渡语可以这样说：这一页之后，本章进入最后收束：把交付包、路演结果和90天计划转化为真实岗位、项目和商业机会。</a:t>
            </a:r>
          </a:p>
          <a:p xmlns:a="http://schemas.openxmlformats.org/drawingml/2006/main">
            <a:r>
              <a:t>【逐字讲法补充，约2分钟】这里建议讲师不要急着翻页，而是把“终评评分维度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业务价值：30%、交付完整：25%、系统闭环：20%、表达呈现：15%、商业复制：10%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过渡语：这一页之后，本章进入最后收束：把交付包、路演结果和90天计划转化为真实岗位、项目和商业机会。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本页目的：评审会要把学员的作品、能力和机会匹配起来。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分流评审会怎么开”。本页不是为了让大家背概念，而是为了训练FDE在企业现场能把事情推进。请先记住本页核心句：评审会要把学员的作品、能力和机会匹配起来。。屏幕上的关键词是：作品集；能力雷达；面试反馈；岗位机会；孵化机会；讲师机会。</a:t>
            </a:r>
          </a:p>
          <a:p xmlns:a="http://schemas.openxmlformats.org/drawingml/2006/main">
            <a:r>
              <a:t>【为什么这样讲，约1分30秒】这一段是训练营闭环。学员通过交付包、路演、评分和90天行动计划，把学习成果变成可被推荐、录用、合作或孵化的证据。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人才分流要看作品和能力，不只看考试分数。能独立交付并控风险的人适合进交付团队；理解业务但工程较弱的人适合企业就业；有获客和产品意识的人适合OPC；表达和点评能力强的人适合讲师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【课堂互动，约1分钟】请学员判断自己更适合交付、就业、OPC还是讲师方向，并说出一个证据。</a:t>
            </a:r>
          </a:p>
          <a:p xmlns:a="http://schemas.openxmlformats.org/drawingml/2006/main">
            <a:r>
              <a:t>【落地提示，约1分钟】本页建议讲7分钟。时间紧时保留一个案例和一个追问；时间充裕时让学员把自己的项目填进模板。过渡语可以这样说：这一页之后，本章进入最后收束：把交付包、路演结果和90天计划转化为真实岗位、项目和商业机会。</a:t>
            </a:r>
          </a:p>
          <a:p xmlns:a="http://schemas.openxmlformats.org/drawingml/2006/main">
            <a:r>
              <a:t>【逐字讲法补充，约2分钟】这里建议讲师不要急着翻页，而是把“分流评审会怎么开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作品集、能力雷达、面试反馈、岗位机会、孵化机会、讲师机会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互动问题：请学员判断自己更适合交付、就业、OPC还是讲师方向，并说出一个证据。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过渡语：这一页之后，本章进入最后收束：把交付包、路演结果和90天计划转化为真实岗位、项目和商业机会。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本页目的：学员写出下一步就业、交付、创业或讲师行动计划。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完成个人90天行动计划”。本页不是为了让大家背概念，而是为了训练FDE在企业现场能把事情推进。请先记住本页核心句：学员写出下一步就业、交付、创业或讲师行动计划。。屏幕上的关键词是：30天补短板；60天做作品；90天进项目；资源清单；负责人。</a:t>
            </a:r>
          </a:p>
          <a:p xmlns:a="http://schemas.openxmlformats.org/drawingml/2006/main">
            <a:r>
              <a:t>【为什么这样讲，约1分30秒】这一段是训练营闭环。学员通过交付包、路演、评分和90天行动计划，把学习成果变成可被推荐、录用、合作或孵化的证据。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【本页展开，约2分钟】路演不是表演，是把项目证据压缩给评委和客户。讲师要要求学员讲清客户问题、AI方案、交付证据、价值数据、风险控制和商业路径。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8分钟。时间紧时保留一个案例和一个追问；时间充裕时让学员把自己的项目填进模板。过渡语可以这样说：这一页之后，本章进入最后收束：把交付包、路演结果和90天计划转化为真实岗位、项目和商业机会。</a:t>
            </a:r>
          </a:p>
          <a:p xmlns:a="http://schemas.openxmlformats.org/drawingml/2006/main">
            <a:r>
              <a:t>【逐字讲法补充，约2分钟】这里建议讲师不要急着翻页，而是把“完成个人90天行动计划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30天补短板、60天做作品、90天进项目、资源清单、负责人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互动问题：请学员现场填写模板，讲师抽两组点评：一个看证据是否足够，一个看范围是否可交付。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过渡语：这一页之后，本章进入最后收束：把交付包、路演结果和90天计划转化为真实岗位、项目和商业机会。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本页目的：训练营的终点不是结课，而是把人放到项目、岗位、创业和教学场景里继续成长。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训练营到FDE生态”。本页不是为了让大家背概念，而是为了训练FDE在企业现场能把事情推进。请先记住本页核心句：训练营的终点不是结课，而是把人放到项目、岗位、创业和教学场景里继续成长。。屏幕上的关键词是：交付；就业；创业；讲师。</a:t>
            </a:r>
          </a:p>
          <a:p xmlns:a="http://schemas.openxmlformats.org/drawingml/2006/main">
            <a:r>
              <a:t>【为什么这样讲，约1分30秒】这一段是训练营闭环。学员通过交付包、路演、评分和90天行动计划，把学习成果变成可被推荐、录用、合作或孵化的证据。 在FDE训练营里，项目交付管理要服务于四类结果：优秀学员能进入WEI FDE交付团队；基础扎实的学员能被推荐到企业就业；有创业意愿的学员能成为OPC一人公司或进入孵化器；表达和组织能力强的学员能成为课程讲师。</a:t>
            </a:r>
          </a:p>
          <a:p xmlns:a="http://schemas.openxmlformats.org/drawingml/2006/main">
            <a:r>
              <a:t>【怎么讲，约2分钟】讲这一页时，不要只解释名词，要不断追问项目动作：客户目标是什么，范围边界在哪里，谁是业务Owner，谁有审批权，交付物是什么，验收证据是什么，风险怎么升级，项目结束后谁运营。把这些问题问清楚，AI项目才不会停在演示和试点。</a:t>
            </a:r>
          </a:p>
          <a:p xmlns:a="http://schemas.openxmlformats.org/drawingml/2006/main">
            <a:r>
              <a:t>【本页展开，约2分钟】本页关键词是交付、就业、创业、讲师。讲师要把这些词翻译成项目管理动作，追问谁负责、什么时候完成、用什么证据验收、失败后如何处理。</a:t>
            </a:r>
          </a:p>
          <a:p xmlns:a="http://schemas.openxmlformats.org/drawingml/2006/main">
            <a:r>
              <a:t>【案例补强，约1分30秒】可以继续使用销售数字员工案例。客户最初可能只说“让AI帮销售跟进客户”，FDE要把它变成交付语言：本期范围是线索分级、跟进建议和CRM回写；业务Owner是销售总监；IT负责CRM接口；验收看响应时长、采纳率、回写率和人工接管率；上线后每周复盘失败样本。这样，项目才从想法变成可交付任务。</a:t>
            </a:r>
          </a:p>
          <a:p xmlns:a="http://schemas.openxmlformats.org/drawingml/2006/main">
            <a:r>
              <a:t>【讲师内心判断，约1分钟】如果学员回答停留在“做一个Agent”“接一个系统”“训练一个机器人”，说明他们还没进入交付视角。你要继续追问：这个结果谁验收，什么时间交付，失败怎么办，客户如何持续使用，是否能复制到下一个部门。能回答这些问题，才接近FDE工程师的实际工作。</a:t>
            </a:r>
          </a:p>
          <a:p xmlns:a="http://schemas.openxmlformats.org/drawingml/2006/main">
            <a:r>
              <a:t>【课堂互动，约1分钟】请学员用自己的项目说一句：本页内容如果缺失，项目现场最可能出现什么问题？</a:t>
            </a:r>
          </a:p>
          <a:p xmlns:a="http://schemas.openxmlformats.org/drawingml/2006/main">
            <a:r>
              <a:t>【落地提示，约1分钟】本页建议讲3分钟。时间紧时保留一个案例和一个追问；时间充裕时让学员把自己的项目填进模板。过渡语可以这样说：这一页之后，本章进入最后收束：把交付包、路演结果和90天计划转化为真实岗位、项目和商业机会。</a:t>
            </a:r>
          </a:p>
          <a:p xmlns:a="http://schemas.openxmlformats.org/drawingml/2006/main">
            <a:r>
              <a:t>【逐字讲法补充，约2分钟】这里建议讲师不要急着翻页，而是把“从训练营到FDE生态”翻译成客户现场的一段真实对话。可以这样说：客户不会天然关心我们的课程模块，也不会天然理解FDE方法论，客户关心的是项目能不能按时上线、出了问题谁负责、投入的钱能不能看到结果。所以我们每讲一个概念，都要把它落到交付物、责任人、日期、指标和证据上。比如本页关键词是交付、就业、创业、讲师，讲师要逐个追问：这个动作由谁完成，完成后留下什么材料，客户怎么验收，失败后怎么升级，能不能复用到下一个项目。</a:t>
            </a:r>
          </a:p>
          <a:p xmlns:a="http://schemas.openxmlformats.org/drawingml/2006/main">
            <a:r>
              <a:t>【延伸背景，约1分钟】企业AI转型和传统软件项目最大的不同，是AI能力会随着上下文、数据、用户行为、模型版本和业务流程变化而波动。FDE不能只交付一个静态系统，而要交付一套持续运营机制。这里可以提醒学员：项目管理不是行政表格，而是把不稳定的AI能力变成可控业务结果的工具。</a:t>
            </a:r>
          </a:p>
          <a:p xmlns:a="http://schemas.openxmlformats.org/drawingml/2006/main">
            <a:r>
              <a:t>【作业点评口径，约1分30秒】点评学员作业时，第一看是否具体，第二看是否可验收，第三看是否有人负责，第四看是否能复盘。凡是写成“提升效率”“优化体验”“加强管理”的，都要继续追问基线、目标、样本、系统来源和Owner。凡是写成“业务部负责”“IT支持”的，都要继续追问具体姓名或岗位、交付日期和升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互动问题：请学员用自己的项目说一句：本页内容如果缺失，项目现场最可能出现什么问题？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过渡语：这一页之后，本章进入最后收束：把交付包、路演结果和90天计划转化为真实岗位、项目和商业机会。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092dc98d9494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408ca0007844f4" /><Relationship Type="http://schemas.openxmlformats.org/officeDocument/2006/relationships/slideLayout" Target="/ppt/slideLayouts/slideLayout2.xml" Id="Ra33ba394dcbf43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3ba394dcbf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9183f995194464" /><Relationship Type="http://schemas.openxmlformats.org/officeDocument/2006/relationships/notesSlide" Target="/ppt/notesSlides/notesSlide1.xml" Id="R5f6b7dd3abec4d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6726fc2ab84c9f" /><Relationship Type="http://schemas.openxmlformats.org/officeDocument/2006/relationships/notesSlide" Target="/ppt/notesSlides/notesSlide2.xml" Id="R6ba339943a5443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2002c70ce544fa" /><Relationship Type="http://schemas.openxmlformats.org/officeDocument/2006/relationships/notesSlide" Target="/ppt/notesSlides/notesSlide3.xml" Id="R4d8947d8b934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11a10a91c44dd6" /><Relationship Type="http://schemas.openxmlformats.org/officeDocument/2006/relationships/notesSlide" Target="/ppt/notesSlides/notesSlide4.xml" Id="R7de348718e9641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d2100b468442cb" /><Relationship Type="http://schemas.openxmlformats.org/officeDocument/2006/relationships/notesSlide" Target="/ppt/notesSlides/notesSlide5.xml" Id="R7f50ad30e9554d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1d492e0fbe4ae4" /><Relationship Type="http://schemas.openxmlformats.org/officeDocument/2006/relationships/notesSlide" Target="/ppt/notesSlides/notesSlide6.xml" Id="R50e83efe578e4d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f70a0805aa446e" /><Relationship Type="http://schemas.openxmlformats.org/officeDocument/2006/relationships/notesSlide" Target="/ppt/notesSlides/notesSlide7.xml" Id="R58f17c5a258a4b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142a2c25bb4857" /><Relationship Type="http://schemas.openxmlformats.org/officeDocument/2006/relationships/notesSlide" Target="/ppt/notesSlides/notesSlide8.xml" Id="Re4a85b0a331745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aa34a3217f46f2" /><Relationship Type="http://schemas.openxmlformats.org/officeDocument/2006/relationships/notesSlide" Target="/ppt/notesSlides/notesSlide9.xml" Id="R51cedb24045949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8ec9e691104aae" /><Relationship Type="http://schemas.openxmlformats.org/officeDocument/2006/relationships/notesSlide" Target="/ppt/notesSlides/notesSlide10.xml" Id="Ra7602bb44e3048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869bc7bbab4012" /><Relationship Type="http://schemas.openxmlformats.org/officeDocument/2006/relationships/notesSlide" Target="/ppt/notesSlides/notesSlide11.xml" Id="Ra2501457829643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1ea48fe8314598" /><Relationship Type="http://schemas.openxmlformats.org/officeDocument/2006/relationships/notesSlide" Target="/ppt/notesSlides/notesSlide12.xml" Id="R571fb7da3a024c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fbaf69d7794ee4" /><Relationship Type="http://schemas.openxmlformats.org/officeDocument/2006/relationships/notesSlide" Target="/ppt/notesSlides/notesSlide13.xml" Id="R435376a2f5f34b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a41004988a4bbf" /><Relationship Type="http://schemas.openxmlformats.org/officeDocument/2006/relationships/notesSlide" Target="/ppt/notesSlides/notesSlide14.xml" Id="R3d94de36fdc149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24e47517e34069" /><Relationship Type="http://schemas.openxmlformats.org/officeDocument/2006/relationships/notesSlide" Target="/ppt/notesSlides/notesSlide15.xml" Id="Rb41301ac339d46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ebe7e91ea54cac" /><Relationship Type="http://schemas.openxmlformats.org/officeDocument/2006/relationships/notesSlide" Target="/ppt/notesSlides/notesSlide16.xml" Id="R4b89e4fe1e4d4a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97dab8c304071" /><Relationship Type="http://schemas.openxmlformats.org/officeDocument/2006/relationships/notesSlide" Target="/ppt/notesSlides/notesSlide17.xml" Id="Rd435ff814d6d4d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f39bc5a4004abb" /><Relationship Type="http://schemas.openxmlformats.org/officeDocument/2006/relationships/notesSlide" Target="/ppt/notesSlides/notesSlide18.xml" Id="Rd0a0b681edef485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69f9dfeccd4304" /><Relationship Type="http://schemas.openxmlformats.org/officeDocument/2006/relationships/notesSlide" Target="/ppt/notesSlides/notesSlide19.xml" Id="Rebee8eb7bc1043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5574c28d0b411e" /><Relationship Type="http://schemas.openxmlformats.org/officeDocument/2006/relationships/notesSlide" Target="/ppt/notesSlides/notesSlide20.xml" Id="Rf9805d6509c4485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97ce58f1894d0c" /><Relationship Type="http://schemas.openxmlformats.org/officeDocument/2006/relationships/notesSlide" Target="/ppt/notesSlides/notesSlide21.xml" Id="R59fdbb6bfea14b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c8cdd794de48f2" /><Relationship Type="http://schemas.openxmlformats.org/officeDocument/2006/relationships/notesSlide" Target="/ppt/notesSlides/notesSlide22.xml" Id="R558f534da2b54c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95eb14698242ef" /><Relationship Type="http://schemas.openxmlformats.org/officeDocument/2006/relationships/notesSlide" Target="/ppt/notesSlides/notesSlide23.xml" Id="R475e5d5e76ea4f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5a9218f5454c44" /><Relationship Type="http://schemas.openxmlformats.org/officeDocument/2006/relationships/notesSlide" Target="/ppt/notesSlides/notesSlide24.xml" Id="R9dc13af0167542b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a8f00d98b4900" /><Relationship Type="http://schemas.openxmlformats.org/officeDocument/2006/relationships/notesSlide" Target="/ppt/notesSlides/notesSlide25.xml" Id="R3cdd349bca4d4d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734ac8861747ac" /><Relationship Type="http://schemas.openxmlformats.org/officeDocument/2006/relationships/notesSlide" Target="/ppt/notesSlides/notesSlide26.xml" Id="R0756f4e123a84f9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8b1c4749d64d44" /><Relationship Type="http://schemas.openxmlformats.org/officeDocument/2006/relationships/notesSlide" Target="/ppt/notesSlides/notesSlide27.xml" Id="R0bad91af6144409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53b64520ea40eb" /><Relationship Type="http://schemas.openxmlformats.org/officeDocument/2006/relationships/notesSlide" Target="/ppt/notesSlides/notesSlide28.xml" Id="R22c343ae4039403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8a1e133ac141e5" /><Relationship Type="http://schemas.openxmlformats.org/officeDocument/2006/relationships/notesSlide" Target="/ppt/notesSlides/notesSlide29.xml" Id="Re6b97b47a60243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2722056ccf4f0e" /><Relationship Type="http://schemas.openxmlformats.org/officeDocument/2006/relationships/notesSlide" Target="/ppt/notesSlides/notesSlide30.xml" Id="R293434841a7243d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8200be233443b9" /><Relationship Type="http://schemas.openxmlformats.org/officeDocument/2006/relationships/notesSlide" Target="/ppt/notesSlides/notesSlide31.xml" Id="R9a173d8b3316425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f1a4e698b94fd2" /><Relationship Type="http://schemas.openxmlformats.org/officeDocument/2006/relationships/notesSlide" Target="/ppt/notesSlides/notesSlide32.xml" Id="R081f710ba0894c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28fddcea74a09" /><Relationship Type="http://schemas.openxmlformats.org/officeDocument/2006/relationships/notesSlide" Target="/ppt/notesSlides/notesSlide33.xml" Id="Rd18102be25cb4d7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fc509728b64483" /><Relationship Type="http://schemas.openxmlformats.org/officeDocument/2006/relationships/notesSlide" Target="/ppt/notesSlides/notesSlide34.xml" Id="R767710abca714d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64d87aa2c42c6" /><Relationship Type="http://schemas.openxmlformats.org/officeDocument/2006/relationships/notesSlide" Target="/ppt/notesSlides/notesSlide35.xml" Id="R6834335334d044e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5067a9c83043c5" /><Relationship Type="http://schemas.openxmlformats.org/officeDocument/2006/relationships/notesSlide" Target="/ppt/notesSlides/notesSlide36.xml" Id="Rede9bad332ec4c6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997195cb68448b" /><Relationship Type="http://schemas.openxmlformats.org/officeDocument/2006/relationships/notesSlide" Target="/ppt/notesSlides/notesSlide37.xml" Id="Re0552affd8ff4bd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36add397d54142" /><Relationship Type="http://schemas.openxmlformats.org/officeDocument/2006/relationships/notesSlide" Target="/ppt/notesSlides/notesSlide38.xml" Id="Rc03ad50b27f14e5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a35787d164268" /><Relationship Type="http://schemas.openxmlformats.org/officeDocument/2006/relationships/notesSlide" Target="/ppt/notesSlides/notesSlide39.xml" Id="R9bbf31a72e224a8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b9fef3d4084c90" /><Relationship Type="http://schemas.openxmlformats.org/officeDocument/2006/relationships/notesSlide" Target="/ppt/notesSlides/notesSlide40.xml" Id="R51c60885271d425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b8d26911894f43" /><Relationship Type="http://schemas.openxmlformats.org/officeDocument/2006/relationships/notesSlide" Target="/ppt/notesSlides/notesSlide41.xml" Id="R09de03eda5194b3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16e773918c4922" /><Relationship Type="http://schemas.openxmlformats.org/officeDocument/2006/relationships/notesSlide" Target="/ppt/notesSlides/notesSlide42.xml" Id="Rf8bd867cbbb3480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50ece27f804757" /><Relationship Type="http://schemas.openxmlformats.org/officeDocument/2006/relationships/notesSlide" Target="/ppt/notesSlides/notesSlide43.xml" Id="R670501d3f65f49b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fb6c809c5944d1" /><Relationship Type="http://schemas.openxmlformats.org/officeDocument/2006/relationships/notesSlide" Target="/ppt/notesSlides/notesSlide44.xml" Id="R796e5c2c4b1948b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5bb2db505b4d8e" /><Relationship Type="http://schemas.openxmlformats.org/officeDocument/2006/relationships/notesSlide" Target="/ppt/notesSlides/notesSlide45.xml" Id="R6476741be3fa4fc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cb341d88642cf" /><Relationship Type="http://schemas.openxmlformats.org/officeDocument/2006/relationships/notesSlide" Target="/ppt/notesSlides/notesSlide46.xml" Id="R2c0d2b4d8b0c4b6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838471e874b52" /><Relationship Type="http://schemas.openxmlformats.org/officeDocument/2006/relationships/notesSlide" Target="/ppt/notesSlides/notesSlide47.xml" Id="R2f8ae3e278a8473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4d0797d54472e" /><Relationship Type="http://schemas.openxmlformats.org/officeDocument/2006/relationships/notesSlide" Target="/ppt/notesSlides/notesSlide48.xml" Id="R5745b4bd6701428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18b8b91811447c" /><Relationship Type="http://schemas.openxmlformats.org/officeDocument/2006/relationships/notesSlide" Target="/ppt/notesSlides/notesSlide49.xml" Id="R72e9666d3d8a4fd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32330e8b84ea1" /><Relationship Type="http://schemas.openxmlformats.org/officeDocument/2006/relationships/notesSlide" Target="/ppt/notesSlides/notesSlide50.xml" Id="R37f7ffd7d11d47d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795d37c73428c" /><Relationship Type="http://schemas.openxmlformats.org/officeDocument/2006/relationships/notesSlide" Target="/ppt/notesSlides/notesSlide51.xml" Id="Rdb68f29b2306472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b6fb0c95c143e3" /><Relationship Type="http://schemas.openxmlformats.org/officeDocument/2006/relationships/notesSlide" Target="/ppt/notesSlides/notesSlide52.xml" Id="R7ce1c15fd83b4ab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794d07ac14e73" /><Relationship Type="http://schemas.openxmlformats.org/officeDocument/2006/relationships/notesSlide" Target="/ppt/notesSlides/notesSlide53.xml" Id="Rb3c4750fd48e4cc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259ef5f53d4e0f" /><Relationship Type="http://schemas.openxmlformats.org/officeDocument/2006/relationships/notesSlide" Target="/ppt/notesSlides/notesSlide54.xml" Id="Ra5dade9fa81b451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62e2985874b47" /><Relationship Type="http://schemas.openxmlformats.org/officeDocument/2006/relationships/notesSlide" Target="/ppt/notesSlides/notesSlide55.xml" Id="R9ea50c504f8d4df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1df6809d94202" /><Relationship Type="http://schemas.openxmlformats.org/officeDocument/2006/relationships/notesSlide" Target="/ppt/notesSlides/notesSlide56.xml" Id="Re3ddf52bc85a4a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71294-8103-4AB5-8BF9-5762E92A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1658B-BFB8-4E97-B0BC-5E6E4B31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90B2B-8E50-4006-81E7-EE8E73E2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6EDE5-C164-4BFA-BDAD-C35506C8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286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Chapter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D429D-878D-4B0A-BB49-9F9C7630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企业AI项目交付管理与商业化复制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51E9C-22EB-437B-A3B5-C814050A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676275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把前五章的诊断、上下文、Agent、系统集成能力，转成可验收、可续费、可复制的人才与项目交付体系。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5A35D-A774-4A5D-B01C-D2B2D62E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43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4A008-EC42-4F5C-A490-CFC74F36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763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DB10D-832D-4EC4-8441-0034C8FD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55D07-6732-411C-81B9-2D61846D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8D4B5-BF72-4B67-9611-B5E193E6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CDA18-2F76-4D2D-8807-2CB6B98F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风险变更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F14F1-FDD9-40AF-B615-9F334C35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82895-55DA-40C4-BD88-1B7AA19F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2DBB1-7FF8-4AA1-A726-459318A8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710F4-C354-45EF-8F2B-7C415AED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005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商业复制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59DB7-5F9D-470E-87B8-0401E114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92812-F7F5-4CB8-9CBA-563C5699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816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人才分流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08BCB-14D3-4DB5-BCCD-210CEC67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4953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课程课本 + 逐页讲师稿 + 商务大字号PPT</a:t>
            </a:r>
          </a:p>
        </p:txBody>
      </p:sp>
    </p:spTree>
    <p:extLst>
      <p:ext uri="{BB962C8B-B14F-4D97-AF65-F5344CB8AC3E}">
        <p14:creationId xmlns:p14="http://schemas.microsoft.com/office/powerpoint/2010/main" val="16526421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D210E-53A5-439B-A5D8-198C7AE6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FAD83-5AB4-40C8-9ECF-38B5F1F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43164-82F5-4A49-B591-662DBF2C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49943-58D9-439D-8BA3-36165551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本章地图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173D5-3630-4D8B-9E1F-492FC915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8课时学习路径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64048-0F99-4D26-8155-62A33944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本章训练FDE从会做方案，升级为能带项目、能交付结果、能复制商业模式。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28386-C057-4B6C-925F-14945823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DB726-6A0F-48E0-8769-D6E3004E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C8751-22A8-43C7-B458-DE6D339C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F3D31-80C0-4921-A336-A0EA693F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63EA2-3DF9-4944-B5B0-5F8AA880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9E44A-0B85-4BDA-86DA-2240BE0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6AFB4-F1B4-4078-80BD-8F81316E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05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ED136-86DF-404C-AD7F-772A9BE5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81ADD-1215-4E03-B585-9426E524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9732F-648A-4DF9-A27B-D44CED1B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64E05-D7D4-4B80-85EC-8D49996D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62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86F25-8483-499E-9720-54561784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983DE-CE04-486B-83AE-6180B76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EAF21-320A-451D-8A05-AA6CD81B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E6209-96FA-44F2-ACC9-7EA01D85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范围计划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3C1F6-954E-44EC-86FD-2495D0B7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D96FF2-3054-4F0C-B207-BAEF62EB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C4F78-D877-4940-A8EA-5B35ACC1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B5FF5-4D54-41DB-9A54-A1254B12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实施治理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A33E0-71CE-4B8B-936E-7645B871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6A259-E14B-4228-AB74-5F966E9B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AE2F94-D09D-440F-82D3-82E29278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37E8F-825A-4EBA-8FEB-27C5531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8570B-6B53-4B1C-9A2C-64204A7F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C21F7C-0C5C-4DD3-B2A4-CDB2D271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81E21-4379-4619-9B25-26167C4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C2B2BC-986C-4AB3-AF74-C1550F5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商业复制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7A9B09-AE45-4660-A3CE-5A64983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F85FD2-16AB-44E6-8DCF-5C835839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67C5AD-CF5F-4E97-8D42-2D54B179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111D6-BE3B-45EC-B650-950E822D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分流认证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AD502D-2D21-415D-84FD-D979BF86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F97A19-A391-4F47-9BCD-9478EA6E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D0065B-870C-4FB4-83ED-3B057BCE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48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83E116-2998-4BA3-8708-D6D21290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路演评审</a:t>
            </a:r>
          </a:p>
        </p:txBody>
      </p:sp>
    </p:spTree>
    <p:extLst>
      <p:ext uri="{BB962C8B-B14F-4D97-AF65-F5344CB8AC3E}">
        <p14:creationId xmlns:p14="http://schemas.microsoft.com/office/powerpoint/2010/main" val="7812197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D1C35-ACF4-4D6C-AAA4-715EE112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FFA61-D5FD-4A68-A2C1-A90214D6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98458-A1A8-4653-BF00-A6B14B6A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C6BD1-75B4-4C1C-B969-16A07A9E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承接前五章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5EBE2-6D2B-48B3-8E5B-896CB00C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从系统闭环到交付闭环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FDBB3-71FC-49F1-B1AD-DB250986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第5章解决系统与数据闭环，第6章解决项目如何按期、按质、按价值交付。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00F48-A75E-4540-8FC4-FA0C82C3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CAE1E-F825-4550-AC76-9EE63AC1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C6C02-1E8C-44B2-AC1C-F85D73CD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595F1-DA43-4779-AFCB-F010024D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0D959-2217-4790-82BB-C2188FA2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诊断方案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B9958-EB4D-4EA5-BA21-8DAFB492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E3847-2F91-4218-85B7-E7FD519F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BCEF2-06E1-4437-9B1D-F8D15C2B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3D7B3-BF32-4C28-BC48-15DD6A41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DE04B-62F5-44C2-AB83-9C035B9E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8D881-1EF2-45AF-B422-4BCC9F8E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Agent部署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72EF5-72D6-4439-9E2C-091C85B9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DDE9D-A902-43CC-B578-3EE03CB5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04197-20F8-4CE8-A9DA-52D7945C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系统集成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8D6F5-183C-4A67-BD3E-CDA99542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92B5D-356D-4AE2-9A3C-0C9B6DC4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9E4AF-BB58-4D87-9242-A1B5AF46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运营看板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8DCDE-8E13-4CD0-B1F8-61FFF15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9D7A1D-9FA7-4554-B600-DDB0836C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8C76B-4E01-4720-946D-2315B556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交付验收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E6DE4-7C53-4CA4-8864-B2F09FA7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6F9A6-9EB7-4ED7-B3C9-EE45283B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FDE判断：是否有清晰目标、范围、责任、里程碑、验收和复制路径。</a:t>
            </a:r>
          </a:p>
        </p:txBody>
      </p:sp>
    </p:spTree>
    <p:extLst>
      <p:ext uri="{BB962C8B-B14F-4D97-AF65-F5344CB8AC3E}">
        <p14:creationId xmlns:p14="http://schemas.microsoft.com/office/powerpoint/2010/main" val="4716827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4A804-B468-4AB1-8144-79E41C38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AD1D3-C405-42C8-9C56-A24B1898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3AA14-2B00-4087-A141-8B30468A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77A6E-B762-404A-B7DC-9EE41473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失败案例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68594-011F-4FC0-BFFF-BE94B9D9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为什么AI项目会卡在试点之后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91DCF-F44D-4B08-9C9C-7C022DB4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失败往往不是模型不够强，而是范围失控、责任不清、验收模糊、客户没人运营。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0DF0A-6F05-4D78-8A1C-DAF89CC4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C4A5A-C92A-4A8C-9FCD-CDECC131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ADC8E-9DD9-4365-9F96-7E55554C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BC704-2061-4687-A717-6494AFA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交付事实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6CDEB-1602-4A20-A87A-0E8B5479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管理含义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594D8-7383-4121-9E36-54E6BB19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6C691-61FC-439A-9C62-FF20F837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目标模糊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8419E-C1B1-46CA-9D87-2CF16BDD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BEEBD-3E21-49B9-8892-EEE3964F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范围膨胀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F8DDF-86E4-4130-A983-334ED122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212D8-F23A-4535-BA46-7ADF2441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Owner缺席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CC6B2-1EE0-4B68-991C-61E8C44F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9BA24-6165-4869-A120-1751C2AC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风险未管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C01E7-B19C-4D23-9B0F-3082F8B4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69F45-3653-415E-BE31-8ED47F89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验收争议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5A8B6-7B3C-43E8-B6E8-E5C43F44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ECBEC-722D-4B6E-9F1F-7A569DD6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无人复盘</a:t>
            </a:r>
          </a:p>
        </p:txBody>
      </p:sp>
    </p:spTree>
    <p:extLst>
      <p:ext uri="{BB962C8B-B14F-4D97-AF65-F5344CB8AC3E}">
        <p14:creationId xmlns:p14="http://schemas.microsoft.com/office/powerpoint/2010/main" val="1383985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34AF43-2B2B-4DD2-BC19-D412DBB8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5D25C-2B3F-4AC8-A058-A2297530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2DAC5-42E9-4B66-B9D4-652612AB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3D494-5978-449D-A356-1C0F204D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本章核心句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27E61-91B4-4662-A993-87CDB4A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能交付，才有商业化；能复制，才有人才规模化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80A90-507B-4E03-9A3C-14594A16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FDE训练营最终要产出能进团队、能就业、能创业、能讲课的人。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7B953-AEB7-430F-AA53-82D227A0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D08D0-C6BE-4237-804A-CBAF8DCF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FF762-6788-41CC-AC4C-49098AE0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10869-E453-4BFE-99ED-7202EEE1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9829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7BE68-6B06-4DD1-B834-F7EF24C5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7810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368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05FD9-084E-43C4-A64B-CD2D0643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78105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能交付，才有商业化；能复制，才有人才规模化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C6769-7701-4F87-A481-DD0B31BE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723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FDE训练营最终要产出能进团队、能就业、能创业、能讲课的人。</a:t>
            </a:r>
          </a:p>
        </p:txBody>
      </p:sp>
    </p:spTree>
    <p:extLst>
      <p:ext uri="{BB962C8B-B14F-4D97-AF65-F5344CB8AC3E}">
        <p14:creationId xmlns:p14="http://schemas.microsoft.com/office/powerpoint/2010/main" val="593035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AD5812-E225-4890-9164-39A95A25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9DEA7-4DEA-4609-9398-DAFDEEC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938FB-9EE9-4F9C-B141-AAD70540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97630-41A8-441D-9504-F4A4F18F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FDE交付方法论与项目治理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E0B91-7201-40B5-8655-37DEEC1E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先建立项目语言，再谈技术执行。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37F7B-3A46-461B-923E-A61DF29A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378E7-C2BE-4662-8874-15069BA5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FDB4B-521E-43ED-BDAF-DAD7D57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881B2-D2B9-44A4-B781-4FA3A706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9C8D4-9DF4-414E-BDA5-AA78F0A8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623A5-23FF-4792-A6A2-F4B521F8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</a:t>
            </a:r>
          </a:p>
        </p:txBody>
      </p:sp>
    </p:spTree>
    <p:extLst>
      <p:ext uri="{BB962C8B-B14F-4D97-AF65-F5344CB8AC3E}">
        <p14:creationId xmlns:p14="http://schemas.microsoft.com/office/powerpoint/2010/main" val="3682760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1FFE60-8B39-422B-A826-A8425CF5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161C8-3385-4007-B95E-80CB4C5B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F0447-6FA6-4B63-9823-FCAD9F7F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30D68-5185-46A3-BF94-7FFEF316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五阶段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6654F-9747-4301-A315-3A1A9DA2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FDE五阶段交付法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E6EBC-861D-4182-A5D5-06AB768B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诊断、方案、部署、运营、复制构成FDE项目主线。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FBFDC-EF17-4B4E-AE7B-B55CC32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DA898-D2E9-4AB1-8F91-ED15B80E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CD2EB-E073-4262-A5D9-4A48245F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45666-ED4C-4451-95A3-174827BB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3C472-11E7-4910-807E-DA6E7386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36C94-DD10-4848-A7CC-7FC2378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44CF0-1C80-449B-BEC0-FD329242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57EDE-3727-4985-8208-498F4079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42BF5-260C-48A0-B122-B1A8282A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9D3B7-578D-4239-BFF9-89121479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8DFF4-005C-4EE9-B020-837B13A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A3663-BF5B-4654-8F35-740FC7CC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37AFC-3755-46B8-BADF-343AB54E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710B3-3E4C-4B42-A283-BE562A79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FF5C7-669F-4D3F-A571-EA41464B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B6CFB-8C5F-4E8C-A0F1-A397C0C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6F212-48F7-4FB9-9E47-3CE2468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ADB49-EB19-4EDC-AECF-0E117478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E8B826-32B6-4956-A67F-714475A5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FDE判断：是否有清晰目标、范围、责任、里程碑、验收和复制路径。</a:t>
            </a:r>
          </a:p>
        </p:txBody>
      </p:sp>
    </p:spTree>
    <p:extLst>
      <p:ext uri="{BB962C8B-B14F-4D97-AF65-F5344CB8AC3E}">
        <p14:creationId xmlns:p14="http://schemas.microsoft.com/office/powerpoint/2010/main" val="20293116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61F55-A877-4563-844D-F1394E0D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B4340-6178-4E30-AFB7-0719C196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540BA-9B3C-464F-AE20-339FF920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9D1C1-414F-4539-963C-814E98FB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章程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B6083-90C9-4FA5-9067-3A49FDEE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项目章程七要素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FD8B4-EE0C-4887-AC14-6D9BC66D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项目章程让客户、FDE、技术和运营在同一张纸上对齐。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D82F1-68AA-485A-B01F-C2413F7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01B23-00A5-4782-AF36-3B735A91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4861A-ABF9-4E3B-A844-8D9994F7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8349A-D097-47FE-B871-EA45386C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5B704-2A2B-4984-B301-9BDF1303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96C5C-1F8F-4A1B-8479-CF1FD56F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5715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D1D14-2F8E-4E77-BEF1-EE1A43B3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709B9-FFDA-4B04-ADB0-394F80FF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EA35D-AFA4-446C-B76C-D557C979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717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A7604-4BD3-4D7E-8DB5-28238AAF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91B62-DF94-49B7-993A-4C86F698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MVP范围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B8D4F-EC55-4F17-9D08-56A59AFC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670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10471-F4DA-49EF-8726-03AA58A6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5AD08-8505-4043-B7C2-82799703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成功指标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AAC26-47E2-437A-8BE1-9BE63DFC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1B31F-3DBF-4E4A-B806-74983FC1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24DC5-7519-49FA-AAB7-537E731B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关键干系人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21E86-C02B-4BDD-9D7A-F37F29C8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576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04307-41F3-4BF9-A11A-E00DDB0C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52CF4-4FA7-4FB9-8605-E1D63DDE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约束假设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158E1D-FAC3-40F2-B9C8-F245480B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529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C829F-A20D-4C92-86D6-2EF5BE9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5A012-1587-4D5B-9605-CCCE56E4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沟通节奏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9257D-8D49-4B44-97B2-4B989D94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482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8366D7-121B-4DBE-A052-8BE961DF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172D25-A84E-4471-ACBF-1BCFE4F6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验收方式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40960-6C3A-43BF-A349-1A5274E8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435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</p:spTree>
    <p:extLst>
      <p:ext uri="{BB962C8B-B14F-4D97-AF65-F5344CB8AC3E}">
        <p14:creationId xmlns:p14="http://schemas.microsoft.com/office/powerpoint/2010/main" val="9340202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74D51-DC58-487C-A2E6-9A98CF6A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31B93-1699-4552-839B-800F9CA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1195A-E210-4FE2-A0A3-8E697FBE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871DA-AF3E-45D9-AB2C-CBEFD7A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5AAB5-B766-4576-A4EF-3B05CBA0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项目治理不是开会，而是做决策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C7D44-A7D6-49D2-8298-C6056ECB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例会、风险会、验收会、复盘会都要服务于决策。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D3146-16B6-4EB6-BECA-A9C947FC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9F35B-DED9-4D91-BF55-DD62C221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882E8-9FD6-4ABD-82B6-20DC1AF6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1A72E-CD11-41E5-B246-A749C69B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6F3B6-156E-4C71-9E55-E4B479B2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43FE3-1E06-46AB-B619-75DFA2A7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1B3FB-3808-4A4D-8883-F7CA53F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周例会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27037-CF9E-4F5F-A40E-19848A2E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F4AA8-726D-4962-A2A7-67D87C21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6219A-C2DD-4DB8-8985-98F96810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31D05-A99C-413C-A1B8-F9CA39AC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C6343-5E3D-43E7-9359-CCBF010D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7ABED-2090-41C4-BC0D-75172DB0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AB0C9-ECC6-4284-95A7-CAA53957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5A3AE-1CA9-4C83-9915-C28295DE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方案评审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1F479-D35C-4842-AAE0-FB8018A4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1CC9A-738C-4F6A-85F3-652BABAD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AFDC7-A8ED-43BF-A73F-EBD16B89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656CF-0E59-41E6-B364-BCB4D359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验收会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EDB7F-A534-47C7-8B9E-541F4CA0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30C8A6-6E60-469C-9C59-925BA828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7F431B-79B2-4CA3-BB92-2BC0AD6A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8AB30-F46A-432C-A554-958EE1AA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复盘会</a:t>
            </a:r>
          </a:p>
        </p:txBody>
      </p:sp>
    </p:spTree>
    <p:extLst>
      <p:ext uri="{BB962C8B-B14F-4D97-AF65-F5344CB8AC3E}">
        <p14:creationId xmlns:p14="http://schemas.microsoft.com/office/powerpoint/2010/main" val="11458713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B516D2-89DB-4EED-A04E-A958A3D8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E7772-FED1-43A4-8E7E-9FAA6DFB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D6C54-E159-4B88-88B9-E0FC1E9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56F31-DB19-4625-89D1-A603E53F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RACI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F0EC2-F925-40C4-A2EE-04CB53D8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FDE项目RACI责任图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8B0F1-8868-4625-B3FD-65632001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Sponsor、业务Owner、FDE、IT安全、平台运营和客户成功各有责任。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16148-5442-4F6A-BB0D-7C905F87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F5A2C-23EB-451C-8999-B73FAFC6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7CEB5-9C17-4E59-84BB-BBBA4C84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62BB0-BA51-4771-9025-36731CD3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8FC9D-9BFE-4DD7-919D-AC9D0271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Sponsor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16461-EA31-484D-B673-AD7BDDCC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B69E7-6DA1-4507-AA5B-A1E54A9D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6E84A-30AD-435E-B865-6980E88B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6732A-53B5-41A1-B391-836EC41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616C0-2847-4878-A2E1-E3B455A4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AE87C-E470-4030-8E4D-EBF35B0D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IT/安全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28FD0-50A0-47ED-8C20-6E11904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A5A78-AEE8-437D-9A93-9D59A2C7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平台运营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06FE8-62D4-4141-971C-D78CF8F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97FEE-8E10-4DFE-B84D-CB8E4EB1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</p:spTree>
    <p:extLst>
      <p:ext uri="{BB962C8B-B14F-4D97-AF65-F5344CB8AC3E}">
        <p14:creationId xmlns:p14="http://schemas.microsoft.com/office/powerpoint/2010/main" val="21412078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090D6-4543-4E26-BC1C-D26054CF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7C38E-7681-498F-91FF-A37B4527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3E337-0401-4BB0-808B-C51A7585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CB136-423A-4A10-B229-3A2B7ACA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文档体系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3174A-9906-4FE2-8CEB-352DE81A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FDE交付文档树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EF348-7EE7-41DD-AFB4-ED502B26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交付文档要能支撑复盘、培训、验收和复制。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49FF5-0729-442A-BC38-58216B68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96C73-3EB5-40CB-BD99-C259593C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EDD56-26C7-4469-BC3C-21EDF760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860CB-6762-46B5-9730-F6F07833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947E9-E12B-475F-ACCA-6EE9C371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C0025-1EB1-4952-8E60-F360A799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FDE要追到的交付证据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FF087-48C5-4A18-9490-28D4806F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208C3-279D-4927-A3C8-BD9D9F4C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项目章程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80C60-C5DF-412B-B22E-B8CF3054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目标范围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47751-004C-49B9-8EB7-31D118E1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25271-01C4-463C-86AE-BFD9E2B4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方案蓝图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0EA86-7400-4D3C-891A-077E9C4F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设计决策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6203C-5C3E-4EC0-9492-CEFBC2D3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B725E-700F-4D74-8AC5-FDAE2FCA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FE95B-2A0D-4A34-9667-54B11B3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接入资料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91567-DE67-435D-B310-86501FC6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58846-B2AE-4832-8FCD-74B323BE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E1A9D-8D27-4CD8-9B59-428F756D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质量证据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20220-B32D-4D54-834C-A221C98B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E2E47-ADBF-422C-815B-F9F3637E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F19E7-3B85-45FD-91E7-D9CA4A36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复盘续费</a:t>
            </a:r>
          </a:p>
        </p:txBody>
      </p:sp>
    </p:spTree>
    <p:extLst>
      <p:ext uri="{BB962C8B-B14F-4D97-AF65-F5344CB8AC3E}">
        <p14:creationId xmlns:p14="http://schemas.microsoft.com/office/powerpoint/2010/main" val="4099008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469A6-C126-4EBF-802E-E768B71B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F9B7C-71B7-499F-BCAC-9DD388D7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A835E-C74A-44BA-BCE4-4BF36DF1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54257-3205-41FE-A387-B391D548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9B60D-4372-41B5-9237-A6BB4B35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为一个AI项目写项目章程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786C0-80D2-4D05-A44A-19CCE110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学员选择一个企业AI场景，写出一页项目章程。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2D9FE-3FF3-45EA-8C15-475E12E2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0C6FA-0464-42C8-A4CD-866A3980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DA39C-4006-460A-8358-3711C71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5FC03-24A5-44E4-8755-3B1E9631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E227E-88E8-4A2E-9DA0-CDE1E30E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C9CA5-46F1-4EEB-8D52-EA8D517D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0CB28-40C1-436F-8897-5B9858B4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BBB82-454F-4A6C-8DB3-608848D7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2BF9D-9DB0-42AA-B9B1-501DC0F6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29363-326B-4934-B1B9-206C22CA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1D49A-AAE6-4749-BE9D-5E4E7B4C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06D99-3991-4F6B-B6C1-2C07A7FD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EDCD2-CEB0-424F-AC4C-5DC07CC9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809B6-2981-4743-9DC9-FE78A290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AB358-35A4-4122-BC4F-4288B2A7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AB46F-C8A3-4C3E-94DD-109FED6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DF0FD-8480-485C-989A-1B3997C2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001A0-8044-4361-BD2E-150C7434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177D3-E46A-4529-8D30-453AEAF1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4B0B71-7B12-4132-990D-8947781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A61E9-D08E-4F9F-815E-8933838E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291F4-A7A0-4790-976B-34D26436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78C9C-C0D9-439A-B35F-8D21CBA8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DC317F-08B1-4E91-A268-13DFA672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435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FA7C25-0229-426B-B380-C53A805C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197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</p:spTree>
    <p:extLst>
      <p:ext uri="{BB962C8B-B14F-4D97-AF65-F5344CB8AC3E}">
        <p14:creationId xmlns:p14="http://schemas.microsoft.com/office/powerpoint/2010/main" val="180815131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EF2027-4A38-4C32-A994-4C17D6E4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70F74-A3C6-4B56-827B-84A3A7EC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60B4A-54F4-4FC2-AD8F-951F5D67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F06A-B23C-4297-8FF8-E1F3C16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范围计划、里程碑与验收口径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148ED-424D-48A2-B37F-4F168C79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把客户愿望转成可执行、可衡量、可验收的计划。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33328-4968-44A5-8F50-AC8F9AD5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8F68E-72FF-4F0F-9B88-959809C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96142-12F2-49E1-9C38-776BF5DC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C5F9A-0C55-42ED-826F-0DA23492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30C17-EC18-4915-AAF3-FCF5F4FB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F9F68-9DD2-4C4E-B3B6-CA3DC312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</p:spTree>
    <p:extLst>
      <p:ext uri="{BB962C8B-B14F-4D97-AF65-F5344CB8AC3E}">
        <p14:creationId xmlns:p14="http://schemas.microsoft.com/office/powerpoint/2010/main" val="10208047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B27497-BC4A-4E02-8577-F91D12D0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B5942-CA96-43EE-9866-2BEC89EB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7EE56-571B-4702-839F-BDEC4CBC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745F9-8319-4D8B-902B-7A5B7EA8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21C0F-5BD1-470C-A97D-D4452561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MVP范围三句话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6D447-8395-479A-B0FB-4069F1D6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做什么、不做什么、以后再做什么，必须写清楚。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3CC47-7585-4BC3-8553-A4698578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7FDAC-EB29-470D-8CB9-FBB348E0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0E8F3-DD46-44B5-B3FC-D9B0D9F3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范围计划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3DFDC-A02B-40EF-BD46-6C7FE516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A39FE-045F-4EF5-8E18-CC94260D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C1920-DBDD-4DFF-9801-C4F14F3B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E4B91-69DB-4D05-849B-E1BCDEB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本期必做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6C11A-9AD3-46A2-9988-240E5DAC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29378-D41B-4DA6-A2F2-9F574299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D70AB-1611-4B67-A374-32F85B10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7BE52-7754-4AC2-8FF4-28AB9B10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明确不做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3CCA5-8E85-4B1E-9CBA-9F76088D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18418-9ED4-4AD6-A317-715B8751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A4AE9-8E45-4559-BE92-4F05114D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15A61-8A2C-468F-8D16-8652013E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下期候选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79318-CC34-410B-8F92-B3C9FAD5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36C83-60D2-4FA2-B590-B22A129F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6AEED-D1D1-4789-B683-6FD5AFE0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AB7877-AE9F-4843-A4F3-959FF97B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依赖条件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E1D35-2030-4FBF-BD8D-98D70ADB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B8AE7-E72C-45E5-BF55-85A92531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8646EB-193C-4766-8A70-DD3B7873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B84EF-1894-4899-A41E-252F5DAC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</p:spTree>
    <p:extLst>
      <p:ext uri="{BB962C8B-B14F-4D97-AF65-F5344CB8AC3E}">
        <p14:creationId xmlns:p14="http://schemas.microsoft.com/office/powerpoint/2010/main" val="8722457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17FD4A-48FA-4A28-8E23-3C0113A7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79349-0189-4831-B942-928F52EC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9CFFB-658F-45AC-81E7-52E2B414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68ED7-A7E5-461C-8298-44847A7F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0A15C-96FC-41F0-B288-C8380381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四周交付里程碑样例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C1C50-E417-43DA-85C2-5BA29F24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小项目可以按周推进，大项目也要拆成可验收的阶段。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DBB47-3B5C-4A6F-8792-1A4FAA7B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556A8-6D45-4BFD-A361-4307B220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58873-396D-4307-BE8F-B8C4B4B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范围计划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027D6-22FB-4007-8E2C-568BEF1A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9B48A-44ED-4A04-8A7F-3A624B31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W1诊断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64A14-B5EC-48F9-81C4-276E1AAE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A7253-A057-411D-9A41-BF8F9015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045CE-A1E4-4F02-B239-AE2707BA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W2方案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F5388-921B-41E3-B8DE-D3CB7750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EA395-A4CB-428F-AAF1-16DF7A3F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FEC40-30C8-418F-8E61-7BCAEBE7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W3灰度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A0D36-46A5-4D2A-BFBF-A900C0D2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F505E-2F10-4DB7-AD4D-523C9679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8C717-33FA-47D4-8F67-5C8FEBDC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W4验收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05CC2-F0EF-4C08-90A0-C2E31F0C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74C7E-5CB5-4649-ABB4-D314D12D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2A6AC-76E4-4C5E-8997-0804351C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13906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W5运营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BABDE-3C7B-4F97-9E8D-BEB7B620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7079C1-5E18-4C18-9FEE-2411011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FDE判断：是否有清晰目标、范围、责任、里程碑、验收和复制路径。</a:t>
            </a:r>
          </a:p>
        </p:txBody>
      </p:sp>
    </p:spTree>
    <p:extLst>
      <p:ext uri="{BB962C8B-B14F-4D97-AF65-F5344CB8AC3E}">
        <p14:creationId xmlns:p14="http://schemas.microsoft.com/office/powerpoint/2010/main" val="9595707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5E34F-F680-4C35-9D82-815734FD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5F385-74BB-4908-875D-F90AB329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B0418-0E75-49D6-873B-F3FCBB4A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CB1B0-5C28-46FB-B991-38499332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沟通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C249D-1FF8-4444-800E-A865679C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项目沟通机制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3F51B-B716-4A75-95E8-592DF929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不同对象需要不同沟通颗粒度，不能所有信息都扔到一个群。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97A80-A215-423D-900F-A620229B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22C18-1182-4932-801A-4EA9181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4A17F-567B-415D-956F-DB7E6E3A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范围计划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CB7EE-5DC4-4D3A-A028-DB6FF6EE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50876-B723-4A2D-AF29-5C3A077E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Sponsor简报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AC1F1-C311-465B-9F4A-AEDF5FCE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34615-2EEA-4890-B4FA-6161B4DB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Owner周会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F4E8B-BA4B-481D-99C1-1CE1FD2D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BA437-2BB7-41F5-B1BA-B41E4357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IT工单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DD62A-369C-4436-AD04-B2D9D392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7FCDB-7329-49E2-A6F4-B52ED914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用户培训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C1348-51B1-469B-B1D2-7F7F0A9A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CEB76-1D5E-400D-A4F7-0560AA0B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A06EE-5CFB-4E24-938C-BF4B6907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9DC06-B1CA-454D-82C7-C626081F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风险升级</a:t>
            </a:r>
          </a:p>
        </p:txBody>
      </p:sp>
    </p:spTree>
    <p:extLst>
      <p:ext uri="{BB962C8B-B14F-4D97-AF65-F5344CB8AC3E}">
        <p14:creationId xmlns:p14="http://schemas.microsoft.com/office/powerpoint/2010/main" val="17862429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87A933-D1A2-4A74-AA39-F75D501B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D3402-8389-4DB6-BCAF-D469FDA8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44206-196A-4200-BF7E-C843051C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ACB64-6D71-4994-BDCE-800D66F5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574A7-9893-4C10-9D95-127A9E45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验收标准五类证据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0FE21-6DBE-4266-87FA-B7AE52D6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验收不能只看演示，要看业务、质量、风险、成本和采用。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3FB98-859E-4762-A53A-FE0B9739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B1C32-B3F8-4FDA-840A-DBF5942E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0A405-AEF7-45EC-97E2-863D988F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范围计划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3FDFE-1761-40DB-9B78-12E49E7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69194-7544-484A-BF6D-A3F09E67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24731-B00C-441C-AFBA-A7F17B01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FDE要追到的交付证据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27BCD-DFBB-47FF-932E-A2051513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9CC20-DAB0-4DA5-9F8B-CF5607F8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21706-59C5-4E8D-AD1D-ABC37522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指标改善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3934A-65BF-44CF-8564-C68F887B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39324-C6CF-4313-B43B-33E0771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质量效果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BF93F-74C3-47B5-88C6-A26C98E2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测试通过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AEC1A-82A3-4D56-AB5F-66766A2F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F008B-6ABB-4915-A5F4-37B44128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风险控制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BA649-6DC9-4D19-B4F3-A3440EDE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审计留痕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D9E52-FFAC-4C27-AF93-2E0BC0DD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3483F-8540-4D81-B04D-5D01843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成本性能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3764E-D74B-4953-953B-2645CFA8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SLA达标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A9779-4E85-48F8-82CA-495DF65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053F-3729-418C-85FF-74B2FA8C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采用情况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EEFD9-1CDA-489B-82A1-19AC1458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真实使用</a:t>
            </a:r>
          </a:p>
        </p:txBody>
      </p:sp>
    </p:spTree>
    <p:extLst>
      <p:ext uri="{BB962C8B-B14F-4D97-AF65-F5344CB8AC3E}">
        <p14:creationId xmlns:p14="http://schemas.microsoft.com/office/powerpoint/2010/main" val="12304489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00BB8-9FAB-441F-92C8-0F21A920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1A8F0-4AEB-46B5-B3C4-D95EFC27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BA233-9457-4187-82A8-5A583140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EF845-30BC-4815-A887-F40C2627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E24E3-8BC4-475C-9B9B-7A0841FD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销售数字员工验收口径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BDC9A-1568-4B32-BCDA-F5847ED4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用销售场景示范如何把“有效”拆成可验收指标。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8F23E-C65E-48D7-9DCF-E6A17943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F823C-F908-44B6-BA35-275158D0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6B1D3-77B7-46B3-9CBE-BE6C593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范围计划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840C2-00B8-4880-AF4D-AF283350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交付事实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9CCEB-E32E-4B22-9884-90001D83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管理含义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61D6E-0822-490E-8D90-57B0A3ED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B6F4C-DFCD-46C6-99B3-EC19A6BD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响应时长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A9310-D59D-4616-9148-F2511CCA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E52CF-6911-4694-A3EE-5DE2820B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线索分级准确率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6646C-8E59-429B-9596-9C7F9EE1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443C9-CD7C-4E51-99B7-66DEDD4D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跟进采纳率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90EAA-CA3C-4A31-B198-47E1EFB7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6AF12-A67F-43CD-A557-49DCFFF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CRM回写率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0EBF91-935E-42A8-B03F-05DBF63F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94D90-C4C4-4DEE-A2F4-879C787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人工接管率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036E6-F102-478E-889F-9E6CC24B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606426-4F04-402A-A270-C7A65137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转化贡献</a:t>
            </a:r>
          </a:p>
        </p:txBody>
      </p:sp>
    </p:spTree>
    <p:extLst>
      <p:ext uri="{BB962C8B-B14F-4D97-AF65-F5344CB8AC3E}">
        <p14:creationId xmlns:p14="http://schemas.microsoft.com/office/powerpoint/2010/main" val="41378239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3C098-CC23-44AE-BBEF-11E158B3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7013F-B082-4E5C-84A8-727F5862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18FCF-5CC4-49D8-AAA7-01F29291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E2BF4-5085-4CE0-86D3-36FCDCA8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6687D-C655-4816-AC02-7ED09975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写出项目里程碑与验收表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2DEC7-8392-4D6A-9C2A-AF01C768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每组把一个场景拆成阶段、产物、Owner和验收证据。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D1B4D-B5F2-498E-AFB0-7431FAFE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BD695-C3E0-4ED5-ADDD-884E7323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DBBF1-BC28-4F90-AA25-28308366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范围计划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37591-A933-41EC-B8F4-34CDCCA6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6EAA5-FF96-4710-AE5B-CE8B9269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6903D-258C-48B6-8E4C-CAD130BE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9B6A6-1828-4ECA-9F70-B86DDE4D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CBE15-5D43-4026-99E6-EAE37FF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6457E-B377-41E1-8742-D45FB70C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FEE3F-49CE-450A-8837-EA84628D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2FA90-C23F-45C5-964B-47AF200A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9D8C3-1EE6-4A28-873C-A66A01D4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40BDA-F6D6-469B-AB3B-53A4A2D9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CEEA0-67AC-4F3B-A65D-F8B11C92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88C24-1D44-492A-BBD1-6E3E266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FABB8-A006-4E0F-ACEE-61114881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424B6-8CF5-49F3-99CC-32DAED84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44562-842D-4A28-8DA7-044D5141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A05BD-21F9-4C16-A8BC-9AE6A1DD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验收证据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A7F246-7D35-4751-A803-1224AE84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75EC87-F244-4287-B5EA-1FE35A10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17671-901C-4696-932E-2CCA328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</p:spTree>
    <p:extLst>
      <p:ext uri="{BB962C8B-B14F-4D97-AF65-F5344CB8AC3E}">
        <p14:creationId xmlns:p14="http://schemas.microsoft.com/office/powerpoint/2010/main" val="10868395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ABA979-733E-4291-B76F-5EDC5BFE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B5C25-9F6F-480C-9298-2520E291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39E89-8FD0-4D0D-A728-FC1B610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DD372-D749-44B1-894C-F1B6629D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实施治理、风险变更与质量门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945FD-074D-422D-BB5F-9807207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项目现场最大的能力，是把不确定性管住。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79567-D3E5-427F-A90C-81D73220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B7AF8-5AEC-4FD4-ADF9-965315A4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9E82C-A843-4CF1-87B2-13921D2E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F969D-6DE4-4696-9132-835D16C2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6EC91-B2D0-44D4-9798-3052870A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B74E5-EC1A-400C-A83B-E2B9BC44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</p:spTree>
    <p:extLst>
      <p:ext uri="{BB962C8B-B14F-4D97-AF65-F5344CB8AC3E}">
        <p14:creationId xmlns:p14="http://schemas.microsoft.com/office/powerpoint/2010/main" val="45144589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9E57B-C6DA-4C02-ADE0-1C40C751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3F16E-EB0D-4598-9890-19213BB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16EA9-CCB9-42CF-B62F-1AC04CDC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14A61-C974-4BA0-98AD-08C81D83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95137-67EC-44C6-A04A-7B225160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AI项目六类风险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6AC56-382A-488E-A0D3-7EE6A2F4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风险要提前识别、分级、Owner化和复盘。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274E0-6596-4052-BCDB-78FD89AE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4C3F1-8CDA-4A19-BA41-F76943D3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24F8E-9A67-4671-BBF5-FC6ABB46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实施治理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8CE93-5E06-4AC2-A640-F76A7C3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6380B-429A-4D5C-855A-EF2AB41A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682BC-3344-45F3-8D59-FC608C40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2373E-292D-4992-BB87-ED421E32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FA841-1E97-4423-8692-ABF8C318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BD46B-A444-4CE8-AEF8-15FFA2DA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F1F2F-356E-4B8C-921D-4D7E37E3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8425A-44DA-4F75-9B1B-17E4CFE3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18125-E42C-44F3-B448-4BFA4527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8B9D7-C031-475E-A9FA-146CB828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60DD2-EA58-4ECB-901B-55E8AC06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D1080-DE95-45C3-B66E-4E402718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93CA6-EC18-430F-80A3-6F6597AC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F110E-5ABC-4447-A77B-382EAABD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2F585-DE4F-41AF-B699-00E6DFC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0F457-0403-463C-B294-8763AEEC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安全合规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98311-E50F-4C08-A14D-07DD14E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11839-0241-420C-AA3D-511A9961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22D1C1-381C-4700-A812-CB459ED0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23F83-088F-4D19-8808-52BA4196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采用风险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53B217-653F-4FA2-BDC4-05978EC0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2E18FB-CE9C-490A-A37D-5FD97068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7867AF-3AA6-48D7-8640-80078A1B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63F980-A790-448A-8FE5-F9B67AEC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商业风险</a:t>
            </a:r>
          </a:p>
        </p:txBody>
      </p:sp>
    </p:spTree>
    <p:extLst>
      <p:ext uri="{BB962C8B-B14F-4D97-AF65-F5344CB8AC3E}">
        <p14:creationId xmlns:p14="http://schemas.microsoft.com/office/powerpoint/2010/main" val="96431482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662CA8-D665-4C4E-B08B-13E9CBA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003D6-5EAA-4101-B0DD-DDFD9653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E4FCE-1D11-4BD9-BC3A-0FC9F0B0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E5118-A324-43DF-8595-2A898E28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F5FDD-AE17-4CD5-A335-06E6FCEE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风险分级与升级路径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54D73-0888-499F-BE13-01BBCE40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不是所有问题都找老板，但高风险必须快速升级。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6F8DE-D43A-4A29-BC7D-1CBB47A2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A9A03-E632-4409-9C2E-43C8D0C1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DE23D-7187-4511-993D-D3C9F7A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实施治理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F48BC-72D5-48AB-9CE0-5151E9D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C4E92-112C-4EEA-AD1B-30735799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P0事故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A7638-1A63-43AB-8445-12EC6608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489C5-81C2-41AD-AEBD-CBEB8FDB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P1阻塞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07940-63C4-49DB-B4E2-503CF22D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C2519-D23A-4288-8994-3958DCC0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P2质量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E1723-9C47-4890-A654-6EB9AB4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9AFFC-A850-4A90-9328-C1E26D65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P3体验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CAEBE-4773-4BCD-BAB7-BC1F7704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55106841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A14892-76A7-4CC2-9FDA-8139317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DDBE8-4514-4240-8DAD-D9F14D6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45F24-3D07-4274-9C44-58B92EC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4AF0B-AE7D-454E-8951-BACF85F0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变更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9B504-DA2D-4311-B04A-8327988F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变更管理流程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6E7EC-7400-4A48-B617-2F9C40C8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范围、字段、系统、模型、验收标准变化都要进入变更流程。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77456-4C10-4DC7-B725-C80CCB26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0AACF-1E4A-42F0-BCC9-814FC5F7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C91A5-26AB-4DDD-8632-61722941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实施治理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94710-B03D-40F2-BC21-B58596AE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34A55-155F-4123-90DF-B3E662D4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提出变更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F1DFB-56CF-4BE6-A4D4-2C6A26C3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4617B-2B15-48B9-895B-C903CFA5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AE0E3-AE58-456F-8188-335C5EBF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789CE-A223-42EE-8431-4A4F4910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4E1AD-9094-4F31-88F8-FA1F369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9A796-2FCF-4F1B-8A52-E264D91C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方案调整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A73AD-9C3A-43DA-A4A6-0B5894F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B354A-0AF7-4A23-BFF2-2B51CB3F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C82E2-BD00-484E-820A-8074A48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EC226-3C78-4E70-A322-B7678F02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9F71-6C4E-4F8B-AF7A-D3C66B93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855B0-9031-4251-8203-A145F9C6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排期执行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75345-63CE-4FBC-82C2-29831395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AC5AC-6515-47FA-B672-F0B4B7A5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7E7A4-A915-45E3-9769-33470F6A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记录复盘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FF617-0FA3-410D-AB47-BEED2BB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7AEC44-6A7A-4838-8938-FAC09C62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FDE判断：是否有清晰目标、范围、责任、里程碑、验收和复制路径。</a:t>
            </a:r>
          </a:p>
        </p:txBody>
      </p:sp>
    </p:spTree>
    <p:extLst>
      <p:ext uri="{BB962C8B-B14F-4D97-AF65-F5344CB8AC3E}">
        <p14:creationId xmlns:p14="http://schemas.microsoft.com/office/powerpoint/2010/main" val="62864294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C2F4B-4D89-442A-AFA7-358DD024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6425F-D660-4E1B-AACE-AD5B7FEA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A1D36-DF44-4A01-B1E5-2F071110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43A3F-5109-40B6-85F0-0B1DD3E3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质量门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61C92-E8AF-4702-BF31-F8537523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五个质量门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7E40D-50C2-4722-A129-6E8EB0AD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每个阶段都要有进入条件和退出条件。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A59BA-5FB7-46A2-871F-FE518327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43205-E68E-4BCB-95A7-83CA30B3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E4388-AE38-41B3-B4DD-05B791DF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实施治理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B11A6-CDE5-4B00-BC1F-B6FFA51D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8314-6DAD-41A5-A3F5-602A2103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G0立项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AA127-02F9-4A2E-B0C1-A1539AA8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B187F-0CC8-4034-BDC1-BBF23CE3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G1方案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578AE-6053-4F31-AE0D-5483AE95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31885-437D-40E7-8B0A-E2B79675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G2灰度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9F3C0-F5B4-43FA-ACF5-C386978C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2B1BF-C196-4134-99C7-12EE066B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G3验收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2BBC7-D1B1-40C2-A952-3B80385F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2F52D-8B77-4647-BE6A-E902BF80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G4复制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26BCE-9AD5-4746-AF3B-5250D78F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79A98-6AD4-45C9-91AE-953FEE20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证据归档</a:t>
            </a:r>
          </a:p>
        </p:txBody>
      </p:sp>
    </p:spTree>
    <p:extLst>
      <p:ext uri="{BB962C8B-B14F-4D97-AF65-F5344CB8AC3E}">
        <p14:creationId xmlns:p14="http://schemas.microsoft.com/office/powerpoint/2010/main" val="53573268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03A07-6ECA-4406-80E5-C7C79D7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5F82A-094A-40C6-83E5-2B479BA8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8E302-28B4-44E2-983C-E4D1C4D1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096E8-250D-4518-A087-03AFAD61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F9239-2060-4BBF-B168-E900BF71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测试与评估计划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95BC8-6622-4BA8-8E66-AC6D9D73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测试要覆盖离线评估、真实样本、UAT和异常场景。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C400A-7392-414C-A433-41B0B5AA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BAD27-E502-4AA7-BB06-B6A8B18B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7468B-7B96-4F91-B143-C1E759B6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实施治理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88269-2E71-4A6C-A8E0-E8616C0A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D79E6-7686-4E4E-8941-36D03612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E7E8E-A017-4A90-9B8E-B4A53358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FDE要追到的交付证据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9E978-EB04-4D62-9964-95C98401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99504-D199-4EEC-8E78-B173464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离线评估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4102C-C1BE-4F38-862C-C746BCC3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防回归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A8E34-4A28-4963-8011-51E4E2B7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3A958-4693-4B22-939A-B5D90BDF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05A86-FFA9-4D6B-ABAE-7416023F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看价值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9C87A-0EA9-4BBE-9B97-06E20116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557F4-CA97-4885-9A9D-CDB1248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A7B2F-DA4E-49C9-8CFC-BF2A7FFC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看可用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5E0F0-414B-4705-89EE-B058E044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4C5C1E-E8B9-4D64-8DBF-6F2BC520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251E82-8492-4397-BA7F-70F8D7C8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看边界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92039-987A-4939-9CBF-99E1AA9B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9A1B0-C8D0-4ED8-9CD1-BF5BAC2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灰度监控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8D912-8AF3-4938-BF2A-CFF2D9B0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看稳定</a:t>
            </a:r>
          </a:p>
        </p:txBody>
      </p:sp>
    </p:spTree>
    <p:extLst>
      <p:ext uri="{BB962C8B-B14F-4D97-AF65-F5344CB8AC3E}">
        <p14:creationId xmlns:p14="http://schemas.microsoft.com/office/powerpoint/2010/main" val="40690208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C4873B-1428-47E6-86E3-A1C2B60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31C56-AA34-4A05-8619-C30198E7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A00E3-5E4B-4EB6-B322-524C12C0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19487-07E6-430D-B5AD-545FFCC8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上线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69326-3989-463C-9998-F1547272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上线Runbook与回滚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4829E-D76B-46DF-A036-C6B9B68D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上线不是按按钮，而是一套检查、监控、回滚和通知机制。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E3B7C-54A5-4BB6-93A7-A588E5DF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3860C-D037-4F8F-916B-E026903B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A0442-E835-4253-9F2C-432E09A3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实施治理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8EBF5-B7CB-417D-8E15-0717B801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B82EB-183D-4A40-9FBD-65F08230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C5967-10BD-4AA6-806B-CF84A363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C8C8E-FF5B-4CDB-BF33-3901CA92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上线检查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40DD6-8487-400F-8582-D979CEC6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8FAD6-9821-46EC-A5FA-506808C1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D2026-7C1A-468D-A7C4-9F7852A7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39969-E518-4502-9285-54578C94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灰度名单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18261-6DDF-4B5D-9433-3A721367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F6B39-0DEB-4697-896D-8D631928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9CF4C-FA44-4228-8342-2C0FF2CE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EEF45-509D-4872-8E9D-AEF3B159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监控指标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D320B-A29B-4B49-BEDB-E376B85D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34397-5BB6-497C-8B5C-6424474E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EE588-187D-4A12-8E78-2B330A4F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FE359-6BEC-42C3-B8D8-30B578F7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回滚条件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890ED-63F3-42B7-BCD8-EBE41C6D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4920C-81F5-4E1B-967E-C87E2BD5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32978-B2C9-4320-ABBB-28D2CEB4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72047-4059-4859-B3E4-DA22F712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通知模板</a:t>
            </a:r>
          </a:p>
        </p:txBody>
      </p:sp>
    </p:spTree>
    <p:extLst>
      <p:ext uri="{BB962C8B-B14F-4D97-AF65-F5344CB8AC3E}">
        <p14:creationId xmlns:p14="http://schemas.microsoft.com/office/powerpoint/2010/main" val="180942536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2B2AC-F961-45CD-A5D2-444C3FE5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0D154-328F-4804-9D92-29D1F62F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21184-8EAF-4D6E-BE2D-583A5E74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127C7-C4EA-427F-BEE0-5A1D77F7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1E72C-C3D5-4B86-B4E1-387A1F64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设计风险台账与质量门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BB8AA-E136-466B-A61C-6ABF7FD2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学员为自己的项目建立风险台账、变更单和质量门清单。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0F688-3435-4552-8DA3-5A082F57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3D060-67A8-4B80-B24E-585E7195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76876-2560-413F-B226-E1059155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实施治理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425E0-DC5F-4A0F-A6F9-466AAF89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511A8-F407-471E-994A-D0FC66DD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DDC73-D790-4816-A6FA-93CA9A5B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81960-A909-465D-B129-9A813F31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89D33-3658-4E99-A3F9-6FF44F3A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224C6-1912-4A14-BC72-FCDB17D3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B8744-B61F-4069-BC86-643EB13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风险台账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29CB4-4313-479F-8013-060C8193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063AA-3125-4B4E-B9BE-9DC5F774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64BBD-0D0C-4E03-A216-74656BE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变更单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DA17D-D9CB-40C1-B888-6F7FFFB8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23ABC-541B-40B9-B98F-23156586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1133E-8DB1-468A-99C6-441528C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质量门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E8E96-420A-4C88-A8C7-1BA6F9AA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4A09A-485B-489F-9D7D-6EE3551C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1B20F1-73F9-4202-A57D-60691628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回滚条件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B154CA-AF33-499C-B695-EEBC42FE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B3681-4B27-4855-9895-D95F4F0D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EF5A7-5054-4D5C-975E-EDDF23B9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复盘记录</a:t>
            </a:r>
          </a:p>
        </p:txBody>
      </p:sp>
    </p:spTree>
    <p:extLst>
      <p:ext uri="{BB962C8B-B14F-4D97-AF65-F5344CB8AC3E}">
        <p14:creationId xmlns:p14="http://schemas.microsoft.com/office/powerpoint/2010/main" val="179580932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BA02B0-0FF1-4121-AF7F-5465224B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B57CA-9A35-4144-98B2-CAD17875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B291B-51D0-4F54-9664-D8945A26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06693-D57F-4B37-8105-1A326D9B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客户成功、价值证明与续费运营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7EF79-AEC3-45D5-9112-1A2E4E2A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交付结束不是项目结束，而是客户成功开始。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5DDA7-EEDF-49BF-82AA-589802D1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DF5D7-5A91-41B9-ADEC-150B0B40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2FD60-D8C0-4F5C-93EF-1E40EA01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74369-2D02-4A4B-948E-FDCF3161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D950A-A0AE-4370-A75C-AD3F47B0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A385A-6903-44AE-8071-728DA1C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续费</a:t>
            </a:r>
          </a:p>
        </p:txBody>
      </p:sp>
    </p:spTree>
    <p:extLst>
      <p:ext uri="{BB962C8B-B14F-4D97-AF65-F5344CB8AC3E}">
        <p14:creationId xmlns:p14="http://schemas.microsoft.com/office/powerpoint/2010/main" val="144628190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B9BAC3-443A-4A52-9EBD-E4076561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7269C-E226-4331-AC3D-A2F8E679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6B755-AF14-4568-A054-D4EE7D5B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58AA2-8DCB-4D4B-8509-AF4B03FB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DA291-764F-4F60-A502-AB87EFD5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客户成功从真实使用开始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C8902-F43D-473E-A35B-AED94DDE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没有真实用户采用，所有演示都只是样片。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45E74-BE8A-47D6-9F04-708A4CD7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35E4F-FCD2-4058-8F22-CF7DFE98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CC581-3E50-4EEE-A784-18A90D66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D1A65-5081-481C-93B8-42B719F2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06339-04EE-4423-9B2F-93E9301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4629B-D938-4684-98DE-47E8E5BD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3E556-0CA3-4B74-951B-346BAA7C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种子用户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576C2-2AB6-413E-9433-0BAC8DBD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6783F-F6E9-47DD-A336-75E2B48E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1BE15-DE2D-41C2-92F8-5446E038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0522B-D825-4CD9-A4C9-F863A039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关键用户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FC34B1-B620-4D4B-AE2E-87AAA468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A7787-D085-4DAE-9C58-F2B468B4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BE2C2-CC21-4AF5-858F-D6BFDFF2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24F15-9DB1-4288-ADE7-9AD681D3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业务主管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F0B67-ACC4-4461-BE35-D15CB73F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7AF79-ABAB-4ECF-A6C6-CCD42635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A04EE-DCC3-44B7-9904-C6C026E5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2A81A-15DF-47BD-B3CE-5BBDF825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IT支持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4DD85-15D9-492B-89BC-FC9F654F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AEF74-0C7E-4A46-A55D-E392BC6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A75D1-7BA5-4E96-9CF6-5BF38AAA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E82A49-110F-4499-95D1-55E73D16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运营Owner</a:t>
            </a:r>
          </a:p>
        </p:txBody>
      </p:sp>
    </p:spTree>
    <p:extLst>
      <p:ext uri="{BB962C8B-B14F-4D97-AF65-F5344CB8AC3E}">
        <p14:creationId xmlns:p14="http://schemas.microsoft.com/office/powerpoint/2010/main" val="109216767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9E559F-6E0B-4880-94FE-94EA38A5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8BE9B-849E-4CB7-96C2-F4566C67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FF8D5-81AD-44AF-937A-C0E37920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0BCC4-5CE3-481D-B39E-C0E93A3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培训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94AC5-1CA1-4AB5-99AA-E76B75AA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客户培训四层对象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79337-EF53-4B8B-A3A6-73D4C328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管理层、Owner、一线、IT安全需要不同培训内容。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5B221-5713-42DB-9642-71C3562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7CB0D-DFD2-41EA-A155-2CDB1E67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1ABCA-84C3-47A2-8807-202FCABE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B5988-72B6-4E23-97DD-7DEAE8D0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6FF7E-1B6C-4C52-B638-23F75E66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管理层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99E11-7273-43FF-93D6-A48BA414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99C99-1A7F-4A1B-9442-02BFE458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106F2-1498-4FFC-BB09-A179AE9F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838F5-FD70-4B4F-8F1F-2568A924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一线用户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DFAD8-1FD6-4406-A15E-19391197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48501-45E4-47F4-BB82-2036F193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IT/安全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0580A-1CB6-4F6D-B27D-1388FAA3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BF55B-D6D2-42A3-94E1-8083FEA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运营人员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9F4C4-B711-496E-87D6-4794F048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4D94F-64D1-48D3-B0B7-DC51427B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讲师候选</a:t>
            </a:r>
          </a:p>
        </p:txBody>
      </p:sp>
    </p:spTree>
    <p:extLst>
      <p:ext uri="{BB962C8B-B14F-4D97-AF65-F5344CB8AC3E}">
        <p14:creationId xmlns:p14="http://schemas.microsoft.com/office/powerpoint/2010/main" val="26163716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0F02D2-6BCE-47D1-A152-4A629444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2FC54-8756-40A1-A945-6E4B76B2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0C551-F7EA-44F3-B165-9586CD8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3314D-F280-4696-8507-41306AAD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7AD6A-A1A2-49CC-8B73-86601C9F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价值证明指标树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1D9E4-8E2C-45AE-B276-BD325A88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价值证明要同时看效率、质量、收入、风险和体验。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8F196-68EB-47ED-975E-30977369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3ACE8-B5DC-4667-B383-3131A927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5A127-A397-4F6B-B503-BCBDDE7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9FBCC-0DE7-4BDC-A72F-3193B049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54EDA-0C90-45A9-A73B-1B4BA22A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E9C33-4731-463F-A7F2-824145AE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08222-5BA5-4948-ADB6-34C7B56B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节省时间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1B833-CBEF-413B-8047-11FF5955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72DFE-5F97-4F5B-B92C-1F5C57BD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46061-8341-469B-A29E-002CA987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B04AB-E05D-471F-BE8D-0119012B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减少错误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DBEB7-195E-401E-B381-B2E733EC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CA1B2-6944-4E88-AADA-A38BF44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E0B76-873F-4C4A-8605-B860391B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收入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5BFBA-45EC-42C5-B772-81A184ED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转化贡献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4FE77-2263-4348-94D3-C3E3EFF4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36C6D-ADF3-4668-A47D-A6443204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E5F28-7CBC-4D47-8D66-71E82C95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16C8B-84ED-428F-93E5-25C8BB55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合规留痕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7B8D6-5D8E-4179-AB18-B9DE050C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068FAF-218F-465A-9DD5-29D555FA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B734D-8A27-4591-9C55-91A29375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体验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B0DC0-6056-42CE-B8A4-FEDEB6D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满意度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A0EF44-AEFF-4F88-90E3-8BD77781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5AA44-DE4F-4EED-9B05-BA6315B9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58621E-43E6-4D8C-BC40-09B0213F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85A07C-CA6E-4F32-B90F-48187422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单次费用</a:t>
            </a:r>
          </a:p>
        </p:txBody>
      </p:sp>
    </p:spTree>
    <p:extLst>
      <p:ext uri="{BB962C8B-B14F-4D97-AF65-F5344CB8AC3E}">
        <p14:creationId xmlns:p14="http://schemas.microsoft.com/office/powerpoint/2010/main" val="4554741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4BBC02-4DE2-4F89-AA15-3C93298F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D4A83-7C9E-4808-AFB9-55340099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92F28-49DE-4278-9050-3E6940F7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D28A7-5C09-45A3-A6BB-506702F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06320-1655-4073-8777-83740FD5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交付价值报告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0516C-A9FE-4E87-99EF-2361019D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价值报告要有基线、上线后数据、样本证据和下一步动作。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9CA4A-68B9-4F64-828A-D8E5DA0F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E264E-FFB1-4366-B7A2-980A326A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5A9E3-665B-48BB-9D1B-ED58D836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FE11C-2A68-45B1-900C-C292AF8F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0A7CB-7574-4300-B5A1-15229EAD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7566D-A856-4D20-875C-846478E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FDE要追到的交付证据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2FA75-B952-4059-A08C-9FFCF4D6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0EFC4-3A6F-4309-80EA-F78A473D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19C1C-B3B3-44F6-8A94-0D0EC29A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上线前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AA41D-864C-4B61-B47C-383789CE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6B14D-8498-4DA2-B46B-C9BA38C4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BF779-C4FA-4949-94C6-DD39AAB8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上线后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D9F80-97BD-45B1-B6CD-D5C2EBA1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839C2-3EB8-4DE9-AD17-528DEBFA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样本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91247-173C-4FA1-8AEC-8DDBE032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可审计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2330B-04DD-4FF2-A140-A597854A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7605A-9D3B-4F2A-837F-66A805DF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ROI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98C09-5C22-4011-BF0E-F2277D6C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DEC72-7F86-40E6-B1EA-7CF8B1A1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426856-47EC-4A94-89A5-E192B323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F7DA6-9B41-40D1-81D2-5432E989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可续费</a:t>
            </a:r>
          </a:p>
        </p:txBody>
      </p:sp>
    </p:spTree>
    <p:extLst>
      <p:ext uri="{BB962C8B-B14F-4D97-AF65-F5344CB8AC3E}">
        <p14:creationId xmlns:p14="http://schemas.microsoft.com/office/powerpoint/2010/main" val="129356505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2BDBE-CC93-4430-A5DF-CF3547A9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66E97-2751-4EF1-B2D6-D1158C0D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B90DF-FC81-4F83-A82E-2A9A54D7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A65D3-277D-4759-8C1D-6E228C27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QBR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A8F1-789A-4A22-8E3B-B2B010A4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月度/QBR复盘会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E6FA8-521B-4067-B971-F334684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复盘会要从“汇报工作”变成“驱动扩展”。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568EC-AF59-450D-901C-B13DD51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900DA-0A61-47D6-915C-54070995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2D583-8182-4894-89CB-61FAA749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CC75A-300E-4A12-8B56-4CAECB2D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交付事实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5F7DC-63D4-4E96-B9AF-DFB5EDAF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管理含义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0A4A8-2370-4C9C-B9DD-753A21F9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CA7E7-7538-4DEE-8B0B-9D3AF50A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DDEB6-366A-41EA-866C-E55C9739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6635D6-F197-4970-9146-123145B6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看失败样本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DF31D-92A4-43F8-8376-E1FB40D2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01E14-1833-44D9-9EB2-2746927D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看新增需求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5715E-182B-45F1-AA8F-EF432E8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26DB3-8C72-4DD3-A3F4-36579FF4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55C9E-72DF-4AB7-8E41-34BF7F15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A24AB-9EFA-445E-8DCA-0EA4BDB6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看扩展机会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4FDA2-4AA5-42EB-972F-867C10EC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DA79C-CFA8-4C77-B945-32600062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定下期计划</a:t>
            </a:r>
          </a:p>
        </p:txBody>
      </p:sp>
    </p:spTree>
    <p:extLst>
      <p:ext uri="{BB962C8B-B14F-4D97-AF65-F5344CB8AC3E}">
        <p14:creationId xmlns:p14="http://schemas.microsoft.com/office/powerpoint/2010/main" val="4222358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877806-B64C-4F7F-A82B-B32D85EA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3F4F7-B75F-4036-AA86-C3C5E66E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52981-3A82-4E8D-B771-5DBE4785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D1AC4-A0A9-43FD-8368-C9AEC96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续费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59ECD-F567-43F2-9B4D-5BE6AA06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续费不是销售动作，是价值证明动作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C75DF-547C-4F60-B81F-C630C8B2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当价值、使用、风险和下一阶段路线清楚时，续费自然有理由。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7431B-85EC-4BE4-901C-CFB0DA0A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20F0F-F475-41AD-875D-4E4FA204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0CA2C-FD22-4DCA-83A0-00C7EF3B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D553C-5A16-417E-ADD5-2DCA651E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822ED-6317-47D0-9D71-F62B70F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价值不足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0C410-ACF9-4B86-8DA9-B469F6E2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3B353-CA72-4005-A75A-C3929971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使用不足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E7A44-40DC-4968-8CE4-5BA65363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EDA54-7566-4931-8412-7D6EB1B1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风险未控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4AC9D-13E0-4F4B-8BF2-1130B185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1803B-AB25-4867-B57F-006F356D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路线不清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ABA55-5BF7-4479-B8EB-A4A418AB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67832396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F5C8AA-F392-43EA-A950-71642A44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F7BF6-8555-4587-991A-55A845F3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D1371-9770-4A0C-A335-B8D7583A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4127E-BFFA-45AC-B5B4-E3A8096B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DF44B-43A4-47BF-9414-EA93D76E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设计客户成功计划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BB72B-5B0E-4E48-8B4B-255A1D09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每组为项目写出上线后30天客户成功计划。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205D6-067F-4DDD-9B59-08FA717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26133-63DF-414C-828B-BBEBB5A1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1E45B-0693-4F92-AA9A-503FA0A7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客户成功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844F0-99E0-4F43-8216-22B75821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038A4-ABA3-4BAE-AF48-CE9B1413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474F3-1AC2-4F04-BDD8-D35FB06C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776D0-1014-4CCB-9E71-37E0C5F0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247D5-7C72-4089-B991-936AB4AC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C9987-BFB6-4B54-885C-C46360DD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4BDCA-363F-4B30-9142-3BB48DC6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用户培训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4FBA3-5F77-4E30-B88C-644EDF54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864E2-F759-41F0-8564-EB8ABA0B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91BBE-8E7E-4B60-9C81-C46BA80D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运营看板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1DC4E-8D37-44F6-A7F1-D47BC40C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C46B9-131C-491E-AFBD-BF7D33DC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098F0-3310-4861-8A71-D61F815A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复盘节奏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2F132-C2B9-449E-BA96-120FC14C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97F6F-4BDD-46DC-AE38-B9597E7F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0AD0C-ECEF-44B3-B4A1-E69A618F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价值报告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C07660-2F96-4C20-89D0-EBD190BB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2B072-81B1-463D-A394-576BA845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10E6E9-D197-477C-90FB-6C0B482F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续费扩展</a:t>
            </a:r>
          </a:p>
        </p:txBody>
      </p:sp>
    </p:spTree>
    <p:extLst>
      <p:ext uri="{BB962C8B-B14F-4D97-AF65-F5344CB8AC3E}">
        <p14:creationId xmlns:p14="http://schemas.microsoft.com/office/powerpoint/2010/main" val="113350858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B1CF1-51D4-4858-B2E2-B453562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97A7C-FB78-45F8-BB90-653E61D3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FE7DF-195D-4AB6-9D13-995783D9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33C2A-1FC0-46C4-A5E2-058F5CA3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商业化复制、OPC合作与行业模板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52D30-5F4D-46D3-8911-92AFBB0B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把一次交付沉淀成可复制的产品和生意。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EDF11-93BF-4FCF-B417-470149F1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18757-37CE-4BA7-BBA4-3DA07E26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3F38B-4F43-416D-9592-D5A448B4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B86CB-315C-4864-BDD2-C42E84FD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模板化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13CA1-4251-48F3-BBD3-1B749BE5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E73C3-0258-4815-9000-0EBE56C6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OPC</a:t>
            </a:r>
          </a:p>
        </p:txBody>
      </p:sp>
    </p:spTree>
    <p:extLst>
      <p:ext uri="{BB962C8B-B14F-4D97-AF65-F5344CB8AC3E}">
        <p14:creationId xmlns:p14="http://schemas.microsoft.com/office/powerpoint/2010/main" val="565615764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2FCB1-6E41-49C8-B029-15B747D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B1909-DB08-4D5C-918F-1EDAE82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7E557-456B-49B2-AA1C-63FA68FB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21E1E-E3C3-43E0-9EC0-F14AAE21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产品化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7D004-441B-4314-AC84-1560750A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FDE服务产品化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EC75E-C4E7-4E90-A5A5-F574D74E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咨询、部署、代养、培训和孵化都可以形成产品包。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CC36A-D28D-4D5D-BEFC-3CFF6F1B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F7E37-D19B-4C45-9F14-FBB9E38C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A20B8-E5FE-450B-9A58-21670B7E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商业复制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76B28-4024-408D-974E-D1D7510F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EA603-47CD-4155-A0DF-C1E7604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0A843-3B98-46AB-95BB-D71EE52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4CC6D-CA67-4ABF-BE71-C1FC66DE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AI诊断包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1C5D9-3638-48E3-B1FF-DA880671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5ADAF-1BA8-4905-93DD-3D6BD88E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0E545-52DB-47B1-8E85-1DFBE68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42EEF-556A-4080-A70A-FB6DF97B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数字员工部署包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44194-2614-4020-AEA4-60EFD487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96E7A-C993-4110-A6D4-4BA29D85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AA0DE-1433-4D1C-8987-AA698217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B5459-B21F-4C56-A957-FE7B1555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BOT代养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A6DB5-6D8B-478D-AA1C-674AED4C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4193F-8B81-4FC8-AC1F-8752B4B8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81DA5-9D02-4A90-A565-B545953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8500A-9319-4415-818D-6EAC51A7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运营复盘包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038CCC-808D-4D08-880A-D3873979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E0E532-4EE7-4747-AFB7-8F7BF2EA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EC60C-5710-46C4-8C79-8391EF05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A6B54-BC0D-4BA4-95D6-5F78504E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行业模板包</a:t>
            </a:r>
          </a:p>
        </p:txBody>
      </p:sp>
    </p:spTree>
    <p:extLst>
      <p:ext uri="{BB962C8B-B14F-4D97-AF65-F5344CB8AC3E}">
        <p14:creationId xmlns:p14="http://schemas.microsoft.com/office/powerpoint/2010/main" val="51031653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0E55DA-1B16-40C5-8D30-16DFBE7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C7646-0FFC-4CF6-8F70-BCCD9A47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8E29E-D176-49B1-9CA8-B993EFD7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E159C-D925-46F2-83EE-CEC4215A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定价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C5A77-37D2-4C8A-8A11-D59AF4B4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交付定价与价值锚点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33A17-7694-4AF0-B4E7-E1A837EE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定价不能只按人天，要锚定价值、复杂度、风险和复用性。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96945-2D0E-4AD3-9023-FB8000EA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19490-698D-4884-96CA-D6651B5A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FAA67-A381-4168-97FF-4D334572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商业复制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643CA-D208-4CE7-B5BB-16951B7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7791F-4A7C-4195-B2AF-63B25F5D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诊断费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003D2-B800-449F-A725-FC918109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4DD85-7B68-4820-B50B-D7924515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部署费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F7120-394A-47F4-8E69-E1AE8A65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52EBC-3921-47EC-B282-A301CE61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代养费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AD557-6B05-49BE-8062-A6763A76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BD1E9-2D50-4749-AAC3-29B0089A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成功费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06FED-834B-41A6-9448-6A5987B4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4AC4E-18DC-446A-8282-F1CB2B2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培训费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BB0AE-CD3A-4B9E-A42B-5A989366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895E0-6129-45E2-AA4A-A62E8027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孵化权益</a:t>
            </a:r>
          </a:p>
        </p:txBody>
      </p:sp>
    </p:spTree>
    <p:extLst>
      <p:ext uri="{BB962C8B-B14F-4D97-AF65-F5344CB8AC3E}">
        <p14:creationId xmlns:p14="http://schemas.microsoft.com/office/powerpoint/2010/main" val="131361021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776247-89F2-4129-A20E-7690AE5D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A8E05-5D78-4B61-9774-6427F9A2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C4DC4-426F-4AE9-89B7-07FB1E1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A4733-FCE4-41C7-AF0D-DC862DA6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2F2A0-DE0F-4F28-A9FF-0E6F16B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行业模板沉淀流程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27BCB-4173-4418-962E-65B7B86B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从项目复盘中抽取行业模板，再用于下一次更快交付。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4C5BB-A6B9-4D19-B6CD-FB89B2B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DCFD2-949B-4B50-8B7E-7611E1CC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E8945-A6B4-4E49-8AC5-AC8E942A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商业复制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64C10-98E9-4AEB-86D3-D350E5AC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8F9CB-BAF6-46DF-8B7F-EEA16BBE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项目复盘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81FE1-BFA2-4A2F-BBF5-C092B60D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1DB22-85B6-4998-9484-B6343609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64DD9-2E6B-4BBC-BE08-A6F2AD3D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共性抽取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4CEB2-61C4-4AAA-BA38-79B1E371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47060-6CF9-46D6-BF93-0BAA7995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DAD3F-A1D7-481F-BE36-CDAA963A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模板封装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F8941-57BC-45C5-92A2-6A131C8D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69CA2-0974-4651-A67A-410E86E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0A080-5735-4592-B769-D50FC0A3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案例验证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08FE5-066B-4FCE-AA58-777D3129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61782-431B-4DF0-8AED-443749F5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5E275-B679-40F2-A3BB-96FF5B03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讲师训练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70C81-BF69-4300-90A6-20CDC5A0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708E7-A93E-40ED-A7B3-E67F1707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C5204-BA6E-4DA1-ACFE-475D45C3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市场复制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2A22A0-8FA3-4C9B-98D3-31DB3F88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00E04-26D2-4CB9-96FD-A3AFCBA2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FDE判断：是否有清晰目标、范围、责任、里程碑、验收和复制路径。</a:t>
            </a:r>
          </a:p>
        </p:txBody>
      </p:sp>
    </p:spTree>
    <p:extLst>
      <p:ext uri="{BB962C8B-B14F-4D97-AF65-F5344CB8AC3E}">
        <p14:creationId xmlns:p14="http://schemas.microsoft.com/office/powerpoint/2010/main" val="139600563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3B80E1-84B4-434D-94E1-56BBAFC8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B85FB-2768-49B1-B57E-5538BFD8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E1D67-F1C4-4B46-987F-324F054E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481D-BE87-462D-BBC3-48AAA95F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OPC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C7A28-BF20-4793-85A2-B97ABEE9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OPC一人公司合作模型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DAD2F-F0F3-48DA-9566-2342EB47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优秀创业型学员可以成为WEI生态的轻交付、轻销售、轻运营节点。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34FDC-4641-475E-B4E3-ECD003A7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BF672-7486-484A-9605-2253206E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27CA1-ED42-48BB-9BC5-93C83063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商业复制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FDA03-7411-4340-B101-6EB7253A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BD0DC-2942-4550-97A1-0358AF50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BA619-0D65-42F1-91E7-E03BCF5B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39A00-6804-4DC9-91E8-252D6478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获客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DE6C6-1E35-4B6A-82AC-D0335C7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96C3D-F217-431F-ABA4-EAF6209C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825E2-DD18-4822-8F9D-9D9621EB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FD8D4-A8CC-4654-9C1A-0E554E3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214A4-5614-4823-BA0A-0C339D03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95F87-7A32-4045-A364-739ED314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66073-0978-434C-9EEF-B906FED3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F427B-5EC5-4117-9B20-55927625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03357-979C-4162-AB42-031076B6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B1F44-F45C-40EF-91F9-FA543C26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BBF22-1E23-40C4-8841-B1B1518C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A48C8-4869-4309-8B64-ED18B680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098A9-7A99-4EF1-BC0B-381D85AC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E4E7F9-A8BB-43E3-AB41-F299EAD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9FC20-D8DA-418C-B6BD-4592769A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B9126-54FB-4C00-9E74-366A2FC5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复购</a:t>
            </a:r>
          </a:p>
        </p:txBody>
      </p:sp>
    </p:spTree>
    <p:extLst>
      <p:ext uri="{BB962C8B-B14F-4D97-AF65-F5344CB8AC3E}">
        <p14:creationId xmlns:p14="http://schemas.microsoft.com/office/powerpoint/2010/main" val="466846733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3D3C5-52EB-47B4-9B4D-9AF835D8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4F430-9DE0-48BB-8D31-B525573E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A7213-7EB2-4593-A5AB-AA0EFDC6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2BE99-15F6-4F44-8996-BC6D3BA7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孵化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B064E-A563-41F1-B736-026DAE2F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SPACE孵化路径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94C76-6683-4D49-B206-470CAA2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高潜力项目可进入孵化器，连接算力、数字员工、咨询、资本和产业资源。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77EEF-964F-482A-A17A-239F0813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3E6D2-FBA0-445E-A8E2-E50503A5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C9A07-23FB-4FE9-B403-4478505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商业复制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12159-D745-46E4-9EA8-34843842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交付事实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CAE86-7685-44C4-A15F-3A5FCF07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管理含义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D0336-372E-43A5-B61E-1E798C7A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C7DAC-4DE7-4530-9DA8-291F2214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A9EDD-D5D1-4EC1-804F-870F5E7A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3BCE8-F63B-4456-A0C7-4CEE7BFA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5A86-E6E8-4EA3-8850-12096305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ABBB7-BFDD-4FAB-B91A-DAAC8AF0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CONSULTING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FA137-3BD7-426B-89AE-5471F13C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548F2-9A32-4C79-8963-7F1321D1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B3594-3031-4894-8CF7-56AF11C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F9747-0581-4F5F-A0A4-93EF8D4E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CAPITAL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4B21B-52F4-4C65-8D68-394F0FF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1E188-0DF6-4123-8B07-411EDCAB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产业场景</a:t>
            </a:r>
          </a:p>
        </p:txBody>
      </p:sp>
    </p:spTree>
    <p:extLst>
      <p:ext uri="{BB962C8B-B14F-4D97-AF65-F5344CB8AC3E}">
        <p14:creationId xmlns:p14="http://schemas.microsoft.com/office/powerpoint/2010/main" val="118306230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D6F4DD-650A-4A31-B8FC-DF286D81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3F5FD-9897-42F9-B1C6-B32717B6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77369-8D75-4C53-A56B-33C88A8C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39441-4C18-436E-BB0D-0A6865C6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E4719-77B1-4BF0-93F5-FCDCE2BB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把一个项目封装成行业模板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DC887-3E58-40CF-95D0-6B8C4F83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学员把自己的项目复盘为可售卖、可培训、可复制的模板。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FBB97-90B0-4910-941B-F9641140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B4A2A-6C6B-4C94-8D85-5D049024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7D0C7-4869-46BF-9CD9-718F3F3B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商业复制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68CD7-5508-4ED5-B4BF-62F6F001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E94CB-0142-46EF-BFD1-2A8B7560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27166-A1AA-4FF9-B0EB-96E0BF24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31D1B-BE0B-4BB4-9F67-3D765479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1653C-818D-4712-B633-04CE6DA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75925-20E7-44E7-8309-4415F40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83598-9C13-47B7-8F1B-E750C679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目标客户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2ECE2-BCEB-4D29-9A93-988233A1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6D23F-F542-42DD-B7F5-33EA9C74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32783-0642-4D85-9623-E690D32D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标准场景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A84B7-7085-480A-90C4-A1EEAF8D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381CF-9B87-44E5-BA9B-1824FE6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4EEB2-877B-46E0-9252-3491C978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交付步骤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143F9-DB11-4C81-BBEC-E61B97FC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CC04F-6F0C-401F-812C-50A5E7C3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4B0A47-B610-4597-B4D2-6E438D37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价格包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0D119-2FA3-42DF-A521-90AA5476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BACC9-94CF-477C-9DB1-693FBAC3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E9920-9F7D-4308-BE35-245487CA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复用资产</a:t>
            </a:r>
          </a:p>
        </p:txBody>
      </p:sp>
    </p:spTree>
    <p:extLst>
      <p:ext uri="{BB962C8B-B14F-4D97-AF65-F5344CB8AC3E}">
        <p14:creationId xmlns:p14="http://schemas.microsoft.com/office/powerpoint/2010/main" val="197112225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0D9890-704B-4AFE-8992-178FA8C7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0D0A0-65C4-4C85-9516-6B47B394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ED4F9-5A47-4BDB-BC57-C5B7C4AC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Part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59D69-86AC-4864-B32E-4DB698CB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人才分流、认证路径与讲师培养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C423B-C0B1-4677-A22E-F027708B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训练营不是只发证，而是完成岗位和商业路径分流。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058EB-1F8A-42FF-9A6A-3EFFE5D4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ABF9F-A711-4003-8D54-288D68D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61CF0-9BFC-4509-A664-E06290FC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9522B-484C-4EF1-87CF-541C66D6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F9372-6A25-4B5C-93F4-85E57A34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C9F36-192E-4751-9B04-360BEC40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</a:t>
            </a:r>
          </a:p>
        </p:txBody>
      </p:sp>
    </p:spTree>
    <p:extLst>
      <p:ext uri="{BB962C8B-B14F-4D97-AF65-F5344CB8AC3E}">
        <p14:creationId xmlns:p14="http://schemas.microsoft.com/office/powerpoint/2010/main" val="442664019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CA543C-1D0E-495F-AC1F-74B410FE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8CF0E-891E-4794-9ED9-EF21E3EA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497F3-38FD-44DA-BD12-30D1A829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CFE90-705C-45F8-AAC8-37F7A5E9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四类去向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38FFE-693B-4412-BF32-2A59A81F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FDE人才四类出口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17314-3047-458F-B4CC-78031857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优秀进交付团队，一般推荐就业，创业者做OPC，表达强者做讲师。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FABE5-C07F-405C-9F3C-F828903D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7DBA8-EF31-4204-A201-26B7CB1F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FE66F-78C1-41B8-9857-F923CE9B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分流认证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1D563-B7C8-43A9-969A-DAF87DB2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EDFB8-FD65-48FE-A558-EF10F2FE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FDE交付团队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BCD7E-0112-4B36-8E1A-18EDFC3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5444E-30CB-4E7C-8A6E-67FF4F95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企业就业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A13FB-2C8E-474C-AA7C-D2EDBDE0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247C8-1A52-4667-ACE8-9F528204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OPC创业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53F5C-5E43-4166-B830-E4F7558F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25AB4-5401-4CE8-92BD-BACAF09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培训讲师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59BD6-8C1E-4658-AD57-999ADCA1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DD8E8-3D5F-450C-9B5D-8B062E43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青少年讲师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1DD5B-D4FB-4274-8647-D310322B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A7711-F607-45AB-BA39-EABD89BB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孵化项目</a:t>
            </a:r>
          </a:p>
        </p:txBody>
      </p:sp>
    </p:spTree>
    <p:extLst>
      <p:ext uri="{BB962C8B-B14F-4D97-AF65-F5344CB8AC3E}">
        <p14:creationId xmlns:p14="http://schemas.microsoft.com/office/powerpoint/2010/main" val="918464178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4DAE24-48C4-4ED2-B69B-477B4171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39DAE-1FCC-4294-BE1B-93D0C526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681A9-B347-4B60-9EF3-E2D16B42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5AFA8-8D6C-4D8F-93C5-CFCF3003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能力雷达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C384C-494D-49F7-8144-90FFDACF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FDE能力画像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18D5C-AFE2-4EAB-A5F3-C9626CB7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用能力雷达判断学员适合哪条路径。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80748-5F1D-4731-A217-2CB7F7AB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3E8A7-D458-4244-A4BB-F9E4CFDE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F2D9F-51BC-4E82-BF97-7F86FE6A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分流认证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66962-A728-4D22-A380-E873405E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873F6-BCA3-4D6D-9210-AFA120BE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92B8C-C19B-446C-8688-02F14A05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业务诊断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B6C0B-1D8F-45A5-8222-22BA79D3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40389-DA6F-4FBC-9552-E7833F44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8C84C-EB1B-4D6A-896F-2F40F419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07D06-9094-410D-ADAC-9C979CEB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上下文工程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B982D-7C59-42AD-9930-7152D1CE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CD55D-EE7B-40FD-8C22-0A543DED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06E9E-68F2-41B2-8BA7-BDB014EC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037901-4CDA-4C22-A94C-43669E31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Agent部署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B45B2-7A32-461F-A114-CC25E3C7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D2CC5-235C-43A5-AD60-32D16C74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FC1DE-9AB4-4E71-A9AB-84D51881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6BAF7-E399-4346-B379-BCA526A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系统集成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E9A57-E0C5-4F3C-81D4-A1F2FD4C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71CC2-99BA-488E-9DD5-636AC181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A29778-7961-45BD-B008-3E535838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E8979F-CE81-4AF7-8510-796B6C13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项目交付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8BF76D-AC80-43F5-A2D1-BD2AA010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FC4309-1A81-4568-85F4-1E93F366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04351B-964B-4E3E-9177-59A2ECCB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0D962-4C27-4592-98B8-2B389E86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表达教学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10B515-A436-402B-B4D9-F1D3F9FA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9677552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CD874-6EDD-4D98-8F7E-27BCBDB4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46190-5B5C-4158-8460-83CD9189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46DE1-BD66-40F6-84BE-70312C83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E6F92-E5EA-40F2-A76E-602F234A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CE2DB-DCC0-4C0B-BFA3-9436F8AD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认证体系兼容路径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8A59C-2BBA-4BD2-A5FC-E602B20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WEI认证作为主线，兼容Claude、OpenAI、腾讯云及国内大模型工具链。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14EF3-3A6D-474B-93FA-A15E1C9B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74241-7AE1-4726-B6F5-6E107DB9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E23A6-1BD4-48F0-A07A-0FD51B40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分流认证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AEE3C-9E47-4467-BBE9-5145DE6C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6655D-BB1A-4387-87ED-8E2EB3F4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D408D-9614-4861-8C4F-CD6E51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7ACCC-3824-41D8-B1BA-B40618B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WEI-FDE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19A20-8201-48C4-BF0E-765C3DA7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03FB7-6769-4969-8954-04B8B939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12F07-C206-4D55-BA5F-179F320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E1BF0-C1E6-4A57-A395-157224E7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CCA-F参考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1CAAD-BBC3-41D4-854C-CB15692A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949F0-789F-470D-9524-611ED11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16CE3-C10A-4E5E-8A23-D122C3FA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B257E-99BE-44E0-ADDB-C77304D2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OpenAI工程实践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0F440-796C-4651-A90D-1FF5AF67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856F5-8E15-435D-8808-337E9770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04291-41EA-42BE-8E95-0D4BDE4A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2D1B09-90B0-4FE3-A9FE-A46CD50A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腾讯ADP/云开发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D9A4CE-2430-4745-A89D-53A10F6E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D3AB9-07AE-4A79-868A-216B06A6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029A1-5321-485F-AC84-C3E99CD7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E7EED-68CC-47F4-8F23-807A50A1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国内模型工具</a:t>
            </a:r>
          </a:p>
        </p:txBody>
      </p:sp>
    </p:spTree>
    <p:extLst>
      <p:ext uri="{BB962C8B-B14F-4D97-AF65-F5344CB8AC3E}">
        <p14:creationId xmlns:p14="http://schemas.microsoft.com/office/powerpoint/2010/main" val="24180871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6E1867-E5F1-477E-9C82-E4E3BD64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AF5A5-FCDD-4387-93CA-86B325F4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9ECAF-0E2D-4039-BD4A-3D9930F6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C8F0F-EF3B-4293-8D2F-788ED4FA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考核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D7239-9152-4568-8AD6-0B523853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WEI-FDE认证考核结构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53FCA-32BF-4B4E-820F-4FF399A1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考核要看真实交付材料，而不是只看选择题。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8121D-0079-459B-8001-E42688C5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5D67B-3407-44EA-88A9-DAABB069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2625F-39DD-491E-B3DB-EC385FCC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分流认证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10ED5-1D2F-4DBE-8E5A-4A82929B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456C5-40BD-4D1A-ADB3-CAC684D6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D0964-56D8-4F7B-A299-0979A921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590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FDE要追到的交付证据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C01BF-412F-45F2-AE5C-1B80E656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D52A0-5006-465E-9A4E-80E80EBA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理论测验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E660A-8B05-4C4B-B905-822895F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基础概念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6F61F-BAFF-4102-9EA3-0FF1D932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4B561-2280-4CA1-B855-5AB9A796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方案作业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8E5F6-BC81-4830-87AB-FF7A03CE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设计能力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285A7-81A3-4C6A-A026-6C1D41D9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F4DE5-C76B-42B7-B341-88CF5CF2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项目路演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83F75-D796-4E8A-A68C-B6A9600F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B4204-451F-400E-AF58-C0633DD7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F3FBB-A8F4-457B-AD41-FB792F64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CC29B-A3B8-4885-87B7-AA91A79F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实操能力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F64B5-5F1B-4F4B-A4CD-9E7DABDE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0DBD3-2E6E-4891-91D3-B67FB968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3238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面试评估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D6F6D-C64D-48C4-9441-AD6F573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3975"/>
            <a:ext cx="6000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分流建议</a:t>
            </a:r>
          </a:p>
        </p:txBody>
      </p:sp>
    </p:spTree>
    <p:extLst>
      <p:ext uri="{BB962C8B-B14F-4D97-AF65-F5344CB8AC3E}">
        <p14:creationId xmlns:p14="http://schemas.microsoft.com/office/powerpoint/2010/main" val="1891450309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F2E3C1-CB44-4844-A963-8D812464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14859-69E2-4F94-B672-DCB55AD0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7C793-703C-401A-AF49-26FFC828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1B0E4-6EEC-466C-8D04-F731B447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讲师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4C348-B209-4722-8AD1-CCBE7978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讲师候选人筛选标准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B2BE9-5F94-4FCE-9D99-27C6B6DC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讲师要比逐字稿懂得更多，并能把复杂知识讲成案例。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AB10D-B11A-48CE-9429-A4757C8F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C25F0-6BFD-4EDA-AFD6-C1E894A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8C3AA-D4FA-40EB-A9A4-3B14B1D0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分流认证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F1FBE-39E2-49E4-AF4E-1B5F4C2A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8B6B6-8642-4527-963C-1E10724B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00F97-7DFE-4E14-A3B9-64F790CF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0BEEC-7860-46DC-B7B1-6A523A40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表达清晰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2E3B6-BEAB-4577-96D4-57C420BD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87644-E4E1-4AEF-9A5F-A7F06D0A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EC91F-555A-480B-AA15-A7A71714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51A59-448C-408E-B98D-89B6389C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案例丰富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FB6B3-34A7-4AA5-B0D6-7D1886A4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FBD57-B240-489E-B4F2-CDEFB70F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8F542-27E8-44AA-AFFC-6CEC9323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274B74-D791-4D6D-95DE-90C8B7C2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控场稳定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CEFC4-BB3E-4D76-9253-0B7F2618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9E3B9C-F772-4ED5-A764-D1AEF85F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FBFFC-23BF-438A-811B-75305E77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A5437-7E66-4286-AFD5-E7DAE47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作业点评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D527E-0AFD-4822-B2A7-55159265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16DA79-D734-4B15-A5EF-089C40FC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40E71-BE84-4DB6-9918-B05F084D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CD99E-E532-4F63-A68C-50B7E947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商业意识</a:t>
            </a:r>
          </a:p>
        </p:txBody>
      </p:sp>
    </p:spTree>
    <p:extLst>
      <p:ext uri="{BB962C8B-B14F-4D97-AF65-F5344CB8AC3E}">
        <p14:creationId xmlns:p14="http://schemas.microsoft.com/office/powerpoint/2010/main" val="480700868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1C0E7A-5F2B-4081-8B95-1A30FA30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77F7B-69C0-40B7-A0C5-0CCD2F0F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BE556-EDD4-43E9-A823-65D993B6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A8BBA-DE0F-4067-A0E0-A860C2C7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F3B45-D6D6-462A-93AF-FA90A0C0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填写个人发展路径卡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581C3-7187-47E1-B7CC-46C12210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学员选择目标路径，并写出90天行动计划。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6A0DB-07E3-4B1F-A879-B1B4C566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6AFB7-FFAD-46DC-9717-B72EF0F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4BA4E-C15D-41F7-9602-99B47B8C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分流认证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D07E6-EFE3-4593-8767-E9018ED2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538C7-9FF7-43BD-9475-3DEB6019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FC5D7-DCF2-4838-804E-3A2D20C2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7分钟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657D9-0F9F-485C-96FF-01AB3FD6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28B7E-D8A8-463E-8FEB-E2586B51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2C2FF-8069-4181-9E5A-2C89EB73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3FFD6-A579-44AF-92A2-FB7E81B7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B7440-EC95-480C-887E-F4FD120D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A44DC-3FB8-411C-82B7-6A12476D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CD262-6E06-467C-9CCA-D6E48917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能力短板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415F8-6721-475D-B6F3-74325850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D7FFD-FFC9-44B8-AA88-7ADC023A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6648B-E02A-4E1A-9BCF-F612F9D5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FB39D-6EF7-4E70-814B-2A52C696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FB814-DA24-45E4-B22F-D7FA74F5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500FE-3925-4A80-92A8-14EBA317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认证计划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C4120-04A7-4C43-A034-7878668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0088B-046E-4A08-B265-2470FD8D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0B974-EFA4-42E1-B966-2CC60074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资源需求</a:t>
            </a:r>
          </a:p>
        </p:txBody>
      </p:sp>
    </p:spTree>
    <p:extLst>
      <p:ext uri="{BB962C8B-B14F-4D97-AF65-F5344CB8AC3E}">
        <p14:creationId xmlns:p14="http://schemas.microsoft.com/office/powerpoint/2010/main" val="1963529009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0A782D-986A-4285-BC0F-600A7567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CFA9D-5504-4BB3-ACF2-066CC27A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FB50F-1225-47F9-9324-68C28DEF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Part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9349B-EAAC-4A37-8B05-DE2FEDD2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综合路演、交付包评审与行动计划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336F8-A6A8-4F44-B741-F2663153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用最终交付物完成筛选、推荐和孵化。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B2DFF-D6E2-4BCC-A9F6-5E9A1AC1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C19D7-D81C-4B84-835F-F8D8A6E7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9D561-1932-4437-B9E7-2F0E2E14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3D4E4-F257-4CC6-94EE-A63E1DE1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D1D2B-641D-4689-9BEE-6F5883C6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94D5A-73FF-463C-8DA5-B63425ED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</p:spTree>
    <p:extLst>
      <p:ext uri="{BB962C8B-B14F-4D97-AF65-F5344CB8AC3E}">
        <p14:creationId xmlns:p14="http://schemas.microsoft.com/office/powerpoint/2010/main" val="1244712006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576EC3-0F6F-48C7-A87F-2A6A22C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35435-49E4-4697-AA96-5D7110C5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CC0EE-24CC-4453-9C84-7D677BCF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462EF-440D-4E33-9ECF-BFEDC06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交付包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F3ACC-9CE2-4586-849E-52E19075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最终交付包清单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77570-9166-4FE4-AA96-C1D24896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交付包要让客户、WEI团队和外部企业都能看懂并接手。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CE2A7-B98C-4DD9-8C55-19246D7E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3F7BD-C515-4F4D-B572-313CD897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74953-C798-46CE-ABEB-831921DC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路演评审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DA79E-D708-4298-80A6-BBC763D5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7E9CA-F512-4A1F-B8BC-F4E35C80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24647-CD80-40D4-A87A-F55B793B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5715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E6FFA-E86A-4BF6-809D-107F0BCF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532F1-67DB-4916-9CDD-0342C28B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项目章程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D097F-D31F-44C9-8CA6-2239210B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717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6DE92-8865-4434-AA52-7FA30CE6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9762B-BC8A-4857-B1DE-5E2D28A0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诊断报告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D6A44-909A-4A5E-98F8-B2DED6FC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670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E89A9-0975-4D9F-9EAF-B567E1F1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069C3-796E-4929-BF6B-20FADCEE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33C3A-7BDA-4165-99D4-531FA4EC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3C40D-A856-469C-B4C4-9CCC6ECF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B75B1-3EA6-4E78-B2B7-CC568455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Agent蓝图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F1092-1885-4461-9494-019BB9A9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576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4CF7F-B270-491C-B50C-016F0D18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BF32C5-AA0A-4C55-B284-467ECA75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系统集成包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87419-505B-4A0B-9145-9E6CEB65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529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E5C604-C6A4-47AE-9BAA-5680880C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6FB59-3D9C-4FC2-8B1D-46B05DD8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运营看板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CDE722-9153-404F-A23C-7A5F1686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482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DF91B-FC8E-48C7-A40F-EB76949F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045955-09CD-41DD-8C14-23FD3F56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809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263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客户成功计划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9E206E-FA7F-41AD-B296-EC1FB0AC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43575"/>
            <a:ext cx="723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写具体系统证据，不写抽象接入愿望。</a:t>
            </a:r>
          </a:p>
        </p:txBody>
      </p:sp>
    </p:spTree>
    <p:extLst>
      <p:ext uri="{BB962C8B-B14F-4D97-AF65-F5344CB8AC3E}">
        <p14:creationId xmlns:p14="http://schemas.microsoft.com/office/powerpoint/2010/main" val="1223537903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81765-36D0-43BC-AB32-A488998D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814EE-BA19-49A5-B249-676EBD97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2276F-F622-48AB-AF59-DDEA8C3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12F0A-33B4-473E-8A19-7031592B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77022-FFBB-4C41-A462-FC87A827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10分钟项目路演结构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CCBC5-2FCB-4AD3-92AF-001DAC49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路演要讲问题、方案、证据、价值、风险和下一步。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52BA5-FB9D-42B5-BB29-A67D4F9C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DA81E-7DFF-4E0A-B43C-7D3DFBC0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0B99C-1A76-4FD6-B61B-0EFE9B67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路演评审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31F2D-6212-417D-8B12-68FC9EB1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894D7-94A8-42C0-BF83-118B7EEC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53792-C480-4E86-8796-D9E8DC4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6EA3C-EADB-4ADE-BDB3-97D8C4FE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4FCC3-4A74-4C0D-AC51-787F4E0E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33893-2652-42BA-AEF3-02BFA7B0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交付证据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A6FF2-120E-4268-9442-FAA9F347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36E79-AB40-4803-9B8C-6D14858F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价值数据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3CB40-C529-4FFF-AE44-1E50DD3C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5FF0B-EC43-473A-B8E9-4DCB0872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81A79-AD8F-454C-B2D1-1C9CE081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8700A-C829-42A0-AF03-76D4BF43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商业路径</a:t>
            </a:r>
          </a:p>
        </p:txBody>
      </p:sp>
    </p:spTree>
    <p:extLst>
      <p:ext uri="{BB962C8B-B14F-4D97-AF65-F5344CB8AC3E}">
        <p14:creationId xmlns:p14="http://schemas.microsoft.com/office/powerpoint/2010/main" val="331385890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4D4B0-2110-498D-BBA4-B2A3E7B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2D556-0884-4058-B132-D82D8E8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EEF91-B3E5-464D-A650-DADC7C35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D02C6-C2FC-43B6-9C69-CF0457B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4DD41-0DE3-468D-A7F9-082FF25C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终评评分维度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B8CC0-BE78-400F-BE5E-12308375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评分既看技术完成度，也看业务价值和可复制性。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FA111-E9B1-4ADA-90EE-63922C79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23F18-99F9-4B27-990B-586051A4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5C11A-5509-4A1D-A71C-898E109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路演评审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B6935-2761-4593-836A-D7BCD780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00AB4-AA14-4712-B56D-1E96ED0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17A92-096B-4224-ACF5-665D45C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8DF6B-65AC-4241-BE3F-FF612FD4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03F6E-A46E-49F9-BDC2-7FBEB94D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交付完整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52BC1-DE0A-4ECC-A699-277055CC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E9BE7-A291-4367-888E-7A0A44A1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B3957-1B45-4C36-A669-F45A281B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系统闭环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26FF3-8876-4330-8AAA-9498BBB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8E30C-7FDD-4BDF-96F5-3BA3EE71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25400-4A28-4DF8-A4E4-6CB001E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表达呈现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0B3FE-523D-4696-84F4-298F1BC4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1A974-0635-4494-8C4E-8BF1C2FC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D1226-AFA3-4405-B454-2682A683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商业复制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77D6B-1F41-4808-9404-814FCDFE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0AC315-1194-4960-90A4-60B9D510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7467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告警必须能落到Owner、SOP和复盘动作。</a:t>
            </a:r>
          </a:p>
        </p:txBody>
      </p:sp>
    </p:spTree>
    <p:extLst>
      <p:ext uri="{BB962C8B-B14F-4D97-AF65-F5344CB8AC3E}">
        <p14:creationId xmlns:p14="http://schemas.microsoft.com/office/powerpoint/2010/main" val="984707778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EB910-C939-4825-A82A-8B6AF1C7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44765-8C53-4F19-BED7-62F41102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2373D-2B79-428A-9216-E7EF1C26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5A186-2753-4251-A0CE-CD54AE87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分流会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F8407-AA46-4063-BF0A-272F567F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分流评审会怎么开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2D3C1-EBA7-4A87-9DD8-3C2D2EDF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评审会要把学员的作品、能力和机会匹配起来。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BAB49-B30E-4150-956B-0F06BE7D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36F99-0098-4874-BB53-BC5632F0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B67FB-EAD9-42E6-B7FE-A52497A4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路演评审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D5DE0-C8FA-4EB5-9B8F-A22C88F9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交付事实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0259F-E2D3-412A-9858-7A0E852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管理含义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35FFA-3982-4714-AD4E-514D5588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9EED3-4593-4D8F-A489-B5381117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作品集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012BA-CF9D-446A-B671-1A045509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5D4FD-3A33-4E64-B128-DA462D84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能力雷达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75BA4-CA49-48EA-B8F3-87D0F8FF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5DBEA-21A4-45A1-B31D-DF57250C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面试反馈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24D77-0993-4965-A7C3-DC09D43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C8DD0-6AA6-41A9-9EDB-E3E3ED6C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岗位机会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3A8E0-BBF8-4F7C-85A5-208565F5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1CA7E-D705-4289-B7A7-26A5EEFF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孵化机会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EEBCE-75BB-4119-AF77-AD6B6C61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95B0C-0CA3-4349-8BFF-0C4B1D68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讲师机会</a:t>
            </a:r>
          </a:p>
        </p:txBody>
      </p:sp>
    </p:spTree>
    <p:extLst>
      <p:ext uri="{BB962C8B-B14F-4D97-AF65-F5344CB8AC3E}">
        <p14:creationId xmlns:p14="http://schemas.microsoft.com/office/powerpoint/2010/main" val="1893254066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3DEB5-29B7-4C1A-9489-8D8CBA39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0D67C-7C94-4A9C-BF7D-1F8782B2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F0CE5-9117-40C6-9E56-CB5BD78C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E23FC-AC2A-41D8-84B4-BB24876C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A43ED-8FB2-43BA-9A29-59DF2E9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完成个人90天行动计划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4B52F-A07B-46A6-8DCD-0FE55021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学员写出下一步就业、交付、创业或讲师行动计划。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0B129-8A47-413A-AD67-5F71CABB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BA6FC-E91E-4A01-90B8-37D3F72D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E49F1-1110-4669-9FD2-F24910DC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路演评审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C1878-EB40-489D-A9D5-BB119F3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F37F2-7485-44AE-A488-E604151F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D77D8-A318-427F-B710-2C1C8242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D54B5-93ED-48CF-92DC-478F02C3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讲师示范后，学员用真实企业流程产出可交付材料。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C03DD-706A-4F9A-B069-7704B280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0FB64-E357-494E-98CD-B262BE32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222CA-017A-493A-BDCA-17EC287C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30天补短板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862B-33B2-4121-A68C-E5D41FC8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878C3-C61D-46A5-A998-7C65CE29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555A0-2B75-41AC-A351-4259314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60天做作品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B6765-9378-4B19-B48E-46607722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E7A7D-07BD-4558-B31F-D2C5420B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1A2F5-E4C7-4EAB-B52B-FFDE02C8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90天进项目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E34BE-FB63-4743-9CC9-3FB5EA4A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E266D-FC2D-4FB7-964F-05170C11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9B0C3-7EDB-4CEB-8CCD-A4DEBB79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资源清单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C9429-D587-4A79-8121-ACC14BE0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4E7C6D-AB48-448C-B99D-7E4C3D1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9A6D06-BA66-493F-9771-97F9CCC2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</p:spTree>
    <p:extLst>
      <p:ext uri="{BB962C8B-B14F-4D97-AF65-F5344CB8AC3E}">
        <p14:creationId xmlns:p14="http://schemas.microsoft.com/office/powerpoint/2010/main" val="1940608114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A6765-78F1-4F66-BFC6-7E9FA9E3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DA47F-EAA3-4169-A774-E2D7848A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10FC8-6582-4239-BC79-99F5E187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1905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全课收束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E848D-5168-4B9A-A660-FB09C079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3820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从训练营到FDE生态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974F2-33BB-4C83-A013-B542E51D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810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训练营的终点不是结课，而是把人放到项目、岗位、创业和教学场景里继续成长。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240E7-272B-4361-9AA5-6173653A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B3BD5-7379-49DB-843C-CFF34A30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C1C99-BA3F-4369-9EF4-8CA01E06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CB82F-FCEA-4155-A306-F650DA73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B1201-8123-4FBF-BF4E-24512A24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7FB36-7FA3-4009-863D-9D9BFC7B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9DC07-DC1B-4224-B1A3-4F3682B5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314A4-8624-4076-864F-35E35A14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</p:spTree>
    <p:extLst>
      <p:ext uri="{BB962C8B-B14F-4D97-AF65-F5344CB8AC3E}">
        <p14:creationId xmlns:p14="http://schemas.microsoft.com/office/powerpoint/2010/main" val="805031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2026-05-16T03:44:16.6930000Z</dcterms:created>
  <dcterms:modified xsi:type="dcterms:W3CDTF">2026-05-16T03:44:16.6930000Z</dcterms:modified>
</coreProperties>
</file>